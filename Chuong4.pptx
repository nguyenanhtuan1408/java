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diagrams/data3.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3.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2.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1.xml" ContentType="application/vnd.openxmlformats-officedocument.presentationml.notesSlide+xml"/>
  <Override PartName="/ppt/slideLayouts/slideLayout6.xml" ContentType="application/vnd.openxmlformats-officedocument.presentationml.slideLayout+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notesSlides/notesSlide9.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8.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7"/>
  </p:notesMasterIdLst>
  <p:sldIdLst>
    <p:sldId id="256" r:id="rId2"/>
    <p:sldId id="263" r:id="rId3"/>
    <p:sldId id="272" r:id="rId4"/>
    <p:sldId id="258" r:id="rId5"/>
    <p:sldId id="270" r:id="rId6"/>
    <p:sldId id="271" r:id="rId7"/>
    <p:sldId id="365" r:id="rId8"/>
    <p:sldId id="366" r:id="rId9"/>
    <p:sldId id="367" r:id="rId10"/>
    <p:sldId id="368" r:id="rId11"/>
    <p:sldId id="369" r:id="rId12"/>
    <p:sldId id="370" r:id="rId13"/>
    <p:sldId id="274" r:id="rId14"/>
    <p:sldId id="275" r:id="rId15"/>
    <p:sldId id="276" r:id="rId16"/>
    <p:sldId id="281" r:id="rId17"/>
    <p:sldId id="355" r:id="rId18"/>
    <p:sldId id="282" r:id="rId19"/>
    <p:sldId id="283" r:id="rId20"/>
    <p:sldId id="284" r:id="rId21"/>
    <p:sldId id="356" r:id="rId22"/>
    <p:sldId id="357" r:id="rId23"/>
    <p:sldId id="358" r:id="rId24"/>
    <p:sldId id="360" r:id="rId25"/>
    <p:sldId id="361" r:id="rId26"/>
    <p:sldId id="362" r:id="rId27"/>
    <p:sldId id="364" r:id="rId28"/>
    <p:sldId id="285" r:id="rId29"/>
    <p:sldId id="286" r:id="rId30"/>
    <p:sldId id="288" r:id="rId31"/>
    <p:sldId id="291" r:id="rId32"/>
    <p:sldId id="293" r:id="rId33"/>
    <p:sldId id="262" r:id="rId34"/>
    <p:sldId id="259" r:id="rId35"/>
    <p:sldId id="296" r:id="rId36"/>
    <p:sldId id="297" r:id="rId37"/>
    <p:sldId id="371" r:id="rId38"/>
    <p:sldId id="372" r:id="rId39"/>
    <p:sldId id="373" r:id="rId40"/>
    <p:sldId id="404" r:id="rId41"/>
    <p:sldId id="405" r:id="rId42"/>
    <p:sldId id="406" r:id="rId43"/>
    <p:sldId id="407" r:id="rId44"/>
    <p:sldId id="300" r:id="rId45"/>
    <p:sldId id="301" r:id="rId46"/>
    <p:sldId id="302" r:id="rId47"/>
    <p:sldId id="409" r:id="rId48"/>
    <p:sldId id="304" r:id="rId49"/>
    <p:sldId id="410" r:id="rId50"/>
    <p:sldId id="306" r:id="rId51"/>
    <p:sldId id="307" r:id="rId52"/>
    <p:sldId id="408" r:id="rId53"/>
    <p:sldId id="317" r:id="rId54"/>
    <p:sldId id="374" r:id="rId55"/>
    <p:sldId id="375" r:id="rId56"/>
    <p:sldId id="376" r:id="rId57"/>
    <p:sldId id="377" r:id="rId58"/>
    <p:sldId id="378" r:id="rId59"/>
    <p:sldId id="379" r:id="rId60"/>
    <p:sldId id="314" r:id="rId61"/>
    <p:sldId id="315" r:id="rId62"/>
    <p:sldId id="316" r:id="rId63"/>
    <p:sldId id="318" r:id="rId64"/>
    <p:sldId id="319" r:id="rId65"/>
    <p:sldId id="264" r:id="rId66"/>
    <p:sldId id="260" r:id="rId67"/>
    <p:sldId id="320" r:id="rId68"/>
    <p:sldId id="321" r:id="rId69"/>
    <p:sldId id="324" r:id="rId70"/>
    <p:sldId id="322" r:id="rId71"/>
    <p:sldId id="323" r:id="rId72"/>
    <p:sldId id="380" r:id="rId73"/>
    <p:sldId id="381" r:id="rId74"/>
    <p:sldId id="382" r:id="rId75"/>
    <p:sldId id="383" r:id="rId76"/>
    <p:sldId id="384" r:id="rId77"/>
    <p:sldId id="385" r:id="rId78"/>
    <p:sldId id="386" r:id="rId79"/>
    <p:sldId id="328" r:id="rId80"/>
    <p:sldId id="387" r:id="rId81"/>
    <p:sldId id="388" r:id="rId82"/>
    <p:sldId id="337" r:id="rId83"/>
    <p:sldId id="339" r:id="rId84"/>
    <p:sldId id="340" r:id="rId85"/>
    <p:sldId id="341" r:id="rId86"/>
    <p:sldId id="342" r:id="rId87"/>
    <p:sldId id="343" r:id="rId88"/>
    <p:sldId id="344" r:id="rId89"/>
    <p:sldId id="345" r:id="rId90"/>
    <p:sldId id="347" r:id="rId91"/>
    <p:sldId id="348" r:id="rId92"/>
    <p:sldId id="351" r:id="rId93"/>
    <p:sldId id="352" r:id="rId94"/>
    <p:sldId id="353" r:id="rId95"/>
    <p:sldId id="349" r:id="rId96"/>
    <p:sldId id="354" r:id="rId97"/>
    <p:sldId id="350" r:id="rId98"/>
    <p:sldId id="389" r:id="rId99"/>
    <p:sldId id="390" r:id="rId100"/>
    <p:sldId id="391" r:id="rId101"/>
    <p:sldId id="392" r:id="rId102"/>
    <p:sldId id="393" r:id="rId103"/>
    <p:sldId id="395" r:id="rId104"/>
    <p:sldId id="396" r:id="rId105"/>
    <p:sldId id="397" r:id="rId106"/>
    <p:sldId id="398" r:id="rId107"/>
    <p:sldId id="399" r:id="rId108"/>
    <p:sldId id="400" r:id="rId109"/>
    <p:sldId id="401" r:id="rId110"/>
    <p:sldId id="402" r:id="rId111"/>
    <p:sldId id="403" r:id="rId112"/>
    <p:sldId id="265" r:id="rId113"/>
    <p:sldId id="334" r:id="rId114"/>
    <p:sldId id="335" r:id="rId115"/>
    <p:sldId id="336" r:id="rId1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29" autoAdjust="0"/>
    <p:restoredTop sz="86054" autoAdjust="0"/>
  </p:normalViewPr>
  <p:slideViewPr>
    <p:cSldViewPr>
      <p:cViewPr varScale="1">
        <p:scale>
          <a:sx n="105" d="100"/>
          <a:sy n="105" d="100"/>
        </p:scale>
        <p:origin x="1800" y="184"/>
      </p:cViewPr>
      <p:guideLst>
        <p:guide orient="horz" pos="2160"/>
        <p:guide pos="2880"/>
      </p:guideLst>
    </p:cSldViewPr>
  </p:slideViewPr>
  <p:outlineViewPr>
    <p:cViewPr>
      <p:scale>
        <a:sx n="33" d="100"/>
        <a:sy n="33" d="100"/>
      </p:scale>
      <p:origin x="0" y="37650"/>
    </p:cViewPr>
  </p:outlineViewPr>
  <p:notesTextViewPr>
    <p:cViewPr>
      <p:scale>
        <a:sx n="1" d="1"/>
        <a:sy n="1" d="1"/>
      </p:scale>
      <p:origin x="0" y="0"/>
    </p:cViewPr>
  </p:notesTextViewPr>
  <p:sorterViewPr>
    <p:cViewPr>
      <p:scale>
        <a:sx n="100" d="100"/>
        <a:sy n="100" d="100"/>
      </p:scale>
      <p:origin x="0" y="69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customXml" Target="../customXml/item2.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customXml" Target="../customXml/item3.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customXml" Target="../customXml/item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FA7C55-E64C-4A99-A6E0-9707F0D933E1}"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3CAD477D-A81F-40FB-A495-9A77DB2DD679}">
      <dgm:prSet phldrT="[Text]"/>
      <dgm:spPr/>
      <dgm:t>
        <a:bodyPr/>
        <a:lstStyle/>
        <a:p>
          <a:r>
            <a:rPr lang="en-US"/>
            <a:t>4.1. Giao diện List</a:t>
          </a:r>
        </a:p>
      </dgm:t>
    </dgm:pt>
    <dgm:pt modelId="{634C93F4-81D0-42B4-8A0A-3F871E99E4B6}" type="parTrans" cxnId="{3F5BCA2C-C638-4497-A14D-18646E58260F}">
      <dgm:prSet/>
      <dgm:spPr/>
      <dgm:t>
        <a:bodyPr/>
        <a:lstStyle/>
        <a:p>
          <a:endParaRPr lang="en-US"/>
        </a:p>
      </dgm:t>
    </dgm:pt>
    <dgm:pt modelId="{5FD3F23B-3237-4F83-B465-EA0A9268D1C8}" type="sibTrans" cxnId="{3F5BCA2C-C638-4497-A14D-18646E58260F}">
      <dgm:prSet/>
      <dgm:spPr/>
      <dgm:t>
        <a:bodyPr/>
        <a:lstStyle/>
        <a:p>
          <a:endParaRPr lang="en-US"/>
        </a:p>
      </dgm:t>
    </dgm:pt>
    <dgm:pt modelId="{1E8AE57E-3934-4C09-A517-7325CE6CAE4C}">
      <dgm:prSet phldrT="[Text]"/>
      <dgm:spPr/>
      <dgm:t>
        <a:bodyPr/>
        <a:lstStyle/>
        <a:p>
          <a:pPr algn="l"/>
          <a:r>
            <a:rPr lang="en-US"/>
            <a:t>4.1.1. Lớp ArrayList</a:t>
          </a:r>
        </a:p>
      </dgm:t>
    </dgm:pt>
    <dgm:pt modelId="{EBF912E9-ECFA-4D3B-A26F-24FDE97F7280}" type="parTrans" cxnId="{E01A1CD6-43C3-4218-BAAC-196AF9F492D2}">
      <dgm:prSet/>
      <dgm:spPr/>
      <dgm:t>
        <a:bodyPr/>
        <a:lstStyle/>
        <a:p>
          <a:endParaRPr lang="en-US"/>
        </a:p>
      </dgm:t>
    </dgm:pt>
    <dgm:pt modelId="{9CBF9596-524B-43A9-9567-665D991817C5}" type="sibTrans" cxnId="{E01A1CD6-43C3-4218-BAAC-196AF9F492D2}">
      <dgm:prSet/>
      <dgm:spPr/>
      <dgm:t>
        <a:bodyPr/>
        <a:lstStyle/>
        <a:p>
          <a:endParaRPr lang="en-US"/>
        </a:p>
      </dgm:t>
    </dgm:pt>
    <dgm:pt modelId="{D1136C7E-81CC-4B4B-8E7F-14E051278AD0}">
      <dgm:prSet phldrT="[Text]"/>
      <dgm:spPr/>
      <dgm:t>
        <a:bodyPr/>
        <a:lstStyle/>
        <a:p>
          <a:pPr algn="l"/>
          <a:r>
            <a:rPr lang="en-US"/>
            <a:t>4.1.2. Lớp LinkedList</a:t>
          </a:r>
        </a:p>
      </dgm:t>
    </dgm:pt>
    <dgm:pt modelId="{71AF0F9C-1158-45B1-AFC7-A118A0318C0B}" type="parTrans" cxnId="{FB3A1832-36F8-4620-B289-9E322E01071B}">
      <dgm:prSet/>
      <dgm:spPr/>
      <dgm:t>
        <a:bodyPr/>
        <a:lstStyle/>
        <a:p>
          <a:endParaRPr lang="en-US"/>
        </a:p>
      </dgm:t>
    </dgm:pt>
    <dgm:pt modelId="{BD50E722-0792-40EC-A626-C43D6E600417}" type="sibTrans" cxnId="{FB3A1832-36F8-4620-B289-9E322E01071B}">
      <dgm:prSet/>
      <dgm:spPr/>
      <dgm:t>
        <a:bodyPr/>
        <a:lstStyle/>
        <a:p>
          <a:endParaRPr lang="en-US"/>
        </a:p>
      </dgm:t>
    </dgm:pt>
    <dgm:pt modelId="{354E087D-D4FE-435F-B758-D4A759F1F874}" type="pres">
      <dgm:prSet presAssocID="{D9FA7C55-E64C-4A99-A6E0-9707F0D933E1}" presName="diagram" presStyleCnt="0">
        <dgm:presLayoutVars>
          <dgm:chPref val="1"/>
          <dgm:dir/>
          <dgm:animOne val="branch"/>
          <dgm:animLvl val="lvl"/>
          <dgm:resizeHandles/>
        </dgm:presLayoutVars>
      </dgm:prSet>
      <dgm:spPr/>
    </dgm:pt>
    <dgm:pt modelId="{149BAD9D-B290-4CD1-8ADD-6690C26D2795}" type="pres">
      <dgm:prSet presAssocID="{3CAD477D-A81F-40FB-A495-9A77DB2DD679}" presName="root" presStyleCnt="0"/>
      <dgm:spPr/>
    </dgm:pt>
    <dgm:pt modelId="{0FB760AA-472F-4C6D-BFF7-8C7542CCDBCB}" type="pres">
      <dgm:prSet presAssocID="{3CAD477D-A81F-40FB-A495-9A77DB2DD679}" presName="rootComposite" presStyleCnt="0"/>
      <dgm:spPr/>
    </dgm:pt>
    <dgm:pt modelId="{4EAC9162-0DE4-4034-A591-671280E29800}" type="pres">
      <dgm:prSet presAssocID="{3CAD477D-A81F-40FB-A495-9A77DB2DD679}" presName="rootText" presStyleLbl="node1" presStyleIdx="0" presStyleCnt="1" custScaleX="152024"/>
      <dgm:spPr/>
    </dgm:pt>
    <dgm:pt modelId="{F20CE37B-4D96-42FC-8A0C-6BC544986638}" type="pres">
      <dgm:prSet presAssocID="{3CAD477D-A81F-40FB-A495-9A77DB2DD679}" presName="rootConnector" presStyleLbl="node1" presStyleIdx="0" presStyleCnt="1"/>
      <dgm:spPr/>
    </dgm:pt>
    <dgm:pt modelId="{E3F9D584-B85C-4923-8E41-F1A903888F16}" type="pres">
      <dgm:prSet presAssocID="{3CAD477D-A81F-40FB-A495-9A77DB2DD679}" presName="childShape" presStyleCnt="0"/>
      <dgm:spPr/>
    </dgm:pt>
    <dgm:pt modelId="{BD24F86C-372F-42A8-A5EF-210DFB56515B}" type="pres">
      <dgm:prSet presAssocID="{EBF912E9-ECFA-4D3B-A26F-24FDE97F7280}" presName="Name13" presStyleLbl="parChTrans1D2" presStyleIdx="0" presStyleCnt="2"/>
      <dgm:spPr/>
    </dgm:pt>
    <dgm:pt modelId="{FDEE8558-F3D4-4DC0-8ACF-692EC4720B00}" type="pres">
      <dgm:prSet presAssocID="{1E8AE57E-3934-4C09-A517-7325CE6CAE4C}" presName="childText" presStyleLbl="bgAcc1" presStyleIdx="0" presStyleCnt="2" custScaleX="214049">
        <dgm:presLayoutVars>
          <dgm:bulletEnabled val="1"/>
        </dgm:presLayoutVars>
      </dgm:prSet>
      <dgm:spPr/>
    </dgm:pt>
    <dgm:pt modelId="{BDEBA2F2-C19F-4351-B778-01806BA378D4}" type="pres">
      <dgm:prSet presAssocID="{71AF0F9C-1158-45B1-AFC7-A118A0318C0B}" presName="Name13" presStyleLbl="parChTrans1D2" presStyleIdx="1" presStyleCnt="2"/>
      <dgm:spPr/>
    </dgm:pt>
    <dgm:pt modelId="{4D646B0A-719D-4F5A-BEE6-BECEB5A99AC2}" type="pres">
      <dgm:prSet presAssocID="{D1136C7E-81CC-4B4B-8E7F-14E051278AD0}" presName="childText" presStyleLbl="bgAcc1" presStyleIdx="1" presStyleCnt="2" custScaleX="216065">
        <dgm:presLayoutVars>
          <dgm:bulletEnabled val="1"/>
        </dgm:presLayoutVars>
      </dgm:prSet>
      <dgm:spPr/>
    </dgm:pt>
  </dgm:ptLst>
  <dgm:cxnLst>
    <dgm:cxn modelId="{3F5BCA2C-C638-4497-A14D-18646E58260F}" srcId="{D9FA7C55-E64C-4A99-A6E0-9707F0D933E1}" destId="{3CAD477D-A81F-40FB-A495-9A77DB2DD679}" srcOrd="0" destOrd="0" parTransId="{634C93F4-81D0-42B4-8A0A-3F871E99E4B6}" sibTransId="{5FD3F23B-3237-4F83-B465-EA0A9268D1C8}"/>
    <dgm:cxn modelId="{FB3A1832-36F8-4620-B289-9E322E01071B}" srcId="{3CAD477D-A81F-40FB-A495-9A77DB2DD679}" destId="{D1136C7E-81CC-4B4B-8E7F-14E051278AD0}" srcOrd="1" destOrd="0" parTransId="{71AF0F9C-1158-45B1-AFC7-A118A0318C0B}" sibTransId="{BD50E722-0792-40EC-A626-C43D6E600417}"/>
    <dgm:cxn modelId="{2CE9B153-FB35-479C-8D77-2EBBBC526E29}" type="presOf" srcId="{3CAD477D-A81F-40FB-A495-9A77DB2DD679}" destId="{F20CE37B-4D96-42FC-8A0C-6BC544986638}" srcOrd="1" destOrd="0" presId="urn:microsoft.com/office/officeart/2005/8/layout/hierarchy3"/>
    <dgm:cxn modelId="{2290DD79-EB90-440B-A52D-7160E25D071F}" type="presOf" srcId="{EBF912E9-ECFA-4D3B-A26F-24FDE97F7280}" destId="{BD24F86C-372F-42A8-A5EF-210DFB56515B}" srcOrd="0" destOrd="0" presId="urn:microsoft.com/office/officeart/2005/8/layout/hierarchy3"/>
    <dgm:cxn modelId="{727C9498-AFED-41DB-85C2-7B5FCD7FA159}" type="presOf" srcId="{3CAD477D-A81F-40FB-A495-9A77DB2DD679}" destId="{4EAC9162-0DE4-4034-A591-671280E29800}" srcOrd="0" destOrd="0" presId="urn:microsoft.com/office/officeart/2005/8/layout/hierarchy3"/>
    <dgm:cxn modelId="{39A12AAB-322E-4243-8BDC-BD9733A33F6B}" type="presOf" srcId="{D9FA7C55-E64C-4A99-A6E0-9707F0D933E1}" destId="{354E087D-D4FE-435F-B758-D4A759F1F874}" srcOrd="0" destOrd="0" presId="urn:microsoft.com/office/officeart/2005/8/layout/hierarchy3"/>
    <dgm:cxn modelId="{B67A0AC1-C686-41C2-B1E6-04A1990B6419}" type="presOf" srcId="{71AF0F9C-1158-45B1-AFC7-A118A0318C0B}" destId="{BDEBA2F2-C19F-4351-B778-01806BA378D4}" srcOrd="0" destOrd="0" presId="urn:microsoft.com/office/officeart/2005/8/layout/hierarchy3"/>
    <dgm:cxn modelId="{016563CA-AD62-4C67-A0F8-7738C056FD25}" type="presOf" srcId="{D1136C7E-81CC-4B4B-8E7F-14E051278AD0}" destId="{4D646B0A-719D-4F5A-BEE6-BECEB5A99AC2}" srcOrd="0" destOrd="0" presId="urn:microsoft.com/office/officeart/2005/8/layout/hierarchy3"/>
    <dgm:cxn modelId="{E01A1CD6-43C3-4218-BAAC-196AF9F492D2}" srcId="{3CAD477D-A81F-40FB-A495-9A77DB2DD679}" destId="{1E8AE57E-3934-4C09-A517-7325CE6CAE4C}" srcOrd="0" destOrd="0" parTransId="{EBF912E9-ECFA-4D3B-A26F-24FDE97F7280}" sibTransId="{9CBF9596-524B-43A9-9567-665D991817C5}"/>
    <dgm:cxn modelId="{900E3EEF-E290-49C2-8191-67163323618D}" type="presOf" srcId="{1E8AE57E-3934-4C09-A517-7325CE6CAE4C}" destId="{FDEE8558-F3D4-4DC0-8ACF-692EC4720B00}" srcOrd="0" destOrd="0" presId="urn:microsoft.com/office/officeart/2005/8/layout/hierarchy3"/>
    <dgm:cxn modelId="{5A461820-26C3-4CED-AD85-3572BC2A7A74}" type="presParOf" srcId="{354E087D-D4FE-435F-B758-D4A759F1F874}" destId="{149BAD9D-B290-4CD1-8ADD-6690C26D2795}" srcOrd="0" destOrd="0" presId="urn:microsoft.com/office/officeart/2005/8/layout/hierarchy3"/>
    <dgm:cxn modelId="{B539B07A-AF77-4601-8456-2CE9768D43A8}" type="presParOf" srcId="{149BAD9D-B290-4CD1-8ADD-6690C26D2795}" destId="{0FB760AA-472F-4C6D-BFF7-8C7542CCDBCB}" srcOrd="0" destOrd="0" presId="urn:microsoft.com/office/officeart/2005/8/layout/hierarchy3"/>
    <dgm:cxn modelId="{26E98F10-98AF-4B83-A758-7A560FB5337C}" type="presParOf" srcId="{0FB760AA-472F-4C6D-BFF7-8C7542CCDBCB}" destId="{4EAC9162-0DE4-4034-A591-671280E29800}" srcOrd="0" destOrd="0" presId="urn:microsoft.com/office/officeart/2005/8/layout/hierarchy3"/>
    <dgm:cxn modelId="{67BA2D8C-4964-4D9C-B292-8AAAB0A9A281}" type="presParOf" srcId="{0FB760AA-472F-4C6D-BFF7-8C7542CCDBCB}" destId="{F20CE37B-4D96-42FC-8A0C-6BC544986638}" srcOrd="1" destOrd="0" presId="urn:microsoft.com/office/officeart/2005/8/layout/hierarchy3"/>
    <dgm:cxn modelId="{B3ECB1F2-D410-4590-92AC-56E10A669010}" type="presParOf" srcId="{149BAD9D-B290-4CD1-8ADD-6690C26D2795}" destId="{E3F9D584-B85C-4923-8E41-F1A903888F16}" srcOrd="1" destOrd="0" presId="urn:microsoft.com/office/officeart/2005/8/layout/hierarchy3"/>
    <dgm:cxn modelId="{B8229F6A-B571-4175-A776-FDB4EBD789BA}" type="presParOf" srcId="{E3F9D584-B85C-4923-8E41-F1A903888F16}" destId="{BD24F86C-372F-42A8-A5EF-210DFB56515B}" srcOrd="0" destOrd="0" presId="urn:microsoft.com/office/officeart/2005/8/layout/hierarchy3"/>
    <dgm:cxn modelId="{5ACA5DA0-0642-4CAB-B820-882BA0AC495F}" type="presParOf" srcId="{E3F9D584-B85C-4923-8E41-F1A903888F16}" destId="{FDEE8558-F3D4-4DC0-8ACF-692EC4720B00}" srcOrd="1" destOrd="0" presId="urn:microsoft.com/office/officeart/2005/8/layout/hierarchy3"/>
    <dgm:cxn modelId="{F1F8D8F7-83CF-4A48-85BA-67935DAE90A7}" type="presParOf" srcId="{E3F9D584-B85C-4923-8E41-F1A903888F16}" destId="{BDEBA2F2-C19F-4351-B778-01806BA378D4}" srcOrd="2" destOrd="0" presId="urn:microsoft.com/office/officeart/2005/8/layout/hierarchy3"/>
    <dgm:cxn modelId="{52C94B8D-2D6A-406A-9546-2A36D7945059}" type="presParOf" srcId="{E3F9D584-B85C-4923-8E41-F1A903888F16}" destId="{4D646B0A-719D-4F5A-BEE6-BECEB5A99AC2}"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FA7C55-E64C-4A99-A6E0-9707F0D933E1}"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3CAD477D-A81F-40FB-A495-9A77DB2DD679}">
      <dgm:prSet phldrT="[Text]" custT="1"/>
      <dgm:spPr/>
      <dgm:t>
        <a:bodyPr/>
        <a:lstStyle/>
        <a:p>
          <a:r>
            <a:rPr lang="en-US" sz="2900">
              <a:latin typeface="Arial" pitchFamily="34" charset="0"/>
              <a:cs typeface="Arial" pitchFamily="34" charset="0"/>
            </a:rPr>
            <a:t>4.1. Giao diện Set</a:t>
          </a:r>
        </a:p>
      </dgm:t>
    </dgm:pt>
    <dgm:pt modelId="{634C93F4-81D0-42B4-8A0A-3F871E99E4B6}" type="parTrans" cxnId="{3F5BCA2C-C638-4497-A14D-18646E58260F}">
      <dgm:prSet/>
      <dgm:spPr/>
      <dgm:t>
        <a:bodyPr/>
        <a:lstStyle/>
        <a:p>
          <a:endParaRPr lang="en-US"/>
        </a:p>
      </dgm:t>
    </dgm:pt>
    <dgm:pt modelId="{5FD3F23B-3237-4F83-B465-EA0A9268D1C8}" type="sibTrans" cxnId="{3F5BCA2C-C638-4497-A14D-18646E58260F}">
      <dgm:prSet/>
      <dgm:spPr/>
      <dgm:t>
        <a:bodyPr/>
        <a:lstStyle/>
        <a:p>
          <a:endParaRPr lang="en-US"/>
        </a:p>
      </dgm:t>
    </dgm:pt>
    <dgm:pt modelId="{1E8AE57E-3934-4C09-A517-7325CE6CAE4C}">
      <dgm:prSet phldrT="[Text]" custT="1"/>
      <dgm:spPr/>
      <dgm:t>
        <a:bodyPr/>
        <a:lstStyle/>
        <a:p>
          <a:pPr algn="l"/>
          <a:r>
            <a:rPr lang="en-US" sz="2900">
              <a:latin typeface="Arial" pitchFamily="34" charset="0"/>
              <a:cs typeface="Arial" pitchFamily="34" charset="0"/>
            </a:rPr>
            <a:t>4.2.1. Lớp HashSet</a:t>
          </a:r>
        </a:p>
      </dgm:t>
    </dgm:pt>
    <dgm:pt modelId="{EBF912E9-ECFA-4D3B-A26F-24FDE97F7280}" type="parTrans" cxnId="{E01A1CD6-43C3-4218-BAAC-196AF9F492D2}">
      <dgm:prSet/>
      <dgm:spPr/>
      <dgm:t>
        <a:bodyPr/>
        <a:lstStyle/>
        <a:p>
          <a:endParaRPr lang="en-US"/>
        </a:p>
      </dgm:t>
    </dgm:pt>
    <dgm:pt modelId="{9CBF9596-524B-43A9-9567-665D991817C5}" type="sibTrans" cxnId="{E01A1CD6-43C3-4218-BAAC-196AF9F492D2}">
      <dgm:prSet/>
      <dgm:spPr/>
      <dgm:t>
        <a:bodyPr/>
        <a:lstStyle/>
        <a:p>
          <a:endParaRPr lang="en-US"/>
        </a:p>
      </dgm:t>
    </dgm:pt>
    <dgm:pt modelId="{2D2A6872-6B18-468D-AA98-99B15789DC5A}">
      <dgm:prSet phldrT="[Text]" custT="1"/>
      <dgm:spPr/>
      <dgm:t>
        <a:bodyPr/>
        <a:lstStyle/>
        <a:p>
          <a:pPr algn="l"/>
          <a:r>
            <a:rPr lang="en-US" sz="2900">
              <a:latin typeface="Arial" pitchFamily="34" charset="0"/>
              <a:cs typeface="Arial" pitchFamily="34" charset="0"/>
            </a:rPr>
            <a:t>4.2.2. Lớp LinkedHashset</a:t>
          </a:r>
        </a:p>
      </dgm:t>
    </dgm:pt>
    <dgm:pt modelId="{ABA37175-9EB5-4F26-B05C-BB184D0E267C}" type="parTrans" cxnId="{E05158C0-45AA-433D-B494-D20980EE4CBC}">
      <dgm:prSet/>
      <dgm:spPr/>
      <dgm:t>
        <a:bodyPr/>
        <a:lstStyle/>
        <a:p>
          <a:endParaRPr lang="en-US"/>
        </a:p>
      </dgm:t>
    </dgm:pt>
    <dgm:pt modelId="{FEF3C60C-A704-4397-8D09-7460C87E76BF}" type="sibTrans" cxnId="{E05158C0-45AA-433D-B494-D20980EE4CBC}">
      <dgm:prSet/>
      <dgm:spPr/>
      <dgm:t>
        <a:bodyPr/>
        <a:lstStyle/>
        <a:p>
          <a:endParaRPr lang="en-US"/>
        </a:p>
      </dgm:t>
    </dgm:pt>
    <dgm:pt modelId="{881B6D25-DF1A-4085-B4EC-DEA7573055B6}">
      <dgm:prSet phldrT="[Text]" custT="1"/>
      <dgm:spPr/>
      <dgm:t>
        <a:bodyPr/>
        <a:lstStyle/>
        <a:p>
          <a:pPr algn="l"/>
          <a:r>
            <a:rPr lang="en-US" sz="2900">
              <a:latin typeface="Arial" pitchFamily="34" charset="0"/>
              <a:cs typeface="Arial" pitchFamily="34" charset="0"/>
            </a:rPr>
            <a:t>4.2.3. Lớp TreeSet</a:t>
          </a:r>
        </a:p>
      </dgm:t>
    </dgm:pt>
    <dgm:pt modelId="{5C48F70E-AC45-4C3C-AF23-1D7B34BB4B07}" type="parTrans" cxnId="{967F75A0-1D7C-4903-A88C-66C48C6CCEC5}">
      <dgm:prSet/>
      <dgm:spPr/>
      <dgm:t>
        <a:bodyPr/>
        <a:lstStyle/>
        <a:p>
          <a:endParaRPr lang="en-US"/>
        </a:p>
      </dgm:t>
    </dgm:pt>
    <dgm:pt modelId="{CB5212D9-DA37-4F79-AFD2-B9D5754ACBF6}" type="sibTrans" cxnId="{967F75A0-1D7C-4903-A88C-66C48C6CCEC5}">
      <dgm:prSet/>
      <dgm:spPr/>
      <dgm:t>
        <a:bodyPr/>
        <a:lstStyle/>
        <a:p>
          <a:endParaRPr lang="en-US"/>
        </a:p>
      </dgm:t>
    </dgm:pt>
    <dgm:pt modelId="{354E087D-D4FE-435F-B758-D4A759F1F874}" type="pres">
      <dgm:prSet presAssocID="{D9FA7C55-E64C-4A99-A6E0-9707F0D933E1}" presName="diagram" presStyleCnt="0">
        <dgm:presLayoutVars>
          <dgm:chPref val="1"/>
          <dgm:dir/>
          <dgm:animOne val="branch"/>
          <dgm:animLvl val="lvl"/>
          <dgm:resizeHandles/>
        </dgm:presLayoutVars>
      </dgm:prSet>
      <dgm:spPr/>
    </dgm:pt>
    <dgm:pt modelId="{149BAD9D-B290-4CD1-8ADD-6690C26D2795}" type="pres">
      <dgm:prSet presAssocID="{3CAD477D-A81F-40FB-A495-9A77DB2DD679}" presName="root" presStyleCnt="0"/>
      <dgm:spPr/>
    </dgm:pt>
    <dgm:pt modelId="{0FB760AA-472F-4C6D-BFF7-8C7542CCDBCB}" type="pres">
      <dgm:prSet presAssocID="{3CAD477D-A81F-40FB-A495-9A77DB2DD679}" presName="rootComposite" presStyleCnt="0"/>
      <dgm:spPr/>
    </dgm:pt>
    <dgm:pt modelId="{4EAC9162-0DE4-4034-A591-671280E29800}" type="pres">
      <dgm:prSet presAssocID="{3CAD477D-A81F-40FB-A495-9A77DB2DD679}" presName="rootText" presStyleLbl="node1" presStyleIdx="0" presStyleCnt="1" custScaleX="207381"/>
      <dgm:spPr/>
    </dgm:pt>
    <dgm:pt modelId="{F20CE37B-4D96-42FC-8A0C-6BC544986638}" type="pres">
      <dgm:prSet presAssocID="{3CAD477D-A81F-40FB-A495-9A77DB2DD679}" presName="rootConnector" presStyleLbl="node1" presStyleIdx="0" presStyleCnt="1"/>
      <dgm:spPr/>
    </dgm:pt>
    <dgm:pt modelId="{E3F9D584-B85C-4923-8E41-F1A903888F16}" type="pres">
      <dgm:prSet presAssocID="{3CAD477D-A81F-40FB-A495-9A77DB2DD679}" presName="childShape" presStyleCnt="0"/>
      <dgm:spPr/>
    </dgm:pt>
    <dgm:pt modelId="{BD24F86C-372F-42A8-A5EF-210DFB56515B}" type="pres">
      <dgm:prSet presAssocID="{EBF912E9-ECFA-4D3B-A26F-24FDE97F7280}" presName="Name13" presStyleLbl="parChTrans1D2" presStyleIdx="0" presStyleCnt="3"/>
      <dgm:spPr/>
    </dgm:pt>
    <dgm:pt modelId="{FDEE8558-F3D4-4DC0-8ACF-692EC4720B00}" type="pres">
      <dgm:prSet presAssocID="{1E8AE57E-3934-4C09-A517-7325CE6CAE4C}" presName="childText" presStyleLbl="bgAcc1" presStyleIdx="0" presStyleCnt="3" custScaleX="351417">
        <dgm:presLayoutVars>
          <dgm:bulletEnabled val="1"/>
        </dgm:presLayoutVars>
      </dgm:prSet>
      <dgm:spPr/>
    </dgm:pt>
    <dgm:pt modelId="{E71CE26D-CFD4-4432-B169-98B777F3706D}" type="pres">
      <dgm:prSet presAssocID="{ABA37175-9EB5-4F26-B05C-BB184D0E267C}" presName="Name13" presStyleLbl="parChTrans1D2" presStyleIdx="1" presStyleCnt="3"/>
      <dgm:spPr/>
    </dgm:pt>
    <dgm:pt modelId="{8D3CA03E-16EF-4CBA-B325-1C76B77A0D52}" type="pres">
      <dgm:prSet presAssocID="{2D2A6872-6B18-468D-AA98-99B15789DC5A}" presName="childText" presStyleLbl="bgAcc1" presStyleIdx="1" presStyleCnt="3" custScaleX="350543">
        <dgm:presLayoutVars>
          <dgm:bulletEnabled val="1"/>
        </dgm:presLayoutVars>
      </dgm:prSet>
      <dgm:spPr/>
    </dgm:pt>
    <dgm:pt modelId="{8FFF23EB-562D-4C14-A012-E380968581FF}" type="pres">
      <dgm:prSet presAssocID="{5C48F70E-AC45-4C3C-AF23-1D7B34BB4B07}" presName="Name13" presStyleLbl="parChTrans1D2" presStyleIdx="2" presStyleCnt="3"/>
      <dgm:spPr/>
    </dgm:pt>
    <dgm:pt modelId="{E0E23238-1033-4A63-841C-1DC714756084}" type="pres">
      <dgm:prSet presAssocID="{881B6D25-DF1A-4085-B4EC-DEA7573055B6}" presName="childText" presStyleLbl="bgAcc1" presStyleIdx="2" presStyleCnt="3" custScaleX="354499">
        <dgm:presLayoutVars>
          <dgm:bulletEnabled val="1"/>
        </dgm:presLayoutVars>
      </dgm:prSet>
      <dgm:spPr/>
    </dgm:pt>
  </dgm:ptLst>
  <dgm:cxnLst>
    <dgm:cxn modelId="{0CE4E113-F0F9-428B-93D0-584B4E7C62E5}" type="presOf" srcId="{EBF912E9-ECFA-4D3B-A26F-24FDE97F7280}" destId="{BD24F86C-372F-42A8-A5EF-210DFB56515B}" srcOrd="0" destOrd="0" presId="urn:microsoft.com/office/officeart/2005/8/layout/hierarchy3"/>
    <dgm:cxn modelId="{58649418-1232-4AFA-B479-776C7C9AAFE5}" type="presOf" srcId="{1E8AE57E-3934-4C09-A517-7325CE6CAE4C}" destId="{FDEE8558-F3D4-4DC0-8ACF-692EC4720B00}" srcOrd="0" destOrd="0" presId="urn:microsoft.com/office/officeart/2005/8/layout/hierarchy3"/>
    <dgm:cxn modelId="{3F5BCA2C-C638-4497-A14D-18646E58260F}" srcId="{D9FA7C55-E64C-4A99-A6E0-9707F0D933E1}" destId="{3CAD477D-A81F-40FB-A495-9A77DB2DD679}" srcOrd="0" destOrd="0" parTransId="{634C93F4-81D0-42B4-8A0A-3F871E99E4B6}" sibTransId="{5FD3F23B-3237-4F83-B465-EA0A9268D1C8}"/>
    <dgm:cxn modelId="{D884754A-F1D0-4130-A091-D282241850CA}" type="presOf" srcId="{881B6D25-DF1A-4085-B4EC-DEA7573055B6}" destId="{E0E23238-1033-4A63-841C-1DC714756084}" srcOrd="0" destOrd="0" presId="urn:microsoft.com/office/officeart/2005/8/layout/hierarchy3"/>
    <dgm:cxn modelId="{967F75A0-1D7C-4903-A88C-66C48C6CCEC5}" srcId="{3CAD477D-A81F-40FB-A495-9A77DB2DD679}" destId="{881B6D25-DF1A-4085-B4EC-DEA7573055B6}" srcOrd="2" destOrd="0" parTransId="{5C48F70E-AC45-4C3C-AF23-1D7B34BB4B07}" sibTransId="{CB5212D9-DA37-4F79-AFD2-B9D5754ACBF6}"/>
    <dgm:cxn modelId="{756B80A0-5558-4C3A-A6C1-51EFF1780AA7}" type="presOf" srcId="{ABA37175-9EB5-4F26-B05C-BB184D0E267C}" destId="{E71CE26D-CFD4-4432-B169-98B777F3706D}" srcOrd="0" destOrd="0" presId="urn:microsoft.com/office/officeart/2005/8/layout/hierarchy3"/>
    <dgm:cxn modelId="{FF7780BC-9884-4670-9667-CF3EE2F6BDB6}" type="presOf" srcId="{D9FA7C55-E64C-4A99-A6E0-9707F0D933E1}" destId="{354E087D-D4FE-435F-B758-D4A759F1F874}" srcOrd="0" destOrd="0" presId="urn:microsoft.com/office/officeart/2005/8/layout/hierarchy3"/>
    <dgm:cxn modelId="{E05158C0-45AA-433D-B494-D20980EE4CBC}" srcId="{3CAD477D-A81F-40FB-A495-9A77DB2DD679}" destId="{2D2A6872-6B18-468D-AA98-99B15789DC5A}" srcOrd="1" destOrd="0" parTransId="{ABA37175-9EB5-4F26-B05C-BB184D0E267C}" sibTransId="{FEF3C60C-A704-4397-8D09-7460C87E76BF}"/>
    <dgm:cxn modelId="{618FA3CC-EA4C-44D2-B77A-3AAA1BB97AF2}" type="presOf" srcId="{3CAD477D-A81F-40FB-A495-9A77DB2DD679}" destId="{4EAC9162-0DE4-4034-A591-671280E29800}" srcOrd="0" destOrd="0" presId="urn:microsoft.com/office/officeart/2005/8/layout/hierarchy3"/>
    <dgm:cxn modelId="{CF2D1DD2-F39B-4A59-90C5-FC6E4642FBD9}" type="presOf" srcId="{3CAD477D-A81F-40FB-A495-9A77DB2DD679}" destId="{F20CE37B-4D96-42FC-8A0C-6BC544986638}" srcOrd="1" destOrd="0" presId="urn:microsoft.com/office/officeart/2005/8/layout/hierarchy3"/>
    <dgm:cxn modelId="{1E2C1BD6-C06E-4B70-9D00-F6DEDEDBCE5F}" type="presOf" srcId="{5C48F70E-AC45-4C3C-AF23-1D7B34BB4B07}" destId="{8FFF23EB-562D-4C14-A012-E380968581FF}" srcOrd="0" destOrd="0" presId="urn:microsoft.com/office/officeart/2005/8/layout/hierarchy3"/>
    <dgm:cxn modelId="{E01A1CD6-43C3-4218-BAAC-196AF9F492D2}" srcId="{3CAD477D-A81F-40FB-A495-9A77DB2DD679}" destId="{1E8AE57E-3934-4C09-A517-7325CE6CAE4C}" srcOrd="0" destOrd="0" parTransId="{EBF912E9-ECFA-4D3B-A26F-24FDE97F7280}" sibTransId="{9CBF9596-524B-43A9-9567-665D991817C5}"/>
    <dgm:cxn modelId="{FE8383F6-E887-4D7F-B095-204CBA8F0AC5}" type="presOf" srcId="{2D2A6872-6B18-468D-AA98-99B15789DC5A}" destId="{8D3CA03E-16EF-4CBA-B325-1C76B77A0D52}" srcOrd="0" destOrd="0" presId="urn:microsoft.com/office/officeart/2005/8/layout/hierarchy3"/>
    <dgm:cxn modelId="{58B7AFD9-BA1B-4A25-B8EC-FED2E9F5A6B0}" type="presParOf" srcId="{354E087D-D4FE-435F-B758-D4A759F1F874}" destId="{149BAD9D-B290-4CD1-8ADD-6690C26D2795}" srcOrd="0" destOrd="0" presId="urn:microsoft.com/office/officeart/2005/8/layout/hierarchy3"/>
    <dgm:cxn modelId="{37353D25-2D6F-44A8-BCD9-9C2019B5ADB4}" type="presParOf" srcId="{149BAD9D-B290-4CD1-8ADD-6690C26D2795}" destId="{0FB760AA-472F-4C6D-BFF7-8C7542CCDBCB}" srcOrd="0" destOrd="0" presId="urn:microsoft.com/office/officeart/2005/8/layout/hierarchy3"/>
    <dgm:cxn modelId="{DAE0210B-D377-42DE-A141-2172A02C5842}" type="presParOf" srcId="{0FB760AA-472F-4C6D-BFF7-8C7542CCDBCB}" destId="{4EAC9162-0DE4-4034-A591-671280E29800}" srcOrd="0" destOrd="0" presId="urn:microsoft.com/office/officeart/2005/8/layout/hierarchy3"/>
    <dgm:cxn modelId="{D34CA38C-116E-476F-A536-61D30D9F5416}" type="presParOf" srcId="{0FB760AA-472F-4C6D-BFF7-8C7542CCDBCB}" destId="{F20CE37B-4D96-42FC-8A0C-6BC544986638}" srcOrd="1" destOrd="0" presId="urn:microsoft.com/office/officeart/2005/8/layout/hierarchy3"/>
    <dgm:cxn modelId="{8057A444-45E9-406C-BC8C-1584F5E7429A}" type="presParOf" srcId="{149BAD9D-B290-4CD1-8ADD-6690C26D2795}" destId="{E3F9D584-B85C-4923-8E41-F1A903888F16}" srcOrd="1" destOrd="0" presId="urn:microsoft.com/office/officeart/2005/8/layout/hierarchy3"/>
    <dgm:cxn modelId="{B59605FF-AAF3-4114-8D04-DC4545D2DFCA}" type="presParOf" srcId="{E3F9D584-B85C-4923-8E41-F1A903888F16}" destId="{BD24F86C-372F-42A8-A5EF-210DFB56515B}" srcOrd="0" destOrd="0" presId="urn:microsoft.com/office/officeart/2005/8/layout/hierarchy3"/>
    <dgm:cxn modelId="{AAB82CFC-2507-4541-B027-63C3A9FA51F6}" type="presParOf" srcId="{E3F9D584-B85C-4923-8E41-F1A903888F16}" destId="{FDEE8558-F3D4-4DC0-8ACF-692EC4720B00}" srcOrd="1" destOrd="0" presId="urn:microsoft.com/office/officeart/2005/8/layout/hierarchy3"/>
    <dgm:cxn modelId="{ED76DE9F-3D19-44A0-9EE1-F2A2EA931755}" type="presParOf" srcId="{E3F9D584-B85C-4923-8E41-F1A903888F16}" destId="{E71CE26D-CFD4-4432-B169-98B777F3706D}" srcOrd="2" destOrd="0" presId="urn:microsoft.com/office/officeart/2005/8/layout/hierarchy3"/>
    <dgm:cxn modelId="{750E6438-55F7-4710-ABBE-64F6A5D2AAD8}" type="presParOf" srcId="{E3F9D584-B85C-4923-8E41-F1A903888F16}" destId="{8D3CA03E-16EF-4CBA-B325-1C76B77A0D52}" srcOrd="3" destOrd="0" presId="urn:microsoft.com/office/officeart/2005/8/layout/hierarchy3"/>
    <dgm:cxn modelId="{1CBD3957-E12C-4364-AC38-78D12E6D7C1D}" type="presParOf" srcId="{E3F9D584-B85C-4923-8E41-F1A903888F16}" destId="{8FFF23EB-562D-4C14-A012-E380968581FF}" srcOrd="4" destOrd="0" presId="urn:microsoft.com/office/officeart/2005/8/layout/hierarchy3"/>
    <dgm:cxn modelId="{81E42198-320C-410C-9EC9-F01D370E22F4}" type="presParOf" srcId="{E3F9D584-B85C-4923-8E41-F1A903888F16}" destId="{E0E23238-1033-4A63-841C-1DC714756084}"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FA7C55-E64C-4A99-A6E0-9707F0D933E1}"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3CAD477D-A81F-40FB-A495-9A77DB2DD679}">
      <dgm:prSet phldrT="[Text]" custT="1"/>
      <dgm:spPr/>
      <dgm:t>
        <a:bodyPr/>
        <a:lstStyle/>
        <a:p>
          <a:r>
            <a:rPr lang="en-US" sz="2900">
              <a:latin typeface="Arial" pitchFamily="34" charset="0"/>
              <a:cs typeface="Arial" pitchFamily="34" charset="0"/>
            </a:rPr>
            <a:t>4.3. Giao diện Map</a:t>
          </a:r>
        </a:p>
      </dgm:t>
    </dgm:pt>
    <dgm:pt modelId="{634C93F4-81D0-42B4-8A0A-3F871E99E4B6}" type="parTrans" cxnId="{3F5BCA2C-C638-4497-A14D-18646E58260F}">
      <dgm:prSet/>
      <dgm:spPr/>
      <dgm:t>
        <a:bodyPr/>
        <a:lstStyle/>
        <a:p>
          <a:endParaRPr lang="en-US"/>
        </a:p>
      </dgm:t>
    </dgm:pt>
    <dgm:pt modelId="{5FD3F23B-3237-4F83-B465-EA0A9268D1C8}" type="sibTrans" cxnId="{3F5BCA2C-C638-4497-A14D-18646E58260F}">
      <dgm:prSet/>
      <dgm:spPr/>
      <dgm:t>
        <a:bodyPr/>
        <a:lstStyle/>
        <a:p>
          <a:endParaRPr lang="en-US"/>
        </a:p>
      </dgm:t>
    </dgm:pt>
    <dgm:pt modelId="{1E8AE57E-3934-4C09-A517-7325CE6CAE4C}">
      <dgm:prSet phldrT="[Text]" custT="1"/>
      <dgm:spPr/>
      <dgm:t>
        <a:bodyPr/>
        <a:lstStyle/>
        <a:p>
          <a:pPr algn="l"/>
          <a:r>
            <a:rPr lang="en-US" sz="2900">
              <a:latin typeface="Arial" pitchFamily="34" charset="0"/>
              <a:cs typeface="Arial" pitchFamily="34" charset="0"/>
            </a:rPr>
            <a:t>4.3.1. Lớp HashMap</a:t>
          </a:r>
        </a:p>
      </dgm:t>
    </dgm:pt>
    <dgm:pt modelId="{EBF912E9-ECFA-4D3B-A26F-24FDE97F7280}" type="parTrans" cxnId="{E01A1CD6-43C3-4218-BAAC-196AF9F492D2}">
      <dgm:prSet/>
      <dgm:spPr/>
      <dgm:t>
        <a:bodyPr/>
        <a:lstStyle/>
        <a:p>
          <a:endParaRPr lang="en-US"/>
        </a:p>
      </dgm:t>
    </dgm:pt>
    <dgm:pt modelId="{9CBF9596-524B-43A9-9567-665D991817C5}" type="sibTrans" cxnId="{E01A1CD6-43C3-4218-BAAC-196AF9F492D2}">
      <dgm:prSet/>
      <dgm:spPr/>
      <dgm:t>
        <a:bodyPr/>
        <a:lstStyle/>
        <a:p>
          <a:endParaRPr lang="en-US"/>
        </a:p>
      </dgm:t>
    </dgm:pt>
    <dgm:pt modelId="{2D2A6872-6B18-468D-AA98-99B15789DC5A}">
      <dgm:prSet phldrT="[Text]" custT="1"/>
      <dgm:spPr/>
      <dgm:t>
        <a:bodyPr/>
        <a:lstStyle/>
        <a:p>
          <a:pPr algn="l"/>
          <a:r>
            <a:rPr lang="en-US" sz="2900">
              <a:latin typeface="Arial" pitchFamily="34" charset="0"/>
              <a:cs typeface="Arial" pitchFamily="34" charset="0"/>
            </a:rPr>
            <a:t>4.3.2. Lớp LinkedHashMap</a:t>
          </a:r>
        </a:p>
      </dgm:t>
    </dgm:pt>
    <dgm:pt modelId="{ABA37175-9EB5-4F26-B05C-BB184D0E267C}" type="parTrans" cxnId="{E05158C0-45AA-433D-B494-D20980EE4CBC}">
      <dgm:prSet/>
      <dgm:spPr/>
      <dgm:t>
        <a:bodyPr/>
        <a:lstStyle/>
        <a:p>
          <a:endParaRPr lang="en-US"/>
        </a:p>
      </dgm:t>
    </dgm:pt>
    <dgm:pt modelId="{FEF3C60C-A704-4397-8D09-7460C87E76BF}" type="sibTrans" cxnId="{E05158C0-45AA-433D-B494-D20980EE4CBC}">
      <dgm:prSet/>
      <dgm:spPr/>
      <dgm:t>
        <a:bodyPr/>
        <a:lstStyle/>
        <a:p>
          <a:endParaRPr lang="en-US"/>
        </a:p>
      </dgm:t>
    </dgm:pt>
    <dgm:pt modelId="{881B6D25-DF1A-4085-B4EC-DEA7573055B6}">
      <dgm:prSet phldrT="[Text]" custT="1"/>
      <dgm:spPr/>
      <dgm:t>
        <a:bodyPr/>
        <a:lstStyle/>
        <a:p>
          <a:pPr algn="l"/>
          <a:r>
            <a:rPr lang="en-US" sz="2900">
              <a:latin typeface="Arial" pitchFamily="34" charset="0"/>
              <a:cs typeface="Arial" pitchFamily="34" charset="0"/>
            </a:rPr>
            <a:t>4.3.3. Lớp TreeMap</a:t>
          </a:r>
        </a:p>
      </dgm:t>
    </dgm:pt>
    <dgm:pt modelId="{5C48F70E-AC45-4C3C-AF23-1D7B34BB4B07}" type="parTrans" cxnId="{967F75A0-1D7C-4903-A88C-66C48C6CCEC5}">
      <dgm:prSet/>
      <dgm:spPr/>
      <dgm:t>
        <a:bodyPr/>
        <a:lstStyle/>
        <a:p>
          <a:endParaRPr lang="en-US"/>
        </a:p>
      </dgm:t>
    </dgm:pt>
    <dgm:pt modelId="{CB5212D9-DA37-4F79-AFD2-B9D5754ACBF6}" type="sibTrans" cxnId="{967F75A0-1D7C-4903-A88C-66C48C6CCEC5}">
      <dgm:prSet/>
      <dgm:spPr/>
      <dgm:t>
        <a:bodyPr/>
        <a:lstStyle/>
        <a:p>
          <a:endParaRPr lang="en-US"/>
        </a:p>
      </dgm:t>
    </dgm:pt>
    <dgm:pt modelId="{BF557985-86DB-466A-93F4-D1986CDBC62E}">
      <dgm:prSet phldrT="[Text]" custT="1"/>
      <dgm:spPr/>
      <dgm:t>
        <a:bodyPr/>
        <a:lstStyle/>
        <a:p>
          <a:pPr algn="l"/>
          <a:r>
            <a:rPr lang="en-US" sz="2900">
              <a:latin typeface="Arial" pitchFamily="34" charset="0"/>
              <a:cs typeface="Arial" pitchFamily="34" charset="0"/>
            </a:rPr>
            <a:t>4.3.4. Lớp HashTable</a:t>
          </a:r>
        </a:p>
      </dgm:t>
    </dgm:pt>
    <dgm:pt modelId="{DB2751D7-E9EA-4965-B05E-6BBCE7CA074D}" type="parTrans" cxnId="{F3EBBF1B-0ABC-4E43-B53D-C8B5D7D00A57}">
      <dgm:prSet/>
      <dgm:spPr/>
    </dgm:pt>
    <dgm:pt modelId="{C4D046DF-A096-4DFE-8C88-7DD401681C22}" type="sibTrans" cxnId="{F3EBBF1B-0ABC-4E43-B53D-C8B5D7D00A57}">
      <dgm:prSet/>
      <dgm:spPr/>
    </dgm:pt>
    <dgm:pt modelId="{354E087D-D4FE-435F-B758-D4A759F1F874}" type="pres">
      <dgm:prSet presAssocID="{D9FA7C55-E64C-4A99-A6E0-9707F0D933E1}" presName="diagram" presStyleCnt="0">
        <dgm:presLayoutVars>
          <dgm:chPref val="1"/>
          <dgm:dir/>
          <dgm:animOne val="branch"/>
          <dgm:animLvl val="lvl"/>
          <dgm:resizeHandles/>
        </dgm:presLayoutVars>
      </dgm:prSet>
      <dgm:spPr/>
    </dgm:pt>
    <dgm:pt modelId="{149BAD9D-B290-4CD1-8ADD-6690C26D2795}" type="pres">
      <dgm:prSet presAssocID="{3CAD477D-A81F-40FB-A495-9A77DB2DD679}" presName="root" presStyleCnt="0"/>
      <dgm:spPr/>
    </dgm:pt>
    <dgm:pt modelId="{0FB760AA-472F-4C6D-BFF7-8C7542CCDBCB}" type="pres">
      <dgm:prSet presAssocID="{3CAD477D-A81F-40FB-A495-9A77DB2DD679}" presName="rootComposite" presStyleCnt="0"/>
      <dgm:spPr/>
    </dgm:pt>
    <dgm:pt modelId="{4EAC9162-0DE4-4034-A591-671280E29800}" type="pres">
      <dgm:prSet presAssocID="{3CAD477D-A81F-40FB-A495-9A77DB2DD679}" presName="rootText" presStyleLbl="node1" presStyleIdx="0" presStyleCnt="1" custScaleX="207381"/>
      <dgm:spPr/>
    </dgm:pt>
    <dgm:pt modelId="{F20CE37B-4D96-42FC-8A0C-6BC544986638}" type="pres">
      <dgm:prSet presAssocID="{3CAD477D-A81F-40FB-A495-9A77DB2DD679}" presName="rootConnector" presStyleLbl="node1" presStyleIdx="0" presStyleCnt="1"/>
      <dgm:spPr/>
    </dgm:pt>
    <dgm:pt modelId="{E3F9D584-B85C-4923-8E41-F1A903888F16}" type="pres">
      <dgm:prSet presAssocID="{3CAD477D-A81F-40FB-A495-9A77DB2DD679}" presName="childShape" presStyleCnt="0"/>
      <dgm:spPr/>
    </dgm:pt>
    <dgm:pt modelId="{BD24F86C-372F-42A8-A5EF-210DFB56515B}" type="pres">
      <dgm:prSet presAssocID="{EBF912E9-ECFA-4D3B-A26F-24FDE97F7280}" presName="Name13" presStyleLbl="parChTrans1D2" presStyleIdx="0" presStyleCnt="4"/>
      <dgm:spPr/>
    </dgm:pt>
    <dgm:pt modelId="{FDEE8558-F3D4-4DC0-8ACF-692EC4720B00}" type="pres">
      <dgm:prSet presAssocID="{1E8AE57E-3934-4C09-A517-7325CE6CAE4C}" presName="childText" presStyleLbl="bgAcc1" presStyleIdx="0" presStyleCnt="4" custScaleX="274442">
        <dgm:presLayoutVars>
          <dgm:bulletEnabled val="1"/>
        </dgm:presLayoutVars>
      </dgm:prSet>
      <dgm:spPr/>
    </dgm:pt>
    <dgm:pt modelId="{E71CE26D-CFD4-4432-B169-98B777F3706D}" type="pres">
      <dgm:prSet presAssocID="{ABA37175-9EB5-4F26-B05C-BB184D0E267C}" presName="Name13" presStyleLbl="parChTrans1D2" presStyleIdx="1" presStyleCnt="4"/>
      <dgm:spPr/>
    </dgm:pt>
    <dgm:pt modelId="{8D3CA03E-16EF-4CBA-B325-1C76B77A0D52}" type="pres">
      <dgm:prSet presAssocID="{2D2A6872-6B18-468D-AA98-99B15789DC5A}" presName="childText" presStyleLbl="bgAcc1" presStyleIdx="1" presStyleCnt="4" custScaleX="273760">
        <dgm:presLayoutVars>
          <dgm:bulletEnabled val="1"/>
        </dgm:presLayoutVars>
      </dgm:prSet>
      <dgm:spPr/>
    </dgm:pt>
    <dgm:pt modelId="{8FFF23EB-562D-4C14-A012-E380968581FF}" type="pres">
      <dgm:prSet presAssocID="{5C48F70E-AC45-4C3C-AF23-1D7B34BB4B07}" presName="Name13" presStyleLbl="parChTrans1D2" presStyleIdx="2" presStyleCnt="4"/>
      <dgm:spPr/>
    </dgm:pt>
    <dgm:pt modelId="{E0E23238-1033-4A63-841C-1DC714756084}" type="pres">
      <dgm:prSet presAssocID="{881B6D25-DF1A-4085-B4EC-DEA7573055B6}" presName="childText" presStyleLbl="bgAcc1" presStyleIdx="2" presStyleCnt="4" custScaleX="276849">
        <dgm:presLayoutVars>
          <dgm:bulletEnabled val="1"/>
        </dgm:presLayoutVars>
      </dgm:prSet>
      <dgm:spPr/>
    </dgm:pt>
    <dgm:pt modelId="{3509785C-9E70-4871-9248-00D055E4771C}" type="pres">
      <dgm:prSet presAssocID="{DB2751D7-E9EA-4965-B05E-6BBCE7CA074D}" presName="Name13" presStyleLbl="parChTrans1D2" presStyleIdx="3" presStyleCnt="4"/>
      <dgm:spPr/>
    </dgm:pt>
    <dgm:pt modelId="{50E00437-30B5-45A3-9DD7-5C32F12FA183}" type="pres">
      <dgm:prSet presAssocID="{BF557985-86DB-466A-93F4-D1986CDBC62E}" presName="childText" presStyleLbl="bgAcc1" presStyleIdx="3" presStyleCnt="4" custScaleX="276849">
        <dgm:presLayoutVars>
          <dgm:bulletEnabled val="1"/>
        </dgm:presLayoutVars>
      </dgm:prSet>
      <dgm:spPr/>
    </dgm:pt>
  </dgm:ptLst>
  <dgm:cxnLst>
    <dgm:cxn modelId="{F02CEF02-59AF-4DB1-AB10-159FFA424D27}" type="presOf" srcId="{2D2A6872-6B18-468D-AA98-99B15789DC5A}" destId="{8D3CA03E-16EF-4CBA-B325-1C76B77A0D52}" srcOrd="0" destOrd="0" presId="urn:microsoft.com/office/officeart/2005/8/layout/hierarchy3"/>
    <dgm:cxn modelId="{B23DEF0F-0908-4E3D-B87F-F3711995A392}" type="presOf" srcId="{5C48F70E-AC45-4C3C-AF23-1D7B34BB4B07}" destId="{8FFF23EB-562D-4C14-A012-E380968581FF}" srcOrd="0" destOrd="0" presId="urn:microsoft.com/office/officeart/2005/8/layout/hierarchy3"/>
    <dgm:cxn modelId="{585F4211-DD54-4D80-93E5-4AE9FD1406B9}" type="presOf" srcId="{881B6D25-DF1A-4085-B4EC-DEA7573055B6}" destId="{E0E23238-1033-4A63-841C-1DC714756084}" srcOrd="0" destOrd="0" presId="urn:microsoft.com/office/officeart/2005/8/layout/hierarchy3"/>
    <dgm:cxn modelId="{F3EBBF1B-0ABC-4E43-B53D-C8B5D7D00A57}" srcId="{3CAD477D-A81F-40FB-A495-9A77DB2DD679}" destId="{BF557985-86DB-466A-93F4-D1986CDBC62E}" srcOrd="3" destOrd="0" parTransId="{DB2751D7-E9EA-4965-B05E-6BBCE7CA074D}" sibTransId="{C4D046DF-A096-4DFE-8C88-7DD401681C22}"/>
    <dgm:cxn modelId="{3F5BCA2C-C638-4497-A14D-18646E58260F}" srcId="{D9FA7C55-E64C-4A99-A6E0-9707F0D933E1}" destId="{3CAD477D-A81F-40FB-A495-9A77DB2DD679}" srcOrd="0" destOrd="0" parTransId="{634C93F4-81D0-42B4-8A0A-3F871E99E4B6}" sibTransId="{5FD3F23B-3237-4F83-B465-EA0A9268D1C8}"/>
    <dgm:cxn modelId="{B725DD2D-3614-4D6D-A498-0F3B0B31A245}" type="presOf" srcId="{EBF912E9-ECFA-4D3B-A26F-24FDE97F7280}" destId="{BD24F86C-372F-42A8-A5EF-210DFB56515B}" srcOrd="0" destOrd="0" presId="urn:microsoft.com/office/officeart/2005/8/layout/hierarchy3"/>
    <dgm:cxn modelId="{4EE3F33C-1753-487F-A964-9B402CB8982E}" type="presOf" srcId="{DB2751D7-E9EA-4965-B05E-6BBCE7CA074D}" destId="{3509785C-9E70-4871-9248-00D055E4771C}" srcOrd="0" destOrd="0" presId="urn:microsoft.com/office/officeart/2005/8/layout/hierarchy3"/>
    <dgm:cxn modelId="{4200F74A-FAE4-4305-B3BA-423207753098}" type="presOf" srcId="{D9FA7C55-E64C-4A99-A6E0-9707F0D933E1}" destId="{354E087D-D4FE-435F-B758-D4A759F1F874}" srcOrd="0" destOrd="0" presId="urn:microsoft.com/office/officeart/2005/8/layout/hierarchy3"/>
    <dgm:cxn modelId="{3D94C44E-4FFB-46E1-B78B-1CF0FD190D82}" type="presOf" srcId="{BF557985-86DB-466A-93F4-D1986CDBC62E}" destId="{50E00437-30B5-45A3-9DD7-5C32F12FA183}" srcOrd="0" destOrd="0" presId="urn:microsoft.com/office/officeart/2005/8/layout/hierarchy3"/>
    <dgm:cxn modelId="{7F5B2658-0011-4F9A-80AD-0A511CA6E777}" type="presOf" srcId="{3CAD477D-A81F-40FB-A495-9A77DB2DD679}" destId="{4EAC9162-0DE4-4034-A591-671280E29800}" srcOrd="0" destOrd="0" presId="urn:microsoft.com/office/officeart/2005/8/layout/hierarchy3"/>
    <dgm:cxn modelId="{84DE4799-C8BF-4866-B4A2-B6E6F55BFBFA}" type="presOf" srcId="{ABA37175-9EB5-4F26-B05C-BB184D0E267C}" destId="{E71CE26D-CFD4-4432-B169-98B777F3706D}" srcOrd="0" destOrd="0" presId="urn:microsoft.com/office/officeart/2005/8/layout/hierarchy3"/>
    <dgm:cxn modelId="{DE74B29F-1936-4EE3-9B5B-DBF1EED798A2}" type="presOf" srcId="{1E8AE57E-3934-4C09-A517-7325CE6CAE4C}" destId="{FDEE8558-F3D4-4DC0-8ACF-692EC4720B00}" srcOrd="0" destOrd="0" presId="urn:microsoft.com/office/officeart/2005/8/layout/hierarchy3"/>
    <dgm:cxn modelId="{967F75A0-1D7C-4903-A88C-66C48C6CCEC5}" srcId="{3CAD477D-A81F-40FB-A495-9A77DB2DD679}" destId="{881B6D25-DF1A-4085-B4EC-DEA7573055B6}" srcOrd="2" destOrd="0" parTransId="{5C48F70E-AC45-4C3C-AF23-1D7B34BB4B07}" sibTransId="{CB5212D9-DA37-4F79-AFD2-B9D5754ACBF6}"/>
    <dgm:cxn modelId="{E05158C0-45AA-433D-B494-D20980EE4CBC}" srcId="{3CAD477D-A81F-40FB-A495-9A77DB2DD679}" destId="{2D2A6872-6B18-468D-AA98-99B15789DC5A}" srcOrd="1" destOrd="0" parTransId="{ABA37175-9EB5-4F26-B05C-BB184D0E267C}" sibTransId="{FEF3C60C-A704-4397-8D09-7460C87E76BF}"/>
    <dgm:cxn modelId="{E01A1CD6-43C3-4218-BAAC-196AF9F492D2}" srcId="{3CAD477D-A81F-40FB-A495-9A77DB2DD679}" destId="{1E8AE57E-3934-4C09-A517-7325CE6CAE4C}" srcOrd="0" destOrd="0" parTransId="{EBF912E9-ECFA-4D3B-A26F-24FDE97F7280}" sibTransId="{9CBF9596-524B-43A9-9567-665D991817C5}"/>
    <dgm:cxn modelId="{328C9FEE-6D84-4ABC-9059-7792A0F1E18E}" type="presOf" srcId="{3CAD477D-A81F-40FB-A495-9A77DB2DD679}" destId="{F20CE37B-4D96-42FC-8A0C-6BC544986638}" srcOrd="1" destOrd="0" presId="urn:microsoft.com/office/officeart/2005/8/layout/hierarchy3"/>
    <dgm:cxn modelId="{6122CA26-782F-4276-9729-73CC5504087A}" type="presParOf" srcId="{354E087D-D4FE-435F-B758-D4A759F1F874}" destId="{149BAD9D-B290-4CD1-8ADD-6690C26D2795}" srcOrd="0" destOrd="0" presId="urn:microsoft.com/office/officeart/2005/8/layout/hierarchy3"/>
    <dgm:cxn modelId="{F9F06AC2-D1D9-4F8B-B5C5-ED39629B11AF}" type="presParOf" srcId="{149BAD9D-B290-4CD1-8ADD-6690C26D2795}" destId="{0FB760AA-472F-4C6D-BFF7-8C7542CCDBCB}" srcOrd="0" destOrd="0" presId="urn:microsoft.com/office/officeart/2005/8/layout/hierarchy3"/>
    <dgm:cxn modelId="{C111A3CB-D511-4600-966E-F126F88EE6D5}" type="presParOf" srcId="{0FB760AA-472F-4C6D-BFF7-8C7542CCDBCB}" destId="{4EAC9162-0DE4-4034-A591-671280E29800}" srcOrd="0" destOrd="0" presId="urn:microsoft.com/office/officeart/2005/8/layout/hierarchy3"/>
    <dgm:cxn modelId="{09A898C3-ABDB-458A-B657-83896A552EED}" type="presParOf" srcId="{0FB760AA-472F-4C6D-BFF7-8C7542CCDBCB}" destId="{F20CE37B-4D96-42FC-8A0C-6BC544986638}" srcOrd="1" destOrd="0" presId="urn:microsoft.com/office/officeart/2005/8/layout/hierarchy3"/>
    <dgm:cxn modelId="{A36A4FB5-6F10-4199-81C1-ED57A8E347CB}" type="presParOf" srcId="{149BAD9D-B290-4CD1-8ADD-6690C26D2795}" destId="{E3F9D584-B85C-4923-8E41-F1A903888F16}" srcOrd="1" destOrd="0" presId="urn:microsoft.com/office/officeart/2005/8/layout/hierarchy3"/>
    <dgm:cxn modelId="{BBE98026-D7F2-432C-B8DC-0AD696B631BD}" type="presParOf" srcId="{E3F9D584-B85C-4923-8E41-F1A903888F16}" destId="{BD24F86C-372F-42A8-A5EF-210DFB56515B}" srcOrd="0" destOrd="0" presId="urn:microsoft.com/office/officeart/2005/8/layout/hierarchy3"/>
    <dgm:cxn modelId="{8AE241B3-DEFB-421D-AD9D-4D77163B40CB}" type="presParOf" srcId="{E3F9D584-B85C-4923-8E41-F1A903888F16}" destId="{FDEE8558-F3D4-4DC0-8ACF-692EC4720B00}" srcOrd="1" destOrd="0" presId="urn:microsoft.com/office/officeart/2005/8/layout/hierarchy3"/>
    <dgm:cxn modelId="{7B729620-C33B-413C-B8F3-520CE0932AA6}" type="presParOf" srcId="{E3F9D584-B85C-4923-8E41-F1A903888F16}" destId="{E71CE26D-CFD4-4432-B169-98B777F3706D}" srcOrd="2" destOrd="0" presId="urn:microsoft.com/office/officeart/2005/8/layout/hierarchy3"/>
    <dgm:cxn modelId="{2867C313-D32C-4722-A652-77050447B308}" type="presParOf" srcId="{E3F9D584-B85C-4923-8E41-F1A903888F16}" destId="{8D3CA03E-16EF-4CBA-B325-1C76B77A0D52}" srcOrd="3" destOrd="0" presId="urn:microsoft.com/office/officeart/2005/8/layout/hierarchy3"/>
    <dgm:cxn modelId="{BDBB34AB-57F6-4F52-AE9B-39C411BFE8B5}" type="presParOf" srcId="{E3F9D584-B85C-4923-8E41-F1A903888F16}" destId="{8FFF23EB-562D-4C14-A012-E380968581FF}" srcOrd="4" destOrd="0" presId="urn:microsoft.com/office/officeart/2005/8/layout/hierarchy3"/>
    <dgm:cxn modelId="{145D354E-2273-4A49-957D-2F59451D2588}" type="presParOf" srcId="{E3F9D584-B85C-4923-8E41-F1A903888F16}" destId="{E0E23238-1033-4A63-841C-1DC714756084}" srcOrd="5" destOrd="0" presId="urn:microsoft.com/office/officeart/2005/8/layout/hierarchy3"/>
    <dgm:cxn modelId="{614CE08F-3814-4A9E-80E5-3E5167E51A26}" type="presParOf" srcId="{E3F9D584-B85C-4923-8E41-F1A903888F16}" destId="{3509785C-9E70-4871-9248-00D055E4771C}" srcOrd="6" destOrd="0" presId="urn:microsoft.com/office/officeart/2005/8/layout/hierarchy3"/>
    <dgm:cxn modelId="{8025E3D6-1D03-468E-A0CF-4893E328ECDC}" type="presParOf" srcId="{E3F9D584-B85C-4923-8E41-F1A903888F16}" destId="{50E00437-30B5-45A3-9DD7-5C32F12FA183}"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AC9162-0DE4-4034-A591-671280E29800}">
      <dsp:nvSpPr>
        <dsp:cNvPr id="0" name=""/>
        <dsp:cNvSpPr/>
      </dsp:nvSpPr>
      <dsp:spPr>
        <a:xfrm>
          <a:off x="1488920" y="2152"/>
          <a:ext cx="3928003" cy="12919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50800" rIns="76200" bIns="50800" numCol="1" spcCol="1270" anchor="ctr" anchorCtr="0">
          <a:noAutofit/>
        </a:bodyPr>
        <a:lstStyle/>
        <a:p>
          <a:pPr marL="0" lvl="0" indent="0" algn="ctr" defTabSz="1778000">
            <a:lnSpc>
              <a:spcPct val="90000"/>
            </a:lnSpc>
            <a:spcBef>
              <a:spcPct val="0"/>
            </a:spcBef>
            <a:spcAft>
              <a:spcPct val="35000"/>
            </a:spcAft>
            <a:buNone/>
          </a:pPr>
          <a:r>
            <a:rPr lang="en-US" sz="4000" kern="1200"/>
            <a:t>4.1. Giao diện List</a:t>
          </a:r>
        </a:p>
      </dsp:txBody>
      <dsp:txXfrm>
        <a:off x="1526759" y="39991"/>
        <a:ext cx="3852325" cy="1216224"/>
      </dsp:txXfrm>
    </dsp:sp>
    <dsp:sp modelId="{BD24F86C-372F-42A8-A5EF-210DFB56515B}">
      <dsp:nvSpPr>
        <dsp:cNvPr id="0" name=""/>
        <dsp:cNvSpPr/>
      </dsp:nvSpPr>
      <dsp:spPr>
        <a:xfrm>
          <a:off x="1881720" y="1294054"/>
          <a:ext cx="392800" cy="968926"/>
        </a:xfrm>
        <a:custGeom>
          <a:avLst/>
          <a:gdLst/>
          <a:ahLst/>
          <a:cxnLst/>
          <a:rect l="0" t="0" r="0" b="0"/>
          <a:pathLst>
            <a:path>
              <a:moveTo>
                <a:pt x="0" y="0"/>
              </a:moveTo>
              <a:lnTo>
                <a:pt x="0" y="968926"/>
              </a:lnTo>
              <a:lnTo>
                <a:pt x="392800" y="96892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EE8558-F3D4-4DC0-8ACF-692EC4720B00}">
      <dsp:nvSpPr>
        <dsp:cNvPr id="0" name=""/>
        <dsp:cNvSpPr/>
      </dsp:nvSpPr>
      <dsp:spPr>
        <a:xfrm>
          <a:off x="2274521" y="1617030"/>
          <a:ext cx="4424487" cy="129190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50800" rIns="76200" bIns="50800" numCol="1" spcCol="1270" anchor="ctr" anchorCtr="0">
          <a:noAutofit/>
        </a:bodyPr>
        <a:lstStyle/>
        <a:p>
          <a:pPr marL="0" lvl="0" indent="0" algn="l" defTabSz="1778000">
            <a:lnSpc>
              <a:spcPct val="90000"/>
            </a:lnSpc>
            <a:spcBef>
              <a:spcPct val="0"/>
            </a:spcBef>
            <a:spcAft>
              <a:spcPct val="35000"/>
            </a:spcAft>
            <a:buNone/>
          </a:pPr>
          <a:r>
            <a:rPr lang="en-US" sz="4000" kern="1200"/>
            <a:t>4.1.1. Lớp ArrayList</a:t>
          </a:r>
        </a:p>
      </dsp:txBody>
      <dsp:txXfrm>
        <a:off x="2312360" y="1654869"/>
        <a:ext cx="4348809" cy="1216224"/>
      </dsp:txXfrm>
    </dsp:sp>
    <dsp:sp modelId="{BDEBA2F2-C19F-4351-B778-01806BA378D4}">
      <dsp:nvSpPr>
        <dsp:cNvPr id="0" name=""/>
        <dsp:cNvSpPr/>
      </dsp:nvSpPr>
      <dsp:spPr>
        <a:xfrm>
          <a:off x="1881720" y="1294054"/>
          <a:ext cx="392800" cy="2583805"/>
        </a:xfrm>
        <a:custGeom>
          <a:avLst/>
          <a:gdLst/>
          <a:ahLst/>
          <a:cxnLst/>
          <a:rect l="0" t="0" r="0" b="0"/>
          <a:pathLst>
            <a:path>
              <a:moveTo>
                <a:pt x="0" y="0"/>
              </a:moveTo>
              <a:lnTo>
                <a:pt x="0" y="2583805"/>
              </a:lnTo>
              <a:lnTo>
                <a:pt x="392800" y="258380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646B0A-719D-4F5A-BEE6-BECEB5A99AC2}">
      <dsp:nvSpPr>
        <dsp:cNvPr id="0" name=""/>
        <dsp:cNvSpPr/>
      </dsp:nvSpPr>
      <dsp:spPr>
        <a:xfrm>
          <a:off x="2274521" y="3231908"/>
          <a:ext cx="4466158" cy="129190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50800" rIns="76200" bIns="50800" numCol="1" spcCol="1270" anchor="ctr" anchorCtr="0">
          <a:noAutofit/>
        </a:bodyPr>
        <a:lstStyle/>
        <a:p>
          <a:pPr marL="0" lvl="0" indent="0" algn="l" defTabSz="1778000">
            <a:lnSpc>
              <a:spcPct val="90000"/>
            </a:lnSpc>
            <a:spcBef>
              <a:spcPct val="0"/>
            </a:spcBef>
            <a:spcAft>
              <a:spcPct val="35000"/>
            </a:spcAft>
            <a:buNone/>
          </a:pPr>
          <a:r>
            <a:rPr lang="en-US" sz="4000" kern="1200"/>
            <a:t>4.1.2. Lớp LinkedList</a:t>
          </a:r>
        </a:p>
      </dsp:txBody>
      <dsp:txXfrm>
        <a:off x="2312360" y="3269747"/>
        <a:ext cx="4390480" cy="12162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AC9162-0DE4-4034-A591-671280E29800}">
      <dsp:nvSpPr>
        <dsp:cNvPr id="0" name=""/>
        <dsp:cNvSpPr/>
      </dsp:nvSpPr>
      <dsp:spPr>
        <a:xfrm>
          <a:off x="631052" y="167"/>
          <a:ext cx="4590730" cy="110683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a:latin typeface="Arial" pitchFamily="34" charset="0"/>
              <a:cs typeface="Arial" pitchFamily="34" charset="0"/>
            </a:rPr>
            <a:t>4.1. Giao diện Set</a:t>
          </a:r>
        </a:p>
      </dsp:txBody>
      <dsp:txXfrm>
        <a:off x="663470" y="32585"/>
        <a:ext cx="4525894" cy="1041998"/>
      </dsp:txXfrm>
    </dsp:sp>
    <dsp:sp modelId="{BD24F86C-372F-42A8-A5EF-210DFB56515B}">
      <dsp:nvSpPr>
        <dsp:cNvPr id="0" name=""/>
        <dsp:cNvSpPr/>
      </dsp:nvSpPr>
      <dsp:spPr>
        <a:xfrm>
          <a:off x="1090125" y="1107002"/>
          <a:ext cx="459073" cy="830126"/>
        </a:xfrm>
        <a:custGeom>
          <a:avLst/>
          <a:gdLst/>
          <a:ahLst/>
          <a:cxnLst/>
          <a:rect l="0" t="0" r="0" b="0"/>
          <a:pathLst>
            <a:path>
              <a:moveTo>
                <a:pt x="0" y="0"/>
              </a:moveTo>
              <a:lnTo>
                <a:pt x="0" y="830126"/>
              </a:lnTo>
              <a:lnTo>
                <a:pt x="459073" y="83012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EE8558-F3D4-4DC0-8ACF-692EC4720B00}">
      <dsp:nvSpPr>
        <dsp:cNvPr id="0" name=""/>
        <dsp:cNvSpPr/>
      </dsp:nvSpPr>
      <dsp:spPr>
        <a:xfrm>
          <a:off x="1549198" y="1383710"/>
          <a:ext cx="6223368" cy="11068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marL="0" lvl="0" indent="0" algn="l" defTabSz="1289050">
            <a:lnSpc>
              <a:spcPct val="90000"/>
            </a:lnSpc>
            <a:spcBef>
              <a:spcPct val="0"/>
            </a:spcBef>
            <a:spcAft>
              <a:spcPct val="35000"/>
            </a:spcAft>
            <a:buNone/>
          </a:pPr>
          <a:r>
            <a:rPr lang="en-US" sz="2900" kern="1200">
              <a:latin typeface="Arial" pitchFamily="34" charset="0"/>
              <a:cs typeface="Arial" pitchFamily="34" charset="0"/>
            </a:rPr>
            <a:t>4.2.1. Lớp HashSet</a:t>
          </a:r>
        </a:p>
      </dsp:txBody>
      <dsp:txXfrm>
        <a:off x="1581616" y="1416128"/>
        <a:ext cx="6158532" cy="1041998"/>
      </dsp:txXfrm>
    </dsp:sp>
    <dsp:sp modelId="{E71CE26D-CFD4-4432-B169-98B777F3706D}">
      <dsp:nvSpPr>
        <dsp:cNvPr id="0" name=""/>
        <dsp:cNvSpPr/>
      </dsp:nvSpPr>
      <dsp:spPr>
        <a:xfrm>
          <a:off x="1090125" y="1107002"/>
          <a:ext cx="459073" cy="2213669"/>
        </a:xfrm>
        <a:custGeom>
          <a:avLst/>
          <a:gdLst/>
          <a:ahLst/>
          <a:cxnLst/>
          <a:rect l="0" t="0" r="0" b="0"/>
          <a:pathLst>
            <a:path>
              <a:moveTo>
                <a:pt x="0" y="0"/>
              </a:moveTo>
              <a:lnTo>
                <a:pt x="0" y="2213669"/>
              </a:lnTo>
              <a:lnTo>
                <a:pt x="459073" y="22136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3CA03E-16EF-4CBA-B325-1C76B77A0D52}">
      <dsp:nvSpPr>
        <dsp:cNvPr id="0" name=""/>
        <dsp:cNvSpPr/>
      </dsp:nvSpPr>
      <dsp:spPr>
        <a:xfrm>
          <a:off x="1549198" y="2767254"/>
          <a:ext cx="6207890" cy="11068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marL="0" lvl="0" indent="0" algn="l" defTabSz="1289050">
            <a:lnSpc>
              <a:spcPct val="90000"/>
            </a:lnSpc>
            <a:spcBef>
              <a:spcPct val="0"/>
            </a:spcBef>
            <a:spcAft>
              <a:spcPct val="35000"/>
            </a:spcAft>
            <a:buNone/>
          </a:pPr>
          <a:r>
            <a:rPr lang="en-US" sz="2900" kern="1200">
              <a:latin typeface="Arial" pitchFamily="34" charset="0"/>
              <a:cs typeface="Arial" pitchFamily="34" charset="0"/>
            </a:rPr>
            <a:t>4.2.2. Lớp LinkedHashset</a:t>
          </a:r>
        </a:p>
      </dsp:txBody>
      <dsp:txXfrm>
        <a:off x="1581616" y="2799672"/>
        <a:ext cx="6143054" cy="1041998"/>
      </dsp:txXfrm>
    </dsp:sp>
    <dsp:sp modelId="{8FFF23EB-562D-4C14-A012-E380968581FF}">
      <dsp:nvSpPr>
        <dsp:cNvPr id="0" name=""/>
        <dsp:cNvSpPr/>
      </dsp:nvSpPr>
      <dsp:spPr>
        <a:xfrm>
          <a:off x="1090125" y="1107002"/>
          <a:ext cx="459073" cy="3597212"/>
        </a:xfrm>
        <a:custGeom>
          <a:avLst/>
          <a:gdLst/>
          <a:ahLst/>
          <a:cxnLst/>
          <a:rect l="0" t="0" r="0" b="0"/>
          <a:pathLst>
            <a:path>
              <a:moveTo>
                <a:pt x="0" y="0"/>
              </a:moveTo>
              <a:lnTo>
                <a:pt x="0" y="3597212"/>
              </a:lnTo>
              <a:lnTo>
                <a:pt x="459073" y="35972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E23238-1033-4A63-841C-1DC714756084}">
      <dsp:nvSpPr>
        <dsp:cNvPr id="0" name=""/>
        <dsp:cNvSpPr/>
      </dsp:nvSpPr>
      <dsp:spPr>
        <a:xfrm>
          <a:off x="1549198" y="4150797"/>
          <a:ext cx="6277949" cy="11068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marL="0" lvl="0" indent="0" algn="l" defTabSz="1289050">
            <a:lnSpc>
              <a:spcPct val="90000"/>
            </a:lnSpc>
            <a:spcBef>
              <a:spcPct val="0"/>
            </a:spcBef>
            <a:spcAft>
              <a:spcPct val="35000"/>
            </a:spcAft>
            <a:buNone/>
          </a:pPr>
          <a:r>
            <a:rPr lang="en-US" sz="2900" kern="1200">
              <a:latin typeface="Arial" pitchFamily="34" charset="0"/>
              <a:cs typeface="Arial" pitchFamily="34" charset="0"/>
            </a:rPr>
            <a:t>4.2.3. Lớp TreeSet</a:t>
          </a:r>
        </a:p>
      </dsp:txBody>
      <dsp:txXfrm>
        <a:off x="1581616" y="4183215"/>
        <a:ext cx="6213113" cy="10419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AC9162-0DE4-4034-A591-671280E29800}">
      <dsp:nvSpPr>
        <dsp:cNvPr id="0" name=""/>
        <dsp:cNvSpPr/>
      </dsp:nvSpPr>
      <dsp:spPr>
        <a:xfrm>
          <a:off x="1926778" y="2232"/>
          <a:ext cx="3631472" cy="8755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a:latin typeface="Arial" pitchFamily="34" charset="0"/>
              <a:cs typeface="Arial" pitchFamily="34" charset="0"/>
            </a:rPr>
            <a:t>4.3. Giao diện Map</a:t>
          </a:r>
        </a:p>
      </dsp:txBody>
      <dsp:txXfrm>
        <a:off x="1952422" y="27876"/>
        <a:ext cx="3580184" cy="824267"/>
      </dsp:txXfrm>
    </dsp:sp>
    <dsp:sp modelId="{BD24F86C-372F-42A8-A5EF-210DFB56515B}">
      <dsp:nvSpPr>
        <dsp:cNvPr id="0" name=""/>
        <dsp:cNvSpPr/>
      </dsp:nvSpPr>
      <dsp:spPr>
        <a:xfrm>
          <a:off x="2289925" y="877788"/>
          <a:ext cx="363147" cy="656666"/>
        </a:xfrm>
        <a:custGeom>
          <a:avLst/>
          <a:gdLst/>
          <a:ahLst/>
          <a:cxnLst/>
          <a:rect l="0" t="0" r="0" b="0"/>
          <a:pathLst>
            <a:path>
              <a:moveTo>
                <a:pt x="0" y="0"/>
              </a:moveTo>
              <a:lnTo>
                <a:pt x="0" y="656666"/>
              </a:lnTo>
              <a:lnTo>
                <a:pt x="363147" y="6566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EE8558-F3D4-4DC0-8ACF-692EC4720B00}">
      <dsp:nvSpPr>
        <dsp:cNvPr id="0" name=""/>
        <dsp:cNvSpPr/>
      </dsp:nvSpPr>
      <dsp:spPr>
        <a:xfrm>
          <a:off x="2653073" y="1096677"/>
          <a:ext cx="3844628" cy="8755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marL="0" lvl="0" indent="0" algn="l" defTabSz="1289050">
            <a:lnSpc>
              <a:spcPct val="90000"/>
            </a:lnSpc>
            <a:spcBef>
              <a:spcPct val="0"/>
            </a:spcBef>
            <a:spcAft>
              <a:spcPct val="35000"/>
            </a:spcAft>
            <a:buNone/>
          </a:pPr>
          <a:r>
            <a:rPr lang="en-US" sz="2900" kern="1200">
              <a:latin typeface="Arial" pitchFamily="34" charset="0"/>
              <a:cs typeface="Arial" pitchFamily="34" charset="0"/>
            </a:rPr>
            <a:t>4.3.1. Lớp HashMap</a:t>
          </a:r>
        </a:p>
      </dsp:txBody>
      <dsp:txXfrm>
        <a:off x="2678717" y="1122321"/>
        <a:ext cx="3793340" cy="824267"/>
      </dsp:txXfrm>
    </dsp:sp>
    <dsp:sp modelId="{E71CE26D-CFD4-4432-B169-98B777F3706D}">
      <dsp:nvSpPr>
        <dsp:cNvPr id="0" name=""/>
        <dsp:cNvSpPr/>
      </dsp:nvSpPr>
      <dsp:spPr>
        <a:xfrm>
          <a:off x="2289925" y="877788"/>
          <a:ext cx="363147" cy="1751111"/>
        </a:xfrm>
        <a:custGeom>
          <a:avLst/>
          <a:gdLst/>
          <a:ahLst/>
          <a:cxnLst/>
          <a:rect l="0" t="0" r="0" b="0"/>
          <a:pathLst>
            <a:path>
              <a:moveTo>
                <a:pt x="0" y="0"/>
              </a:moveTo>
              <a:lnTo>
                <a:pt x="0" y="1751111"/>
              </a:lnTo>
              <a:lnTo>
                <a:pt x="363147" y="175111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3CA03E-16EF-4CBA-B325-1C76B77A0D52}">
      <dsp:nvSpPr>
        <dsp:cNvPr id="0" name=""/>
        <dsp:cNvSpPr/>
      </dsp:nvSpPr>
      <dsp:spPr>
        <a:xfrm>
          <a:off x="2653073" y="2191122"/>
          <a:ext cx="3835074" cy="8755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marL="0" lvl="0" indent="0" algn="l" defTabSz="1289050">
            <a:lnSpc>
              <a:spcPct val="90000"/>
            </a:lnSpc>
            <a:spcBef>
              <a:spcPct val="0"/>
            </a:spcBef>
            <a:spcAft>
              <a:spcPct val="35000"/>
            </a:spcAft>
            <a:buNone/>
          </a:pPr>
          <a:r>
            <a:rPr lang="en-US" sz="2900" kern="1200">
              <a:latin typeface="Arial" pitchFamily="34" charset="0"/>
              <a:cs typeface="Arial" pitchFamily="34" charset="0"/>
            </a:rPr>
            <a:t>4.3.2. Lớp LinkedHashMap</a:t>
          </a:r>
        </a:p>
      </dsp:txBody>
      <dsp:txXfrm>
        <a:off x="2678717" y="2216766"/>
        <a:ext cx="3783786" cy="824267"/>
      </dsp:txXfrm>
    </dsp:sp>
    <dsp:sp modelId="{8FFF23EB-562D-4C14-A012-E380968581FF}">
      <dsp:nvSpPr>
        <dsp:cNvPr id="0" name=""/>
        <dsp:cNvSpPr/>
      </dsp:nvSpPr>
      <dsp:spPr>
        <a:xfrm>
          <a:off x="2289925" y="877788"/>
          <a:ext cx="363147" cy="2845556"/>
        </a:xfrm>
        <a:custGeom>
          <a:avLst/>
          <a:gdLst/>
          <a:ahLst/>
          <a:cxnLst/>
          <a:rect l="0" t="0" r="0" b="0"/>
          <a:pathLst>
            <a:path>
              <a:moveTo>
                <a:pt x="0" y="0"/>
              </a:moveTo>
              <a:lnTo>
                <a:pt x="0" y="2845556"/>
              </a:lnTo>
              <a:lnTo>
                <a:pt x="363147" y="284555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E23238-1033-4A63-841C-1DC714756084}">
      <dsp:nvSpPr>
        <dsp:cNvPr id="0" name=""/>
        <dsp:cNvSpPr/>
      </dsp:nvSpPr>
      <dsp:spPr>
        <a:xfrm>
          <a:off x="2653073" y="3285566"/>
          <a:ext cx="3878348" cy="8755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marL="0" lvl="0" indent="0" algn="l" defTabSz="1289050">
            <a:lnSpc>
              <a:spcPct val="90000"/>
            </a:lnSpc>
            <a:spcBef>
              <a:spcPct val="0"/>
            </a:spcBef>
            <a:spcAft>
              <a:spcPct val="35000"/>
            </a:spcAft>
            <a:buNone/>
          </a:pPr>
          <a:r>
            <a:rPr lang="en-US" sz="2900" kern="1200">
              <a:latin typeface="Arial" pitchFamily="34" charset="0"/>
              <a:cs typeface="Arial" pitchFamily="34" charset="0"/>
            </a:rPr>
            <a:t>4.3.3. Lớp TreeMap</a:t>
          </a:r>
        </a:p>
      </dsp:txBody>
      <dsp:txXfrm>
        <a:off x="2678717" y="3311210"/>
        <a:ext cx="3827060" cy="824267"/>
      </dsp:txXfrm>
    </dsp:sp>
    <dsp:sp modelId="{3509785C-9E70-4871-9248-00D055E4771C}">
      <dsp:nvSpPr>
        <dsp:cNvPr id="0" name=""/>
        <dsp:cNvSpPr/>
      </dsp:nvSpPr>
      <dsp:spPr>
        <a:xfrm>
          <a:off x="2289925" y="877788"/>
          <a:ext cx="363147" cy="3940001"/>
        </a:xfrm>
        <a:custGeom>
          <a:avLst/>
          <a:gdLst/>
          <a:ahLst/>
          <a:cxnLst/>
          <a:rect l="0" t="0" r="0" b="0"/>
          <a:pathLst>
            <a:path>
              <a:moveTo>
                <a:pt x="0" y="0"/>
              </a:moveTo>
              <a:lnTo>
                <a:pt x="0" y="3940001"/>
              </a:lnTo>
              <a:lnTo>
                <a:pt x="363147" y="394000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E00437-30B5-45A3-9DD7-5C32F12FA183}">
      <dsp:nvSpPr>
        <dsp:cNvPr id="0" name=""/>
        <dsp:cNvSpPr/>
      </dsp:nvSpPr>
      <dsp:spPr>
        <a:xfrm>
          <a:off x="2653073" y="4380011"/>
          <a:ext cx="3878348" cy="8755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marL="0" lvl="0" indent="0" algn="l" defTabSz="1289050">
            <a:lnSpc>
              <a:spcPct val="90000"/>
            </a:lnSpc>
            <a:spcBef>
              <a:spcPct val="0"/>
            </a:spcBef>
            <a:spcAft>
              <a:spcPct val="35000"/>
            </a:spcAft>
            <a:buNone/>
          </a:pPr>
          <a:r>
            <a:rPr lang="en-US" sz="2900" kern="1200">
              <a:latin typeface="Arial" pitchFamily="34" charset="0"/>
              <a:cs typeface="Arial" pitchFamily="34" charset="0"/>
            </a:rPr>
            <a:t>4.3.4. Lớp HashTable</a:t>
          </a:r>
        </a:p>
      </dsp:txBody>
      <dsp:txXfrm>
        <a:off x="2678717" y="4405655"/>
        <a:ext cx="3827060" cy="82426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AA2825-80B7-44A4-845A-A47597B5130C}" type="datetimeFigureOut">
              <a:rPr lang="en-US" smtClean="0"/>
              <a:t>1/13/21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D81EA8-62F8-4D7A-AC97-F41CCFF26FA7}" type="slidenum">
              <a:rPr lang="en-US" smtClean="0"/>
              <a:t>‹#›</a:t>
            </a:fld>
            <a:endParaRPr lang="en-US"/>
          </a:p>
        </p:txBody>
      </p:sp>
    </p:spTree>
    <p:extLst>
      <p:ext uri="{BB962C8B-B14F-4D97-AF65-F5344CB8AC3E}">
        <p14:creationId xmlns:p14="http://schemas.microsoft.com/office/powerpoint/2010/main" val="1214345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5,6,7,8,9 chua</a:t>
            </a:r>
            <a:r>
              <a:rPr lang="en-US" baseline="0"/>
              <a:t> thu</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5</a:t>
            </a:fld>
            <a:endParaRPr lang="en-US"/>
          </a:p>
        </p:txBody>
      </p:sp>
    </p:spTree>
    <p:extLst>
      <p:ext uri="{BB962C8B-B14F-4D97-AF65-F5344CB8AC3E}">
        <p14:creationId xmlns:p14="http://schemas.microsoft.com/office/powerpoint/2010/main" val="205568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a:effectLst/>
              </a:rPr>
              <a:t>Predicate</a:t>
            </a:r>
            <a:r>
              <a:rPr lang="vi-VN">
                <a:effectLst/>
              </a:rPr>
              <a:t> là một </a:t>
            </a:r>
            <a:r>
              <a:rPr lang="vi-VN" b="1">
                <a:effectLst/>
              </a:rPr>
              <a:t>Functional interface</a:t>
            </a:r>
            <a:r>
              <a:rPr lang="vi-VN">
                <a:effectLst/>
              </a:rPr>
              <a:t> xây dựng sẵn của </a:t>
            </a:r>
            <a:r>
              <a:rPr lang="vi-VN" b="1" i="1">
                <a:effectLst/>
              </a:rPr>
              <a:t>Java 8</a:t>
            </a:r>
            <a:r>
              <a:rPr lang="vi-VN">
                <a:effectLst/>
              </a:rPr>
              <a:t>, nó có một method trừu tượng duy nhất chấp nhận một tham số đầu vào, và method trả về giá trị </a:t>
            </a:r>
            <a:r>
              <a:rPr lang="vi-VN" b="1">
                <a:effectLst/>
              </a:rPr>
              <a:t>boolean</a:t>
            </a:r>
            <a:r>
              <a:rPr lang="vi-VN">
                <a:effectLst/>
              </a:rPr>
              <a:t> (true/false). Method này dùng để đánh giá tham số đầu vào phù hợp với một logic gì đó hay không. https://o7planning.org/vi/10323/cu-phap-va-cac-tinh-nang-moi-trong-java-8#a272663</a:t>
            </a:r>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10</a:t>
            </a:fld>
            <a:endParaRPr lang="en-US"/>
          </a:p>
        </p:txBody>
      </p:sp>
    </p:spTree>
    <p:extLst>
      <p:ext uri="{BB962C8B-B14F-4D97-AF65-F5344CB8AC3E}">
        <p14:creationId xmlns:p14="http://schemas.microsoft.com/office/powerpoint/2010/main" val="98827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1) Làm thế nào để tìm xem một phần tử có tồn tại trong LinkedList hay không. Nếu nó tồn tại lấy vị trí của phần tử đó?</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Trước tiên sử dụng phương thức contains() để kiểm tra LinkedList có chứa phần tử cần tìm hay không, nếu có, lấy vị trí bằng phương thức indexOf ().</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28</a:t>
            </a:fld>
            <a:endParaRPr lang="en-US"/>
          </a:p>
        </p:txBody>
      </p:sp>
    </p:spTree>
    <p:extLst>
      <p:ext uri="{BB962C8B-B14F-4D97-AF65-F5344CB8AC3E}">
        <p14:creationId xmlns:p14="http://schemas.microsoft.com/office/powerpoint/2010/main" val="1040350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2) Viết chương trình Java để duyệt qua các phần tử của LinkedList theo hướng ngược lại?</a:t>
            </a:r>
          </a:p>
          <a:p>
            <a:r>
              <a:rPr lang="en-US" sz="1200" kern="1200">
                <a:solidFill>
                  <a:schemeClr val="tx1"/>
                </a:solidFill>
                <a:effectLst/>
                <a:latin typeface="+mn-lt"/>
                <a:ea typeface="+mn-ea"/>
                <a:cs typeface="+mn-cs"/>
              </a:rPr>
              <a:t>Điều này có thể được thực hiện bằng cách sử dụng phương thức </a:t>
            </a:r>
            <a:r>
              <a:rPr lang="en-US" sz="1200" b="1" kern="1200">
                <a:solidFill>
                  <a:schemeClr val="tx1"/>
                </a:solidFill>
                <a:effectLst/>
                <a:latin typeface="+mn-lt"/>
                <a:ea typeface="+mn-ea"/>
                <a:cs typeface="+mn-cs"/>
              </a:rPr>
              <a:t>descendingIterator() </a:t>
            </a:r>
            <a:r>
              <a:rPr lang="en-US" sz="1200" kern="1200">
                <a:solidFill>
                  <a:schemeClr val="tx1"/>
                </a:solidFill>
                <a:effectLst/>
                <a:latin typeface="+mn-lt"/>
                <a:ea typeface="+mn-ea"/>
                <a:cs typeface="+mn-cs"/>
              </a:rPr>
              <a:t>trả về một đối tượng Iterator chứa tất cả các phần tử của LinkedList theo thứ tự ngược lại, từ đuôi đến đầu.</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29</a:t>
            </a:fld>
            <a:endParaRPr lang="en-US"/>
          </a:p>
        </p:txBody>
      </p:sp>
    </p:spTree>
    <p:extLst>
      <p:ext uri="{BB962C8B-B14F-4D97-AF65-F5344CB8AC3E}">
        <p14:creationId xmlns:p14="http://schemas.microsoft.com/office/powerpoint/2010/main" val="3246490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4) Viết chương trình Java thực thi LinkedList dưới dạng QUEUE (FIFO)?</a:t>
            </a:r>
          </a:p>
          <a:p>
            <a:r>
              <a:rPr lang="en-US" sz="1200" kern="1200">
                <a:solidFill>
                  <a:schemeClr val="tx1"/>
                </a:solidFill>
                <a:effectLst/>
                <a:latin typeface="+mn-lt"/>
                <a:ea typeface="+mn-ea"/>
                <a:cs typeface="+mn-cs"/>
              </a:rPr>
              <a:t>Sử dụng các phương thức offer () và poll () để LinkedList hoạt động như một QUEUE.</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30</a:t>
            </a:fld>
            <a:endParaRPr lang="en-US"/>
          </a:p>
        </p:txBody>
      </p:sp>
    </p:spTree>
    <p:extLst>
      <p:ext uri="{BB962C8B-B14F-4D97-AF65-F5344CB8AC3E}">
        <p14:creationId xmlns:p14="http://schemas.microsoft.com/office/powerpoint/2010/main" val="2152433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8) Làm thế nào để bạn thay thế một phần tử tại một vị trí cụ thể của LinkedList bằng phần tử đã cho?</a:t>
            </a:r>
          </a:p>
          <a:p>
            <a:r>
              <a:rPr lang="en-US" sz="1200" kern="1200">
                <a:solidFill>
                  <a:schemeClr val="tx1"/>
                </a:solidFill>
                <a:effectLst/>
                <a:latin typeface="+mn-lt"/>
                <a:ea typeface="+mn-ea"/>
                <a:cs typeface="+mn-cs"/>
              </a:rPr>
              <a:t>Để thay thế một phần tử ở vị trí cụ thể của LinkedList, hãy sử dụng phương thức set ().</a:t>
            </a:r>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31</a:t>
            </a:fld>
            <a:endParaRPr lang="en-US"/>
          </a:p>
        </p:txBody>
      </p:sp>
    </p:spTree>
    <p:extLst>
      <p:ext uri="{BB962C8B-B14F-4D97-AF65-F5344CB8AC3E}">
        <p14:creationId xmlns:p14="http://schemas.microsoft.com/office/powerpoint/2010/main" val="2257942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10) Làm thế nào để  truy xuất và xóa một phần tử từ vị trí cụ thể của LinkedList?</a:t>
            </a:r>
          </a:p>
          <a:p>
            <a:r>
              <a:rPr lang="en-US" sz="1200" kern="1200">
                <a:solidFill>
                  <a:schemeClr val="tx1"/>
                </a:solidFill>
                <a:effectLst/>
                <a:latin typeface="+mn-lt"/>
                <a:ea typeface="+mn-ea"/>
                <a:cs typeface="+mn-cs"/>
              </a:rPr>
              <a:t>Bạn có thể sử dụng remove(int index) để truy xuất và xóa phần tử khỏi vị trí cụ thể của LinkedList. Để chỉ lấy một phần tử dùng phương thức get (int index).</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32</a:t>
            </a:fld>
            <a:endParaRPr lang="en-US"/>
          </a:p>
        </p:txBody>
      </p:sp>
    </p:spTree>
    <p:extLst>
      <p:ext uri="{BB962C8B-B14F-4D97-AF65-F5344CB8AC3E}">
        <p14:creationId xmlns:p14="http://schemas.microsoft.com/office/powerpoint/2010/main" val="1440570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effectLst/>
              </a:rPr>
              <a:t>Difference between List and Set</a:t>
            </a:r>
          </a:p>
          <a:p>
            <a:r>
              <a:rPr lang="en-US">
                <a:effectLst/>
              </a:rPr>
              <a:t>A list can contain duplicate elements whereas Set contains unique elements only.</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37</a:t>
            </a:fld>
            <a:endParaRPr lang="en-US"/>
          </a:p>
        </p:txBody>
      </p:sp>
    </p:spTree>
    <p:extLst>
      <p:ext uri="{BB962C8B-B14F-4D97-AF65-F5344CB8AC3E}">
        <p14:creationId xmlns:p14="http://schemas.microsoft.com/office/powerpoint/2010/main" val="2809060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Ví dụ sau tạo một HashSet các bản ghi sinh viên trong đó mỗi bản ghi sinh viên chứa ba trường - </a:t>
            </a:r>
            <a:r>
              <a:rPr lang="en-US" sz="1200" b="1" kern="1200">
                <a:solidFill>
                  <a:schemeClr val="tx1"/>
                </a:solidFill>
                <a:effectLst/>
                <a:latin typeface="+mn-lt"/>
                <a:ea typeface="+mn-ea"/>
                <a:cs typeface="+mn-cs"/>
              </a:rPr>
              <a:t>name</a:t>
            </a:r>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rollNo</a:t>
            </a:r>
            <a:r>
              <a:rPr lang="en-US" sz="1200" kern="1200">
                <a:solidFill>
                  <a:schemeClr val="tx1"/>
                </a:solidFill>
                <a:effectLst/>
                <a:latin typeface="+mn-lt"/>
                <a:ea typeface="+mn-ea"/>
                <a:cs typeface="+mn-cs"/>
              </a:rPr>
              <a:t> và </a:t>
            </a:r>
            <a:r>
              <a:rPr lang="en-US" sz="1200" b="1" kern="1200">
                <a:solidFill>
                  <a:schemeClr val="tx1"/>
                </a:solidFill>
                <a:effectLst/>
                <a:latin typeface="+mn-lt"/>
                <a:ea typeface="+mn-ea"/>
                <a:cs typeface="+mn-cs"/>
              </a:rPr>
              <a:t>department</a:t>
            </a:r>
            <a:r>
              <a:rPr lang="en-US" sz="1200" kern="1200">
                <a:solidFill>
                  <a:schemeClr val="tx1"/>
                </a:solidFill>
                <a:effectLst/>
                <a:latin typeface="+mn-lt"/>
                <a:ea typeface="+mn-ea"/>
                <a:cs typeface="+mn-cs"/>
              </a:rPr>
              <a:t>. Trong đó, rollNo sẽ là duy nhất cho tất cả học sinh.</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44</a:t>
            </a:fld>
            <a:endParaRPr lang="en-US"/>
          </a:p>
        </p:txBody>
      </p:sp>
    </p:spTree>
    <p:extLst>
      <p:ext uri="{BB962C8B-B14F-4D97-AF65-F5344CB8AC3E}">
        <p14:creationId xmlns:p14="http://schemas.microsoft.com/office/powerpoint/2010/main" val="3256615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HashSet</a:t>
            </a:r>
            <a:r>
              <a:rPr lang="en-US" baseline="0"/>
              <a:t> khong duy tri trat tu</a:t>
            </a:r>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45</a:t>
            </a:fld>
            <a:endParaRPr lang="en-US"/>
          </a:p>
        </p:txBody>
      </p:sp>
    </p:spTree>
    <p:extLst>
      <p:ext uri="{BB962C8B-B14F-4D97-AF65-F5344CB8AC3E}">
        <p14:creationId xmlns:p14="http://schemas.microsoft.com/office/powerpoint/2010/main" val="3311515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Không giống như HashSet không duy trì thứ tự</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46</a:t>
            </a:fld>
            <a:endParaRPr lang="en-US"/>
          </a:p>
        </p:txBody>
      </p:sp>
    </p:spTree>
    <p:extLst>
      <p:ext uri="{BB962C8B-B14F-4D97-AF65-F5344CB8AC3E}">
        <p14:creationId xmlns:p14="http://schemas.microsoft.com/office/powerpoint/2010/main" val="1561904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Bạn muốn tạo một nhóm khách hàng được đặt theo thứ tự họ đã đến. Giả sử không cho phép sự trùng lặp. Với yêu cầu như này thì LinkedHashset là phù hợp nhất.</a:t>
            </a:r>
          </a:p>
          <a:p>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50</a:t>
            </a:fld>
            <a:endParaRPr lang="en-US"/>
          </a:p>
        </p:txBody>
      </p:sp>
    </p:spTree>
    <p:extLst>
      <p:ext uri="{BB962C8B-B14F-4D97-AF65-F5344CB8AC3E}">
        <p14:creationId xmlns:p14="http://schemas.microsoft.com/office/powerpoint/2010/main" val="1405066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nếu TreeSet được sửa sau khi tạo một đối tượng Iteator, bạn sẽ nhận được ConcurrentModificationException</a:t>
            </a:r>
            <a:endParaRPr lang="en-US"/>
          </a:p>
        </p:txBody>
      </p:sp>
      <p:sp>
        <p:nvSpPr>
          <p:cNvPr id="4" name="Slide Number Placeholder 3"/>
          <p:cNvSpPr>
            <a:spLocks noGrp="1"/>
          </p:cNvSpPr>
          <p:nvPr>
            <p:ph type="sldNum" sz="quarter" idx="10"/>
          </p:nvPr>
        </p:nvSpPr>
        <p:spPr/>
        <p:txBody>
          <a:bodyPr/>
          <a:lstStyle/>
          <a:p>
            <a:fld id="{38D81EA8-62F8-4D7A-AC97-F41CCFF26FA7}" type="slidenum">
              <a:rPr lang="en-US" smtClean="0"/>
              <a:t>61</a:t>
            </a:fld>
            <a:endParaRPr lang="en-US"/>
          </a:p>
        </p:txBody>
      </p:sp>
    </p:spTree>
    <p:extLst>
      <p:ext uri="{BB962C8B-B14F-4D97-AF65-F5344CB8AC3E}">
        <p14:creationId xmlns:p14="http://schemas.microsoft.com/office/powerpoint/2010/main" val="393874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33169D1-362A-4DFD-82FB-CF2B8E2997B5}" type="datetimeFigureOut">
              <a:rPr lang="en-US" smtClean="0"/>
              <a:t>1/13/21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352633994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3169D1-362A-4DFD-82FB-CF2B8E2997B5}" type="datetimeFigureOut">
              <a:rPr lang="en-US" smtClean="0"/>
              <a:t>1/13/21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68070636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3169D1-362A-4DFD-82FB-CF2B8E2997B5}" type="datetimeFigureOut">
              <a:rPr lang="en-US" smtClean="0"/>
              <a:t>1/13/21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201810440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33169D1-362A-4DFD-82FB-CF2B8E2997B5}" type="datetimeFigureOut">
              <a:rPr lang="en-US" smtClean="0"/>
              <a:t>1/13/21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227719330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3169D1-362A-4DFD-82FB-CF2B8E2997B5}" type="datetimeFigureOut">
              <a:rPr lang="en-US" smtClean="0"/>
              <a:t>1/13/21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2036522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33169D1-362A-4DFD-82FB-CF2B8E2997B5}" type="datetimeFigureOut">
              <a:rPr lang="en-US" smtClean="0"/>
              <a:t>1/13/21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380195882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3169D1-362A-4DFD-82FB-CF2B8E2997B5}" type="datetimeFigureOut">
              <a:rPr lang="en-US" smtClean="0"/>
              <a:t>1/13/21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15414469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3169D1-362A-4DFD-82FB-CF2B8E2997B5}" type="datetimeFigureOut">
              <a:rPr lang="en-US" smtClean="0"/>
              <a:t>1/13/21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386346331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3169D1-362A-4DFD-82FB-CF2B8E2997B5}" type="datetimeFigureOut">
              <a:rPr lang="en-US" smtClean="0"/>
              <a:t>1/13/21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3552794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3169D1-362A-4DFD-82FB-CF2B8E2997B5}" type="datetimeFigureOut">
              <a:rPr lang="en-US" smtClean="0"/>
              <a:t>1/13/21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44682566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3169D1-362A-4DFD-82FB-CF2B8E2997B5}" type="datetimeFigureOut">
              <a:rPr lang="en-US" smtClean="0"/>
              <a:t>1/13/21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CEB38-CCED-48E1-A413-796CFE57B609}" type="slidenum">
              <a:rPr lang="en-US" smtClean="0"/>
              <a:t>‹#›</a:t>
            </a:fld>
            <a:endParaRPr lang="en-US"/>
          </a:p>
        </p:txBody>
      </p:sp>
    </p:spTree>
    <p:extLst>
      <p:ext uri="{BB962C8B-B14F-4D97-AF65-F5344CB8AC3E}">
        <p14:creationId xmlns:p14="http://schemas.microsoft.com/office/powerpoint/2010/main" val="372568709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3169D1-362A-4DFD-82FB-CF2B8E2997B5}" type="datetimeFigureOut">
              <a:rPr lang="en-US" smtClean="0"/>
              <a:t>1/13/21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EB38-CCED-48E1-A413-796CFE57B609}" type="slidenum">
              <a:rPr lang="en-US" smtClean="0"/>
              <a:t>‹#›</a:t>
            </a:fld>
            <a:endParaRPr lang="en-US"/>
          </a:p>
        </p:txBody>
      </p:sp>
    </p:spTree>
    <p:extLst>
      <p:ext uri="{BB962C8B-B14F-4D97-AF65-F5344CB8AC3E}">
        <p14:creationId xmlns:p14="http://schemas.microsoft.com/office/powerpoint/2010/main" val="2092480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0"/>
            <a:ext cx="7772400" cy="1470025"/>
          </a:xfrm>
        </p:spPr>
        <p:txBody>
          <a:bodyPr>
            <a:normAutofit/>
          </a:bodyPr>
          <a:lstStyle/>
          <a:p>
            <a:r>
              <a:rPr lang="en-US" sz="4000" b="1">
                <a:latin typeface="Arial" pitchFamily="34" charset="0"/>
                <a:cs typeface="Arial" pitchFamily="34" charset="0"/>
              </a:rPr>
              <a:t>CHƯƠNG 4</a:t>
            </a:r>
            <a:br>
              <a:rPr lang="en-US" sz="4000" b="1">
                <a:latin typeface="Arial" pitchFamily="34" charset="0"/>
                <a:cs typeface="Arial" pitchFamily="34" charset="0"/>
              </a:rPr>
            </a:br>
            <a:r>
              <a:rPr lang="en-US" sz="4000" b="1">
                <a:latin typeface="Arial" pitchFamily="34" charset="0"/>
                <a:cs typeface="Arial" pitchFamily="34" charset="0"/>
              </a:rPr>
              <a:t>CÁC KIỂU DỮ LIỆU TẬP HỢP</a:t>
            </a:r>
          </a:p>
        </p:txBody>
      </p:sp>
    </p:spTree>
    <p:extLst>
      <p:ext uri="{BB962C8B-B14F-4D97-AF65-F5344CB8AC3E}">
        <p14:creationId xmlns:p14="http://schemas.microsoft.com/office/powerpoint/2010/main" val="400250895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Nội dung chương 4</a:t>
            </a:r>
          </a:p>
        </p:txBody>
      </p:sp>
      <p:sp>
        <p:nvSpPr>
          <p:cNvPr id="4" name="Freeform 3"/>
          <p:cNvSpPr/>
          <p:nvPr/>
        </p:nvSpPr>
        <p:spPr>
          <a:xfrm>
            <a:off x="459185"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0" bIns="905193" numCol="1" spcCol="1270" anchor="ctr" anchorCtr="0">
            <a:noAutofit/>
          </a:bodyPr>
          <a:lstStyle/>
          <a:p>
            <a:pPr lvl="0" algn="ctr" defTabSz="2133600">
              <a:lnSpc>
                <a:spcPct val="90000"/>
              </a:lnSpc>
              <a:spcBef>
                <a:spcPct val="0"/>
              </a:spcBef>
              <a:spcAft>
                <a:spcPct val="35000"/>
              </a:spcAft>
            </a:pPr>
            <a:r>
              <a:rPr lang="en-US" sz="4800" kern="1200"/>
              <a:t>4.1. LIST</a:t>
            </a:r>
          </a:p>
        </p:txBody>
      </p:sp>
      <p:sp>
        <p:nvSpPr>
          <p:cNvPr id="5" name="Freeform 4"/>
          <p:cNvSpPr/>
          <p:nvPr/>
        </p:nvSpPr>
        <p:spPr>
          <a:xfrm>
            <a:off x="2552096" y="1600199"/>
            <a:ext cx="1946896"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1" bIns="905193" numCol="1" spcCol="1270" anchor="ctr" anchorCtr="0">
            <a:noAutofit/>
          </a:bodyPr>
          <a:lstStyle/>
          <a:p>
            <a:pPr lvl="0" algn="ctr" defTabSz="2133600">
              <a:lnSpc>
                <a:spcPct val="90000"/>
              </a:lnSpc>
              <a:spcBef>
                <a:spcPct val="0"/>
              </a:spcBef>
              <a:spcAft>
                <a:spcPct val="35000"/>
              </a:spcAft>
            </a:pPr>
            <a:r>
              <a:rPr lang="en-US" sz="4800" kern="1200"/>
              <a:t>4.2. SET</a:t>
            </a:r>
          </a:p>
        </p:txBody>
      </p:sp>
      <p:sp>
        <p:nvSpPr>
          <p:cNvPr id="6" name="Freeform 5"/>
          <p:cNvSpPr/>
          <p:nvPr/>
        </p:nvSpPr>
        <p:spPr>
          <a:xfrm>
            <a:off x="4645008"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0" bIns="905193" numCol="1" spcCol="1270" anchor="ctr" anchorCtr="0">
            <a:noAutofit/>
          </a:bodyPr>
          <a:lstStyle/>
          <a:p>
            <a:pPr lvl="0" algn="ctr" defTabSz="2133600">
              <a:lnSpc>
                <a:spcPct val="90000"/>
              </a:lnSpc>
              <a:spcBef>
                <a:spcPct val="0"/>
              </a:spcBef>
              <a:spcAft>
                <a:spcPct val="35000"/>
              </a:spcAft>
            </a:pPr>
            <a:r>
              <a:rPr lang="en-US" sz="4800" kern="1200"/>
              <a:t>4.3. MAP</a:t>
            </a:r>
          </a:p>
        </p:txBody>
      </p:sp>
      <p:sp>
        <p:nvSpPr>
          <p:cNvPr id="8" name="Freeform 7"/>
          <p:cNvSpPr/>
          <p:nvPr/>
        </p:nvSpPr>
        <p:spPr>
          <a:xfrm>
            <a:off x="6737920"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5594" bIns="905193" numCol="1" spcCol="1270" anchor="ctr" anchorCtr="0">
            <a:noAutofit/>
          </a:bodyPr>
          <a:lstStyle/>
          <a:p>
            <a:pPr lvl="0" algn="ctr" defTabSz="2133600">
              <a:lnSpc>
                <a:spcPct val="90000"/>
              </a:lnSpc>
              <a:spcBef>
                <a:spcPct val="0"/>
              </a:spcBef>
              <a:spcAft>
                <a:spcPct val="35000"/>
              </a:spcAft>
            </a:pPr>
            <a:r>
              <a:rPr lang="en-US" sz="4800" kern="1200"/>
              <a:t>4.4. Lớp tổng quát</a:t>
            </a:r>
          </a:p>
        </p:txBody>
      </p:sp>
    </p:spTree>
    <p:extLst>
      <p:ext uri="{BB962C8B-B14F-4D97-AF65-F5344CB8AC3E}">
        <p14:creationId xmlns:p14="http://schemas.microsoft.com/office/powerpoint/2010/main" val="272551117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84269927"/>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516243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 LIST</a:t>
            </a:r>
          </a:p>
        </p:txBody>
      </p:sp>
      <p:sp>
        <p:nvSpPr>
          <p:cNvPr id="3" name="Content Placeholder 2"/>
          <p:cNvSpPr>
            <a:spLocks noGrp="1"/>
          </p:cNvSpPr>
          <p:nvPr>
            <p:ph idx="1"/>
          </p:nvPr>
        </p:nvSpPr>
        <p:spPr/>
        <p:txBody>
          <a:bodyPr>
            <a:normAutofit fontScale="85000" lnSpcReduction="10000"/>
          </a:bodyPr>
          <a:lstStyle/>
          <a:p>
            <a:r>
              <a:rPr lang="en-US"/>
              <a:t>Là t</a:t>
            </a:r>
            <a:r>
              <a:rPr lang="vi-VN"/>
              <a:t>ập các đối tượng tuần tự, kế tiếp nhau, có thể lặp lại</a:t>
            </a:r>
            <a:endParaRPr lang="en-US"/>
          </a:p>
          <a:p>
            <a:r>
              <a:rPr lang="en-US"/>
              <a:t>Kế thừa từ Collection</a:t>
            </a:r>
          </a:p>
          <a:p>
            <a:r>
              <a:rPr lang="en-US"/>
              <a:t>Các lớp thực thi của List: ArrayList, Vector và LinkedList </a:t>
            </a:r>
          </a:p>
          <a:p>
            <a:r>
              <a:rPr lang="en-US"/>
              <a:t>Một List có thể có các phần tử trùng nhau</a:t>
            </a:r>
          </a:p>
          <a:p>
            <a:pPr lvl="0"/>
            <a:r>
              <a:rPr lang="en-US"/>
              <a:t>Một List có thể chứa nhiều phần tử null</a:t>
            </a:r>
          </a:p>
          <a:p>
            <a:pPr lvl="0"/>
            <a:r>
              <a:rPr lang="en-US"/>
              <a:t>Chỉ số các phần tử của List được bắt đầu là 0</a:t>
            </a:r>
          </a:p>
          <a:p>
            <a:r>
              <a:rPr lang="en-US"/>
              <a:t>Kế thừa 15 phương thức từ Collection</a:t>
            </a:r>
          </a:p>
          <a:p>
            <a:r>
              <a:rPr lang="en-US"/>
              <a:t>Có 9 phương thức trong List</a:t>
            </a:r>
          </a:p>
        </p:txBody>
      </p:sp>
    </p:spTree>
    <p:extLst>
      <p:ext uri="{BB962C8B-B14F-4D97-AF65-F5344CB8AC3E}">
        <p14:creationId xmlns:p14="http://schemas.microsoft.com/office/powerpoint/2010/main" val="410088483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a:t>Các phương thức của giao diện List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05658065"/>
              </p:ext>
            </p:extLst>
          </p:nvPr>
        </p:nvGraphicFramePr>
        <p:xfrm>
          <a:off x="76201" y="116415"/>
          <a:ext cx="8991600" cy="6509810"/>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5181600">
                  <a:extLst>
                    <a:ext uri="{9D8B030D-6E8A-4147-A177-3AD203B41FA5}">
                      <a16:colId xmlns:a16="http://schemas.microsoft.com/office/drawing/2014/main" val="20002"/>
                    </a:ext>
                  </a:extLst>
                </a:gridCol>
              </a:tblGrid>
              <a:tr h="350873">
                <a:tc>
                  <a:txBody>
                    <a:bodyPr/>
                    <a:lstStyle/>
                    <a:p>
                      <a:pPr>
                        <a:lnSpc>
                          <a:spcPct val="115000"/>
                        </a:lnSpc>
                        <a:spcAft>
                          <a:spcPts val="0"/>
                        </a:spcAft>
                      </a:pPr>
                      <a:r>
                        <a:rPr lang="en-US" sz="1200">
                          <a:effectLst/>
                        </a:rPr>
                        <a:t>STT</a:t>
                      </a:r>
                      <a:endParaRPr lang="en-US" sz="12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Phương thức</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Mô tả</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0"/>
                  </a:ext>
                </a:extLst>
              </a:tr>
              <a:tr h="350873">
                <a:tc>
                  <a:txBody>
                    <a:bodyPr/>
                    <a:lstStyle/>
                    <a:p>
                      <a:pPr>
                        <a:lnSpc>
                          <a:spcPct val="115000"/>
                        </a:lnSpc>
                        <a:spcAft>
                          <a:spcPts val="0"/>
                        </a:spcAft>
                      </a:pPr>
                      <a:r>
                        <a:rPr lang="en-US" sz="2000">
                          <a:effectLst/>
                        </a:rPr>
                        <a:t>1</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E get(int index)</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Trả về phần tử tại chỉ số index</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1"/>
                  </a:ext>
                </a:extLst>
              </a:tr>
              <a:tr h="554320">
                <a:tc>
                  <a:txBody>
                    <a:bodyPr/>
                    <a:lstStyle/>
                    <a:p>
                      <a:pPr>
                        <a:lnSpc>
                          <a:spcPct val="115000"/>
                        </a:lnSpc>
                        <a:spcAft>
                          <a:spcPts val="0"/>
                        </a:spcAft>
                      </a:pPr>
                      <a:r>
                        <a:rPr lang="en-US" sz="2000">
                          <a:effectLst/>
                        </a:rPr>
                        <a:t>2</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E set(int index, E element)</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Thay thế một phần tử tại chỉ số index bằng phần tử element</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2"/>
                  </a:ext>
                </a:extLst>
              </a:tr>
              <a:tr h="350873">
                <a:tc>
                  <a:txBody>
                    <a:bodyPr/>
                    <a:lstStyle/>
                    <a:p>
                      <a:pPr>
                        <a:lnSpc>
                          <a:spcPct val="115000"/>
                        </a:lnSpc>
                        <a:spcAft>
                          <a:spcPts val="0"/>
                        </a:spcAft>
                      </a:pPr>
                      <a:r>
                        <a:rPr lang="en-US" sz="2000">
                          <a:effectLst/>
                        </a:rPr>
                        <a:t>3</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void add(int index, E element)</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Chèn phần tử element tại vị trí có chỉ số index</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3"/>
                  </a:ext>
                </a:extLst>
              </a:tr>
              <a:tr h="350873">
                <a:tc>
                  <a:txBody>
                    <a:bodyPr/>
                    <a:lstStyle/>
                    <a:p>
                      <a:pPr>
                        <a:lnSpc>
                          <a:spcPct val="115000"/>
                        </a:lnSpc>
                        <a:spcAft>
                          <a:spcPts val="0"/>
                        </a:spcAft>
                      </a:pPr>
                      <a:r>
                        <a:rPr lang="en-US" sz="2000">
                          <a:effectLst/>
                        </a:rPr>
                        <a:t>4</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E remove(int index)</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Loại bỏ phần tử tại vị trí có chỉ số index</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4"/>
                  </a:ext>
                </a:extLst>
              </a:tr>
              <a:tr h="350873">
                <a:tc>
                  <a:txBody>
                    <a:bodyPr/>
                    <a:lstStyle/>
                    <a:p>
                      <a:pPr>
                        <a:lnSpc>
                          <a:spcPct val="115000"/>
                        </a:lnSpc>
                        <a:spcAft>
                          <a:spcPts val="0"/>
                        </a:spcAft>
                      </a:pPr>
                      <a:r>
                        <a:rPr lang="en-US" sz="2000">
                          <a:effectLst/>
                        </a:rPr>
                        <a:t>5</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int indexOf(Object o)</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Trả về chỉ số xuất hiện đầu tiên của đối tượng o</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5"/>
                  </a:ext>
                </a:extLst>
              </a:tr>
              <a:tr h="554320">
                <a:tc>
                  <a:txBody>
                    <a:bodyPr/>
                    <a:lstStyle/>
                    <a:p>
                      <a:pPr>
                        <a:lnSpc>
                          <a:spcPct val="115000"/>
                        </a:lnSpc>
                        <a:spcAft>
                          <a:spcPts val="0"/>
                        </a:spcAft>
                      </a:pPr>
                      <a:r>
                        <a:rPr lang="en-US" sz="2000">
                          <a:effectLst/>
                        </a:rPr>
                        <a:t>6</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int lastIndexOf(Object o)</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Trả về một chỉ số lần xuất hiện cuối cùng của đối tượng o</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6"/>
                  </a:ext>
                </a:extLst>
              </a:tr>
              <a:tr h="554320">
                <a:tc>
                  <a:txBody>
                    <a:bodyPr/>
                    <a:lstStyle/>
                    <a:p>
                      <a:pPr>
                        <a:lnSpc>
                          <a:spcPct val="115000"/>
                        </a:lnSpc>
                        <a:spcAft>
                          <a:spcPts val="0"/>
                        </a:spcAft>
                      </a:pPr>
                      <a:r>
                        <a:rPr lang="en-US" sz="2000">
                          <a:effectLst/>
                        </a:rPr>
                        <a:t>7</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ListIterator&lt;E&gt; listIterator()</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Trả về một danh sách các phần tử được lặp lại trong List này</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7"/>
                  </a:ext>
                </a:extLst>
              </a:tr>
              <a:tr h="554320">
                <a:tc>
                  <a:txBody>
                    <a:bodyPr/>
                    <a:lstStyle/>
                    <a:p>
                      <a:pPr>
                        <a:lnSpc>
                          <a:spcPct val="115000"/>
                        </a:lnSpc>
                        <a:spcAft>
                          <a:spcPts val="0"/>
                        </a:spcAft>
                      </a:pPr>
                      <a:r>
                        <a:rPr lang="en-US" sz="2000">
                          <a:effectLst/>
                        </a:rPr>
                        <a:t>8</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ListIterator&lt;E&gt; listIterator(int index)</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Trả về một danh sách các phần tử được lặp lại trong List này bắt đầu từ vị trí có chỉ số index</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8"/>
                  </a:ext>
                </a:extLst>
              </a:tr>
              <a:tr h="554320">
                <a:tc>
                  <a:txBody>
                    <a:bodyPr/>
                    <a:lstStyle/>
                    <a:p>
                      <a:pPr>
                        <a:lnSpc>
                          <a:spcPct val="115000"/>
                        </a:lnSpc>
                        <a:spcAft>
                          <a:spcPts val="0"/>
                        </a:spcAft>
                      </a:pPr>
                      <a:r>
                        <a:rPr lang="en-US" sz="2000">
                          <a:effectLst/>
                        </a:rPr>
                        <a:t>9</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List&lt;E&gt; subList(int fromIndex, int toIndex)</a:t>
                      </a:r>
                      <a:endParaRPr lang="en-US" sz="2000">
                        <a:solidFill>
                          <a:srgbClr val="000000"/>
                        </a:solidFill>
                        <a:effectLst/>
                        <a:latin typeface="Times New Roman"/>
                        <a:ea typeface="Calibri"/>
                        <a:cs typeface="Tahoma"/>
                      </a:endParaRPr>
                    </a:p>
                  </a:txBody>
                  <a:tcPr marL="73713" marR="73713" marT="73713" marB="73713" anchor="b"/>
                </a:tc>
                <a:tc>
                  <a:txBody>
                    <a:bodyPr/>
                    <a:lstStyle/>
                    <a:p>
                      <a:pPr>
                        <a:lnSpc>
                          <a:spcPct val="115000"/>
                        </a:lnSpc>
                        <a:spcAft>
                          <a:spcPts val="0"/>
                        </a:spcAft>
                      </a:pPr>
                      <a:r>
                        <a:rPr lang="en-US" sz="2000">
                          <a:effectLst/>
                        </a:rPr>
                        <a:t>Trả về danh sách con của danh sách này bắt đầu từ 'from Index' đến 'to Index'.</a:t>
                      </a:r>
                      <a:endParaRPr lang="en-US" sz="2000">
                        <a:solidFill>
                          <a:srgbClr val="000000"/>
                        </a:solidFill>
                        <a:effectLst/>
                        <a:latin typeface="Times New Roman"/>
                        <a:ea typeface="Calibri"/>
                        <a:cs typeface="Tahoma"/>
                      </a:endParaRPr>
                    </a:p>
                  </a:txBody>
                  <a:tcPr marL="73713" marR="73713" marT="73713" marB="73713" anchor="b"/>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51396613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4.1.1. Lớp ArrayList</a:t>
            </a:r>
          </a:p>
        </p:txBody>
      </p:sp>
      <p:sp>
        <p:nvSpPr>
          <p:cNvPr id="3" name="Content Placeholder 2"/>
          <p:cNvSpPr>
            <a:spLocks noGrp="1"/>
          </p:cNvSpPr>
          <p:nvPr>
            <p:ph idx="1"/>
          </p:nvPr>
        </p:nvSpPr>
        <p:spPr>
          <a:xfrm>
            <a:off x="457200" y="1600200"/>
            <a:ext cx="8534400" cy="5105400"/>
          </a:xfrm>
        </p:spPr>
        <p:txBody>
          <a:bodyPr>
            <a:normAutofit fontScale="70000" lnSpcReduction="20000"/>
          </a:bodyPr>
          <a:lstStyle/>
          <a:p>
            <a:r>
              <a:rPr lang="en-US"/>
              <a:t>Thực thi giao diện List, mở rộng AbstractList</a:t>
            </a:r>
          </a:p>
          <a:p>
            <a:r>
              <a:rPr lang="en-US"/>
              <a:t>Là một tập hợp các đối tượng tuần tự</a:t>
            </a:r>
          </a:p>
          <a:p>
            <a:r>
              <a:rPr lang="en-US"/>
              <a:t>Các phần tử có chỉ số bắt đầu là 0</a:t>
            </a:r>
          </a:p>
          <a:p>
            <a:r>
              <a:rPr lang="en-US"/>
              <a:t>Kích thước mặc định ban đầu của ArrayList là 10</a:t>
            </a:r>
          </a:p>
          <a:p>
            <a:pPr lvl="1" fontAlgn="base"/>
            <a:r>
              <a:rPr lang="en-US"/>
              <a:t>Kích thước này tăng và giảm tự động khi chúng ta thêm hoặc xóa các phần tử</a:t>
            </a:r>
          </a:p>
          <a:p>
            <a:pPr lvl="1"/>
            <a:r>
              <a:rPr lang="en-US"/>
              <a:t>Có thể chỉ định kích thước ban đầu của một ArrayList khi tạo</a:t>
            </a:r>
          </a:p>
          <a:p>
            <a:r>
              <a:rPr lang="en-US"/>
              <a:t>ArrayList có thể có số lượng phần tử null tùy ý</a:t>
            </a:r>
          </a:p>
          <a:p>
            <a:r>
              <a:rPr lang="en-US"/>
              <a:t>ArrayList có thể có các phần tử trùng nhau</a:t>
            </a:r>
          </a:p>
          <a:p>
            <a:r>
              <a:rPr lang="en-US"/>
              <a:t>Có thể nhận, đặt, chèn và xóa các phần tử của ArrayList khỏi bất kỳ vị trí nào</a:t>
            </a:r>
          </a:p>
          <a:p>
            <a:r>
              <a:rPr lang="en-US"/>
              <a:t>ArrayList không được đồng bộ hóa</a:t>
            </a:r>
          </a:p>
          <a:p>
            <a:r>
              <a:rPr lang="en-US"/>
              <a:t>public class ArrayList&lt;E&gt; extends AbstractList&lt;E&gt; implements List&lt;E&gt;, RandomAccess, Cloneable, Serializable  </a:t>
            </a:r>
          </a:p>
        </p:txBody>
      </p:sp>
    </p:spTree>
    <p:extLst>
      <p:ext uri="{BB962C8B-B14F-4D97-AF65-F5344CB8AC3E}">
        <p14:creationId xmlns:p14="http://schemas.microsoft.com/office/powerpoint/2010/main" val="2488856628"/>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hàm tạo</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43637971"/>
              </p:ext>
            </p:extLst>
          </p:nvPr>
        </p:nvGraphicFramePr>
        <p:xfrm>
          <a:off x="228600" y="1892808"/>
          <a:ext cx="8763000" cy="3907536"/>
        </p:xfrm>
        <a:graphic>
          <a:graphicData uri="http://schemas.openxmlformats.org/drawingml/2006/table">
            <a:tbl>
              <a:tblPr firstRow="1" firstCol="1" bandRow="1">
                <a:tableStyleId>{5C22544A-7EE6-4342-B048-85BDC9FD1C3A}</a:tableStyleId>
              </a:tblPr>
              <a:tblGrid>
                <a:gridCol w="3597910">
                  <a:extLst>
                    <a:ext uri="{9D8B030D-6E8A-4147-A177-3AD203B41FA5}">
                      <a16:colId xmlns:a16="http://schemas.microsoft.com/office/drawing/2014/main" val="20000"/>
                    </a:ext>
                  </a:extLst>
                </a:gridCol>
                <a:gridCol w="5165090">
                  <a:extLst>
                    <a:ext uri="{9D8B030D-6E8A-4147-A177-3AD203B41FA5}">
                      <a16:colId xmlns:a16="http://schemas.microsoft.com/office/drawing/2014/main" val="20001"/>
                    </a:ext>
                  </a:extLst>
                </a:gridCol>
              </a:tblGrid>
              <a:tr h="0">
                <a:tc>
                  <a:txBody>
                    <a:bodyPr/>
                    <a:lstStyle/>
                    <a:p>
                      <a:pPr>
                        <a:lnSpc>
                          <a:spcPct val="115000"/>
                        </a:lnSpc>
                        <a:spcAft>
                          <a:spcPts val="0"/>
                        </a:spcAft>
                      </a:pPr>
                      <a:r>
                        <a:rPr lang="en-US" sz="2400">
                          <a:effectLst/>
                          <a:latin typeface="Arial" pitchFamily="34" charset="0"/>
                          <a:cs typeface="Arial" pitchFamily="34" charset="0"/>
                        </a:rPr>
                        <a:t>Constructor</a:t>
                      </a:r>
                      <a:endParaRPr lang="en-US" sz="2400">
                        <a:solidFill>
                          <a:srgbClr val="000000"/>
                        </a:solidFill>
                        <a:effectLst/>
                        <a:latin typeface="Arial" pitchFamily="34" charset="0"/>
                        <a:ea typeface="Calibri"/>
                        <a:cs typeface="Arial" pitchFamily="34" charset="0"/>
                      </a:endParaRPr>
                    </a:p>
                  </a:txBody>
                  <a:tcPr marL="114300" marR="114300" marT="114300" marB="114300"/>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114300" marR="114300" marT="114300" marB="114300"/>
                </a:tc>
                <a:extLst>
                  <a:ext uri="{0D108BD9-81ED-4DB2-BD59-A6C34878D82A}">
                    <a16:rowId xmlns:a16="http://schemas.microsoft.com/office/drawing/2014/main" val="10000"/>
                  </a:ext>
                </a:extLst>
              </a:tr>
              <a:tr h="0">
                <a:tc>
                  <a:txBody>
                    <a:bodyPr/>
                    <a:lstStyle/>
                    <a:p>
                      <a:pPr>
                        <a:lnSpc>
                          <a:spcPct val="115000"/>
                        </a:lnSpc>
                        <a:spcAft>
                          <a:spcPts val="0"/>
                        </a:spcAft>
                      </a:pPr>
                      <a:r>
                        <a:rPr lang="en-US" sz="2400">
                          <a:effectLst/>
                          <a:latin typeface="Arial" pitchFamily="34" charset="0"/>
                          <a:cs typeface="Arial" pitchFamily="34" charset="0"/>
                        </a:rPr>
                        <a:t>ArrayList()</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danh sách mảng trống</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1"/>
                  </a:ext>
                </a:extLst>
              </a:tr>
              <a:tr h="0">
                <a:tc>
                  <a:txBody>
                    <a:bodyPr/>
                    <a:lstStyle/>
                    <a:p>
                      <a:pPr>
                        <a:lnSpc>
                          <a:spcPct val="115000"/>
                        </a:lnSpc>
                        <a:spcAft>
                          <a:spcPts val="0"/>
                        </a:spcAft>
                      </a:pPr>
                      <a:r>
                        <a:rPr lang="en-US" sz="2400">
                          <a:effectLst/>
                          <a:latin typeface="Arial" pitchFamily="34" charset="0"/>
                          <a:cs typeface="Arial" pitchFamily="34" charset="0"/>
                        </a:rPr>
                        <a:t>ArrayList(Collection&lt;? extends E&gt; c)</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danh sách mảng được khởi tạo với các phần tử của Collection c</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2"/>
                  </a:ext>
                </a:extLst>
              </a:tr>
              <a:tr h="0">
                <a:tc>
                  <a:txBody>
                    <a:bodyPr/>
                    <a:lstStyle/>
                    <a:p>
                      <a:pPr>
                        <a:lnSpc>
                          <a:spcPct val="115000"/>
                        </a:lnSpc>
                        <a:spcAft>
                          <a:spcPts val="0"/>
                        </a:spcAft>
                      </a:pPr>
                      <a:r>
                        <a:rPr lang="en-US" sz="2400">
                          <a:effectLst/>
                          <a:latin typeface="Arial" pitchFamily="34" charset="0"/>
                          <a:cs typeface="Arial" pitchFamily="34" charset="0"/>
                        </a:rPr>
                        <a:t>ArrayList(int capacity)</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danh sách mảng có dung lượng ban đầu được chỉ định</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7934825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a:t>Các phương thức (1)</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74688850"/>
              </p:ext>
            </p:extLst>
          </p:nvPr>
        </p:nvGraphicFramePr>
        <p:xfrm>
          <a:off x="152401" y="804346"/>
          <a:ext cx="8915399" cy="5671451"/>
        </p:xfrm>
        <a:graphic>
          <a:graphicData uri="http://schemas.openxmlformats.org/drawingml/2006/table">
            <a:tbl>
              <a:tblPr firstRow="1" firstCol="1" bandRow="1">
                <a:tableStyleId>{5C22544A-7EE6-4342-B048-85BDC9FD1C3A}</a:tableStyleId>
              </a:tblPr>
              <a:tblGrid>
                <a:gridCol w="4034884">
                  <a:extLst>
                    <a:ext uri="{9D8B030D-6E8A-4147-A177-3AD203B41FA5}">
                      <a16:colId xmlns:a16="http://schemas.microsoft.com/office/drawing/2014/main" val="20000"/>
                    </a:ext>
                  </a:extLst>
                </a:gridCol>
                <a:gridCol w="4880515">
                  <a:extLst>
                    <a:ext uri="{9D8B030D-6E8A-4147-A177-3AD203B41FA5}">
                      <a16:colId xmlns:a16="http://schemas.microsoft.com/office/drawing/2014/main" val="20001"/>
                    </a:ext>
                  </a:extLst>
                </a:gridCol>
              </a:tblGrid>
              <a:tr h="533400">
                <a:tc>
                  <a:txBody>
                    <a:bodyPr/>
                    <a:lstStyle/>
                    <a:p>
                      <a:pPr>
                        <a:lnSpc>
                          <a:spcPct val="115000"/>
                        </a:lnSpc>
                      </a:pPr>
                      <a:r>
                        <a:rPr lang="en-US" sz="2200">
                          <a:effectLst/>
                          <a:latin typeface="Arial" pitchFamily="34" charset="0"/>
                          <a:cs typeface="Arial" pitchFamily="34" charset="0"/>
                        </a:rPr>
                        <a:t>Phương thức</a:t>
                      </a:r>
                    </a:p>
                  </a:txBody>
                  <a:tcPr marL="38080" marR="38080" marT="38080" marB="38080"/>
                </a:tc>
                <a:tc>
                  <a:txBody>
                    <a:bodyPr/>
                    <a:lstStyle/>
                    <a:p>
                      <a:pPr>
                        <a:lnSpc>
                          <a:spcPct val="115000"/>
                        </a:lnSpc>
                      </a:pPr>
                      <a:r>
                        <a:rPr lang="en-US" sz="2200">
                          <a:effectLst/>
                          <a:latin typeface="Arial" pitchFamily="34" charset="0"/>
                          <a:cs typeface="Arial" pitchFamily="34" charset="0"/>
                        </a:rPr>
                        <a:t>Mô tả</a:t>
                      </a:r>
                    </a:p>
                  </a:txBody>
                  <a:tcPr marL="38080" marR="38080" marT="38080" marB="38080"/>
                </a:tc>
                <a:extLst>
                  <a:ext uri="{0D108BD9-81ED-4DB2-BD59-A6C34878D82A}">
                    <a16:rowId xmlns:a16="http://schemas.microsoft.com/office/drawing/2014/main" val="10000"/>
                  </a:ext>
                </a:extLst>
              </a:tr>
              <a:tr h="179231">
                <a:tc>
                  <a:txBody>
                    <a:bodyPr/>
                    <a:lstStyle/>
                    <a:p>
                      <a:pPr>
                        <a:lnSpc>
                          <a:spcPct val="115000"/>
                        </a:lnSpc>
                      </a:pPr>
                      <a:r>
                        <a:rPr lang="en-US" sz="2200">
                          <a:effectLst/>
                          <a:latin typeface="Arial" pitchFamily="34" charset="0"/>
                          <a:cs typeface="Arial" pitchFamily="34" charset="0"/>
                        </a:rPr>
                        <a:t>void add(int index, E element)</a:t>
                      </a:r>
                    </a:p>
                  </a:txBody>
                  <a:tcPr marL="25387" marR="25387" marT="25387" marB="25387"/>
                </a:tc>
                <a:tc>
                  <a:txBody>
                    <a:bodyPr/>
                    <a:lstStyle/>
                    <a:p>
                      <a:pPr>
                        <a:lnSpc>
                          <a:spcPct val="115000"/>
                        </a:lnSpc>
                      </a:pPr>
                      <a:r>
                        <a:rPr lang="en-US" sz="2200">
                          <a:effectLst/>
                          <a:latin typeface="Arial" pitchFamily="34" charset="0"/>
                          <a:cs typeface="Arial" pitchFamily="34" charset="0"/>
                        </a:rPr>
                        <a:t>Chèn phần tử được chỉ định vào vị trí index</a:t>
                      </a:r>
                    </a:p>
                  </a:txBody>
                  <a:tcPr marL="25387" marR="25387" marT="25387" marB="25387"/>
                </a:tc>
                <a:extLst>
                  <a:ext uri="{0D108BD9-81ED-4DB2-BD59-A6C34878D82A}">
                    <a16:rowId xmlns:a16="http://schemas.microsoft.com/office/drawing/2014/main" val="10001"/>
                  </a:ext>
                </a:extLst>
              </a:tr>
              <a:tr h="115002">
                <a:tc>
                  <a:txBody>
                    <a:bodyPr/>
                    <a:lstStyle/>
                    <a:p>
                      <a:pPr>
                        <a:lnSpc>
                          <a:spcPct val="115000"/>
                        </a:lnSpc>
                      </a:pPr>
                      <a:r>
                        <a:rPr lang="en-US" sz="2200">
                          <a:effectLst/>
                          <a:latin typeface="Arial" pitchFamily="34" charset="0"/>
                          <a:cs typeface="Arial" pitchFamily="34" charset="0"/>
                        </a:rPr>
                        <a:t>boolean add(E e)</a:t>
                      </a:r>
                    </a:p>
                  </a:txBody>
                  <a:tcPr marL="25387" marR="25387" marT="25387" marB="25387"/>
                </a:tc>
                <a:tc>
                  <a:txBody>
                    <a:bodyPr/>
                    <a:lstStyle/>
                    <a:p>
                      <a:pPr>
                        <a:lnSpc>
                          <a:spcPct val="115000"/>
                        </a:lnSpc>
                      </a:pPr>
                      <a:r>
                        <a:rPr lang="en-US" sz="2200">
                          <a:effectLst/>
                          <a:latin typeface="Arial" pitchFamily="34" charset="0"/>
                          <a:cs typeface="Arial" pitchFamily="34" charset="0"/>
                        </a:rPr>
                        <a:t>Nối phần tử được chỉ định vào cuối danh sách</a:t>
                      </a:r>
                    </a:p>
                  </a:txBody>
                  <a:tcPr marL="25387" marR="25387" marT="25387" marB="25387"/>
                </a:tc>
                <a:extLst>
                  <a:ext uri="{0D108BD9-81ED-4DB2-BD59-A6C34878D82A}">
                    <a16:rowId xmlns:a16="http://schemas.microsoft.com/office/drawing/2014/main" val="10002"/>
                  </a:ext>
                </a:extLst>
              </a:tr>
              <a:tr h="179231">
                <a:tc>
                  <a:txBody>
                    <a:bodyPr/>
                    <a:lstStyle/>
                    <a:p>
                      <a:pPr>
                        <a:lnSpc>
                          <a:spcPct val="115000"/>
                        </a:lnSpc>
                      </a:pPr>
                      <a:r>
                        <a:rPr lang="en-US" sz="2200">
                          <a:effectLst/>
                          <a:latin typeface="Arial" pitchFamily="34" charset="0"/>
                          <a:cs typeface="Arial" pitchFamily="34" charset="0"/>
                        </a:rPr>
                        <a:t>boolean addAll(Collection&lt;? extends E&gt; c)</a:t>
                      </a:r>
                    </a:p>
                  </a:txBody>
                  <a:tcPr marL="25387" marR="25387" marT="25387" marB="25387"/>
                </a:tc>
                <a:tc>
                  <a:txBody>
                    <a:bodyPr/>
                    <a:lstStyle/>
                    <a:p>
                      <a:pPr>
                        <a:lnSpc>
                          <a:spcPct val="115000"/>
                        </a:lnSpc>
                      </a:pPr>
                      <a:r>
                        <a:rPr lang="en-US" sz="2200">
                          <a:effectLst/>
                          <a:latin typeface="Arial" pitchFamily="34" charset="0"/>
                          <a:cs typeface="Arial" pitchFamily="34" charset="0"/>
                        </a:rPr>
                        <a:t>Nối tất cả các phần tử trong Collection c vào cuối danh sách này</a:t>
                      </a:r>
                    </a:p>
                  </a:txBody>
                  <a:tcPr marL="25387" marR="25387" marT="25387" marB="25387"/>
                </a:tc>
                <a:extLst>
                  <a:ext uri="{0D108BD9-81ED-4DB2-BD59-A6C34878D82A}">
                    <a16:rowId xmlns:a16="http://schemas.microsoft.com/office/drawing/2014/main" val="10003"/>
                  </a:ext>
                </a:extLst>
              </a:tr>
              <a:tr h="179231">
                <a:tc>
                  <a:txBody>
                    <a:bodyPr/>
                    <a:lstStyle/>
                    <a:p>
                      <a:pPr>
                        <a:lnSpc>
                          <a:spcPct val="115000"/>
                        </a:lnSpc>
                      </a:pPr>
                      <a:r>
                        <a:rPr lang="en-US" sz="2200">
                          <a:effectLst/>
                          <a:latin typeface="Arial" pitchFamily="34" charset="0"/>
                          <a:cs typeface="Arial" pitchFamily="34" charset="0"/>
                        </a:rPr>
                        <a:t>boolean addAll(int index, Collection&lt;? extends E&gt; c)</a:t>
                      </a:r>
                    </a:p>
                  </a:txBody>
                  <a:tcPr marL="25387" marR="25387" marT="25387" marB="25387"/>
                </a:tc>
                <a:tc>
                  <a:txBody>
                    <a:bodyPr/>
                    <a:lstStyle/>
                    <a:p>
                      <a:pPr>
                        <a:lnSpc>
                          <a:spcPct val="115000"/>
                        </a:lnSpc>
                      </a:pPr>
                      <a:r>
                        <a:rPr lang="en-US" sz="2200">
                          <a:effectLst/>
                          <a:latin typeface="Arial" pitchFamily="34" charset="0"/>
                          <a:cs typeface="Arial" pitchFamily="34" charset="0"/>
                        </a:rPr>
                        <a:t>Nối thêm tất cả các phần tử trong Collection  c, bắt đầu từ vị trí index</a:t>
                      </a:r>
                    </a:p>
                  </a:txBody>
                  <a:tcPr marL="25387" marR="25387" marT="25387" marB="25387"/>
                </a:tc>
                <a:extLst>
                  <a:ext uri="{0D108BD9-81ED-4DB2-BD59-A6C34878D82A}">
                    <a16:rowId xmlns:a16="http://schemas.microsoft.com/office/drawing/2014/main" val="10004"/>
                  </a:ext>
                </a:extLst>
              </a:tr>
              <a:tr h="115002">
                <a:tc>
                  <a:txBody>
                    <a:bodyPr/>
                    <a:lstStyle/>
                    <a:p>
                      <a:pPr>
                        <a:lnSpc>
                          <a:spcPct val="115000"/>
                        </a:lnSpc>
                      </a:pPr>
                      <a:r>
                        <a:rPr lang="en-US" sz="2200">
                          <a:effectLst/>
                          <a:latin typeface="Arial" pitchFamily="34" charset="0"/>
                          <a:cs typeface="Arial" pitchFamily="34" charset="0"/>
                        </a:rPr>
                        <a:t>void clear()</a:t>
                      </a:r>
                    </a:p>
                  </a:txBody>
                  <a:tcPr marL="25387" marR="25387" marT="25387" marB="25387"/>
                </a:tc>
                <a:tc>
                  <a:txBody>
                    <a:bodyPr/>
                    <a:lstStyle/>
                    <a:p>
                      <a:pPr>
                        <a:lnSpc>
                          <a:spcPct val="115000"/>
                        </a:lnSpc>
                      </a:pPr>
                      <a:r>
                        <a:rPr lang="en-US" sz="2200">
                          <a:effectLst/>
                          <a:latin typeface="Arial" pitchFamily="34" charset="0"/>
                          <a:cs typeface="Arial" pitchFamily="34" charset="0"/>
                        </a:rPr>
                        <a:t>Loại bỏ tất cả các phần tử khỏi danh sách</a:t>
                      </a:r>
                    </a:p>
                  </a:txBody>
                  <a:tcPr marL="25387" marR="25387" marT="25387" marB="25387"/>
                </a:tc>
                <a:extLst>
                  <a:ext uri="{0D108BD9-81ED-4DB2-BD59-A6C34878D82A}">
                    <a16:rowId xmlns:a16="http://schemas.microsoft.com/office/drawing/2014/main" val="10005"/>
                  </a:ext>
                </a:extLst>
              </a:tr>
              <a:tr h="179231">
                <a:tc>
                  <a:txBody>
                    <a:bodyPr/>
                    <a:lstStyle/>
                    <a:p>
                      <a:pPr>
                        <a:lnSpc>
                          <a:spcPct val="115000"/>
                        </a:lnSpc>
                      </a:pPr>
                      <a:r>
                        <a:rPr lang="en-US" sz="2200">
                          <a:effectLst/>
                          <a:latin typeface="Arial" pitchFamily="34" charset="0"/>
                          <a:cs typeface="Arial" pitchFamily="34" charset="0"/>
                        </a:rPr>
                        <a:t>void ensureCapacity(int requiredCapacity)</a:t>
                      </a:r>
                    </a:p>
                  </a:txBody>
                  <a:tcPr marL="25387" marR="25387" marT="25387" marB="25387"/>
                </a:tc>
                <a:tc>
                  <a:txBody>
                    <a:bodyPr/>
                    <a:lstStyle/>
                    <a:p>
                      <a:pPr>
                        <a:lnSpc>
                          <a:spcPct val="115000"/>
                        </a:lnSpc>
                      </a:pPr>
                      <a:r>
                        <a:rPr lang="en-US" sz="2200">
                          <a:effectLst/>
                          <a:latin typeface="Arial" pitchFamily="34" charset="0"/>
                          <a:cs typeface="Arial" pitchFamily="34" charset="0"/>
                        </a:rPr>
                        <a:t>Để mở rộng ArrayList với dung lượng requiredCapacity</a:t>
                      </a:r>
                    </a:p>
                  </a:txBody>
                  <a:tcPr marL="25387" marR="25387" marT="25387" marB="25387"/>
                </a:tc>
                <a:extLst>
                  <a:ext uri="{0D108BD9-81ED-4DB2-BD59-A6C34878D82A}">
                    <a16:rowId xmlns:a16="http://schemas.microsoft.com/office/drawing/2014/main" val="10006"/>
                  </a:ext>
                </a:extLst>
              </a:tr>
              <a:tr h="115002">
                <a:tc>
                  <a:txBody>
                    <a:bodyPr/>
                    <a:lstStyle/>
                    <a:p>
                      <a:pPr>
                        <a:lnSpc>
                          <a:spcPct val="115000"/>
                        </a:lnSpc>
                      </a:pPr>
                      <a:r>
                        <a:rPr lang="en-US" sz="2200">
                          <a:effectLst/>
                          <a:latin typeface="Arial" pitchFamily="34" charset="0"/>
                          <a:cs typeface="Arial" pitchFamily="34" charset="0"/>
                        </a:rPr>
                        <a:t>E get(int index)</a:t>
                      </a:r>
                    </a:p>
                  </a:txBody>
                  <a:tcPr marL="25387" marR="25387" marT="25387" marB="25387"/>
                </a:tc>
                <a:tc>
                  <a:txBody>
                    <a:bodyPr/>
                    <a:lstStyle/>
                    <a:p>
                      <a:pPr>
                        <a:lnSpc>
                          <a:spcPct val="115000"/>
                        </a:lnSpc>
                      </a:pPr>
                      <a:r>
                        <a:rPr lang="en-US" sz="2200">
                          <a:effectLst/>
                          <a:latin typeface="Arial" pitchFamily="34" charset="0"/>
                          <a:cs typeface="Arial" pitchFamily="34" charset="0"/>
                        </a:rPr>
                        <a:t>Lấy phần tử từ vị trí index</a:t>
                      </a:r>
                    </a:p>
                  </a:txBody>
                  <a:tcPr marL="25387" marR="25387" marT="25387" marB="25387"/>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0574827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a:t>Các phương thức (2)</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11085350"/>
              </p:ext>
            </p:extLst>
          </p:nvPr>
        </p:nvGraphicFramePr>
        <p:xfrm>
          <a:off x="152401" y="762001"/>
          <a:ext cx="8915399" cy="5635560"/>
        </p:xfrm>
        <a:graphic>
          <a:graphicData uri="http://schemas.openxmlformats.org/drawingml/2006/table">
            <a:tbl>
              <a:tblPr firstRow="1" firstCol="1" bandRow="1">
                <a:tableStyleId>{5C22544A-7EE6-4342-B048-85BDC9FD1C3A}</a:tableStyleId>
              </a:tblPr>
              <a:tblGrid>
                <a:gridCol w="4034884">
                  <a:extLst>
                    <a:ext uri="{9D8B030D-6E8A-4147-A177-3AD203B41FA5}">
                      <a16:colId xmlns:a16="http://schemas.microsoft.com/office/drawing/2014/main" val="20000"/>
                    </a:ext>
                  </a:extLst>
                </a:gridCol>
                <a:gridCol w="4880515">
                  <a:extLst>
                    <a:ext uri="{9D8B030D-6E8A-4147-A177-3AD203B41FA5}">
                      <a16:colId xmlns:a16="http://schemas.microsoft.com/office/drawing/2014/main" val="20001"/>
                    </a:ext>
                  </a:extLst>
                </a:gridCol>
              </a:tblGrid>
              <a:tr h="533399">
                <a:tc>
                  <a:txBody>
                    <a:bodyPr/>
                    <a:lstStyle/>
                    <a:p>
                      <a:pPr>
                        <a:lnSpc>
                          <a:spcPct val="115000"/>
                        </a:lnSpc>
                      </a:pPr>
                      <a:r>
                        <a:rPr lang="en-US" sz="2200">
                          <a:effectLst/>
                          <a:latin typeface="Arial" pitchFamily="34" charset="0"/>
                          <a:cs typeface="Arial" pitchFamily="34" charset="0"/>
                        </a:rPr>
                        <a:t>Phương thức</a:t>
                      </a:r>
                    </a:p>
                  </a:txBody>
                  <a:tcPr marL="38080" marR="38080" marT="38080" marB="38080"/>
                </a:tc>
                <a:tc>
                  <a:txBody>
                    <a:bodyPr/>
                    <a:lstStyle/>
                    <a:p>
                      <a:pPr>
                        <a:lnSpc>
                          <a:spcPct val="115000"/>
                        </a:lnSpc>
                      </a:pPr>
                      <a:r>
                        <a:rPr lang="en-US" sz="2200">
                          <a:effectLst/>
                          <a:latin typeface="Arial" pitchFamily="34" charset="0"/>
                          <a:cs typeface="Arial" pitchFamily="34" charset="0"/>
                        </a:rPr>
                        <a:t>Mô tả</a:t>
                      </a:r>
                    </a:p>
                  </a:txBody>
                  <a:tcPr marL="38080" marR="38080" marT="38080" marB="38080"/>
                </a:tc>
                <a:extLst>
                  <a:ext uri="{0D108BD9-81ED-4DB2-BD59-A6C34878D82A}">
                    <a16:rowId xmlns:a16="http://schemas.microsoft.com/office/drawing/2014/main" val="10000"/>
                  </a:ext>
                </a:extLst>
              </a:tr>
              <a:tr h="115002">
                <a:tc>
                  <a:txBody>
                    <a:bodyPr/>
                    <a:lstStyle/>
                    <a:p>
                      <a:pPr>
                        <a:lnSpc>
                          <a:spcPct val="115000"/>
                        </a:lnSpc>
                      </a:pPr>
                      <a:r>
                        <a:rPr lang="en-US" sz="2200">
                          <a:effectLst/>
                          <a:latin typeface="Arial" pitchFamily="34" charset="0"/>
                          <a:cs typeface="Arial" pitchFamily="34" charset="0"/>
                        </a:rPr>
                        <a:t>boolean isEmpty()</a:t>
                      </a:r>
                    </a:p>
                  </a:txBody>
                  <a:tcPr marL="25387" marR="25387" marT="25387" marB="25387"/>
                </a:tc>
                <a:tc>
                  <a:txBody>
                    <a:bodyPr/>
                    <a:lstStyle/>
                    <a:p>
                      <a:pPr>
                        <a:lnSpc>
                          <a:spcPct val="115000"/>
                        </a:lnSpc>
                      </a:pPr>
                      <a:r>
                        <a:rPr lang="en-US" sz="2200">
                          <a:effectLst/>
                          <a:latin typeface="Arial" pitchFamily="34" charset="0"/>
                          <a:cs typeface="Arial" pitchFamily="34" charset="0"/>
                        </a:rPr>
                        <a:t>Trả về true nếu danh sách trống, ngược lại là false.</a:t>
                      </a:r>
                    </a:p>
                  </a:txBody>
                  <a:tcPr marL="25387" marR="25387" marT="25387" marB="25387"/>
                </a:tc>
                <a:extLst>
                  <a:ext uri="{0D108BD9-81ED-4DB2-BD59-A6C34878D82A}">
                    <a16:rowId xmlns:a16="http://schemas.microsoft.com/office/drawing/2014/main" val="10001"/>
                  </a:ext>
                </a:extLst>
              </a:tr>
              <a:tr h="190909">
                <a:tc>
                  <a:txBody>
                    <a:bodyPr/>
                    <a:lstStyle/>
                    <a:p>
                      <a:pPr>
                        <a:lnSpc>
                          <a:spcPct val="115000"/>
                        </a:lnSpc>
                        <a:spcAft>
                          <a:spcPts val="0"/>
                        </a:spcAft>
                      </a:pPr>
                      <a:r>
                        <a:rPr lang="en-US" sz="2200">
                          <a:effectLst/>
                          <a:latin typeface="Arial" pitchFamily="34" charset="0"/>
                          <a:cs typeface="Arial" pitchFamily="34" charset="0"/>
                        </a:rPr>
                        <a:t>int lastIndexOf(Object o)</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Trả về chỉ mục trong danh sách tại lần xuất hiện cuối cùng của phần tử o hoặc -1 nếu danh sách không chứa phần tử này</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2"/>
                  </a:ext>
                </a:extLst>
              </a:tr>
              <a:tr h="190909">
                <a:tc>
                  <a:txBody>
                    <a:bodyPr/>
                    <a:lstStyle/>
                    <a:p>
                      <a:pPr>
                        <a:lnSpc>
                          <a:spcPct val="115000"/>
                        </a:lnSpc>
                        <a:spcAft>
                          <a:spcPts val="0"/>
                        </a:spcAft>
                      </a:pPr>
                      <a:r>
                        <a:rPr lang="en-US" sz="2200">
                          <a:effectLst/>
                          <a:latin typeface="Arial" pitchFamily="34" charset="0"/>
                          <a:cs typeface="Arial" pitchFamily="34" charset="0"/>
                        </a:rPr>
                        <a:t>Object[] toArray()</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Trả về một mảng chứa tất cả các phần tử trong danh sách này theo đúng thứ tự</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3"/>
                  </a:ext>
                </a:extLst>
              </a:tr>
              <a:tr h="190909">
                <a:tc>
                  <a:txBody>
                    <a:bodyPr/>
                    <a:lstStyle/>
                    <a:p>
                      <a:pPr>
                        <a:lnSpc>
                          <a:spcPct val="115000"/>
                        </a:lnSpc>
                        <a:spcAft>
                          <a:spcPts val="0"/>
                        </a:spcAft>
                      </a:pPr>
                      <a:r>
                        <a:rPr lang="en-US" sz="2200">
                          <a:effectLst/>
                          <a:latin typeface="Arial" pitchFamily="34" charset="0"/>
                          <a:cs typeface="Arial" pitchFamily="34" charset="0"/>
                        </a:rPr>
                        <a:t>&lt;T&gt; T[] toArray(T[] a)</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Trả về một mảng chứa tất cả các phần tử trong danh sách này theo đúng thứ tự</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4"/>
                  </a:ext>
                </a:extLst>
              </a:tr>
              <a:tr h="120841">
                <a:tc>
                  <a:txBody>
                    <a:bodyPr/>
                    <a:lstStyle/>
                    <a:p>
                      <a:pPr>
                        <a:lnSpc>
                          <a:spcPct val="115000"/>
                        </a:lnSpc>
                        <a:spcAft>
                          <a:spcPts val="0"/>
                        </a:spcAft>
                      </a:pPr>
                      <a:r>
                        <a:rPr lang="en-US" sz="2200">
                          <a:effectLst/>
                          <a:latin typeface="Arial" pitchFamily="34" charset="0"/>
                          <a:cs typeface="Arial" pitchFamily="34" charset="0"/>
                        </a:rPr>
                        <a:t>Object clone()</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Trả về một bản sao nông của ArrayList</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015634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a:t>Các phương thức (3)</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13233229"/>
              </p:ext>
            </p:extLst>
          </p:nvPr>
        </p:nvGraphicFramePr>
        <p:xfrm>
          <a:off x="152401" y="914400"/>
          <a:ext cx="8915399" cy="5850479"/>
        </p:xfrm>
        <a:graphic>
          <a:graphicData uri="http://schemas.openxmlformats.org/drawingml/2006/table">
            <a:tbl>
              <a:tblPr firstRow="1" firstCol="1" bandRow="1">
                <a:tableStyleId>{5C22544A-7EE6-4342-B048-85BDC9FD1C3A}</a:tableStyleId>
              </a:tblPr>
              <a:tblGrid>
                <a:gridCol w="3733799">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533399">
                <a:tc>
                  <a:txBody>
                    <a:bodyPr/>
                    <a:lstStyle/>
                    <a:p>
                      <a:pPr>
                        <a:lnSpc>
                          <a:spcPct val="115000"/>
                        </a:lnSpc>
                      </a:pPr>
                      <a:r>
                        <a:rPr lang="en-US" sz="2200">
                          <a:effectLst/>
                          <a:latin typeface="Arial" pitchFamily="34" charset="0"/>
                          <a:cs typeface="Arial" pitchFamily="34" charset="0"/>
                        </a:rPr>
                        <a:t>Phương thức</a:t>
                      </a:r>
                    </a:p>
                  </a:txBody>
                  <a:tcPr marL="38080" marR="38080" marT="38080" marB="38080"/>
                </a:tc>
                <a:tc>
                  <a:txBody>
                    <a:bodyPr/>
                    <a:lstStyle/>
                    <a:p>
                      <a:pPr>
                        <a:lnSpc>
                          <a:spcPct val="115000"/>
                        </a:lnSpc>
                      </a:pPr>
                      <a:r>
                        <a:rPr lang="en-US" sz="2200">
                          <a:effectLst/>
                          <a:latin typeface="Arial" pitchFamily="34" charset="0"/>
                          <a:cs typeface="Arial" pitchFamily="34" charset="0"/>
                        </a:rPr>
                        <a:t>Mô tả</a:t>
                      </a:r>
                    </a:p>
                  </a:txBody>
                  <a:tcPr marL="38080" marR="38080" marT="38080" marB="38080"/>
                </a:tc>
                <a:extLst>
                  <a:ext uri="{0D108BD9-81ED-4DB2-BD59-A6C34878D82A}">
                    <a16:rowId xmlns:a16="http://schemas.microsoft.com/office/drawing/2014/main" val="10000"/>
                  </a:ext>
                </a:extLst>
              </a:tr>
              <a:tr h="120841">
                <a:tc>
                  <a:txBody>
                    <a:bodyPr/>
                    <a:lstStyle/>
                    <a:p>
                      <a:pPr>
                        <a:lnSpc>
                          <a:spcPct val="115000"/>
                        </a:lnSpc>
                        <a:spcAft>
                          <a:spcPts val="0"/>
                        </a:spcAft>
                      </a:pPr>
                      <a:r>
                        <a:rPr lang="en-US" sz="2200">
                          <a:effectLst/>
                          <a:latin typeface="Arial" pitchFamily="34" charset="0"/>
                          <a:cs typeface="Arial" pitchFamily="34" charset="0"/>
                        </a:rPr>
                        <a:t>boolean contains(Object o)</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Trả về true nếu danh sách chứa phần tử đã chỉ định</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1"/>
                  </a:ext>
                </a:extLst>
              </a:tr>
              <a:tr h="260977">
                <a:tc>
                  <a:txBody>
                    <a:bodyPr/>
                    <a:lstStyle/>
                    <a:p>
                      <a:pPr>
                        <a:lnSpc>
                          <a:spcPct val="115000"/>
                        </a:lnSpc>
                        <a:spcAft>
                          <a:spcPts val="0"/>
                        </a:spcAft>
                      </a:pPr>
                      <a:r>
                        <a:rPr lang="en-US" sz="2200">
                          <a:effectLst/>
                          <a:latin typeface="Arial" pitchFamily="34" charset="0"/>
                          <a:cs typeface="Arial" pitchFamily="34" charset="0"/>
                        </a:rPr>
                        <a:t>int indexOf(Object o)</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Trả về chỉ mục trong danh sách này tại lần xuất hiện đầu tiên của phần tử đã chỉ định hoặc -1 nếu danh sách không chứa phần tử này</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2"/>
                  </a:ext>
                </a:extLst>
              </a:tr>
              <a:tr h="120841">
                <a:tc>
                  <a:txBody>
                    <a:bodyPr/>
                    <a:lstStyle/>
                    <a:p>
                      <a:pPr>
                        <a:lnSpc>
                          <a:spcPct val="115000"/>
                        </a:lnSpc>
                        <a:spcAft>
                          <a:spcPts val="0"/>
                        </a:spcAft>
                      </a:pPr>
                      <a:r>
                        <a:rPr lang="en-US" sz="2200">
                          <a:effectLst/>
                          <a:latin typeface="Arial" pitchFamily="34" charset="0"/>
                          <a:cs typeface="Arial" pitchFamily="34" charset="0"/>
                        </a:rPr>
                        <a:t>E remove(int index)</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Loại bỏ phần tử có mặt tại vị trí index</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3"/>
                  </a:ext>
                </a:extLst>
              </a:tr>
              <a:tr h="120841">
                <a:tc>
                  <a:txBody>
                    <a:bodyPr/>
                    <a:lstStyle/>
                    <a:p>
                      <a:pPr>
                        <a:lnSpc>
                          <a:spcPct val="115000"/>
                        </a:lnSpc>
                        <a:spcAft>
                          <a:spcPts val="0"/>
                        </a:spcAft>
                      </a:pPr>
                      <a:r>
                        <a:rPr lang="en-US" sz="2200">
                          <a:effectLst/>
                          <a:latin typeface="Arial" pitchFamily="34" charset="0"/>
                          <a:cs typeface="Arial" pitchFamily="34" charset="0"/>
                        </a:rPr>
                        <a:t>boolean remove(Object o)</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Loại bỏ phần tử tại lần xuất hiện đầu tiên</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4"/>
                  </a:ext>
                </a:extLst>
              </a:tr>
              <a:tr h="179231">
                <a:tc>
                  <a:txBody>
                    <a:bodyPr/>
                    <a:lstStyle/>
                    <a:p>
                      <a:pPr>
                        <a:lnSpc>
                          <a:spcPct val="115000"/>
                        </a:lnSpc>
                        <a:spcAft>
                          <a:spcPts val="0"/>
                        </a:spcAft>
                      </a:pPr>
                      <a:r>
                        <a:rPr lang="en-US" sz="2200">
                          <a:effectLst/>
                          <a:latin typeface="Arial" pitchFamily="34" charset="0"/>
                          <a:cs typeface="Arial" pitchFamily="34" charset="0"/>
                        </a:rPr>
                        <a:t>boolean removeAll(Collection&lt;?&gt; c)</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Loại bỏ tất cả các phần tử khỏi danh sách</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5"/>
                  </a:ext>
                </a:extLst>
              </a:tr>
              <a:tr h="243460">
                <a:tc>
                  <a:txBody>
                    <a:bodyPr/>
                    <a:lstStyle/>
                    <a:p>
                      <a:pPr>
                        <a:lnSpc>
                          <a:spcPct val="115000"/>
                        </a:lnSpc>
                        <a:spcAft>
                          <a:spcPts val="0"/>
                        </a:spcAft>
                      </a:pPr>
                      <a:r>
                        <a:rPr lang="en-US" sz="2200">
                          <a:effectLst/>
                          <a:latin typeface="Arial" pitchFamily="34" charset="0"/>
                          <a:cs typeface="Arial" pitchFamily="34" charset="0"/>
                        </a:rPr>
                        <a:t>boolean removeIf(Predicate&lt;? super E&gt; filter)</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Loại bỏ tất cả các phần tử khỏi danh sách thỏa mãn Predicate filter.</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8311502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639762"/>
          </a:xfrm>
        </p:spPr>
        <p:txBody>
          <a:bodyPr>
            <a:normAutofit fontScale="90000"/>
          </a:bodyPr>
          <a:lstStyle/>
          <a:p>
            <a:r>
              <a:rPr lang="en-US"/>
              <a:t>Các phương thức (4)</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26746984"/>
              </p:ext>
            </p:extLst>
          </p:nvPr>
        </p:nvGraphicFramePr>
        <p:xfrm>
          <a:off x="152401" y="1215306"/>
          <a:ext cx="8915399" cy="4956894"/>
        </p:xfrm>
        <a:graphic>
          <a:graphicData uri="http://schemas.openxmlformats.org/drawingml/2006/table">
            <a:tbl>
              <a:tblPr firstRow="1" firstCol="1" bandRow="1">
                <a:tableStyleId>{5C22544A-7EE6-4342-B048-85BDC9FD1C3A}</a:tableStyleId>
              </a:tblPr>
              <a:tblGrid>
                <a:gridCol w="4034884">
                  <a:extLst>
                    <a:ext uri="{9D8B030D-6E8A-4147-A177-3AD203B41FA5}">
                      <a16:colId xmlns:a16="http://schemas.microsoft.com/office/drawing/2014/main" val="20000"/>
                    </a:ext>
                  </a:extLst>
                </a:gridCol>
                <a:gridCol w="4880515">
                  <a:extLst>
                    <a:ext uri="{9D8B030D-6E8A-4147-A177-3AD203B41FA5}">
                      <a16:colId xmlns:a16="http://schemas.microsoft.com/office/drawing/2014/main" val="20001"/>
                    </a:ext>
                  </a:extLst>
                </a:gridCol>
              </a:tblGrid>
              <a:tr h="457199">
                <a:tc>
                  <a:txBody>
                    <a:bodyPr/>
                    <a:lstStyle/>
                    <a:p>
                      <a:pPr>
                        <a:lnSpc>
                          <a:spcPct val="115000"/>
                        </a:lnSpc>
                      </a:pPr>
                      <a:r>
                        <a:rPr lang="en-US" sz="2200">
                          <a:effectLst/>
                          <a:latin typeface="Arial" pitchFamily="34" charset="0"/>
                          <a:cs typeface="Arial" pitchFamily="34" charset="0"/>
                        </a:rPr>
                        <a:t>Phương thức</a:t>
                      </a:r>
                    </a:p>
                  </a:txBody>
                  <a:tcPr marL="38080" marR="38080" marT="38080" marB="38080"/>
                </a:tc>
                <a:tc>
                  <a:txBody>
                    <a:bodyPr/>
                    <a:lstStyle/>
                    <a:p>
                      <a:pPr>
                        <a:lnSpc>
                          <a:spcPct val="115000"/>
                        </a:lnSpc>
                      </a:pPr>
                      <a:r>
                        <a:rPr lang="en-US" sz="2200">
                          <a:effectLst/>
                          <a:latin typeface="Arial" pitchFamily="34" charset="0"/>
                          <a:cs typeface="Arial" pitchFamily="34" charset="0"/>
                        </a:rPr>
                        <a:t>Mô tả</a:t>
                      </a:r>
                    </a:p>
                  </a:txBody>
                  <a:tcPr marL="38080" marR="38080" marT="38080" marB="38080"/>
                </a:tc>
                <a:extLst>
                  <a:ext uri="{0D108BD9-81ED-4DB2-BD59-A6C34878D82A}">
                    <a16:rowId xmlns:a16="http://schemas.microsoft.com/office/drawing/2014/main" val="10000"/>
                  </a:ext>
                </a:extLst>
              </a:tr>
              <a:tr h="243460">
                <a:tc>
                  <a:txBody>
                    <a:bodyPr/>
                    <a:lstStyle/>
                    <a:p>
                      <a:pPr>
                        <a:lnSpc>
                          <a:spcPct val="115000"/>
                        </a:lnSpc>
                        <a:spcAft>
                          <a:spcPts val="0"/>
                        </a:spcAft>
                      </a:pPr>
                      <a:r>
                        <a:rPr lang="en-US" sz="2200">
                          <a:effectLst/>
                          <a:latin typeface="Arial" pitchFamily="34" charset="0"/>
                          <a:cs typeface="Arial" pitchFamily="34" charset="0"/>
                        </a:rPr>
                        <a:t>void replaceAll(UnaryOperator&lt;E&gt; operator)</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Thay thế tất cả các phần tử từ danh sách bằng các phần tử được chỉ định.</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1"/>
                  </a:ext>
                </a:extLst>
              </a:tr>
              <a:tr h="190909">
                <a:tc>
                  <a:txBody>
                    <a:bodyPr/>
                    <a:lstStyle/>
                    <a:p>
                      <a:pPr>
                        <a:lnSpc>
                          <a:spcPct val="115000"/>
                        </a:lnSpc>
                        <a:spcAft>
                          <a:spcPts val="0"/>
                        </a:spcAft>
                      </a:pPr>
                      <a:r>
                        <a:rPr lang="en-US" sz="2200">
                          <a:effectLst/>
                          <a:latin typeface="Arial" pitchFamily="34" charset="0"/>
                          <a:cs typeface="Arial" pitchFamily="34" charset="0"/>
                        </a:rPr>
                        <a:t>void retainAll(Collection&lt;?&gt; c)</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Giữ lại tất cả các phần tử trong danh sách có trong Collection được chỉ định</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2"/>
                  </a:ext>
                </a:extLst>
              </a:tr>
              <a:tr h="120841">
                <a:tc>
                  <a:txBody>
                    <a:bodyPr/>
                    <a:lstStyle/>
                    <a:p>
                      <a:pPr>
                        <a:lnSpc>
                          <a:spcPct val="115000"/>
                        </a:lnSpc>
                        <a:spcAft>
                          <a:spcPts val="0"/>
                        </a:spcAft>
                      </a:pPr>
                      <a:r>
                        <a:rPr lang="en-US" sz="2200">
                          <a:effectLst/>
                          <a:latin typeface="Arial" pitchFamily="34" charset="0"/>
                          <a:cs typeface="Arial" pitchFamily="34" charset="0"/>
                        </a:rPr>
                        <a:t>E set(int index, E element)</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Đặt thay thế phần tử được chỉ định tại vị trí index</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3"/>
                  </a:ext>
                </a:extLst>
              </a:tr>
              <a:tr h="179231">
                <a:tc>
                  <a:txBody>
                    <a:bodyPr/>
                    <a:lstStyle/>
                    <a:p>
                      <a:pPr>
                        <a:lnSpc>
                          <a:spcPct val="115000"/>
                        </a:lnSpc>
                        <a:spcAft>
                          <a:spcPts val="0"/>
                        </a:spcAft>
                      </a:pPr>
                      <a:r>
                        <a:rPr lang="en-US" sz="2200">
                          <a:effectLst/>
                          <a:latin typeface="Arial" pitchFamily="34" charset="0"/>
                          <a:cs typeface="Arial" pitchFamily="34" charset="0"/>
                        </a:rPr>
                        <a:t>void sort(Comparator&lt;? super E&gt; c)</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Sắp xếp các phần tử của danh sách trên dựa comparator đã cho</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4"/>
                  </a:ext>
                </a:extLst>
              </a:tr>
              <a:tr h="179231">
                <a:tc>
                  <a:txBody>
                    <a:bodyPr/>
                    <a:lstStyle/>
                    <a:p>
                      <a:pPr>
                        <a:lnSpc>
                          <a:spcPct val="115000"/>
                        </a:lnSpc>
                        <a:spcAft>
                          <a:spcPts val="0"/>
                        </a:spcAft>
                      </a:pPr>
                      <a:r>
                        <a:rPr lang="en-US" sz="2200">
                          <a:effectLst/>
                          <a:latin typeface="Arial" pitchFamily="34" charset="0"/>
                          <a:cs typeface="Arial" pitchFamily="34" charset="0"/>
                        </a:rPr>
                        <a:t>List&lt;E&gt; subList(int fromIndex, int toIndex)</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Tìm nạp tất cả các phần tử nằm trong từ fromIndex tới toIndex - 1</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2477647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a:t>Các phương thức (5)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04279247"/>
              </p:ext>
            </p:extLst>
          </p:nvPr>
        </p:nvGraphicFramePr>
        <p:xfrm>
          <a:off x="152401" y="1942269"/>
          <a:ext cx="8915399" cy="1867731"/>
        </p:xfrm>
        <a:graphic>
          <a:graphicData uri="http://schemas.openxmlformats.org/drawingml/2006/table">
            <a:tbl>
              <a:tblPr firstRow="1" firstCol="1" bandRow="1">
                <a:tableStyleId>{5C22544A-7EE6-4342-B048-85BDC9FD1C3A}</a:tableStyleId>
              </a:tblPr>
              <a:tblGrid>
                <a:gridCol w="4034884">
                  <a:extLst>
                    <a:ext uri="{9D8B030D-6E8A-4147-A177-3AD203B41FA5}">
                      <a16:colId xmlns:a16="http://schemas.microsoft.com/office/drawing/2014/main" val="20000"/>
                    </a:ext>
                  </a:extLst>
                </a:gridCol>
                <a:gridCol w="4880515">
                  <a:extLst>
                    <a:ext uri="{9D8B030D-6E8A-4147-A177-3AD203B41FA5}">
                      <a16:colId xmlns:a16="http://schemas.microsoft.com/office/drawing/2014/main" val="20001"/>
                    </a:ext>
                  </a:extLst>
                </a:gridCol>
              </a:tblGrid>
              <a:tr h="457199">
                <a:tc>
                  <a:txBody>
                    <a:bodyPr/>
                    <a:lstStyle/>
                    <a:p>
                      <a:pPr>
                        <a:lnSpc>
                          <a:spcPct val="115000"/>
                        </a:lnSpc>
                      </a:pPr>
                      <a:r>
                        <a:rPr lang="en-US" sz="2200">
                          <a:effectLst/>
                          <a:latin typeface="Arial" pitchFamily="34" charset="0"/>
                          <a:cs typeface="Arial" pitchFamily="34" charset="0"/>
                        </a:rPr>
                        <a:t>Phương thức</a:t>
                      </a:r>
                    </a:p>
                  </a:txBody>
                  <a:tcPr marL="38080" marR="38080" marT="38080" marB="38080"/>
                </a:tc>
                <a:tc>
                  <a:txBody>
                    <a:bodyPr/>
                    <a:lstStyle/>
                    <a:p>
                      <a:pPr>
                        <a:lnSpc>
                          <a:spcPct val="115000"/>
                        </a:lnSpc>
                      </a:pPr>
                      <a:r>
                        <a:rPr lang="en-US" sz="2200">
                          <a:effectLst/>
                          <a:latin typeface="Arial" pitchFamily="34" charset="0"/>
                          <a:cs typeface="Arial" pitchFamily="34" charset="0"/>
                        </a:rPr>
                        <a:t>Mô tả</a:t>
                      </a:r>
                    </a:p>
                  </a:txBody>
                  <a:tcPr marL="38080" marR="38080" marT="38080" marB="38080"/>
                </a:tc>
                <a:extLst>
                  <a:ext uri="{0D108BD9-81ED-4DB2-BD59-A6C34878D82A}">
                    <a16:rowId xmlns:a16="http://schemas.microsoft.com/office/drawing/2014/main" val="10000"/>
                  </a:ext>
                </a:extLst>
              </a:tr>
              <a:tr h="120841">
                <a:tc>
                  <a:txBody>
                    <a:bodyPr/>
                    <a:lstStyle/>
                    <a:p>
                      <a:pPr>
                        <a:lnSpc>
                          <a:spcPct val="115000"/>
                        </a:lnSpc>
                        <a:spcAft>
                          <a:spcPts val="0"/>
                        </a:spcAft>
                      </a:pPr>
                      <a:r>
                        <a:rPr lang="en-US" sz="2200">
                          <a:effectLst/>
                          <a:latin typeface="Arial" pitchFamily="34" charset="0"/>
                          <a:cs typeface="Arial" pitchFamily="34" charset="0"/>
                        </a:rPr>
                        <a:t>int size()</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Trả về số phần tử có trong danh sách</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1"/>
                  </a:ext>
                </a:extLst>
              </a:tr>
              <a:tr h="969653">
                <a:tc>
                  <a:txBody>
                    <a:bodyPr/>
                    <a:lstStyle/>
                    <a:p>
                      <a:pPr>
                        <a:lnSpc>
                          <a:spcPct val="115000"/>
                        </a:lnSpc>
                        <a:spcAft>
                          <a:spcPts val="0"/>
                        </a:spcAft>
                      </a:pPr>
                      <a:r>
                        <a:rPr lang="en-US" sz="2200">
                          <a:effectLst/>
                          <a:latin typeface="Arial" pitchFamily="34" charset="0"/>
                          <a:cs typeface="Arial" pitchFamily="34" charset="0"/>
                        </a:rPr>
                        <a:t>void trimToSize()</a:t>
                      </a:r>
                    </a:p>
                  </a:txBody>
                  <a:tcPr marL="25387" marR="25387" marT="25387" marB="25387"/>
                </a:tc>
                <a:tc>
                  <a:txBody>
                    <a:bodyPr/>
                    <a:lstStyle/>
                    <a:p>
                      <a:pPr>
                        <a:lnSpc>
                          <a:spcPct val="115000"/>
                        </a:lnSpc>
                        <a:spcAft>
                          <a:spcPts val="0"/>
                        </a:spcAft>
                      </a:pPr>
                      <a:r>
                        <a:rPr lang="en-US" sz="2200">
                          <a:effectLst/>
                          <a:latin typeface="Arial" pitchFamily="34" charset="0"/>
                          <a:cs typeface="Arial" pitchFamily="34" charset="0"/>
                        </a:rPr>
                        <a:t>Cắt dung lượng của danh sách thành kích thước hiện tại của danh sách</a:t>
                      </a:r>
                      <a:endParaRPr lang="en-US" sz="2200">
                        <a:solidFill>
                          <a:srgbClr val="000000"/>
                        </a:solidFill>
                        <a:effectLst/>
                        <a:latin typeface="Arial" pitchFamily="34" charset="0"/>
                        <a:ea typeface="Calibri"/>
                        <a:cs typeface="Arial" pitchFamily="34" charset="0"/>
                      </a:endParaRPr>
                    </a:p>
                  </a:txBody>
                  <a:tcPr marL="25387" marR="25387" marT="25387" marB="25387"/>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89938568"/>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ArrayList - Ví dụ 1</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6483163"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255020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ArrayList - Ví dụ 2</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62113"/>
            <a:ext cx="6696368" cy="435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528198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ArrayList - Ví dụ 3</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6894268" cy="468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746464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t>4.1.2. Lớp LinkedList</a:t>
            </a:r>
          </a:p>
        </p:txBody>
      </p:sp>
      <p:sp>
        <p:nvSpPr>
          <p:cNvPr id="3" name="Content Placeholder 2"/>
          <p:cNvSpPr>
            <a:spLocks noGrp="1"/>
          </p:cNvSpPr>
          <p:nvPr>
            <p:ph idx="1"/>
          </p:nvPr>
        </p:nvSpPr>
        <p:spPr/>
        <p:txBody>
          <a:bodyPr>
            <a:normAutofit/>
          </a:bodyPr>
          <a:lstStyle/>
          <a:p>
            <a:r>
              <a:rPr lang="en-US" sz="2400"/>
              <a:t>LinkedList là một cấu trúc dữ liệu trong đó mỗi phần tử gồm ba phần:</a:t>
            </a:r>
          </a:p>
          <a:p>
            <a:pPr lvl="1"/>
            <a:r>
              <a:rPr lang="en-US" sz="2400"/>
              <a:t>Đầu tiên là tham chiếu đến phần tử trước</a:t>
            </a:r>
          </a:p>
          <a:p>
            <a:pPr lvl="1"/>
            <a:r>
              <a:rPr lang="en-US" sz="2400"/>
              <a:t>Phần thứ hai là giá trị thực của phần tử </a:t>
            </a:r>
          </a:p>
          <a:p>
            <a:pPr lvl="1"/>
            <a:r>
              <a:rPr lang="en-US" sz="2400"/>
              <a:t>Phần cuối là tham chiếu đến phần tử tiếp theo</a:t>
            </a:r>
          </a:p>
          <a:p>
            <a:r>
              <a:rPr lang="en-US" sz="2400"/>
              <a:t>Các phần tử có thể được chèn và có thể được gỡ bỏ từ cả hai đầu và có thể được lấy từ bất kỳ vị trí tùy ý nào</a:t>
            </a:r>
          </a:p>
          <a:p>
            <a:r>
              <a:rPr lang="en-US" sz="2400" b="1"/>
              <a:t>public</a:t>
            </a:r>
            <a:r>
              <a:rPr lang="en-US" sz="2400"/>
              <a:t> </a:t>
            </a:r>
            <a:r>
              <a:rPr lang="en-US" sz="2400" b="1"/>
              <a:t>class</a:t>
            </a:r>
            <a:r>
              <a:rPr lang="en-US" sz="2400"/>
              <a:t> LinkedList&lt;E&gt; </a:t>
            </a:r>
            <a:r>
              <a:rPr lang="en-US" sz="2400" b="1"/>
              <a:t>extends</a:t>
            </a:r>
            <a:r>
              <a:rPr lang="en-US" sz="2400"/>
              <a:t> AbstractSequentialList&lt;E&gt; </a:t>
            </a:r>
            <a:r>
              <a:rPr lang="en-US" sz="2400" b="1"/>
              <a:t>implements</a:t>
            </a:r>
            <a:r>
              <a:rPr lang="en-US" sz="2400"/>
              <a:t> List&lt;E&gt;, Deque&lt;E&gt;, Cloneable, Serializable</a:t>
            </a:r>
          </a:p>
        </p:txBody>
      </p:sp>
    </p:spTree>
    <p:extLst>
      <p:ext uri="{BB962C8B-B14F-4D97-AF65-F5344CB8AC3E}">
        <p14:creationId xmlns:p14="http://schemas.microsoft.com/office/powerpoint/2010/main" val="375068462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hàm tạo</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74734253"/>
              </p:ext>
            </p:extLst>
          </p:nvPr>
        </p:nvGraphicFramePr>
        <p:xfrm>
          <a:off x="457200" y="1747745"/>
          <a:ext cx="8458200" cy="4536469"/>
        </p:xfrm>
        <a:graphic>
          <a:graphicData uri="http://schemas.openxmlformats.org/drawingml/2006/table">
            <a:tbl>
              <a:tblPr firstRow="1" firstCol="1" bandRow="1">
                <a:tableStyleId>{5C22544A-7EE6-4342-B048-85BDC9FD1C3A}</a:tableStyleId>
              </a:tblPr>
              <a:tblGrid>
                <a:gridCol w="4193842">
                  <a:extLst>
                    <a:ext uri="{9D8B030D-6E8A-4147-A177-3AD203B41FA5}">
                      <a16:colId xmlns:a16="http://schemas.microsoft.com/office/drawing/2014/main" val="20000"/>
                    </a:ext>
                  </a:extLst>
                </a:gridCol>
                <a:gridCol w="4264358">
                  <a:extLst>
                    <a:ext uri="{9D8B030D-6E8A-4147-A177-3AD203B41FA5}">
                      <a16:colId xmlns:a16="http://schemas.microsoft.com/office/drawing/2014/main" val="20001"/>
                    </a:ext>
                  </a:extLst>
                </a:gridCol>
              </a:tblGrid>
              <a:tr h="0">
                <a:tc>
                  <a:txBody>
                    <a:bodyPr/>
                    <a:lstStyle/>
                    <a:p>
                      <a:pPr>
                        <a:lnSpc>
                          <a:spcPct val="115000"/>
                        </a:lnSpc>
                        <a:spcAft>
                          <a:spcPts val="0"/>
                        </a:spcAft>
                      </a:pPr>
                      <a:r>
                        <a:rPr lang="en-US" sz="2400">
                          <a:effectLst/>
                          <a:latin typeface="Arial" pitchFamily="34" charset="0"/>
                          <a:cs typeface="Arial" pitchFamily="34" charset="0"/>
                        </a:rPr>
                        <a:t>Constructor</a:t>
                      </a:r>
                      <a:endParaRPr lang="en-US" sz="2400">
                        <a:solidFill>
                          <a:srgbClr val="000000"/>
                        </a:solidFill>
                        <a:effectLst/>
                        <a:latin typeface="Arial" pitchFamily="34" charset="0"/>
                        <a:ea typeface="Calibri"/>
                        <a:cs typeface="Arial" pitchFamily="34" charset="0"/>
                      </a:endParaRPr>
                    </a:p>
                  </a:txBody>
                  <a:tcPr marL="114300" marR="114300" marT="114300" marB="114300"/>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114300" marR="114300" marT="114300" marB="114300"/>
                </a:tc>
                <a:extLst>
                  <a:ext uri="{0D108BD9-81ED-4DB2-BD59-A6C34878D82A}">
                    <a16:rowId xmlns:a16="http://schemas.microsoft.com/office/drawing/2014/main" val="10000"/>
                  </a:ext>
                </a:extLst>
              </a:tr>
              <a:tr h="1102951">
                <a:tc>
                  <a:txBody>
                    <a:bodyPr/>
                    <a:lstStyle/>
                    <a:p>
                      <a:pPr indent="13970" algn="just">
                        <a:lnSpc>
                          <a:spcPct val="130000"/>
                        </a:lnSpc>
                        <a:spcBef>
                          <a:spcPts val="300"/>
                        </a:spcBef>
                        <a:spcAft>
                          <a:spcPts val="300"/>
                        </a:spcAft>
                      </a:pPr>
                      <a:r>
                        <a:rPr lang="en-US" sz="2400">
                          <a:effectLst/>
                          <a:latin typeface="Arial" pitchFamily="34" charset="0"/>
                          <a:cs typeface="Arial" pitchFamily="34" charset="0"/>
                        </a:rPr>
                        <a:t>LinkedList()</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danh sách trống</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1"/>
                  </a:ext>
                </a:extLst>
              </a:tr>
              <a:tr h="2784294">
                <a:tc>
                  <a:txBody>
                    <a:bodyPr/>
                    <a:lstStyle/>
                    <a:p>
                      <a:pPr>
                        <a:lnSpc>
                          <a:spcPct val="115000"/>
                        </a:lnSpc>
                        <a:spcAft>
                          <a:spcPts val="0"/>
                        </a:spcAft>
                      </a:pPr>
                      <a:r>
                        <a:rPr lang="en-US" sz="2400">
                          <a:effectLst/>
                          <a:latin typeface="Arial" pitchFamily="34" charset="0"/>
                          <a:cs typeface="Arial" pitchFamily="34" charset="0"/>
                        </a:rPr>
                        <a:t>LinkedList(Collection&lt;? extends E&gt; c)</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danh sách chứa các phần tử của Collection đã chỉ định, có thứ tự, chúng được trả về bởi iteration của collection</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5305039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LinkedList - Chèn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01836526"/>
              </p:ext>
            </p:extLst>
          </p:nvPr>
        </p:nvGraphicFramePr>
        <p:xfrm>
          <a:off x="228600" y="2057400"/>
          <a:ext cx="8686800" cy="3818161"/>
        </p:xfrm>
        <a:graphic>
          <a:graphicData uri="http://schemas.openxmlformats.org/drawingml/2006/table">
            <a:tbl>
              <a:tblPr firstRow="1" firstCol="1" bandRow="1">
                <a:tableStyleId>{5C22544A-7EE6-4342-B048-85BDC9FD1C3A}</a:tableStyleId>
              </a:tblPr>
              <a:tblGrid>
                <a:gridCol w="2466239">
                  <a:extLst>
                    <a:ext uri="{9D8B030D-6E8A-4147-A177-3AD203B41FA5}">
                      <a16:colId xmlns:a16="http://schemas.microsoft.com/office/drawing/2014/main" val="20000"/>
                    </a:ext>
                  </a:extLst>
                </a:gridCol>
                <a:gridCol w="3020161">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681589">
                <a:tc>
                  <a:txBody>
                    <a:bodyPr/>
                    <a:lstStyle/>
                    <a:p>
                      <a:pPr>
                        <a:lnSpc>
                          <a:spcPct val="115000"/>
                        </a:lnSpc>
                        <a:spcAft>
                          <a:spcPts val="0"/>
                        </a:spcAft>
                      </a:pPr>
                      <a:r>
                        <a:rPr lang="en-US" sz="2400">
                          <a:effectLst/>
                          <a:latin typeface="Arial" pitchFamily="34" charset="0"/>
                          <a:cs typeface="Arial" pitchFamily="34" charset="0"/>
                        </a:rPr>
                        <a:t>Chèn ở đầu</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Chèn vào giữa</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Chèn tại đuôi</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0"/>
                  </a:ext>
                </a:extLst>
              </a:tr>
              <a:tr h="681589">
                <a:tc>
                  <a:txBody>
                    <a:bodyPr/>
                    <a:lstStyle/>
                    <a:p>
                      <a:pPr>
                        <a:lnSpc>
                          <a:spcPct val="115000"/>
                        </a:lnSpc>
                        <a:spcAft>
                          <a:spcPts val="0"/>
                        </a:spcAft>
                      </a:pPr>
                      <a:r>
                        <a:rPr lang="en-US" sz="2400">
                          <a:effectLst/>
                          <a:latin typeface="Arial" pitchFamily="34" charset="0"/>
                          <a:cs typeface="Arial" pitchFamily="34" charset="0"/>
                        </a:rPr>
                        <a:t>addFirst (E e)</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add(int index, E e)</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add(E e)</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1"/>
                  </a:ext>
                </a:extLst>
              </a:tr>
              <a:tr h="1091805">
                <a:tc>
                  <a:txBody>
                    <a:bodyPr/>
                    <a:lstStyle/>
                    <a:p>
                      <a:pPr>
                        <a:lnSpc>
                          <a:spcPct val="115000"/>
                        </a:lnSpc>
                        <a:spcAft>
                          <a:spcPts val="0"/>
                        </a:spcAft>
                      </a:pPr>
                      <a:r>
                        <a:rPr lang="en-US" sz="2400">
                          <a:effectLst/>
                          <a:latin typeface="Arial" pitchFamily="34" charset="0"/>
                          <a:cs typeface="Arial" pitchFamily="34" charset="0"/>
                        </a:rPr>
                        <a:t>offerFirst (E e)</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addAll(int index, Collection c)</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addAll(Collection c)</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2"/>
                  </a:ext>
                </a:extLst>
              </a:tr>
              <a:tr h="681589">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offer(E e)</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3"/>
                  </a:ext>
                </a:extLst>
              </a:tr>
              <a:tr h="681589">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offerLast (E e)</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9482343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LinkedList - Xóa</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19090467"/>
              </p:ext>
            </p:extLst>
          </p:nvPr>
        </p:nvGraphicFramePr>
        <p:xfrm>
          <a:off x="609602" y="2057400"/>
          <a:ext cx="8000998" cy="4191000"/>
        </p:xfrm>
        <a:graphic>
          <a:graphicData uri="http://schemas.openxmlformats.org/drawingml/2006/table">
            <a:tbl>
              <a:tblPr firstRow="1" firstCol="1" bandRow="1">
                <a:tableStyleId>{5C22544A-7EE6-4342-B048-85BDC9FD1C3A}</a:tableStyleId>
              </a:tblPr>
              <a:tblGrid>
                <a:gridCol w="2488330">
                  <a:extLst>
                    <a:ext uri="{9D8B030D-6E8A-4147-A177-3AD203B41FA5}">
                      <a16:colId xmlns:a16="http://schemas.microsoft.com/office/drawing/2014/main" val="20000"/>
                    </a:ext>
                  </a:extLst>
                </a:gridCol>
                <a:gridCol w="2998068">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838200">
                <a:tc>
                  <a:txBody>
                    <a:bodyPr/>
                    <a:lstStyle/>
                    <a:p>
                      <a:pPr>
                        <a:lnSpc>
                          <a:spcPct val="115000"/>
                        </a:lnSpc>
                        <a:spcAft>
                          <a:spcPts val="0"/>
                        </a:spcAft>
                      </a:pPr>
                      <a:r>
                        <a:rPr lang="en-US" sz="2400">
                          <a:effectLst/>
                          <a:latin typeface="Arial" pitchFamily="34" charset="0"/>
                          <a:cs typeface="Arial" pitchFamily="34" charset="0"/>
                        </a:rPr>
                        <a:t>Loại bỏ ở đầu</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Loại bỏ từ giữa</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Loại bỏ ở đuôi</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0"/>
                  </a:ext>
                </a:extLst>
              </a:tr>
              <a:tr h="838200">
                <a:tc>
                  <a:txBody>
                    <a:bodyPr/>
                    <a:lstStyle/>
                    <a:p>
                      <a:pPr>
                        <a:lnSpc>
                          <a:spcPct val="115000"/>
                        </a:lnSpc>
                        <a:spcAft>
                          <a:spcPts val="0"/>
                        </a:spcAft>
                      </a:pPr>
                      <a:r>
                        <a:rPr lang="en-US" sz="2400">
                          <a:effectLst/>
                          <a:latin typeface="Arial" pitchFamily="34" charset="0"/>
                          <a:cs typeface="Arial" pitchFamily="34" charset="0"/>
                        </a:rPr>
                        <a:t>poll()</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remove(int index)</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pollLast()</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1"/>
                  </a:ext>
                </a:extLst>
              </a:tr>
              <a:tr h="838200">
                <a:tc>
                  <a:txBody>
                    <a:bodyPr/>
                    <a:lstStyle/>
                    <a:p>
                      <a:pPr>
                        <a:lnSpc>
                          <a:spcPct val="115000"/>
                        </a:lnSpc>
                        <a:spcAft>
                          <a:spcPts val="0"/>
                        </a:spcAft>
                      </a:pPr>
                      <a:r>
                        <a:rPr lang="en-US" sz="2400">
                          <a:effectLst/>
                          <a:latin typeface="Arial" pitchFamily="34" charset="0"/>
                          <a:cs typeface="Arial" pitchFamily="34" charset="0"/>
                        </a:rPr>
                        <a:t>pollFirst ()</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removeLast ()</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2"/>
                  </a:ext>
                </a:extLst>
              </a:tr>
              <a:tr h="838200">
                <a:tc>
                  <a:txBody>
                    <a:bodyPr/>
                    <a:lstStyle/>
                    <a:p>
                      <a:pPr>
                        <a:lnSpc>
                          <a:spcPct val="115000"/>
                        </a:lnSpc>
                        <a:spcAft>
                          <a:spcPts val="0"/>
                        </a:spcAft>
                      </a:pPr>
                      <a:r>
                        <a:rPr lang="en-US" sz="2400">
                          <a:effectLst/>
                          <a:latin typeface="Arial" pitchFamily="34" charset="0"/>
                          <a:cs typeface="Arial" pitchFamily="34" charset="0"/>
                        </a:rPr>
                        <a:t>remove()</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extLst>
                  <a:ext uri="{0D108BD9-81ED-4DB2-BD59-A6C34878D82A}">
                    <a16:rowId xmlns:a16="http://schemas.microsoft.com/office/drawing/2014/main" val="10003"/>
                  </a:ext>
                </a:extLst>
              </a:tr>
              <a:tr h="838200">
                <a:tc>
                  <a:txBody>
                    <a:bodyPr/>
                    <a:lstStyle/>
                    <a:p>
                      <a:pPr>
                        <a:lnSpc>
                          <a:spcPct val="115000"/>
                        </a:lnSpc>
                        <a:spcAft>
                          <a:spcPts val="0"/>
                        </a:spcAft>
                      </a:pPr>
                      <a:r>
                        <a:rPr lang="en-US" sz="2400">
                          <a:effectLst/>
                          <a:latin typeface="Arial" pitchFamily="34" charset="0"/>
                          <a:cs typeface="Arial" pitchFamily="34" charset="0"/>
                        </a:rPr>
                        <a:t>removeFirst()</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5097784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LinkedList - Lấy ra</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775271842"/>
              </p:ext>
            </p:extLst>
          </p:nvPr>
        </p:nvGraphicFramePr>
        <p:xfrm>
          <a:off x="990600" y="2057400"/>
          <a:ext cx="7072312" cy="4206400"/>
        </p:xfrm>
        <a:graphic>
          <a:graphicData uri="http://schemas.openxmlformats.org/drawingml/2006/table">
            <a:tbl>
              <a:tblPr firstRow="1" firstCol="1" bandRow="1">
                <a:tableStyleId>{5C22544A-7EE6-4342-B048-85BDC9FD1C3A}</a:tableStyleId>
              </a:tblPr>
              <a:tblGrid>
                <a:gridCol w="2365666">
                  <a:extLst>
                    <a:ext uri="{9D8B030D-6E8A-4147-A177-3AD203B41FA5}">
                      <a16:colId xmlns:a16="http://schemas.microsoft.com/office/drawing/2014/main" val="20000"/>
                    </a:ext>
                  </a:extLst>
                </a:gridCol>
                <a:gridCol w="2331106">
                  <a:extLst>
                    <a:ext uri="{9D8B030D-6E8A-4147-A177-3AD203B41FA5}">
                      <a16:colId xmlns:a16="http://schemas.microsoft.com/office/drawing/2014/main" val="20001"/>
                    </a:ext>
                  </a:extLst>
                </a:gridCol>
                <a:gridCol w="2375540">
                  <a:extLst>
                    <a:ext uri="{9D8B030D-6E8A-4147-A177-3AD203B41FA5}">
                      <a16:colId xmlns:a16="http://schemas.microsoft.com/office/drawing/2014/main" val="20002"/>
                    </a:ext>
                  </a:extLst>
                </a:gridCol>
              </a:tblGrid>
              <a:tr h="841280">
                <a:tc>
                  <a:txBody>
                    <a:bodyPr/>
                    <a:lstStyle/>
                    <a:p>
                      <a:pPr>
                        <a:lnSpc>
                          <a:spcPct val="115000"/>
                        </a:lnSpc>
                        <a:spcAft>
                          <a:spcPts val="0"/>
                        </a:spcAft>
                      </a:pPr>
                      <a:r>
                        <a:rPr lang="en-US" sz="2400">
                          <a:effectLst/>
                          <a:latin typeface="Arial" pitchFamily="34" charset="0"/>
                          <a:cs typeface="Arial" pitchFamily="34" charset="0"/>
                        </a:rPr>
                        <a:t>Lấy từ đầu</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Lấy từ giữa</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Lấy từ đuôi</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0"/>
                  </a:ext>
                </a:extLst>
              </a:tr>
              <a:tr h="841280">
                <a:tc>
                  <a:txBody>
                    <a:bodyPr/>
                    <a:lstStyle/>
                    <a:p>
                      <a:pPr>
                        <a:lnSpc>
                          <a:spcPct val="115000"/>
                        </a:lnSpc>
                        <a:spcAft>
                          <a:spcPts val="0"/>
                        </a:spcAft>
                      </a:pPr>
                      <a:r>
                        <a:rPr lang="en-US" sz="2400">
                          <a:effectLst/>
                          <a:latin typeface="Arial" pitchFamily="34" charset="0"/>
                          <a:cs typeface="Arial" pitchFamily="34" charset="0"/>
                        </a:rPr>
                        <a:t>element()</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get(int index)</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getLast ()</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1"/>
                  </a:ext>
                </a:extLst>
              </a:tr>
              <a:tr h="841280">
                <a:tc>
                  <a:txBody>
                    <a:bodyPr/>
                    <a:lstStyle/>
                    <a:p>
                      <a:pPr>
                        <a:lnSpc>
                          <a:spcPct val="115000"/>
                        </a:lnSpc>
                        <a:spcAft>
                          <a:spcPts val="0"/>
                        </a:spcAft>
                      </a:pPr>
                      <a:r>
                        <a:rPr lang="en-US" sz="2400">
                          <a:effectLst/>
                          <a:latin typeface="Arial" pitchFamily="34" charset="0"/>
                          <a:cs typeface="Arial" pitchFamily="34" charset="0"/>
                        </a:rPr>
                        <a:t>getFirst ()</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spcAft>
                          <a:spcPts val="0"/>
                        </a:spcAft>
                      </a:pPr>
                      <a:r>
                        <a:rPr lang="en-US" sz="2400">
                          <a:effectLst/>
                          <a:latin typeface="Arial" pitchFamily="34" charset="0"/>
                          <a:cs typeface="Arial" pitchFamily="34" charset="0"/>
                        </a:rPr>
                        <a:t>peekLast ()</a:t>
                      </a:r>
                      <a:endParaRPr lang="en-US" sz="2400">
                        <a:solidFill>
                          <a:srgbClr val="000000"/>
                        </a:solidFill>
                        <a:effectLst/>
                        <a:latin typeface="Arial" pitchFamily="34" charset="0"/>
                        <a:ea typeface="Calibri"/>
                        <a:cs typeface="Arial" pitchFamily="34" charset="0"/>
                      </a:endParaRPr>
                    </a:p>
                  </a:txBody>
                  <a:tcPr marL="76200" marR="76200" marT="76200" marB="76200" anchor="b"/>
                </a:tc>
                <a:extLst>
                  <a:ext uri="{0D108BD9-81ED-4DB2-BD59-A6C34878D82A}">
                    <a16:rowId xmlns:a16="http://schemas.microsoft.com/office/drawing/2014/main" val="10002"/>
                  </a:ext>
                </a:extLst>
              </a:tr>
              <a:tr h="841280">
                <a:tc>
                  <a:txBody>
                    <a:bodyPr/>
                    <a:lstStyle/>
                    <a:p>
                      <a:pPr>
                        <a:lnSpc>
                          <a:spcPct val="115000"/>
                        </a:lnSpc>
                        <a:spcAft>
                          <a:spcPts val="0"/>
                        </a:spcAft>
                      </a:pPr>
                      <a:r>
                        <a:rPr lang="en-US" sz="2400">
                          <a:effectLst/>
                          <a:latin typeface="Arial" pitchFamily="34" charset="0"/>
                          <a:cs typeface="Arial" pitchFamily="34" charset="0"/>
                        </a:rPr>
                        <a:t>peek()</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extLst>
                  <a:ext uri="{0D108BD9-81ED-4DB2-BD59-A6C34878D82A}">
                    <a16:rowId xmlns:a16="http://schemas.microsoft.com/office/drawing/2014/main" val="10003"/>
                  </a:ext>
                </a:extLst>
              </a:tr>
              <a:tr h="841280">
                <a:tc>
                  <a:txBody>
                    <a:bodyPr/>
                    <a:lstStyle/>
                    <a:p>
                      <a:pPr>
                        <a:lnSpc>
                          <a:spcPct val="115000"/>
                        </a:lnSpc>
                        <a:spcAft>
                          <a:spcPts val="0"/>
                        </a:spcAft>
                      </a:pPr>
                      <a:r>
                        <a:rPr lang="en-US" sz="2400">
                          <a:effectLst/>
                          <a:latin typeface="Arial" pitchFamily="34" charset="0"/>
                          <a:cs typeface="Arial" pitchFamily="34" charset="0"/>
                        </a:rPr>
                        <a:t>peekFirst ()</a:t>
                      </a:r>
                      <a:endParaRPr lang="en-US" sz="2400">
                        <a:solidFill>
                          <a:srgbClr val="000000"/>
                        </a:solidFill>
                        <a:effectLst/>
                        <a:latin typeface="Arial" pitchFamily="34" charset="0"/>
                        <a:ea typeface="Calibri"/>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tc>
                  <a:txBody>
                    <a:bodyPr/>
                    <a:lstStyle/>
                    <a:p>
                      <a:pPr>
                        <a:lnSpc>
                          <a:spcPct val="115000"/>
                        </a:lnSpc>
                      </a:pPr>
                      <a:endParaRPr lang="en-US" sz="2400">
                        <a:effectLst/>
                        <a:latin typeface="Arial" pitchFamily="34" charset="0"/>
                        <a:cs typeface="Arial" pitchFamily="34" charset="0"/>
                      </a:endParaRPr>
                    </a:p>
                  </a:txBody>
                  <a:tcPr marL="76200" marR="76200" marT="76200" marB="76200" anchor="b"/>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9523419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2800"/>
              <a:t>Tổng hợp các phương thức của LinkedList (1)</a:t>
            </a:r>
            <a:endParaRPr lang="en-US" sz="36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7553711"/>
              </p:ext>
            </p:extLst>
          </p:nvPr>
        </p:nvGraphicFramePr>
        <p:xfrm>
          <a:off x="144237" y="910550"/>
          <a:ext cx="8923563" cy="5642650"/>
        </p:xfrm>
        <a:graphic>
          <a:graphicData uri="http://schemas.openxmlformats.org/drawingml/2006/table">
            <a:tbl>
              <a:tblPr firstRow="1" firstCol="1" bandRow="1">
                <a:tableStyleId>{5C22544A-7EE6-4342-B048-85BDC9FD1C3A}</a:tableStyleId>
              </a:tblPr>
              <a:tblGrid>
                <a:gridCol w="2666999">
                  <a:extLst>
                    <a:ext uri="{9D8B030D-6E8A-4147-A177-3AD203B41FA5}">
                      <a16:colId xmlns:a16="http://schemas.microsoft.com/office/drawing/2014/main" val="20000"/>
                    </a:ext>
                  </a:extLst>
                </a:gridCol>
                <a:gridCol w="6256564">
                  <a:extLst>
                    <a:ext uri="{9D8B030D-6E8A-4147-A177-3AD203B41FA5}">
                      <a16:colId xmlns:a16="http://schemas.microsoft.com/office/drawing/2014/main" val="20001"/>
                    </a:ext>
                  </a:extLst>
                </a:gridCol>
              </a:tblGrid>
              <a:tr h="91395">
                <a:tc>
                  <a:txBody>
                    <a:bodyPr/>
                    <a:lstStyle/>
                    <a:p>
                      <a:pPr>
                        <a:lnSpc>
                          <a:spcPct val="115000"/>
                        </a:lnSpc>
                        <a:spcAft>
                          <a:spcPts val="0"/>
                        </a:spcAft>
                      </a:pPr>
                      <a:r>
                        <a:rPr lang="en-US" sz="2400">
                          <a:effectLst/>
                          <a:latin typeface="Arial" pitchFamily="34" charset="0"/>
                          <a:cs typeface="Arial" pitchFamily="34" charset="0"/>
                        </a:rPr>
                        <a:t>Phương thức</a:t>
                      </a:r>
                      <a:endParaRPr lang="en-US" sz="2400">
                        <a:solidFill>
                          <a:srgbClr val="000000"/>
                        </a:solidFill>
                        <a:effectLst/>
                        <a:latin typeface="Arial" pitchFamily="34" charset="0"/>
                        <a:ea typeface="Calibri"/>
                        <a:cs typeface="Arial" pitchFamily="34" charset="0"/>
                      </a:endParaRPr>
                    </a:p>
                  </a:txBody>
                  <a:tcPr marL="23801" marR="23801" marT="23801" marB="23801"/>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23801" marR="23801" marT="23801" marB="23801"/>
                </a:tc>
                <a:extLst>
                  <a:ext uri="{0D108BD9-81ED-4DB2-BD59-A6C34878D82A}">
                    <a16:rowId xmlns:a16="http://schemas.microsoft.com/office/drawing/2014/main" val="10000"/>
                  </a:ext>
                </a:extLst>
              </a:tr>
              <a:tr h="75528">
                <a:tc>
                  <a:txBody>
                    <a:bodyPr/>
                    <a:lstStyle/>
                    <a:p>
                      <a:pPr>
                        <a:lnSpc>
                          <a:spcPct val="115000"/>
                        </a:lnSpc>
                        <a:spcAft>
                          <a:spcPts val="0"/>
                        </a:spcAft>
                      </a:pPr>
                      <a:r>
                        <a:rPr lang="en-US" sz="2400">
                          <a:effectLst/>
                          <a:latin typeface="Arial" pitchFamily="34" charset="0"/>
                          <a:cs typeface="Arial" pitchFamily="34" charset="0"/>
                        </a:rPr>
                        <a:t>boolean add(E 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Nối phần tử được chỉ định vào cuối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1"/>
                  </a:ext>
                </a:extLst>
              </a:tr>
              <a:tr h="119321">
                <a:tc>
                  <a:txBody>
                    <a:bodyPr/>
                    <a:lstStyle/>
                    <a:p>
                      <a:pPr>
                        <a:lnSpc>
                          <a:spcPct val="115000"/>
                        </a:lnSpc>
                        <a:spcAft>
                          <a:spcPts val="0"/>
                        </a:spcAft>
                      </a:pPr>
                      <a:r>
                        <a:rPr lang="en-US" sz="2400">
                          <a:effectLst/>
                          <a:latin typeface="Arial" pitchFamily="34" charset="0"/>
                          <a:cs typeface="Arial" pitchFamily="34" charset="0"/>
                        </a:rPr>
                        <a:t>void add(int index, E element)</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Chèn phần tử được chỉ định vào vị trí index trong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2"/>
                  </a:ext>
                </a:extLst>
              </a:tr>
              <a:tr h="206908">
                <a:tc>
                  <a:txBody>
                    <a:bodyPr/>
                    <a:lstStyle/>
                    <a:p>
                      <a:pPr>
                        <a:lnSpc>
                          <a:spcPct val="115000"/>
                        </a:lnSpc>
                        <a:spcAft>
                          <a:spcPts val="0"/>
                        </a:spcAft>
                      </a:pPr>
                      <a:r>
                        <a:rPr lang="en-US" sz="2400">
                          <a:effectLst/>
                          <a:latin typeface="Arial" pitchFamily="34" charset="0"/>
                          <a:cs typeface="Arial" pitchFamily="34" charset="0"/>
                        </a:rPr>
                        <a:t>boolean addAll(Collection&lt;? extends E&gt; c)</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Nối tất cả các phần tử trong Collection đã chỉ định vào cuối danh sách này, theo thứ tự chúng được trả về bởi trình lặp của bộ sưu tập đã chỉ định.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3"/>
                  </a:ext>
                </a:extLst>
              </a:tr>
              <a:tr h="119321">
                <a:tc>
                  <a:txBody>
                    <a:bodyPr/>
                    <a:lstStyle/>
                    <a:p>
                      <a:pPr>
                        <a:lnSpc>
                          <a:spcPct val="115000"/>
                        </a:lnSpc>
                        <a:spcAft>
                          <a:spcPts val="0"/>
                        </a:spcAft>
                      </a:pPr>
                      <a:r>
                        <a:rPr lang="en-US" sz="2400">
                          <a:effectLst/>
                          <a:latin typeface="Arial" pitchFamily="34" charset="0"/>
                          <a:cs typeface="Arial" pitchFamily="34" charset="0"/>
                        </a:rPr>
                        <a:t>boolean addAll(int index, Collection&lt;? extends E&gt; c)</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Nối thêm tất cả các phần tử trong Collection, bắt đầu từ vị trí index của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5596521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2800"/>
              <a:t>Tổng hợp các phương thức của LinkedList (2)</a:t>
            </a:r>
            <a:endParaRPr lang="en-US" sz="36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45602101"/>
              </p:ext>
            </p:extLst>
          </p:nvPr>
        </p:nvGraphicFramePr>
        <p:xfrm>
          <a:off x="76200" y="609600"/>
          <a:ext cx="8923563" cy="6190210"/>
        </p:xfrm>
        <a:graphic>
          <a:graphicData uri="http://schemas.openxmlformats.org/drawingml/2006/table">
            <a:tbl>
              <a:tblPr firstRow="1" firstCol="1" bandRow="1">
                <a:tableStyleId>{5C22544A-7EE6-4342-B048-85BDC9FD1C3A}</a:tableStyleId>
              </a:tblPr>
              <a:tblGrid>
                <a:gridCol w="2819400">
                  <a:extLst>
                    <a:ext uri="{9D8B030D-6E8A-4147-A177-3AD203B41FA5}">
                      <a16:colId xmlns:a16="http://schemas.microsoft.com/office/drawing/2014/main" val="20000"/>
                    </a:ext>
                  </a:extLst>
                </a:gridCol>
                <a:gridCol w="6104163">
                  <a:extLst>
                    <a:ext uri="{9D8B030D-6E8A-4147-A177-3AD203B41FA5}">
                      <a16:colId xmlns:a16="http://schemas.microsoft.com/office/drawing/2014/main" val="20001"/>
                    </a:ext>
                  </a:extLst>
                </a:gridCol>
              </a:tblGrid>
              <a:tr h="91395">
                <a:tc>
                  <a:txBody>
                    <a:bodyPr/>
                    <a:lstStyle/>
                    <a:p>
                      <a:pPr>
                        <a:lnSpc>
                          <a:spcPct val="115000"/>
                        </a:lnSpc>
                        <a:spcAft>
                          <a:spcPts val="0"/>
                        </a:spcAft>
                      </a:pPr>
                      <a:r>
                        <a:rPr lang="en-US" sz="2400">
                          <a:effectLst/>
                          <a:latin typeface="Arial" pitchFamily="34" charset="0"/>
                          <a:cs typeface="Arial" pitchFamily="34" charset="0"/>
                        </a:rPr>
                        <a:t>Phương thức</a:t>
                      </a:r>
                      <a:endParaRPr lang="en-US" sz="2400">
                        <a:solidFill>
                          <a:srgbClr val="000000"/>
                        </a:solidFill>
                        <a:effectLst/>
                        <a:latin typeface="Arial" pitchFamily="34" charset="0"/>
                        <a:ea typeface="Calibri"/>
                        <a:cs typeface="Arial" pitchFamily="34" charset="0"/>
                      </a:endParaRPr>
                    </a:p>
                  </a:txBody>
                  <a:tcPr marL="23801" marR="23801" marT="23801" marB="23801"/>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23801" marR="23801" marT="23801" marB="23801"/>
                </a:tc>
                <a:extLst>
                  <a:ext uri="{0D108BD9-81ED-4DB2-BD59-A6C34878D82A}">
                    <a16:rowId xmlns:a16="http://schemas.microsoft.com/office/drawing/2014/main" val="10000"/>
                  </a:ext>
                </a:extLst>
              </a:tr>
              <a:tr h="75528">
                <a:tc>
                  <a:txBody>
                    <a:bodyPr/>
                    <a:lstStyle/>
                    <a:p>
                      <a:pPr>
                        <a:lnSpc>
                          <a:spcPct val="115000"/>
                        </a:lnSpc>
                        <a:spcAft>
                          <a:spcPts val="0"/>
                        </a:spcAft>
                      </a:pPr>
                      <a:r>
                        <a:rPr lang="en-US" sz="2400">
                          <a:effectLst/>
                          <a:latin typeface="Arial" pitchFamily="34" charset="0"/>
                          <a:cs typeface="Arial" pitchFamily="34" charset="0"/>
                        </a:rPr>
                        <a:t>void addFirst (E 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Chèn phần tử đã cho vào đầu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1"/>
                  </a:ext>
                </a:extLst>
              </a:tr>
              <a:tr h="75528">
                <a:tc>
                  <a:txBody>
                    <a:bodyPr/>
                    <a:lstStyle/>
                    <a:p>
                      <a:pPr>
                        <a:lnSpc>
                          <a:spcPct val="115000"/>
                        </a:lnSpc>
                        <a:spcAft>
                          <a:spcPts val="0"/>
                        </a:spcAft>
                      </a:pPr>
                      <a:r>
                        <a:rPr lang="en-US" sz="2400">
                          <a:effectLst/>
                          <a:latin typeface="Arial" pitchFamily="34" charset="0"/>
                          <a:cs typeface="Arial" pitchFamily="34" charset="0"/>
                        </a:rPr>
                        <a:t>void addLast (E 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Nối phần tử đã cho vào cuối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2"/>
                  </a:ext>
                </a:extLst>
              </a:tr>
              <a:tr h="75528">
                <a:tc>
                  <a:txBody>
                    <a:bodyPr/>
                    <a:lstStyle/>
                    <a:p>
                      <a:pPr>
                        <a:lnSpc>
                          <a:spcPct val="115000"/>
                        </a:lnSpc>
                        <a:spcAft>
                          <a:spcPts val="0"/>
                        </a:spcAft>
                      </a:pPr>
                      <a:r>
                        <a:rPr lang="en-US" sz="2400">
                          <a:effectLst/>
                          <a:latin typeface="Arial" pitchFamily="34" charset="0"/>
                          <a:cs typeface="Arial" pitchFamily="34" charset="0"/>
                        </a:rPr>
                        <a:t>void clear()</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Loại bỏ tất cả các phần tử khỏi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3"/>
                  </a:ext>
                </a:extLst>
              </a:tr>
              <a:tr h="75528">
                <a:tc>
                  <a:txBody>
                    <a:bodyPr/>
                    <a:lstStyle/>
                    <a:p>
                      <a:pPr>
                        <a:lnSpc>
                          <a:spcPct val="115000"/>
                        </a:lnSpc>
                        <a:spcAft>
                          <a:spcPts val="0"/>
                        </a:spcAft>
                      </a:pPr>
                      <a:r>
                        <a:rPr lang="en-US" sz="2400">
                          <a:effectLst/>
                          <a:latin typeface="Arial" pitchFamily="34" charset="0"/>
                          <a:cs typeface="Arial" pitchFamily="34" charset="0"/>
                        </a:rPr>
                        <a:t>Object clone()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Trả về một bản sao nông của ArrayList</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4"/>
                  </a:ext>
                </a:extLst>
              </a:tr>
              <a:tr h="119321">
                <a:tc>
                  <a:txBody>
                    <a:bodyPr/>
                    <a:lstStyle/>
                    <a:p>
                      <a:pPr>
                        <a:lnSpc>
                          <a:spcPct val="115000"/>
                        </a:lnSpc>
                        <a:spcAft>
                          <a:spcPts val="0"/>
                        </a:spcAft>
                      </a:pPr>
                      <a:r>
                        <a:rPr lang="en-US" sz="2400">
                          <a:effectLst/>
                          <a:latin typeface="Arial" pitchFamily="34" charset="0"/>
                          <a:cs typeface="Arial" pitchFamily="34" charset="0"/>
                        </a:rPr>
                        <a:t>boolean contains(Object o)</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Nếu danh sách chứa phần tử được chỉ định, hàm trả về true</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5"/>
                  </a:ext>
                </a:extLst>
              </a:tr>
              <a:tr h="119321">
                <a:tc>
                  <a:txBody>
                    <a:bodyPr/>
                    <a:lstStyle/>
                    <a:p>
                      <a:pPr>
                        <a:lnSpc>
                          <a:spcPct val="115000"/>
                        </a:lnSpc>
                        <a:spcAft>
                          <a:spcPts val="0"/>
                        </a:spcAft>
                      </a:pPr>
                      <a:r>
                        <a:rPr lang="en-US" sz="2400">
                          <a:effectLst/>
                          <a:latin typeface="Arial" pitchFamily="34" charset="0"/>
                          <a:cs typeface="Arial" pitchFamily="34" charset="0"/>
                        </a:rPr>
                        <a:t>Iterator&lt;E&gt; descendingIterator()</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Trả về một trình vòng lặp qua các phần tử trong một deque theo thứ tự tuần tự ngược</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6"/>
                  </a:ext>
                </a:extLst>
              </a:tr>
              <a:tr h="119321">
                <a:tc>
                  <a:txBody>
                    <a:bodyPr/>
                    <a:lstStyle/>
                    <a:p>
                      <a:pPr>
                        <a:lnSpc>
                          <a:spcPct val="115000"/>
                        </a:lnSpc>
                        <a:spcAft>
                          <a:spcPts val="0"/>
                        </a:spcAft>
                      </a:pPr>
                      <a:r>
                        <a:rPr lang="en-US" sz="2400">
                          <a:effectLst/>
                          <a:latin typeface="Arial" pitchFamily="34" charset="0"/>
                          <a:cs typeface="Arial" pitchFamily="34" charset="0"/>
                        </a:rPr>
                        <a:t>E element()</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Nó được sử dụng để lấy phần tử đầu tiên của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7"/>
                  </a:ext>
                </a:extLst>
              </a:tr>
              <a:tr h="119321">
                <a:tc>
                  <a:txBody>
                    <a:bodyPr/>
                    <a:lstStyle/>
                    <a:p>
                      <a:pPr>
                        <a:lnSpc>
                          <a:spcPct val="115000"/>
                        </a:lnSpc>
                        <a:spcAft>
                          <a:spcPts val="0"/>
                        </a:spcAft>
                      </a:pPr>
                      <a:r>
                        <a:rPr lang="en-US" sz="2400">
                          <a:effectLst/>
                          <a:latin typeface="Arial" pitchFamily="34" charset="0"/>
                          <a:cs typeface="Arial" pitchFamily="34" charset="0"/>
                        </a:rPr>
                        <a:t>E get(int index)</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Nó được sử dụng để trả về phần tử tại vị trí đã chỉ định trong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1446512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2800"/>
              <a:t>Tổng hợp các phương thức của LinkedList (3)</a:t>
            </a:r>
            <a:endParaRPr lang="en-US" sz="36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48708262"/>
              </p:ext>
            </p:extLst>
          </p:nvPr>
        </p:nvGraphicFramePr>
        <p:xfrm>
          <a:off x="76200" y="873974"/>
          <a:ext cx="8923563" cy="5222026"/>
        </p:xfrm>
        <a:graphic>
          <a:graphicData uri="http://schemas.openxmlformats.org/drawingml/2006/table">
            <a:tbl>
              <a:tblPr firstRow="1" firstCol="1" bandRow="1">
                <a:tableStyleId>{5C22544A-7EE6-4342-B048-85BDC9FD1C3A}</a:tableStyleId>
              </a:tblPr>
              <a:tblGrid>
                <a:gridCol w="2666999">
                  <a:extLst>
                    <a:ext uri="{9D8B030D-6E8A-4147-A177-3AD203B41FA5}">
                      <a16:colId xmlns:a16="http://schemas.microsoft.com/office/drawing/2014/main" val="20000"/>
                    </a:ext>
                  </a:extLst>
                </a:gridCol>
                <a:gridCol w="6256564">
                  <a:extLst>
                    <a:ext uri="{9D8B030D-6E8A-4147-A177-3AD203B41FA5}">
                      <a16:colId xmlns:a16="http://schemas.microsoft.com/office/drawing/2014/main" val="20001"/>
                    </a:ext>
                  </a:extLst>
                </a:gridCol>
              </a:tblGrid>
              <a:tr h="91395">
                <a:tc>
                  <a:txBody>
                    <a:bodyPr/>
                    <a:lstStyle/>
                    <a:p>
                      <a:pPr>
                        <a:lnSpc>
                          <a:spcPct val="115000"/>
                        </a:lnSpc>
                        <a:spcAft>
                          <a:spcPts val="0"/>
                        </a:spcAft>
                      </a:pPr>
                      <a:r>
                        <a:rPr lang="en-US" sz="2400">
                          <a:effectLst/>
                          <a:latin typeface="Arial" pitchFamily="34" charset="0"/>
                          <a:cs typeface="Arial" pitchFamily="34" charset="0"/>
                        </a:rPr>
                        <a:t>Phương thức</a:t>
                      </a:r>
                      <a:endParaRPr lang="en-US" sz="2400">
                        <a:solidFill>
                          <a:srgbClr val="000000"/>
                        </a:solidFill>
                        <a:effectLst/>
                        <a:latin typeface="Arial" pitchFamily="34" charset="0"/>
                        <a:ea typeface="Calibri"/>
                        <a:cs typeface="Arial" pitchFamily="34" charset="0"/>
                      </a:endParaRPr>
                    </a:p>
                  </a:txBody>
                  <a:tcPr marL="23801" marR="23801" marT="23801" marB="23801"/>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23801" marR="23801" marT="23801" marB="23801"/>
                </a:tc>
                <a:extLst>
                  <a:ext uri="{0D108BD9-81ED-4DB2-BD59-A6C34878D82A}">
                    <a16:rowId xmlns:a16="http://schemas.microsoft.com/office/drawing/2014/main" val="10000"/>
                  </a:ext>
                </a:extLst>
              </a:tr>
              <a:tr h="119321">
                <a:tc>
                  <a:txBody>
                    <a:bodyPr/>
                    <a:lstStyle/>
                    <a:p>
                      <a:pPr>
                        <a:lnSpc>
                          <a:spcPct val="115000"/>
                        </a:lnSpc>
                        <a:spcAft>
                          <a:spcPts val="0"/>
                        </a:spcAft>
                      </a:pPr>
                      <a:r>
                        <a:rPr lang="en-US" sz="2400">
                          <a:effectLst/>
                          <a:latin typeface="Arial" pitchFamily="34" charset="0"/>
                          <a:cs typeface="Arial" pitchFamily="34" charset="0"/>
                        </a:rPr>
                        <a:t>E getFirst ()</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Nó được sử dụng để trả về phần tử đầu tiên trong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1"/>
                  </a:ext>
                </a:extLst>
              </a:tr>
              <a:tr h="119321">
                <a:tc>
                  <a:txBody>
                    <a:bodyPr/>
                    <a:lstStyle/>
                    <a:p>
                      <a:pPr>
                        <a:lnSpc>
                          <a:spcPct val="115000"/>
                        </a:lnSpc>
                        <a:spcAft>
                          <a:spcPts val="0"/>
                        </a:spcAft>
                      </a:pPr>
                      <a:r>
                        <a:rPr lang="en-US" sz="2400">
                          <a:effectLst/>
                          <a:latin typeface="Arial" pitchFamily="34" charset="0"/>
                          <a:cs typeface="Arial" pitchFamily="34" charset="0"/>
                        </a:rPr>
                        <a:t>E getLast ()</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Nó được sử dụng để trả về phần tử cuối cùng trong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2"/>
                  </a:ext>
                </a:extLst>
              </a:tr>
              <a:tr h="163115">
                <a:tc>
                  <a:txBody>
                    <a:bodyPr/>
                    <a:lstStyle/>
                    <a:p>
                      <a:pPr>
                        <a:lnSpc>
                          <a:spcPct val="115000"/>
                        </a:lnSpc>
                        <a:spcAft>
                          <a:spcPts val="0"/>
                        </a:spcAft>
                      </a:pPr>
                      <a:r>
                        <a:rPr lang="en-US" sz="2400">
                          <a:effectLst/>
                          <a:latin typeface="Arial" pitchFamily="34" charset="0"/>
                          <a:cs typeface="Arial" pitchFamily="34" charset="0"/>
                        </a:rPr>
                        <a:t>int indexOf (Object o)</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Trả về chỉ mục trong danh sách lần xuất hiện đầu tiên của phần tử đã chỉ định hoặc -1 nếu danh sách không chứa bất kỳ phần tử nào</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3"/>
                  </a:ext>
                </a:extLst>
              </a:tr>
              <a:tr h="163115">
                <a:tc>
                  <a:txBody>
                    <a:bodyPr/>
                    <a:lstStyle/>
                    <a:p>
                      <a:pPr>
                        <a:lnSpc>
                          <a:spcPct val="115000"/>
                        </a:lnSpc>
                        <a:spcAft>
                          <a:spcPts val="0"/>
                        </a:spcAft>
                      </a:pPr>
                      <a:r>
                        <a:rPr lang="en-US" sz="2400">
                          <a:effectLst/>
                          <a:latin typeface="Arial" pitchFamily="34" charset="0"/>
                          <a:cs typeface="Arial" pitchFamily="34" charset="0"/>
                        </a:rPr>
                        <a:t>int lastIndexOf (Object o)</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Trả về chỉ mục trong danh sách lần xuất hiện cuối cùng của phần tử đã chỉ định hoặc -1 nếu danh sách không chứa bất kỳ phần tử nào</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6686802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2800"/>
              <a:t>Tổng hợp các phương thức của LinkedList (4)</a:t>
            </a:r>
            <a:endParaRPr lang="en-US" sz="36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93416027"/>
              </p:ext>
            </p:extLst>
          </p:nvPr>
        </p:nvGraphicFramePr>
        <p:xfrm>
          <a:off x="76200" y="685800"/>
          <a:ext cx="8923563" cy="5706118"/>
        </p:xfrm>
        <a:graphic>
          <a:graphicData uri="http://schemas.openxmlformats.org/drawingml/2006/table">
            <a:tbl>
              <a:tblPr firstRow="1" firstCol="1" bandRow="1">
                <a:tableStyleId>{5C22544A-7EE6-4342-B048-85BDC9FD1C3A}</a:tableStyleId>
              </a:tblPr>
              <a:tblGrid>
                <a:gridCol w="2666999">
                  <a:extLst>
                    <a:ext uri="{9D8B030D-6E8A-4147-A177-3AD203B41FA5}">
                      <a16:colId xmlns:a16="http://schemas.microsoft.com/office/drawing/2014/main" val="20000"/>
                    </a:ext>
                  </a:extLst>
                </a:gridCol>
                <a:gridCol w="6256564">
                  <a:extLst>
                    <a:ext uri="{9D8B030D-6E8A-4147-A177-3AD203B41FA5}">
                      <a16:colId xmlns:a16="http://schemas.microsoft.com/office/drawing/2014/main" val="20001"/>
                    </a:ext>
                  </a:extLst>
                </a:gridCol>
              </a:tblGrid>
              <a:tr h="91395">
                <a:tc>
                  <a:txBody>
                    <a:bodyPr/>
                    <a:lstStyle/>
                    <a:p>
                      <a:pPr>
                        <a:lnSpc>
                          <a:spcPct val="115000"/>
                        </a:lnSpc>
                        <a:spcAft>
                          <a:spcPts val="0"/>
                        </a:spcAft>
                      </a:pPr>
                      <a:r>
                        <a:rPr lang="en-US" sz="2400">
                          <a:effectLst/>
                          <a:latin typeface="Arial" pitchFamily="34" charset="0"/>
                          <a:cs typeface="Arial" pitchFamily="34" charset="0"/>
                        </a:rPr>
                        <a:t>Phương thức</a:t>
                      </a:r>
                      <a:endParaRPr lang="en-US" sz="2400">
                        <a:solidFill>
                          <a:srgbClr val="000000"/>
                        </a:solidFill>
                        <a:effectLst/>
                        <a:latin typeface="Arial" pitchFamily="34" charset="0"/>
                        <a:ea typeface="Calibri"/>
                        <a:cs typeface="Arial" pitchFamily="34" charset="0"/>
                      </a:endParaRPr>
                    </a:p>
                  </a:txBody>
                  <a:tcPr marL="23801" marR="23801" marT="23801" marB="23801"/>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23801" marR="23801" marT="23801" marB="23801"/>
                </a:tc>
                <a:extLst>
                  <a:ext uri="{0D108BD9-81ED-4DB2-BD59-A6C34878D82A}">
                    <a16:rowId xmlns:a16="http://schemas.microsoft.com/office/drawing/2014/main" val="10000"/>
                  </a:ext>
                </a:extLst>
              </a:tr>
              <a:tr h="163115">
                <a:tc>
                  <a:txBody>
                    <a:bodyPr/>
                    <a:lstStyle/>
                    <a:p>
                      <a:pPr>
                        <a:lnSpc>
                          <a:spcPct val="115000"/>
                        </a:lnSpc>
                        <a:spcAft>
                          <a:spcPts val="0"/>
                        </a:spcAft>
                      </a:pPr>
                      <a:r>
                        <a:rPr lang="en-US" sz="2400">
                          <a:effectLst/>
                          <a:latin typeface="Arial" pitchFamily="34" charset="0"/>
                          <a:cs typeface="Arial" pitchFamily="34" charset="0"/>
                        </a:rPr>
                        <a:t>ListIterator &lt;E&gt; listIterator (int index)</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Trả về một trình lặp danh sách các phần tử theo trình tự thích hợp, bắt đầu từ vị trí đã chỉ định trong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1"/>
                  </a:ext>
                </a:extLst>
              </a:tr>
              <a:tr h="119321">
                <a:tc>
                  <a:txBody>
                    <a:bodyPr/>
                    <a:lstStyle/>
                    <a:p>
                      <a:pPr>
                        <a:lnSpc>
                          <a:spcPct val="115000"/>
                        </a:lnSpc>
                        <a:spcAft>
                          <a:spcPts val="0"/>
                        </a:spcAft>
                      </a:pPr>
                      <a:r>
                        <a:rPr lang="en-US" sz="2400">
                          <a:effectLst/>
                          <a:latin typeface="Arial" pitchFamily="34" charset="0"/>
                          <a:cs typeface="Arial" pitchFamily="34" charset="0"/>
                        </a:rPr>
                        <a:t>boolean offer(E 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Thêm phần tử được chỉ định làm phần tử cuối cùng của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2"/>
                  </a:ext>
                </a:extLst>
              </a:tr>
              <a:tr h="75528">
                <a:tc>
                  <a:txBody>
                    <a:bodyPr/>
                    <a:lstStyle/>
                    <a:p>
                      <a:pPr>
                        <a:lnSpc>
                          <a:spcPct val="115000"/>
                        </a:lnSpc>
                        <a:spcAft>
                          <a:spcPts val="0"/>
                        </a:spcAft>
                      </a:pPr>
                      <a:r>
                        <a:rPr lang="en-US" sz="2400">
                          <a:effectLst/>
                          <a:latin typeface="Arial" pitchFamily="34" charset="0"/>
                          <a:cs typeface="Arial" pitchFamily="34" charset="0"/>
                        </a:rPr>
                        <a:t>boolean offerFirst(E 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Chèn phần tử được chỉ định vào đầu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3"/>
                  </a:ext>
                </a:extLst>
              </a:tr>
              <a:tr h="119321">
                <a:tc>
                  <a:txBody>
                    <a:bodyPr/>
                    <a:lstStyle/>
                    <a:p>
                      <a:pPr>
                        <a:lnSpc>
                          <a:spcPct val="115000"/>
                        </a:lnSpc>
                        <a:spcAft>
                          <a:spcPts val="0"/>
                        </a:spcAft>
                      </a:pPr>
                      <a:r>
                        <a:rPr lang="en-US" sz="2400">
                          <a:effectLst/>
                          <a:latin typeface="Arial" pitchFamily="34" charset="0"/>
                          <a:cs typeface="Arial" pitchFamily="34" charset="0"/>
                        </a:rPr>
                        <a:t>boolean offerLast(E 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Chèn phần tử được chỉ định vào cuối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4"/>
                  </a:ext>
                </a:extLst>
              </a:tr>
              <a:tr h="75528">
                <a:tc>
                  <a:txBody>
                    <a:bodyPr/>
                    <a:lstStyle/>
                    <a:p>
                      <a:pPr>
                        <a:lnSpc>
                          <a:spcPct val="115000"/>
                        </a:lnSpc>
                        <a:spcAft>
                          <a:spcPts val="0"/>
                        </a:spcAft>
                      </a:pPr>
                      <a:r>
                        <a:rPr lang="en-US" sz="2400">
                          <a:effectLst/>
                          <a:latin typeface="Arial" pitchFamily="34" charset="0"/>
                          <a:cs typeface="Arial" pitchFamily="34" charset="0"/>
                        </a:rPr>
                        <a:t>E peek ()</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phần tử đầu tiên của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5"/>
                  </a:ext>
                </a:extLst>
              </a:tr>
              <a:tr h="119321">
                <a:tc>
                  <a:txBody>
                    <a:bodyPr/>
                    <a:lstStyle/>
                    <a:p>
                      <a:pPr>
                        <a:lnSpc>
                          <a:spcPct val="115000"/>
                        </a:lnSpc>
                        <a:spcAft>
                          <a:spcPts val="0"/>
                        </a:spcAft>
                      </a:pPr>
                      <a:r>
                        <a:rPr lang="en-US" sz="2400">
                          <a:effectLst/>
                          <a:latin typeface="Arial" pitchFamily="34" charset="0"/>
                          <a:cs typeface="Arial" pitchFamily="34" charset="0"/>
                        </a:rPr>
                        <a:t>E peekFirst ()</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phần tử đầu tiên của danh sách hoặc trả về null nếu danh sách trống</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76287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2800"/>
              <a:t>Tổng hợp các phương thức của LinkedList (5)</a:t>
            </a:r>
            <a:endParaRPr lang="en-US" sz="36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81667604"/>
              </p:ext>
            </p:extLst>
          </p:nvPr>
        </p:nvGraphicFramePr>
        <p:xfrm>
          <a:off x="76200" y="685800"/>
          <a:ext cx="8923563" cy="5737852"/>
        </p:xfrm>
        <a:graphic>
          <a:graphicData uri="http://schemas.openxmlformats.org/drawingml/2006/table">
            <a:tbl>
              <a:tblPr firstRow="1" firstCol="1" bandRow="1">
                <a:tableStyleId>{5C22544A-7EE6-4342-B048-85BDC9FD1C3A}</a:tableStyleId>
              </a:tblPr>
              <a:tblGrid>
                <a:gridCol w="2666999">
                  <a:extLst>
                    <a:ext uri="{9D8B030D-6E8A-4147-A177-3AD203B41FA5}">
                      <a16:colId xmlns:a16="http://schemas.microsoft.com/office/drawing/2014/main" val="20000"/>
                    </a:ext>
                  </a:extLst>
                </a:gridCol>
                <a:gridCol w="6256564">
                  <a:extLst>
                    <a:ext uri="{9D8B030D-6E8A-4147-A177-3AD203B41FA5}">
                      <a16:colId xmlns:a16="http://schemas.microsoft.com/office/drawing/2014/main" val="20001"/>
                    </a:ext>
                  </a:extLst>
                </a:gridCol>
              </a:tblGrid>
              <a:tr h="91395">
                <a:tc>
                  <a:txBody>
                    <a:bodyPr/>
                    <a:lstStyle/>
                    <a:p>
                      <a:pPr>
                        <a:lnSpc>
                          <a:spcPct val="115000"/>
                        </a:lnSpc>
                        <a:spcAft>
                          <a:spcPts val="0"/>
                        </a:spcAft>
                      </a:pPr>
                      <a:r>
                        <a:rPr lang="en-US" sz="2400">
                          <a:effectLst/>
                          <a:latin typeface="Arial" pitchFamily="34" charset="0"/>
                          <a:cs typeface="Arial" pitchFamily="34" charset="0"/>
                        </a:rPr>
                        <a:t>Phương thức</a:t>
                      </a:r>
                      <a:endParaRPr lang="en-US" sz="2400">
                        <a:solidFill>
                          <a:srgbClr val="000000"/>
                        </a:solidFill>
                        <a:effectLst/>
                        <a:latin typeface="Arial" pitchFamily="34" charset="0"/>
                        <a:ea typeface="Calibri"/>
                        <a:cs typeface="Arial" pitchFamily="34" charset="0"/>
                      </a:endParaRPr>
                    </a:p>
                  </a:txBody>
                  <a:tcPr marL="23801" marR="23801" marT="23801" marB="23801"/>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23801" marR="23801" marT="23801" marB="23801"/>
                </a:tc>
                <a:extLst>
                  <a:ext uri="{0D108BD9-81ED-4DB2-BD59-A6C34878D82A}">
                    <a16:rowId xmlns:a16="http://schemas.microsoft.com/office/drawing/2014/main" val="10000"/>
                  </a:ext>
                </a:extLst>
              </a:tr>
              <a:tr h="119321">
                <a:tc>
                  <a:txBody>
                    <a:bodyPr/>
                    <a:lstStyle/>
                    <a:p>
                      <a:pPr>
                        <a:lnSpc>
                          <a:spcPct val="115000"/>
                        </a:lnSpc>
                        <a:spcAft>
                          <a:spcPts val="0"/>
                        </a:spcAft>
                      </a:pPr>
                      <a:r>
                        <a:rPr lang="en-US" sz="2400">
                          <a:effectLst/>
                          <a:latin typeface="Arial" pitchFamily="34" charset="0"/>
                          <a:cs typeface="Arial" pitchFamily="34" charset="0"/>
                        </a:rPr>
                        <a:t>E peekLast ()</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phần tử cuối cùng của danh sách hoặc trả về null nếu danh sách trống</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1"/>
                  </a:ext>
                </a:extLst>
              </a:tr>
              <a:tr h="75528">
                <a:tc>
                  <a:txBody>
                    <a:bodyPr/>
                    <a:lstStyle/>
                    <a:p>
                      <a:pPr>
                        <a:lnSpc>
                          <a:spcPct val="115000"/>
                        </a:lnSpc>
                        <a:spcAft>
                          <a:spcPts val="0"/>
                        </a:spcAft>
                      </a:pPr>
                      <a:r>
                        <a:rPr lang="en-US" sz="2400">
                          <a:effectLst/>
                          <a:latin typeface="Arial" pitchFamily="34" charset="0"/>
                          <a:cs typeface="Arial" pitchFamily="34" charset="0"/>
                        </a:rPr>
                        <a:t>E poll()</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và loại bỏ phần tử đầu tiên của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2"/>
                  </a:ext>
                </a:extLst>
              </a:tr>
              <a:tr h="119321">
                <a:tc>
                  <a:txBody>
                    <a:bodyPr/>
                    <a:lstStyle/>
                    <a:p>
                      <a:pPr>
                        <a:lnSpc>
                          <a:spcPct val="115000"/>
                        </a:lnSpc>
                        <a:spcAft>
                          <a:spcPts val="0"/>
                        </a:spcAft>
                      </a:pPr>
                      <a:r>
                        <a:rPr lang="en-US" sz="2400">
                          <a:effectLst/>
                          <a:latin typeface="Arial" pitchFamily="34" charset="0"/>
                          <a:cs typeface="Arial" pitchFamily="34" charset="0"/>
                        </a:rPr>
                        <a:t>E pollFirst()</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và loại bỏ phần tử đầu tiên của danh sách hoặc trả về null nếu danh sách trống</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3"/>
                  </a:ext>
                </a:extLst>
              </a:tr>
              <a:tr h="119321">
                <a:tc>
                  <a:txBody>
                    <a:bodyPr/>
                    <a:lstStyle/>
                    <a:p>
                      <a:pPr>
                        <a:lnSpc>
                          <a:spcPct val="115000"/>
                        </a:lnSpc>
                        <a:spcAft>
                          <a:spcPts val="0"/>
                        </a:spcAft>
                      </a:pPr>
                      <a:r>
                        <a:rPr lang="en-US" sz="2400">
                          <a:effectLst/>
                          <a:latin typeface="Arial" pitchFamily="34" charset="0"/>
                          <a:cs typeface="Arial" pitchFamily="34" charset="0"/>
                        </a:rPr>
                        <a:t>E pollLast()</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và loại bỏ phần tử cuối cùng của danh sách hoặc trả về null nếu danh sách trống</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4"/>
                  </a:ext>
                </a:extLst>
              </a:tr>
              <a:tr h="75528">
                <a:tc>
                  <a:txBody>
                    <a:bodyPr/>
                    <a:lstStyle/>
                    <a:p>
                      <a:pPr>
                        <a:lnSpc>
                          <a:spcPct val="115000"/>
                        </a:lnSpc>
                        <a:spcAft>
                          <a:spcPts val="0"/>
                        </a:spcAft>
                      </a:pPr>
                      <a:r>
                        <a:rPr lang="en-US" sz="2400">
                          <a:effectLst/>
                          <a:latin typeface="Arial" pitchFamily="34" charset="0"/>
                          <a:cs typeface="Arial" pitchFamily="34" charset="0"/>
                        </a:rPr>
                        <a:t>E pop ()</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một phần tử từ ngăn xếp</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5"/>
                  </a:ext>
                </a:extLst>
              </a:tr>
              <a:tr h="75528">
                <a:tc>
                  <a:txBody>
                    <a:bodyPr/>
                    <a:lstStyle/>
                    <a:p>
                      <a:pPr>
                        <a:lnSpc>
                          <a:spcPct val="115000"/>
                        </a:lnSpc>
                        <a:spcAft>
                          <a:spcPts val="0"/>
                        </a:spcAft>
                      </a:pPr>
                      <a:r>
                        <a:rPr lang="en-US" sz="2400">
                          <a:effectLst/>
                          <a:latin typeface="Arial" pitchFamily="34" charset="0"/>
                          <a:cs typeface="Arial" pitchFamily="34" charset="0"/>
                        </a:rPr>
                        <a:t>void push(E 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Đẩy một phần tử lên ngăn xếp</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6"/>
                  </a:ext>
                </a:extLst>
              </a:tr>
              <a:tr h="75528">
                <a:tc>
                  <a:txBody>
                    <a:bodyPr/>
                    <a:lstStyle/>
                    <a:p>
                      <a:pPr>
                        <a:lnSpc>
                          <a:spcPct val="115000"/>
                        </a:lnSpc>
                        <a:spcAft>
                          <a:spcPts val="0"/>
                        </a:spcAft>
                      </a:pPr>
                      <a:r>
                        <a:rPr lang="en-US" sz="2400">
                          <a:effectLst/>
                          <a:latin typeface="Arial" pitchFamily="34" charset="0"/>
                          <a:cs typeface="Arial" pitchFamily="34" charset="0"/>
                        </a:rPr>
                        <a:t>E remove()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và loại bỏ phần tử đầu tiên của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0556458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2800"/>
              <a:t>Tổng hợp các phương thức của LinkedList (6)</a:t>
            </a:r>
            <a:endParaRPr lang="en-US" sz="36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30557292"/>
              </p:ext>
            </p:extLst>
          </p:nvPr>
        </p:nvGraphicFramePr>
        <p:xfrm>
          <a:off x="76200" y="685800"/>
          <a:ext cx="8923563" cy="5706118"/>
        </p:xfrm>
        <a:graphic>
          <a:graphicData uri="http://schemas.openxmlformats.org/drawingml/2006/table">
            <a:tbl>
              <a:tblPr firstRow="1" firstCol="1" bandRow="1">
                <a:tableStyleId>{5C22544A-7EE6-4342-B048-85BDC9FD1C3A}</a:tableStyleId>
              </a:tblPr>
              <a:tblGrid>
                <a:gridCol w="2666999">
                  <a:extLst>
                    <a:ext uri="{9D8B030D-6E8A-4147-A177-3AD203B41FA5}">
                      <a16:colId xmlns:a16="http://schemas.microsoft.com/office/drawing/2014/main" val="20000"/>
                    </a:ext>
                  </a:extLst>
                </a:gridCol>
                <a:gridCol w="6256564">
                  <a:extLst>
                    <a:ext uri="{9D8B030D-6E8A-4147-A177-3AD203B41FA5}">
                      <a16:colId xmlns:a16="http://schemas.microsoft.com/office/drawing/2014/main" val="20001"/>
                    </a:ext>
                  </a:extLst>
                </a:gridCol>
              </a:tblGrid>
              <a:tr h="91395">
                <a:tc>
                  <a:txBody>
                    <a:bodyPr/>
                    <a:lstStyle/>
                    <a:p>
                      <a:pPr>
                        <a:lnSpc>
                          <a:spcPct val="115000"/>
                        </a:lnSpc>
                        <a:spcAft>
                          <a:spcPts val="0"/>
                        </a:spcAft>
                      </a:pPr>
                      <a:r>
                        <a:rPr lang="en-US" sz="2400">
                          <a:effectLst/>
                          <a:latin typeface="Arial" pitchFamily="34" charset="0"/>
                          <a:cs typeface="Arial" pitchFamily="34" charset="0"/>
                        </a:rPr>
                        <a:t>Phương thức</a:t>
                      </a:r>
                      <a:endParaRPr lang="en-US" sz="2400">
                        <a:solidFill>
                          <a:srgbClr val="000000"/>
                        </a:solidFill>
                        <a:effectLst/>
                        <a:latin typeface="Arial" pitchFamily="34" charset="0"/>
                        <a:ea typeface="Calibri"/>
                        <a:cs typeface="Arial" pitchFamily="34" charset="0"/>
                      </a:endParaRPr>
                    </a:p>
                  </a:txBody>
                  <a:tcPr marL="23801" marR="23801" marT="23801" marB="23801"/>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23801" marR="23801" marT="23801" marB="23801"/>
                </a:tc>
                <a:extLst>
                  <a:ext uri="{0D108BD9-81ED-4DB2-BD59-A6C34878D82A}">
                    <a16:rowId xmlns:a16="http://schemas.microsoft.com/office/drawing/2014/main" val="10000"/>
                  </a:ext>
                </a:extLst>
              </a:tr>
              <a:tr h="75528">
                <a:tc>
                  <a:txBody>
                    <a:bodyPr/>
                    <a:lstStyle/>
                    <a:p>
                      <a:pPr>
                        <a:lnSpc>
                          <a:spcPct val="115000"/>
                        </a:lnSpc>
                        <a:spcAft>
                          <a:spcPts val="0"/>
                        </a:spcAft>
                      </a:pPr>
                      <a:r>
                        <a:rPr lang="en-US" sz="2400">
                          <a:effectLst/>
                          <a:latin typeface="Arial" pitchFamily="34" charset="0"/>
                          <a:cs typeface="Arial" pitchFamily="34" charset="0"/>
                        </a:rPr>
                        <a:t>E remove()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Lấy và loại bỏ phần tử đầu tiên của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1"/>
                  </a:ext>
                </a:extLst>
              </a:tr>
              <a:tr h="119321">
                <a:tc>
                  <a:txBody>
                    <a:bodyPr/>
                    <a:lstStyle/>
                    <a:p>
                      <a:pPr>
                        <a:lnSpc>
                          <a:spcPct val="115000"/>
                        </a:lnSpc>
                        <a:spcAft>
                          <a:spcPts val="0"/>
                        </a:spcAft>
                      </a:pPr>
                      <a:r>
                        <a:rPr lang="en-US" sz="2400">
                          <a:effectLst/>
                          <a:latin typeface="Arial" pitchFamily="34" charset="0"/>
                          <a:cs typeface="Arial" pitchFamily="34" charset="0"/>
                        </a:rPr>
                        <a:t>E remove(int index)</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Loại bỏ phần tử tại vị trí đã chỉ định trong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2"/>
                  </a:ext>
                </a:extLst>
              </a:tr>
              <a:tr h="119321">
                <a:tc>
                  <a:txBody>
                    <a:bodyPr/>
                    <a:lstStyle/>
                    <a:p>
                      <a:pPr>
                        <a:lnSpc>
                          <a:spcPct val="115000"/>
                        </a:lnSpc>
                        <a:spcAft>
                          <a:spcPts val="0"/>
                        </a:spcAft>
                      </a:pPr>
                      <a:r>
                        <a:rPr lang="en-US" sz="2400">
                          <a:effectLst/>
                          <a:latin typeface="Arial" pitchFamily="34" charset="0"/>
                          <a:cs typeface="Arial" pitchFamily="34" charset="0"/>
                        </a:rPr>
                        <a:t>boolean remove(Object o)</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Loại bỏ phần tử được chỉ định trong danh sách tại lần xuất hiện đầu tiên </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3"/>
                  </a:ext>
                </a:extLst>
              </a:tr>
              <a:tr h="75528">
                <a:tc>
                  <a:txBody>
                    <a:bodyPr/>
                    <a:lstStyle/>
                    <a:p>
                      <a:pPr>
                        <a:lnSpc>
                          <a:spcPct val="115000"/>
                        </a:lnSpc>
                        <a:spcAft>
                          <a:spcPts val="0"/>
                        </a:spcAft>
                      </a:pPr>
                      <a:r>
                        <a:rPr lang="en-US" sz="2400">
                          <a:effectLst/>
                          <a:latin typeface="Arial" pitchFamily="34" charset="0"/>
                          <a:cs typeface="Arial" pitchFamily="34" charset="0"/>
                        </a:rPr>
                        <a:t>E removeFirst()</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Loại bỏ và trả về phần tử đầu tiên từ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4"/>
                  </a:ext>
                </a:extLst>
              </a:tr>
              <a:tr h="163115">
                <a:tc>
                  <a:txBody>
                    <a:bodyPr/>
                    <a:lstStyle/>
                    <a:p>
                      <a:pPr>
                        <a:lnSpc>
                          <a:spcPct val="115000"/>
                        </a:lnSpc>
                        <a:spcAft>
                          <a:spcPts val="0"/>
                        </a:spcAft>
                      </a:pPr>
                      <a:r>
                        <a:rPr lang="en-US" sz="2400">
                          <a:effectLst/>
                          <a:latin typeface="Arial" pitchFamily="34" charset="0"/>
                          <a:cs typeface="Arial" pitchFamily="34" charset="0"/>
                        </a:rPr>
                        <a:t>boolean removeFirstOccurrence (Object o)</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Loại bỏ phần tử được chỉ định trong danh sách tại lần xuất hiện đầu tiên (khi duyệt qua danh sách từ đầu đến cuối)</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5"/>
                  </a:ext>
                </a:extLst>
              </a:tr>
              <a:tr h="75528">
                <a:tc>
                  <a:txBody>
                    <a:bodyPr/>
                    <a:lstStyle/>
                    <a:p>
                      <a:pPr>
                        <a:lnSpc>
                          <a:spcPct val="115000"/>
                        </a:lnSpc>
                        <a:spcAft>
                          <a:spcPts val="0"/>
                        </a:spcAft>
                      </a:pPr>
                      <a:r>
                        <a:rPr lang="en-US" sz="2400">
                          <a:effectLst/>
                          <a:latin typeface="Arial" pitchFamily="34" charset="0"/>
                          <a:cs typeface="Arial" pitchFamily="34" charset="0"/>
                        </a:rPr>
                        <a:t>E removeLast ()</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Loại bỏ và trả về phần tử cuối cùng </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5131268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2800"/>
              <a:t>Tổng hợp các phương thức của LinkedList (7)</a:t>
            </a:r>
            <a:endParaRPr lang="en-US" sz="36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39649439"/>
              </p:ext>
            </p:extLst>
          </p:nvPr>
        </p:nvGraphicFramePr>
        <p:xfrm>
          <a:off x="76200" y="685800"/>
          <a:ext cx="8923563" cy="5674384"/>
        </p:xfrm>
        <a:graphic>
          <a:graphicData uri="http://schemas.openxmlformats.org/drawingml/2006/table">
            <a:tbl>
              <a:tblPr firstRow="1" firstCol="1" bandRow="1">
                <a:tableStyleId>{5C22544A-7EE6-4342-B048-85BDC9FD1C3A}</a:tableStyleId>
              </a:tblPr>
              <a:tblGrid>
                <a:gridCol w="2666999">
                  <a:extLst>
                    <a:ext uri="{9D8B030D-6E8A-4147-A177-3AD203B41FA5}">
                      <a16:colId xmlns:a16="http://schemas.microsoft.com/office/drawing/2014/main" val="20000"/>
                    </a:ext>
                  </a:extLst>
                </a:gridCol>
                <a:gridCol w="6256564">
                  <a:extLst>
                    <a:ext uri="{9D8B030D-6E8A-4147-A177-3AD203B41FA5}">
                      <a16:colId xmlns:a16="http://schemas.microsoft.com/office/drawing/2014/main" val="20001"/>
                    </a:ext>
                  </a:extLst>
                </a:gridCol>
              </a:tblGrid>
              <a:tr h="91395">
                <a:tc>
                  <a:txBody>
                    <a:bodyPr/>
                    <a:lstStyle/>
                    <a:p>
                      <a:pPr>
                        <a:lnSpc>
                          <a:spcPct val="115000"/>
                        </a:lnSpc>
                        <a:spcAft>
                          <a:spcPts val="0"/>
                        </a:spcAft>
                      </a:pPr>
                      <a:r>
                        <a:rPr lang="en-US" sz="2400">
                          <a:effectLst/>
                          <a:latin typeface="Arial" pitchFamily="34" charset="0"/>
                          <a:cs typeface="Arial" pitchFamily="34" charset="0"/>
                        </a:rPr>
                        <a:t>Phương thức</a:t>
                      </a:r>
                      <a:endParaRPr lang="en-US" sz="2400">
                        <a:solidFill>
                          <a:srgbClr val="000000"/>
                        </a:solidFill>
                        <a:effectLst/>
                        <a:latin typeface="Arial" pitchFamily="34" charset="0"/>
                        <a:ea typeface="Calibri"/>
                        <a:cs typeface="Arial" pitchFamily="34" charset="0"/>
                      </a:endParaRPr>
                    </a:p>
                  </a:txBody>
                  <a:tcPr marL="23801" marR="23801" marT="23801" marB="23801"/>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23801" marR="23801" marT="23801" marB="23801"/>
                </a:tc>
                <a:extLst>
                  <a:ext uri="{0D108BD9-81ED-4DB2-BD59-A6C34878D82A}">
                    <a16:rowId xmlns:a16="http://schemas.microsoft.com/office/drawing/2014/main" val="10000"/>
                  </a:ext>
                </a:extLst>
              </a:tr>
              <a:tr h="163115">
                <a:tc>
                  <a:txBody>
                    <a:bodyPr/>
                    <a:lstStyle/>
                    <a:p>
                      <a:pPr>
                        <a:lnSpc>
                          <a:spcPct val="115000"/>
                        </a:lnSpc>
                        <a:spcAft>
                          <a:spcPts val="0"/>
                        </a:spcAft>
                      </a:pPr>
                      <a:r>
                        <a:rPr lang="en-US" sz="2400">
                          <a:effectLst/>
                          <a:latin typeface="Arial" pitchFamily="34" charset="0"/>
                          <a:cs typeface="Arial" pitchFamily="34" charset="0"/>
                        </a:rPr>
                        <a:t>boolean removeLastOccurrence (Object o)</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Loại bỏ phần tử được chỉ định trong danh sách tại lần xuất hiện cuối cùng (khi duyệt qua danh sách từ đầu đến cuối)</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1"/>
                  </a:ext>
                </a:extLst>
              </a:tr>
              <a:tr h="119321">
                <a:tc>
                  <a:txBody>
                    <a:bodyPr/>
                    <a:lstStyle/>
                    <a:p>
                      <a:pPr>
                        <a:lnSpc>
                          <a:spcPct val="115000"/>
                        </a:lnSpc>
                        <a:spcAft>
                          <a:spcPts val="0"/>
                        </a:spcAft>
                      </a:pPr>
                      <a:r>
                        <a:rPr lang="en-US" sz="2400">
                          <a:effectLst/>
                          <a:latin typeface="Arial" pitchFamily="34" charset="0"/>
                          <a:cs typeface="Arial" pitchFamily="34" charset="0"/>
                        </a:rPr>
                        <a:t>E set(int index, E element)</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Thay thế phần tử ở vị trí đã chỉ định trong danh sách bằng phần tử được chỉ định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2"/>
                  </a:ext>
                </a:extLst>
              </a:tr>
              <a:tr h="163115">
                <a:tc>
                  <a:txBody>
                    <a:bodyPr/>
                    <a:lstStyle/>
                    <a:p>
                      <a:pPr>
                        <a:lnSpc>
                          <a:spcPct val="115000"/>
                        </a:lnSpc>
                        <a:spcAft>
                          <a:spcPts val="0"/>
                        </a:spcAft>
                      </a:pPr>
                      <a:r>
                        <a:rPr lang="en-US" sz="2400">
                          <a:effectLst/>
                          <a:latin typeface="Arial" pitchFamily="34" charset="0"/>
                          <a:cs typeface="Arial" pitchFamily="34" charset="0"/>
                        </a:rPr>
                        <a:t>Object[] toArray()</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Trả về một mảng chứa tất cả các phần tử trong danh sách theo trình tự thích hợp (từ phần tử đầu tiên đến phần tử cuối cùng).</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3"/>
                  </a:ext>
                </a:extLst>
              </a:tr>
              <a:tr h="163115">
                <a:tc>
                  <a:txBody>
                    <a:bodyPr/>
                    <a:lstStyle/>
                    <a:p>
                      <a:pPr>
                        <a:lnSpc>
                          <a:spcPct val="115000"/>
                        </a:lnSpc>
                        <a:spcAft>
                          <a:spcPts val="0"/>
                        </a:spcAft>
                      </a:pPr>
                      <a:r>
                        <a:rPr lang="en-US" sz="2400">
                          <a:effectLst/>
                          <a:latin typeface="Arial" pitchFamily="34" charset="0"/>
                          <a:cs typeface="Arial" pitchFamily="34" charset="0"/>
                        </a:rPr>
                        <a:t>&lt;T&gt; T [] toArray (T [] a)</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Trả về một mảng chứa tất cả các phần tử trong chuỗi thích hợp (từ phần tử đầu tiên đến phần tử cuối cùng)</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4"/>
                  </a:ext>
                </a:extLst>
              </a:tr>
              <a:tr h="75528">
                <a:tc>
                  <a:txBody>
                    <a:bodyPr/>
                    <a:lstStyle/>
                    <a:p>
                      <a:pPr>
                        <a:lnSpc>
                          <a:spcPct val="115000"/>
                        </a:lnSpc>
                        <a:spcAft>
                          <a:spcPts val="0"/>
                        </a:spcAft>
                      </a:pPr>
                      <a:r>
                        <a:rPr lang="en-US" sz="2400">
                          <a:effectLst/>
                          <a:latin typeface="Arial" pitchFamily="34" charset="0"/>
                          <a:cs typeface="Arial" pitchFamily="34" charset="0"/>
                        </a:rPr>
                        <a:t>int size()</a:t>
                      </a:r>
                      <a:endParaRPr lang="en-US" sz="2400">
                        <a:solidFill>
                          <a:srgbClr val="000000"/>
                        </a:solidFill>
                        <a:effectLst/>
                        <a:latin typeface="Arial" pitchFamily="34" charset="0"/>
                        <a:ea typeface="Calibri"/>
                        <a:cs typeface="Arial" pitchFamily="34" charset="0"/>
                      </a:endParaRPr>
                    </a:p>
                  </a:txBody>
                  <a:tcPr marL="15867" marR="15867" marT="15867" marB="15867"/>
                </a:tc>
                <a:tc>
                  <a:txBody>
                    <a:bodyPr/>
                    <a:lstStyle/>
                    <a:p>
                      <a:pPr>
                        <a:lnSpc>
                          <a:spcPct val="115000"/>
                        </a:lnSpc>
                        <a:spcAft>
                          <a:spcPts val="0"/>
                        </a:spcAft>
                      </a:pPr>
                      <a:r>
                        <a:rPr lang="en-US" sz="2400">
                          <a:effectLst/>
                          <a:latin typeface="Arial" pitchFamily="34" charset="0"/>
                          <a:cs typeface="Arial" pitchFamily="34" charset="0"/>
                        </a:rPr>
                        <a:t>Trả về số lượng phần tử trong danh sách</a:t>
                      </a:r>
                      <a:endParaRPr lang="en-US" sz="2400">
                        <a:solidFill>
                          <a:srgbClr val="000000"/>
                        </a:solidFill>
                        <a:effectLst/>
                        <a:latin typeface="Arial" pitchFamily="34" charset="0"/>
                        <a:ea typeface="Calibri"/>
                        <a:cs typeface="Arial" pitchFamily="34" charset="0"/>
                      </a:endParaRPr>
                    </a:p>
                  </a:txBody>
                  <a:tcPr marL="15867" marR="15867" marT="15867" marB="15867"/>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7796964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LinkedList - Ví dụ 1</a:t>
            </a:r>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524000"/>
            <a:ext cx="6815288" cy="518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129523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LinkedList - Ví dụ 2</a:t>
            </a:r>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76400"/>
            <a:ext cx="7744718"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738704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LinkedList - Ví dụ 3</a:t>
            </a:r>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057400"/>
            <a:ext cx="8484326" cy="412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858247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LinkedList - Ví dụ 4</a:t>
            </a:r>
          </a:p>
        </p:txBody>
      </p:sp>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76400"/>
            <a:ext cx="8505568"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702976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LinkedList - Ví dụ 5</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00200"/>
            <a:ext cx="7898504"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272437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Nội dung chương 4</a:t>
            </a:r>
          </a:p>
        </p:txBody>
      </p:sp>
      <p:sp>
        <p:nvSpPr>
          <p:cNvPr id="4" name="Freeform 3"/>
          <p:cNvSpPr/>
          <p:nvPr/>
        </p:nvSpPr>
        <p:spPr>
          <a:xfrm>
            <a:off x="459185"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0" bIns="905193" numCol="1" spcCol="1270" anchor="ctr" anchorCtr="0">
            <a:noAutofit/>
          </a:bodyPr>
          <a:lstStyle/>
          <a:p>
            <a:pPr lvl="0" algn="ctr" defTabSz="2133600">
              <a:lnSpc>
                <a:spcPct val="90000"/>
              </a:lnSpc>
              <a:spcBef>
                <a:spcPct val="0"/>
              </a:spcBef>
              <a:spcAft>
                <a:spcPct val="35000"/>
              </a:spcAft>
            </a:pPr>
            <a:r>
              <a:rPr lang="en-US" sz="4800" kern="1200"/>
              <a:t>4.1. LIST</a:t>
            </a:r>
          </a:p>
        </p:txBody>
      </p:sp>
      <p:sp>
        <p:nvSpPr>
          <p:cNvPr id="5" name="Freeform 4"/>
          <p:cNvSpPr/>
          <p:nvPr/>
        </p:nvSpPr>
        <p:spPr>
          <a:xfrm>
            <a:off x="2552096" y="1600199"/>
            <a:ext cx="1946896"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1" bIns="905193" numCol="1" spcCol="1270" anchor="ctr" anchorCtr="0">
            <a:noAutofit/>
          </a:bodyPr>
          <a:lstStyle/>
          <a:p>
            <a:pPr lvl="0" algn="ctr" defTabSz="2133600">
              <a:lnSpc>
                <a:spcPct val="90000"/>
              </a:lnSpc>
              <a:spcBef>
                <a:spcPct val="0"/>
              </a:spcBef>
              <a:spcAft>
                <a:spcPct val="35000"/>
              </a:spcAft>
            </a:pPr>
            <a:r>
              <a:rPr lang="en-US" sz="4800" kern="1200"/>
              <a:t>4.2. SET</a:t>
            </a:r>
          </a:p>
        </p:txBody>
      </p:sp>
      <p:sp>
        <p:nvSpPr>
          <p:cNvPr id="6" name="Freeform 5"/>
          <p:cNvSpPr/>
          <p:nvPr/>
        </p:nvSpPr>
        <p:spPr>
          <a:xfrm>
            <a:off x="4645008"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0" bIns="905193" numCol="1" spcCol="1270" anchor="ctr" anchorCtr="0">
            <a:noAutofit/>
          </a:bodyPr>
          <a:lstStyle/>
          <a:p>
            <a:pPr lvl="0" algn="ctr" defTabSz="2133600">
              <a:lnSpc>
                <a:spcPct val="90000"/>
              </a:lnSpc>
              <a:spcBef>
                <a:spcPct val="0"/>
              </a:spcBef>
              <a:spcAft>
                <a:spcPct val="35000"/>
              </a:spcAft>
            </a:pPr>
            <a:r>
              <a:rPr lang="en-US" sz="4800" kern="1200"/>
              <a:t>4.3. MAP</a:t>
            </a:r>
          </a:p>
        </p:txBody>
      </p:sp>
      <p:sp>
        <p:nvSpPr>
          <p:cNvPr id="8" name="Freeform 7"/>
          <p:cNvSpPr/>
          <p:nvPr/>
        </p:nvSpPr>
        <p:spPr>
          <a:xfrm>
            <a:off x="6737920"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5594" bIns="905193" numCol="1" spcCol="1270" anchor="ctr" anchorCtr="0">
            <a:noAutofit/>
          </a:bodyPr>
          <a:lstStyle/>
          <a:p>
            <a:pPr lvl="0" algn="ctr" defTabSz="2133600">
              <a:lnSpc>
                <a:spcPct val="90000"/>
              </a:lnSpc>
              <a:spcBef>
                <a:spcPct val="0"/>
              </a:spcBef>
              <a:spcAft>
                <a:spcPct val="35000"/>
              </a:spcAft>
            </a:pPr>
            <a:r>
              <a:rPr lang="en-US" sz="4800" kern="1200"/>
              <a:t>4.4. Lớp tổng quát</a:t>
            </a:r>
          </a:p>
        </p:txBody>
      </p:sp>
    </p:spTree>
    <p:extLst>
      <p:ext uri="{BB962C8B-B14F-4D97-AF65-F5344CB8AC3E}">
        <p14:creationId xmlns:p14="http://schemas.microsoft.com/office/powerpoint/2010/main" val="159681126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4.2. Giao diện SET</a:t>
            </a:r>
          </a:p>
        </p:txBody>
      </p:sp>
      <p:sp>
        <p:nvSpPr>
          <p:cNvPr id="3" name="Content Placeholder 2"/>
          <p:cNvSpPr>
            <a:spLocks noGrp="1"/>
          </p:cNvSpPr>
          <p:nvPr>
            <p:ph idx="1"/>
          </p:nvPr>
        </p:nvSpPr>
        <p:spPr/>
        <p:txBody>
          <a:bodyPr>
            <a:normAutofit fontScale="70000" lnSpcReduction="20000"/>
          </a:bodyPr>
          <a:lstStyle/>
          <a:p>
            <a:r>
              <a:rPr lang="en-US"/>
              <a:t>Là một tập </a:t>
            </a:r>
            <a:r>
              <a:rPr lang="vi-VN"/>
              <a:t>các đối tượng không lặp lại</a:t>
            </a:r>
            <a:endParaRPr lang="en-US"/>
          </a:p>
          <a:p>
            <a:pPr lvl="1"/>
            <a:r>
              <a:rPr lang="en-US"/>
              <a:t>Set chỉ chứa các phần tử duy nhất</a:t>
            </a:r>
          </a:p>
          <a:p>
            <a:pPr lvl="1"/>
            <a:r>
              <a:rPr lang="en-US"/>
              <a:t>Nó không cho phép trùng lặp</a:t>
            </a:r>
          </a:p>
          <a:p>
            <a:pPr lvl="1"/>
            <a:r>
              <a:rPr lang="en-US"/>
              <a:t>Set chỉ có thể chứa một phần tử null</a:t>
            </a:r>
          </a:p>
          <a:p>
            <a:r>
              <a:rPr lang="en-US"/>
              <a:t>Không có phương thức riêng</a:t>
            </a:r>
          </a:p>
          <a:p>
            <a:r>
              <a:rPr lang="en-US"/>
              <a:t>Thay đổi duy nhất của giao diện Set là phương thức add () sẽ trả về false nếu chèn một phần tử đã có trong tập hợp</a:t>
            </a:r>
          </a:p>
          <a:p>
            <a:r>
              <a:rPr lang="en-US"/>
              <a:t>Không thể truy cập ngẫu nhiên các phần tử</a:t>
            </a:r>
          </a:p>
          <a:p>
            <a:r>
              <a:rPr lang="en-US"/>
              <a:t>Thứ tự các phần tử trong set phụ thuộc vào thực thi</a:t>
            </a:r>
          </a:p>
          <a:p>
            <a:pPr lvl="1"/>
            <a:r>
              <a:rPr lang="en-US"/>
              <a:t>Các phần tử Hashset được sắp xếp theo mã băm của các phần tử</a:t>
            </a:r>
          </a:p>
          <a:p>
            <a:pPr lvl="1"/>
            <a:r>
              <a:rPr lang="en-US"/>
              <a:t>Các phần tử TreeSet được sắp xếp theo Comparator</a:t>
            </a:r>
          </a:p>
          <a:p>
            <a:pPr lvl="2"/>
            <a:r>
              <a:rPr lang="en-US"/>
              <a:t>Nếu không có Comparator, các phần tử sẽ được đặt theo thứ tự tăng dần</a:t>
            </a:r>
          </a:p>
          <a:p>
            <a:pPr lvl="1"/>
            <a:r>
              <a:rPr lang="en-US"/>
              <a:t>LinkedHashset duy trì thứ tự chèn</a:t>
            </a:r>
          </a:p>
        </p:txBody>
      </p:sp>
    </p:spTree>
    <p:extLst>
      <p:ext uri="{BB962C8B-B14F-4D97-AF65-F5344CB8AC3E}">
        <p14:creationId xmlns:p14="http://schemas.microsoft.com/office/powerpoint/2010/main" val="4193242228"/>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63801962"/>
              </p:ext>
            </p:extLst>
          </p:nvPr>
        </p:nvGraphicFramePr>
        <p:xfrm>
          <a:off x="381000" y="762000"/>
          <a:ext cx="84582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692670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t>4.2.1. Lớp HashSet</a:t>
            </a:r>
          </a:p>
        </p:txBody>
      </p:sp>
      <p:sp>
        <p:nvSpPr>
          <p:cNvPr id="3" name="Content Placeholder 2"/>
          <p:cNvSpPr>
            <a:spLocks noGrp="1"/>
          </p:cNvSpPr>
          <p:nvPr>
            <p:ph idx="1"/>
          </p:nvPr>
        </p:nvSpPr>
        <p:spPr/>
        <p:txBody>
          <a:bodyPr>
            <a:normAutofit fontScale="62500" lnSpcReduction="20000"/>
          </a:bodyPr>
          <a:lstStyle/>
          <a:p>
            <a:r>
              <a:rPr lang="en-US"/>
              <a:t>Đ</a:t>
            </a:r>
            <a:r>
              <a:rPr lang="vi-VN"/>
              <a:t>ược sử dụng để tạo một </a:t>
            </a:r>
            <a:r>
              <a:rPr lang="en-US"/>
              <a:t>Collection </a:t>
            </a:r>
            <a:r>
              <a:rPr lang="vi-VN"/>
              <a:t>sử dụng bảng băm để lưu trữ</a:t>
            </a:r>
            <a:endParaRPr lang="en-US"/>
          </a:p>
          <a:p>
            <a:r>
              <a:rPr lang="en-US"/>
              <a:t>Nó kế thừa lớp AbstractSet và thực hiện giao diện Set</a:t>
            </a:r>
          </a:p>
          <a:p>
            <a:r>
              <a:rPr lang="en-US"/>
              <a:t>L</a:t>
            </a:r>
            <a:r>
              <a:rPr lang="vi-VN"/>
              <a:t>ưu trữ các phần tử bằng cách sử dụng một cơ chế gọi là </a:t>
            </a:r>
            <a:r>
              <a:rPr lang="vi-VN" b="1"/>
              <a:t>băm.</a:t>
            </a:r>
            <a:endParaRPr lang="vi-VN"/>
          </a:p>
          <a:p>
            <a:r>
              <a:rPr lang="en-US"/>
              <a:t>C</a:t>
            </a:r>
            <a:r>
              <a:rPr lang="vi-VN"/>
              <a:t>hỉ chứa các phần tử duy nhất</a:t>
            </a:r>
          </a:p>
          <a:p>
            <a:r>
              <a:rPr lang="en-US"/>
              <a:t>Ch</a:t>
            </a:r>
            <a:r>
              <a:rPr lang="vi-VN"/>
              <a:t>o phép giá trị null</a:t>
            </a:r>
          </a:p>
          <a:p>
            <a:r>
              <a:rPr lang="en-US"/>
              <a:t>K</a:t>
            </a:r>
            <a:r>
              <a:rPr lang="vi-VN"/>
              <a:t>hông được đồng bộ hóa</a:t>
            </a:r>
          </a:p>
          <a:p>
            <a:r>
              <a:rPr lang="en-US"/>
              <a:t>K</a:t>
            </a:r>
            <a:r>
              <a:rPr lang="vi-VN"/>
              <a:t>hông duy trì thứ tự chèn. </a:t>
            </a:r>
            <a:r>
              <a:rPr lang="en-US"/>
              <a:t>C</a:t>
            </a:r>
            <a:r>
              <a:rPr lang="vi-VN"/>
              <a:t>ác </a:t>
            </a:r>
            <a:r>
              <a:rPr lang="en-US"/>
              <a:t>phần tử </a:t>
            </a:r>
            <a:r>
              <a:rPr lang="vi-VN"/>
              <a:t>được chèn trên cơ sở mã băm của chúng.</a:t>
            </a:r>
          </a:p>
          <a:p>
            <a:r>
              <a:rPr lang="en-US"/>
              <a:t>L</a:t>
            </a:r>
            <a:r>
              <a:rPr lang="vi-VN"/>
              <a:t>à cách tiếp cận tốt nhất cho các hoạt động tìm kiếm</a:t>
            </a:r>
          </a:p>
          <a:p>
            <a:r>
              <a:rPr lang="vi-VN"/>
              <a:t>Dung lượng mặc định ban đầu của Hashset là 16 và hệ số tải là 0,75.</a:t>
            </a:r>
          </a:p>
          <a:p>
            <a:r>
              <a:rPr lang="en-US"/>
              <a:t>public class HashSet&lt;E&gt; extends AbstractSet&lt;E&gt; implements Set&lt;E&gt;, Cloneable, Serializable  </a:t>
            </a:r>
            <a:endParaRPr lang="vi-VN"/>
          </a:p>
        </p:txBody>
      </p:sp>
    </p:spTree>
    <p:extLst>
      <p:ext uri="{BB962C8B-B14F-4D97-AF65-F5344CB8AC3E}">
        <p14:creationId xmlns:p14="http://schemas.microsoft.com/office/powerpoint/2010/main" val="383576003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a:t>Hàm tạo</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06890814"/>
              </p:ext>
            </p:extLst>
          </p:nvPr>
        </p:nvGraphicFramePr>
        <p:xfrm>
          <a:off x="228600" y="994262"/>
          <a:ext cx="8763000" cy="5558938"/>
        </p:xfrm>
        <a:graphic>
          <a:graphicData uri="http://schemas.openxmlformats.org/drawingml/2006/table">
            <a:tbl>
              <a:tblPr firstRow="1" firstCol="1" bandRow="1">
                <a:tableStyleId>{5C22544A-7EE6-4342-B048-85BDC9FD1C3A}</a:tableStyleId>
              </a:tblPr>
              <a:tblGrid>
                <a:gridCol w="3962399">
                  <a:extLst>
                    <a:ext uri="{9D8B030D-6E8A-4147-A177-3AD203B41FA5}">
                      <a16:colId xmlns:a16="http://schemas.microsoft.com/office/drawing/2014/main" val="20000"/>
                    </a:ext>
                  </a:extLst>
                </a:gridCol>
                <a:gridCol w="4800601">
                  <a:extLst>
                    <a:ext uri="{9D8B030D-6E8A-4147-A177-3AD203B41FA5}">
                      <a16:colId xmlns:a16="http://schemas.microsoft.com/office/drawing/2014/main" val="20001"/>
                    </a:ext>
                  </a:extLst>
                </a:gridCol>
              </a:tblGrid>
              <a:tr h="532288">
                <a:tc>
                  <a:txBody>
                    <a:bodyPr/>
                    <a:lstStyle/>
                    <a:p>
                      <a:pPr>
                        <a:lnSpc>
                          <a:spcPct val="115000"/>
                        </a:lnSpc>
                        <a:spcAft>
                          <a:spcPts val="0"/>
                        </a:spcAft>
                      </a:pPr>
                      <a:r>
                        <a:rPr lang="en-US" sz="2400">
                          <a:effectLst/>
                          <a:latin typeface="Arial" pitchFamily="34" charset="0"/>
                          <a:cs typeface="Arial" pitchFamily="34" charset="0"/>
                        </a:rPr>
                        <a:t>Constructor</a:t>
                      </a:r>
                      <a:endParaRPr lang="en-US" sz="2400">
                        <a:solidFill>
                          <a:srgbClr val="000000"/>
                        </a:solidFill>
                        <a:effectLst/>
                        <a:latin typeface="Arial" pitchFamily="34" charset="0"/>
                        <a:ea typeface="Calibri"/>
                        <a:cs typeface="Arial" pitchFamily="34" charset="0"/>
                      </a:endParaRPr>
                    </a:p>
                  </a:txBody>
                  <a:tcPr marL="114300" marR="114300" marT="114300" marB="114300"/>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114300" marR="114300" marT="114300" marB="114300"/>
                </a:tc>
                <a:extLst>
                  <a:ext uri="{0D108BD9-81ED-4DB2-BD59-A6C34878D82A}">
                    <a16:rowId xmlns:a16="http://schemas.microsoft.com/office/drawing/2014/main" val="10000"/>
                  </a:ext>
                </a:extLst>
              </a:tr>
              <a:tr h="493063">
                <a:tc>
                  <a:txBody>
                    <a:bodyPr/>
                    <a:lstStyle/>
                    <a:p>
                      <a:pPr>
                        <a:lnSpc>
                          <a:spcPct val="115000"/>
                        </a:lnSpc>
                        <a:spcAft>
                          <a:spcPts val="0"/>
                        </a:spcAft>
                      </a:pPr>
                      <a:r>
                        <a:rPr lang="en-US" sz="2400">
                          <a:effectLst/>
                          <a:latin typeface="Arial" pitchFamily="34" charset="0"/>
                          <a:cs typeface="Arial" pitchFamily="34" charset="0"/>
                        </a:rPr>
                        <a:t>Hashset ()</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Hashset mặc định</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1"/>
                  </a:ext>
                </a:extLst>
              </a:tr>
              <a:tr h="728023">
                <a:tc>
                  <a:txBody>
                    <a:bodyPr/>
                    <a:lstStyle/>
                    <a:p>
                      <a:pPr>
                        <a:lnSpc>
                          <a:spcPct val="115000"/>
                        </a:lnSpc>
                        <a:spcAft>
                          <a:spcPts val="0"/>
                        </a:spcAft>
                      </a:pPr>
                      <a:r>
                        <a:rPr lang="en-US" sz="2400">
                          <a:effectLst/>
                          <a:latin typeface="Arial" pitchFamily="34" charset="0"/>
                          <a:cs typeface="Arial" pitchFamily="34" charset="0"/>
                        </a:rPr>
                        <a:t>HashSet(int capacity)</a:t>
                      </a:r>
                      <a:endParaRPr lang="en-US" sz="2400">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Khởi tạo dung lượng của hash set. Dung lượng tự động tăng lên khi các phần tử được thêm vào Hashset</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2"/>
                  </a:ext>
                </a:extLst>
              </a:tr>
              <a:tr h="1359159">
                <a:tc>
                  <a:txBody>
                    <a:bodyPr/>
                    <a:lstStyle/>
                    <a:p>
                      <a:pPr>
                        <a:lnSpc>
                          <a:spcPct val="115000"/>
                        </a:lnSpc>
                        <a:spcAft>
                          <a:spcPts val="0"/>
                        </a:spcAft>
                      </a:pPr>
                      <a:r>
                        <a:rPr lang="en-US" sz="2400">
                          <a:effectLst/>
                          <a:latin typeface="Arial" pitchFamily="34" charset="0"/>
                          <a:cs typeface="Arial" pitchFamily="34" charset="0"/>
                        </a:rPr>
                        <a:t>HashSet(int capacity, float loadFactor)</a:t>
                      </a:r>
                      <a:endParaRPr lang="en-US" sz="2400">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Khởi tạo dung lượng của hashset và hệ số tải</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3"/>
                  </a:ext>
                </a:extLst>
              </a:tr>
              <a:tr h="1142635">
                <a:tc>
                  <a:txBody>
                    <a:bodyPr/>
                    <a:lstStyle/>
                    <a:p>
                      <a:pPr>
                        <a:lnSpc>
                          <a:spcPct val="115000"/>
                        </a:lnSpc>
                        <a:spcAft>
                          <a:spcPts val="0"/>
                        </a:spcAft>
                      </a:pPr>
                      <a:r>
                        <a:rPr lang="en-US" sz="2400">
                          <a:effectLst/>
                          <a:latin typeface="Arial" pitchFamily="34" charset="0"/>
                          <a:cs typeface="Arial" pitchFamily="34" charset="0"/>
                        </a:rPr>
                        <a:t>HashSet(Collection&lt;? extends E&gt; c)</a:t>
                      </a:r>
                      <a:endParaRPr lang="en-US" sz="2400">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Khởi tạo hashset bằng cách sử dụng các phần tử của Collection c</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373818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8229600" cy="944562"/>
          </a:xfrm>
        </p:spPr>
        <p:txBody>
          <a:bodyPr>
            <a:normAutofit/>
          </a:bodyPr>
          <a:lstStyle/>
          <a:p>
            <a:r>
              <a:rPr lang="en-US"/>
              <a:t>Phương thức</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84320194"/>
              </p:ext>
            </p:extLst>
          </p:nvPr>
        </p:nvGraphicFramePr>
        <p:xfrm>
          <a:off x="152401" y="1446910"/>
          <a:ext cx="8915399" cy="3993262"/>
        </p:xfrm>
        <a:graphic>
          <a:graphicData uri="http://schemas.openxmlformats.org/drawingml/2006/table">
            <a:tbl>
              <a:tblPr firstRow="1" firstCol="1" bandRow="1">
                <a:tableStyleId>{5C22544A-7EE6-4342-B048-85BDC9FD1C3A}</a:tableStyleId>
              </a:tblPr>
              <a:tblGrid>
                <a:gridCol w="2666999">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432331">
                <a:tc>
                  <a:txBody>
                    <a:bodyPr/>
                    <a:lstStyle/>
                    <a:p>
                      <a:pPr marL="0">
                        <a:lnSpc>
                          <a:spcPct val="100000"/>
                        </a:lnSpc>
                        <a:spcAft>
                          <a:spcPts val="0"/>
                        </a:spcAft>
                      </a:pPr>
                      <a:r>
                        <a:rPr lang="en-US" sz="2200">
                          <a:effectLst/>
                          <a:latin typeface="Arial" pitchFamily="34" charset="0"/>
                          <a:cs typeface="Arial" pitchFamily="34" charset="0"/>
                        </a:rPr>
                        <a:t>Phương thức</a:t>
                      </a:r>
                      <a:endParaRPr lang="en-US" sz="2200">
                        <a:effectLst/>
                        <a:latin typeface="Arial" pitchFamily="34" charset="0"/>
                        <a:ea typeface="Calibri"/>
                        <a:cs typeface="Arial" pitchFamily="34" charset="0"/>
                      </a:endParaRPr>
                    </a:p>
                  </a:txBody>
                  <a:tcPr marL="112586" marR="112586" marT="112586" marB="112586"/>
                </a:tc>
                <a:tc>
                  <a:txBody>
                    <a:bodyPr/>
                    <a:lstStyle/>
                    <a:p>
                      <a:pPr marL="0">
                        <a:lnSpc>
                          <a:spcPct val="100000"/>
                        </a:lnSpc>
                        <a:spcAft>
                          <a:spcPts val="0"/>
                        </a:spcAft>
                      </a:pPr>
                      <a:r>
                        <a:rPr lang="en-US" sz="2200">
                          <a:effectLst/>
                          <a:latin typeface="Arial" pitchFamily="34" charset="0"/>
                          <a:cs typeface="Arial" pitchFamily="34" charset="0"/>
                        </a:rPr>
                        <a:t>Mô tả</a:t>
                      </a:r>
                      <a:endParaRPr lang="en-US" sz="2200">
                        <a:effectLst/>
                        <a:latin typeface="Arial" pitchFamily="34" charset="0"/>
                        <a:ea typeface="Calibri"/>
                        <a:cs typeface="Arial" pitchFamily="34" charset="0"/>
                      </a:endParaRPr>
                    </a:p>
                  </a:txBody>
                  <a:tcPr marL="112586" marR="112586" marT="112586" marB="112586"/>
                </a:tc>
                <a:extLst>
                  <a:ext uri="{0D108BD9-81ED-4DB2-BD59-A6C34878D82A}">
                    <a16:rowId xmlns:a16="http://schemas.microsoft.com/office/drawing/2014/main" val="10000"/>
                  </a:ext>
                </a:extLst>
              </a:tr>
              <a:tr h="362778">
                <a:tc>
                  <a:txBody>
                    <a:bodyPr/>
                    <a:lstStyle/>
                    <a:p>
                      <a:pPr marL="0">
                        <a:lnSpc>
                          <a:spcPct val="100000"/>
                        </a:lnSpc>
                        <a:spcAft>
                          <a:spcPts val="0"/>
                        </a:spcAft>
                      </a:pPr>
                      <a:r>
                        <a:rPr lang="en-US" sz="2200">
                          <a:effectLst/>
                          <a:latin typeface="Arial" pitchFamily="34" charset="0"/>
                          <a:cs typeface="Arial" pitchFamily="34" charset="0"/>
                        </a:rPr>
                        <a:t>boolean add(E e)</a:t>
                      </a:r>
                      <a:endParaRPr lang="en-US" sz="2200">
                        <a:effectLst/>
                        <a:latin typeface="Arial" pitchFamily="34" charset="0"/>
                        <a:ea typeface="Calibri"/>
                        <a:cs typeface="Arial" pitchFamily="34" charset="0"/>
                      </a:endParaRPr>
                    </a:p>
                  </a:txBody>
                  <a:tcPr marL="75057" marR="75057" marT="75057" marB="75057"/>
                </a:tc>
                <a:tc>
                  <a:txBody>
                    <a:bodyPr/>
                    <a:lstStyle/>
                    <a:p>
                      <a:pPr marL="0">
                        <a:lnSpc>
                          <a:spcPct val="100000"/>
                        </a:lnSpc>
                        <a:spcAft>
                          <a:spcPts val="0"/>
                        </a:spcAft>
                      </a:pPr>
                      <a:r>
                        <a:rPr lang="en-US" sz="2200">
                          <a:effectLst/>
                          <a:latin typeface="Arial" pitchFamily="34" charset="0"/>
                          <a:cs typeface="Arial" pitchFamily="34" charset="0"/>
                        </a:rPr>
                        <a:t>Thêm phần tử e vào tập hợp này nếu nó chưa có </a:t>
                      </a:r>
                      <a:endParaRPr lang="en-US" sz="2200">
                        <a:effectLst/>
                        <a:latin typeface="Arial" pitchFamily="34" charset="0"/>
                        <a:ea typeface="Calibri"/>
                        <a:cs typeface="Arial" pitchFamily="34" charset="0"/>
                      </a:endParaRPr>
                    </a:p>
                  </a:txBody>
                  <a:tcPr marL="75057" marR="75057" marT="75057" marB="75057"/>
                </a:tc>
                <a:extLst>
                  <a:ext uri="{0D108BD9-81ED-4DB2-BD59-A6C34878D82A}">
                    <a16:rowId xmlns:a16="http://schemas.microsoft.com/office/drawing/2014/main" val="10001"/>
                  </a:ext>
                </a:extLst>
              </a:tr>
              <a:tr h="362778">
                <a:tc>
                  <a:txBody>
                    <a:bodyPr/>
                    <a:lstStyle/>
                    <a:p>
                      <a:pPr marL="0">
                        <a:lnSpc>
                          <a:spcPct val="100000"/>
                        </a:lnSpc>
                        <a:spcAft>
                          <a:spcPts val="0"/>
                        </a:spcAft>
                      </a:pPr>
                      <a:r>
                        <a:rPr lang="en-US" sz="2200">
                          <a:effectLst/>
                          <a:latin typeface="Arial" pitchFamily="34" charset="0"/>
                          <a:cs typeface="Arial" pitchFamily="34" charset="0"/>
                        </a:rPr>
                        <a:t>void clear()</a:t>
                      </a:r>
                      <a:endParaRPr lang="en-US" sz="2200">
                        <a:effectLst/>
                        <a:latin typeface="Arial" pitchFamily="34" charset="0"/>
                        <a:ea typeface="Calibri"/>
                        <a:cs typeface="Arial" pitchFamily="34" charset="0"/>
                      </a:endParaRPr>
                    </a:p>
                  </a:txBody>
                  <a:tcPr marL="75057" marR="75057" marT="75057" marB="75057"/>
                </a:tc>
                <a:tc>
                  <a:txBody>
                    <a:bodyPr/>
                    <a:lstStyle/>
                    <a:p>
                      <a:pPr marL="0">
                        <a:lnSpc>
                          <a:spcPct val="100000"/>
                        </a:lnSpc>
                        <a:spcAft>
                          <a:spcPts val="0"/>
                        </a:spcAft>
                      </a:pPr>
                      <a:r>
                        <a:rPr lang="en-US" sz="2200">
                          <a:effectLst/>
                          <a:latin typeface="Arial" pitchFamily="34" charset="0"/>
                          <a:cs typeface="Arial" pitchFamily="34" charset="0"/>
                        </a:rPr>
                        <a:t>Để loại bỏ tất cả các phần tử khỏi tập</a:t>
                      </a:r>
                      <a:endParaRPr lang="en-US" sz="2200">
                        <a:effectLst/>
                        <a:latin typeface="Arial" pitchFamily="34" charset="0"/>
                        <a:ea typeface="Calibri"/>
                        <a:cs typeface="Arial" pitchFamily="34" charset="0"/>
                      </a:endParaRPr>
                    </a:p>
                  </a:txBody>
                  <a:tcPr marL="75057" marR="75057" marT="75057" marB="75057"/>
                </a:tc>
                <a:extLst>
                  <a:ext uri="{0D108BD9-81ED-4DB2-BD59-A6C34878D82A}">
                    <a16:rowId xmlns:a16="http://schemas.microsoft.com/office/drawing/2014/main" val="10002"/>
                  </a:ext>
                </a:extLst>
              </a:tr>
              <a:tr h="575440">
                <a:tc>
                  <a:txBody>
                    <a:bodyPr/>
                    <a:lstStyle/>
                    <a:p>
                      <a:pPr marL="0">
                        <a:lnSpc>
                          <a:spcPct val="100000"/>
                        </a:lnSpc>
                        <a:spcAft>
                          <a:spcPts val="0"/>
                        </a:spcAft>
                      </a:pPr>
                      <a:r>
                        <a:rPr lang="en-US" sz="2200">
                          <a:effectLst/>
                          <a:latin typeface="Arial" pitchFamily="34" charset="0"/>
                          <a:cs typeface="Arial" pitchFamily="34" charset="0"/>
                        </a:rPr>
                        <a:t>object clone()</a:t>
                      </a:r>
                      <a:endParaRPr lang="en-US" sz="2200">
                        <a:effectLst/>
                        <a:latin typeface="Arial" pitchFamily="34" charset="0"/>
                        <a:ea typeface="Calibri"/>
                        <a:cs typeface="Arial" pitchFamily="34" charset="0"/>
                      </a:endParaRPr>
                    </a:p>
                  </a:txBody>
                  <a:tcPr marL="75057" marR="75057" marT="75057" marB="75057"/>
                </a:tc>
                <a:tc>
                  <a:txBody>
                    <a:bodyPr/>
                    <a:lstStyle/>
                    <a:p>
                      <a:pPr marL="0">
                        <a:lnSpc>
                          <a:spcPct val="100000"/>
                        </a:lnSpc>
                        <a:spcAft>
                          <a:spcPts val="0"/>
                        </a:spcAft>
                      </a:pPr>
                      <a:r>
                        <a:rPr lang="en-US" sz="2200">
                          <a:effectLst/>
                          <a:latin typeface="Arial" pitchFamily="34" charset="0"/>
                          <a:cs typeface="Arial" pitchFamily="34" charset="0"/>
                        </a:rPr>
                        <a:t>Trả về một bản sao nông của thể hiện Hashset này: các phần tử không được sao chép</a:t>
                      </a:r>
                      <a:endParaRPr lang="en-US" sz="2200">
                        <a:effectLst/>
                        <a:latin typeface="Arial" pitchFamily="34" charset="0"/>
                        <a:ea typeface="Calibri"/>
                        <a:cs typeface="Arial" pitchFamily="34" charset="0"/>
                      </a:endParaRPr>
                    </a:p>
                  </a:txBody>
                  <a:tcPr marL="75057" marR="75057" marT="75057" marB="75057"/>
                </a:tc>
                <a:extLst>
                  <a:ext uri="{0D108BD9-81ED-4DB2-BD59-A6C34878D82A}">
                    <a16:rowId xmlns:a16="http://schemas.microsoft.com/office/drawing/2014/main" val="10003"/>
                  </a:ext>
                </a:extLst>
              </a:tr>
              <a:tr h="564432">
                <a:tc>
                  <a:txBody>
                    <a:bodyPr/>
                    <a:lstStyle/>
                    <a:p>
                      <a:pPr marL="0">
                        <a:lnSpc>
                          <a:spcPct val="100000"/>
                        </a:lnSpc>
                        <a:spcAft>
                          <a:spcPts val="0"/>
                        </a:spcAft>
                      </a:pPr>
                      <a:r>
                        <a:rPr lang="en-US" sz="2200">
                          <a:effectLst/>
                          <a:latin typeface="Arial" pitchFamily="34" charset="0"/>
                          <a:cs typeface="Arial" pitchFamily="34" charset="0"/>
                        </a:rPr>
                        <a:t>boolean contains(Object o)</a:t>
                      </a:r>
                      <a:endParaRPr lang="en-US" sz="2200">
                        <a:effectLst/>
                        <a:latin typeface="Arial" pitchFamily="34" charset="0"/>
                        <a:ea typeface="Calibri"/>
                        <a:cs typeface="Arial" pitchFamily="34" charset="0"/>
                      </a:endParaRPr>
                    </a:p>
                  </a:txBody>
                  <a:tcPr marL="75057" marR="75057" marT="75057" marB="75057"/>
                </a:tc>
                <a:tc>
                  <a:txBody>
                    <a:bodyPr/>
                    <a:lstStyle/>
                    <a:p>
                      <a:pPr marL="0">
                        <a:lnSpc>
                          <a:spcPct val="100000"/>
                        </a:lnSpc>
                        <a:spcAft>
                          <a:spcPts val="0"/>
                        </a:spcAft>
                      </a:pPr>
                      <a:r>
                        <a:rPr lang="en-US" sz="2200">
                          <a:effectLst/>
                          <a:latin typeface="Arial" pitchFamily="34" charset="0"/>
                          <a:cs typeface="Arial" pitchFamily="34" charset="0"/>
                        </a:rPr>
                        <a:t>Trả về true nếu tập hợp này chứa phần tử o</a:t>
                      </a:r>
                      <a:endParaRPr lang="en-US" sz="2200">
                        <a:effectLst/>
                        <a:latin typeface="Arial" pitchFamily="34" charset="0"/>
                        <a:ea typeface="Calibri"/>
                        <a:cs typeface="Arial" pitchFamily="34" charset="0"/>
                      </a:endParaRPr>
                    </a:p>
                  </a:txBody>
                  <a:tcPr marL="75057" marR="75057" marT="75057" marB="75057"/>
                </a:tc>
                <a:extLst>
                  <a:ext uri="{0D108BD9-81ED-4DB2-BD59-A6C34878D82A}">
                    <a16:rowId xmlns:a16="http://schemas.microsoft.com/office/drawing/2014/main" val="10004"/>
                  </a:ext>
                </a:extLst>
              </a:tr>
              <a:tr h="362778">
                <a:tc>
                  <a:txBody>
                    <a:bodyPr/>
                    <a:lstStyle/>
                    <a:p>
                      <a:pPr marL="0">
                        <a:lnSpc>
                          <a:spcPct val="100000"/>
                        </a:lnSpc>
                        <a:spcAft>
                          <a:spcPts val="0"/>
                        </a:spcAft>
                      </a:pPr>
                      <a:r>
                        <a:rPr lang="en-US" sz="2200">
                          <a:effectLst/>
                          <a:latin typeface="Arial" pitchFamily="34" charset="0"/>
                          <a:cs typeface="Arial" pitchFamily="34" charset="0"/>
                        </a:rPr>
                        <a:t>boolean isEmpty()</a:t>
                      </a:r>
                      <a:endParaRPr lang="en-US" sz="2200">
                        <a:effectLst/>
                        <a:latin typeface="Arial" pitchFamily="34" charset="0"/>
                        <a:ea typeface="Calibri"/>
                        <a:cs typeface="Arial" pitchFamily="34" charset="0"/>
                      </a:endParaRPr>
                    </a:p>
                  </a:txBody>
                  <a:tcPr marL="75057" marR="75057" marT="75057" marB="75057"/>
                </a:tc>
                <a:tc>
                  <a:txBody>
                    <a:bodyPr/>
                    <a:lstStyle/>
                    <a:p>
                      <a:pPr marL="0">
                        <a:lnSpc>
                          <a:spcPct val="100000"/>
                        </a:lnSpc>
                        <a:spcAft>
                          <a:spcPts val="0"/>
                        </a:spcAft>
                      </a:pPr>
                      <a:r>
                        <a:rPr lang="en-US" sz="2200">
                          <a:effectLst/>
                          <a:latin typeface="Arial" pitchFamily="34" charset="0"/>
                          <a:cs typeface="Arial" pitchFamily="34" charset="0"/>
                        </a:rPr>
                        <a:t>Trả về true nếu tập hợp này không chứa phần tử</a:t>
                      </a:r>
                      <a:endParaRPr lang="en-US" sz="2200">
                        <a:effectLst/>
                        <a:latin typeface="Arial" pitchFamily="34" charset="0"/>
                        <a:ea typeface="Calibri"/>
                        <a:cs typeface="Arial" pitchFamily="34" charset="0"/>
                      </a:endParaRPr>
                    </a:p>
                  </a:txBody>
                  <a:tcPr marL="75057" marR="75057" marT="75057" marB="75057"/>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1000890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8229600" cy="1325562"/>
          </a:xfrm>
        </p:spPr>
        <p:txBody>
          <a:bodyPr>
            <a:normAutofit/>
          </a:bodyPr>
          <a:lstStyle/>
          <a:p>
            <a:r>
              <a:rPr lang="en-US"/>
              <a:t>Phương thức</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87866202"/>
              </p:ext>
            </p:extLst>
          </p:nvPr>
        </p:nvGraphicFramePr>
        <p:xfrm>
          <a:off x="152401" y="2338196"/>
          <a:ext cx="8915399" cy="2687194"/>
        </p:xfrm>
        <a:graphic>
          <a:graphicData uri="http://schemas.openxmlformats.org/drawingml/2006/table">
            <a:tbl>
              <a:tblPr firstRow="1" firstCol="1" bandRow="1">
                <a:tableStyleId>{5C22544A-7EE6-4342-B048-85BDC9FD1C3A}</a:tableStyleId>
              </a:tblPr>
              <a:tblGrid>
                <a:gridCol w="2514599">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432331">
                <a:tc>
                  <a:txBody>
                    <a:bodyPr/>
                    <a:lstStyle/>
                    <a:p>
                      <a:pPr>
                        <a:lnSpc>
                          <a:spcPct val="100000"/>
                        </a:lnSpc>
                        <a:spcAft>
                          <a:spcPts val="0"/>
                        </a:spcAft>
                      </a:pPr>
                      <a:r>
                        <a:rPr lang="en-US" sz="2200">
                          <a:effectLst/>
                          <a:latin typeface="Arial" pitchFamily="34" charset="0"/>
                          <a:cs typeface="Arial" pitchFamily="34" charset="0"/>
                        </a:rPr>
                        <a:t>Phương thức</a:t>
                      </a:r>
                      <a:endParaRPr lang="en-US" sz="2200">
                        <a:effectLst/>
                        <a:latin typeface="Arial" pitchFamily="34" charset="0"/>
                        <a:ea typeface="Calibri"/>
                        <a:cs typeface="Arial" pitchFamily="34" charset="0"/>
                      </a:endParaRPr>
                    </a:p>
                  </a:txBody>
                  <a:tcPr marL="112586" marR="112586" marT="112586" marB="112586"/>
                </a:tc>
                <a:tc>
                  <a:txBody>
                    <a:bodyPr/>
                    <a:lstStyle/>
                    <a:p>
                      <a:pPr>
                        <a:lnSpc>
                          <a:spcPct val="100000"/>
                        </a:lnSpc>
                        <a:spcAft>
                          <a:spcPts val="0"/>
                        </a:spcAft>
                      </a:pPr>
                      <a:r>
                        <a:rPr lang="en-US" sz="2200">
                          <a:effectLst/>
                          <a:latin typeface="Arial" pitchFamily="34" charset="0"/>
                          <a:cs typeface="Arial" pitchFamily="34" charset="0"/>
                        </a:rPr>
                        <a:t>Mô tả</a:t>
                      </a:r>
                      <a:endParaRPr lang="en-US" sz="2200">
                        <a:effectLst/>
                        <a:latin typeface="Arial" pitchFamily="34" charset="0"/>
                        <a:ea typeface="Calibri"/>
                        <a:cs typeface="Arial" pitchFamily="34" charset="0"/>
                      </a:endParaRPr>
                    </a:p>
                  </a:txBody>
                  <a:tcPr marL="112586" marR="112586" marT="112586" marB="112586"/>
                </a:tc>
                <a:extLst>
                  <a:ext uri="{0D108BD9-81ED-4DB2-BD59-A6C34878D82A}">
                    <a16:rowId xmlns:a16="http://schemas.microsoft.com/office/drawing/2014/main" val="10000"/>
                  </a:ext>
                </a:extLst>
              </a:tr>
              <a:tr h="362778">
                <a:tc>
                  <a:txBody>
                    <a:bodyPr/>
                    <a:lstStyle/>
                    <a:p>
                      <a:pPr>
                        <a:lnSpc>
                          <a:spcPct val="100000"/>
                        </a:lnSpc>
                        <a:spcAft>
                          <a:spcPts val="0"/>
                        </a:spcAft>
                      </a:pPr>
                      <a:r>
                        <a:rPr lang="en-US" sz="2200">
                          <a:effectLst/>
                          <a:latin typeface="Arial" pitchFamily="34" charset="0"/>
                          <a:cs typeface="Arial" pitchFamily="34" charset="0"/>
                        </a:rPr>
                        <a:t>Iterator&lt;E&gt; iterator()</a:t>
                      </a:r>
                      <a:endParaRPr lang="en-US" sz="2200">
                        <a:effectLst/>
                        <a:latin typeface="Arial" pitchFamily="34" charset="0"/>
                        <a:ea typeface="Calibri"/>
                        <a:cs typeface="Arial" pitchFamily="34" charset="0"/>
                      </a:endParaRPr>
                    </a:p>
                  </a:txBody>
                  <a:tcPr marL="75057" marR="75057" marT="75057" marB="75057"/>
                </a:tc>
                <a:tc>
                  <a:txBody>
                    <a:bodyPr/>
                    <a:lstStyle/>
                    <a:p>
                      <a:pPr marL="190500">
                        <a:lnSpc>
                          <a:spcPct val="100000"/>
                        </a:lnSpc>
                        <a:spcAft>
                          <a:spcPts val="0"/>
                        </a:spcAft>
                      </a:pPr>
                      <a:r>
                        <a:rPr lang="en-US" sz="2200">
                          <a:effectLst/>
                          <a:latin typeface="Arial" pitchFamily="34" charset="0"/>
                          <a:cs typeface="Arial" pitchFamily="34" charset="0"/>
                        </a:rPr>
                        <a:t>Trả về một iterator trên các phần tử</a:t>
                      </a:r>
                      <a:endParaRPr lang="en-US" sz="2200">
                        <a:effectLst/>
                        <a:latin typeface="Arial" pitchFamily="34" charset="0"/>
                        <a:ea typeface="Calibri"/>
                        <a:cs typeface="Arial" pitchFamily="34" charset="0"/>
                      </a:endParaRPr>
                    </a:p>
                  </a:txBody>
                  <a:tcPr marL="75057" marR="75057" marT="75057" marB="75057"/>
                </a:tc>
                <a:extLst>
                  <a:ext uri="{0D108BD9-81ED-4DB2-BD59-A6C34878D82A}">
                    <a16:rowId xmlns:a16="http://schemas.microsoft.com/office/drawing/2014/main" val="10001"/>
                  </a:ext>
                </a:extLst>
              </a:tr>
              <a:tr h="564432">
                <a:tc>
                  <a:txBody>
                    <a:bodyPr/>
                    <a:lstStyle/>
                    <a:p>
                      <a:pPr>
                        <a:lnSpc>
                          <a:spcPct val="100000"/>
                        </a:lnSpc>
                        <a:spcAft>
                          <a:spcPts val="0"/>
                        </a:spcAft>
                      </a:pPr>
                      <a:r>
                        <a:rPr lang="en-US" sz="2200">
                          <a:effectLst/>
                          <a:latin typeface="Arial" pitchFamily="34" charset="0"/>
                          <a:cs typeface="Arial" pitchFamily="34" charset="0"/>
                        </a:rPr>
                        <a:t>boolean remove(Object o)</a:t>
                      </a:r>
                      <a:endParaRPr lang="en-US" sz="2200">
                        <a:effectLst/>
                        <a:latin typeface="Arial" pitchFamily="34" charset="0"/>
                        <a:ea typeface="Calibri"/>
                        <a:cs typeface="Arial" pitchFamily="34" charset="0"/>
                      </a:endParaRPr>
                    </a:p>
                  </a:txBody>
                  <a:tcPr marL="75057" marR="75057" marT="75057" marB="75057"/>
                </a:tc>
                <a:tc>
                  <a:txBody>
                    <a:bodyPr/>
                    <a:lstStyle/>
                    <a:p>
                      <a:pPr marL="190500">
                        <a:lnSpc>
                          <a:spcPct val="100000"/>
                        </a:lnSpc>
                        <a:spcAft>
                          <a:spcPts val="0"/>
                        </a:spcAft>
                      </a:pPr>
                      <a:r>
                        <a:rPr lang="en-US" sz="2200">
                          <a:effectLst/>
                          <a:latin typeface="Arial" pitchFamily="34" charset="0"/>
                          <a:cs typeface="Arial" pitchFamily="34" charset="0"/>
                        </a:rPr>
                        <a:t>Loại bỏ phần tử được chỉ định khỏi tập này nếu nó có mặt</a:t>
                      </a:r>
                      <a:endParaRPr lang="en-US" sz="2200">
                        <a:effectLst/>
                        <a:latin typeface="Arial" pitchFamily="34" charset="0"/>
                        <a:ea typeface="Calibri"/>
                        <a:cs typeface="Arial" pitchFamily="34" charset="0"/>
                      </a:endParaRPr>
                    </a:p>
                  </a:txBody>
                  <a:tcPr marL="75057" marR="75057" marT="75057" marB="75057"/>
                </a:tc>
                <a:extLst>
                  <a:ext uri="{0D108BD9-81ED-4DB2-BD59-A6C34878D82A}">
                    <a16:rowId xmlns:a16="http://schemas.microsoft.com/office/drawing/2014/main" val="10002"/>
                  </a:ext>
                </a:extLst>
              </a:tr>
              <a:tr h="362778">
                <a:tc>
                  <a:txBody>
                    <a:bodyPr/>
                    <a:lstStyle/>
                    <a:p>
                      <a:pPr>
                        <a:lnSpc>
                          <a:spcPct val="100000"/>
                        </a:lnSpc>
                        <a:spcAft>
                          <a:spcPts val="0"/>
                        </a:spcAft>
                      </a:pPr>
                      <a:r>
                        <a:rPr lang="en-US" sz="2200">
                          <a:effectLst/>
                          <a:latin typeface="Arial" pitchFamily="34" charset="0"/>
                          <a:cs typeface="Arial" pitchFamily="34" charset="0"/>
                        </a:rPr>
                        <a:t>int size()</a:t>
                      </a:r>
                      <a:endParaRPr lang="en-US" sz="2200">
                        <a:effectLst/>
                        <a:latin typeface="Arial" pitchFamily="34" charset="0"/>
                        <a:ea typeface="Calibri"/>
                        <a:cs typeface="Arial" pitchFamily="34" charset="0"/>
                      </a:endParaRPr>
                    </a:p>
                  </a:txBody>
                  <a:tcPr marL="75057" marR="75057" marT="75057" marB="75057"/>
                </a:tc>
                <a:tc>
                  <a:txBody>
                    <a:bodyPr/>
                    <a:lstStyle/>
                    <a:p>
                      <a:pPr marL="190500">
                        <a:lnSpc>
                          <a:spcPct val="100000"/>
                        </a:lnSpc>
                        <a:spcAft>
                          <a:spcPts val="0"/>
                        </a:spcAft>
                      </a:pPr>
                      <a:r>
                        <a:rPr lang="en-US" sz="2200">
                          <a:effectLst/>
                          <a:latin typeface="Arial" pitchFamily="34" charset="0"/>
                          <a:cs typeface="Arial" pitchFamily="34" charset="0"/>
                        </a:rPr>
                        <a:t>Trả về số lượng phần tử trong tập hợp</a:t>
                      </a:r>
                      <a:endParaRPr lang="en-US" sz="2200">
                        <a:effectLst/>
                        <a:latin typeface="Arial" pitchFamily="34" charset="0"/>
                        <a:ea typeface="Calibri"/>
                        <a:cs typeface="Arial" pitchFamily="34" charset="0"/>
                      </a:endParaRPr>
                    </a:p>
                  </a:txBody>
                  <a:tcPr marL="75057" marR="75057" marT="75057" marB="75057"/>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1774856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HashSet - Ví dụ 1</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483" y="1447800"/>
            <a:ext cx="6454717"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268741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a:t>Lớp HashSet - Ví dụ 2</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143000"/>
            <a:ext cx="7210777"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530730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a:t>Lớp HashSet - Ví dụ 3</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066800"/>
            <a:ext cx="741558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235802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HashSet - Ví dụ 4</a:t>
            </a:r>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057400"/>
            <a:ext cx="7402381" cy="458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03911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HashSet - Ví dụ 5 (1)</a:t>
            </a:r>
          </a:p>
        </p:txBody>
      </p:sp>
      <p:sp>
        <p:nvSpPr>
          <p:cNvPr id="3" name="Content Placeholder 2"/>
          <p:cNvSpPr>
            <a:spLocks noGrp="1"/>
          </p:cNvSpPr>
          <p:nvPr>
            <p:ph idx="1"/>
          </p:nvPr>
        </p:nvSpPr>
        <p:spPr/>
        <p:txBody>
          <a:bodyPr/>
          <a:lstStyle/>
          <a:p>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72222"/>
            <a:ext cx="5562600" cy="5585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221759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HashSet - Ví dụ 5 (2)</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256" y="1752600"/>
            <a:ext cx="8924544"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685018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t>4.2.2. Lớp LinkedHashset</a:t>
            </a:r>
          </a:p>
        </p:txBody>
      </p:sp>
      <p:sp>
        <p:nvSpPr>
          <p:cNvPr id="3" name="Content Placeholder 2"/>
          <p:cNvSpPr>
            <a:spLocks noGrp="1"/>
          </p:cNvSpPr>
          <p:nvPr>
            <p:ph idx="1"/>
          </p:nvPr>
        </p:nvSpPr>
        <p:spPr/>
        <p:txBody>
          <a:bodyPr>
            <a:normAutofit fontScale="92500" lnSpcReduction="20000"/>
          </a:bodyPr>
          <a:lstStyle/>
          <a:p>
            <a:r>
              <a:rPr lang="en-US"/>
              <a:t>Là phiên bản có thứ tự của HashSet mà bên trong là một danh sách nối đôi liên kết chạy qua các phần tử</a:t>
            </a:r>
          </a:p>
          <a:p>
            <a:pPr lvl="1"/>
            <a:r>
              <a:rPr lang="en-US"/>
              <a:t>Danh sách liên kết đôi này có duy trì thứ tự chèn của các phần tử</a:t>
            </a:r>
          </a:p>
          <a:p>
            <a:r>
              <a:rPr lang="en-US"/>
              <a:t>C</a:t>
            </a:r>
            <a:r>
              <a:rPr lang="vi-VN"/>
              <a:t>hứa các phần </a:t>
            </a:r>
            <a:r>
              <a:rPr lang="en-US"/>
              <a:t>tử </a:t>
            </a:r>
            <a:r>
              <a:rPr lang="vi-VN"/>
              <a:t>duy nhất giống như Hashset</a:t>
            </a:r>
            <a:r>
              <a:rPr lang="en-US"/>
              <a:t> và chỉ cho phép một phần tử null</a:t>
            </a:r>
          </a:p>
          <a:p>
            <a:r>
              <a:rPr lang="vi-VN"/>
              <a:t> </a:t>
            </a:r>
            <a:r>
              <a:rPr lang="en-US"/>
              <a:t>K</a:t>
            </a:r>
            <a:r>
              <a:rPr lang="vi-VN"/>
              <a:t>hông được đồng bộ hóa</a:t>
            </a:r>
            <a:endParaRPr lang="en-US"/>
          </a:p>
          <a:p>
            <a:r>
              <a:rPr lang="en-US"/>
              <a:t>public class LinkedHashSet&lt;E&gt; extends HashSet&lt;E&gt; implements Set&lt;E&gt;, Cloneable, Serializable  </a:t>
            </a:r>
          </a:p>
          <a:p>
            <a:endParaRPr lang="en-US"/>
          </a:p>
        </p:txBody>
      </p:sp>
    </p:spTree>
    <p:extLst>
      <p:ext uri="{BB962C8B-B14F-4D97-AF65-F5344CB8AC3E}">
        <p14:creationId xmlns:p14="http://schemas.microsoft.com/office/powerpoint/2010/main" val="106116207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a:t>Các hàm tạo</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30674359"/>
              </p:ext>
            </p:extLst>
          </p:nvPr>
        </p:nvGraphicFramePr>
        <p:xfrm>
          <a:off x="152400" y="1752600"/>
          <a:ext cx="8839200" cy="4333089"/>
        </p:xfrm>
        <a:graphic>
          <a:graphicData uri="http://schemas.openxmlformats.org/drawingml/2006/table">
            <a:tbl>
              <a:tblPr/>
              <a:tblGrid>
                <a:gridCol w="35052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486504">
                <a:tc>
                  <a:txBody>
                    <a:bodyPr/>
                    <a:lstStyle/>
                    <a:p>
                      <a:pPr algn="l" fontAlgn="t"/>
                      <a:r>
                        <a:rPr lang="en-US" sz="2400">
                          <a:solidFill>
                            <a:srgbClr val="000000"/>
                          </a:solidFill>
                          <a:effectLst/>
                          <a:latin typeface="Arial" pitchFamily="34" charset="0"/>
                          <a:cs typeface="Arial" pitchFamily="34" charset="0"/>
                        </a:rPr>
                        <a:t>Constructor</a:t>
                      </a:r>
                    </a:p>
                  </a:txBody>
                  <a:tcPr marL="110569" marR="110569" marT="110569" marB="110569">
                    <a:lnL w="9525" cap="flat" cmpd="sng" algn="ctr">
                      <a:solidFill>
                        <a:srgbClr val="80544F"/>
                      </a:solidFill>
                      <a:prstDash val="solid"/>
                      <a:round/>
                      <a:headEnd type="none" w="med" len="med"/>
                      <a:tailEnd type="none" w="med" len="med"/>
                    </a:lnL>
                    <a:lnR w="9525" cap="flat" cmpd="sng" algn="ctr">
                      <a:solidFill>
                        <a:srgbClr val="80544F"/>
                      </a:solidFill>
                      <a:prstDash val="solid"/>
                      <a:round/>
                      <a:headEnd type="none" w="med" len="med"/>
                      <a:tailEnd type="none" w="med" len="med"/>
                    </a:lnR>
                    <a:lnT w="9525" cap="flat" cmpd="sng" algn="ctr">
                      <a:solidFill>
                        <a:srgbClr val="80544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400">
                          <a:solidFill>
                            <a:srgbClr val="000000"/>
                          </a:solidFill>
                          <a:effectLst/>
                          <a:latin typeface="Arial" pitchFamily="34" charset="0"/>
                          <a:cs typeface="Arial" pitchFamily="34" charset="0"/>
                        </a:rPr>
                        <a:t>Mô</a:t>
                      </a:r>
                      <a:r>
                        <a:rPr lang="en-US" sz="2400" baseline="0">
                          <a:solidFill>
                            <a:srgbClr val="000000"/>
                          </a:solidFill>
                          <a:effectLst/>
                          <a:latin typeface="Arial" pitchFamily="34" charset="0"/>
                          <a:cs typeface="Arial" pitchFamily="34" charset="0"/>
                        </a:rPr>
                        <a:t> </a:t>
                      </a:r>
                      <a:r>
                        <a:rPr lang="en-US" sz="2400">
                          <a:solidFill>
                            <a:srgbClr val="000000"/>
                          </a:solidFill>
                          <a:effectLst/>
                          <a:latin typeface="Arial" pitchFamily="34" charset="0"/>
                          <a:cs typeface="Arial" pitchFamily="34" charset="0"/>
                        </a:rPr>
                        <a:t>tả</a:t>
                      </a:r>
                    </a:p>
                  </a:txBody>
                  <a:tcPr marL="110569" marR="110569" marT="110569" marB="110569">
                    <a:lnL w="9525" cap="flat" cmpd="sng" algn="ctr">
                      <a:solidFill>
                        <a:srgbClr val="80544F"/>
                      </a:solidFill>
                      <a:prstDash val="solid"/>
                      <a:round/>
                      <a:headEnd type="none" w="med" len="med"/>
                      <a:tailEnd type="none" w="med" len="med"/>
                    </a:lnL>
                    <a:lnR w="9525" cap="flat" cmpd="sng" algn="ctr">
                      <a:solidFill>
                        <a:srgbClr val="80544F"/>
                      </a:solidFill>
                      <a:prstDash val="solid"/>
                      <a:round/>
                      <a:headEnd type="none" w="med" len="med"/>
                      <a:tailEnd type="none" w="med" len="med"/>
                    </a:lnR>
                    <a:lnT w="9525" cap="flat" cmpd="sng" algn="ctr">
                      <a:solidFill>
                        <a:srgbClr val="80544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678157">
                <a:tc>
                  <a:txBody>
                    <a:bodyPr/>
                    <a:lstStyle/>
                    <a:p>
                      <a:pPr marL="0">
                        <a:lnSpc>
                          <a:spcPct val="100000"/>
                        </a:lnSpc>
                        <a:spcAft>
                          <a:spcPts val="0"/>
                        </a:spcAft>
                      </a:pPr>
                      <a:r>
                        <a:rPr lang="en-US" sz="2400">
                          <a:solidFill>
                            <a:srgbClr val="000000"/>
                          </a:solidFill>
                          <a:effectLst/>
                          <a:latin typeface="Arial" pitchFamily="34" charset="0"/>
                          <a:ea typeface="Times New Roman"/>
                          <a:cs typeface="Arial" pitchFamily="34" charset="0"/>
                        </a:rPr>
                        <a:t>HashSet()</a:t>
                      </a:r>
                      <a:endParaRPr lang="en-US" sz="2400">
                        <a:effectLst/>
                        <a:latin typeface="Arial" pitchFamily="34" charset="0"/>
                        <a:ea typeface="Calibri"/>
                        <a:cs typeface="Arial"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2400">
                          <a:solidFill>
                            <a:srgbClr val="000000"/>
                          </a:solidFill>
                          <a:effectLst/>
                          <a:latin typeface="Arial" pitchFamily="34" charset="0"/>
                          <a:cs typeface="Arial" pitchFamily="34" charset="0"/>
                        </a:rPr>
                        <a:t>Đ</a:t>
                      </a:r>
                      <a:r>
                        <a:rPr lang="vi-VN" sz="2400">
                          <a:solidFill>
                            <a:srgbClr val="000000"/>
                          </a:solidFill>
                          <a:effectLst/>
                          <a:latin typeface="Arial" pitchFamily="34" charset="0"/>
                          <a:cs typeface="Arial" pitchFamily="34" charset="0"/>
                        </a:rPr>
                        <a:t>ể xây dựng một Hashset mặc định</a:t>
                      </a:r>
                    </a:p>
                  </a:txBody>
                  <a:tcPr marL="73713" marR="73713" marT="73713" marB="7371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43523">
                <a:tc>
                  <a:txBody>
                    <a:bodyPr/>
                    <a:lstStyle/>
                    <a:p>
                      <a:pPr marL="0">
                        <a:lnSpc>
                          <a:spcPct val="100000"/>
                        </a:lnSpc>
                        <a:spcAft>
                          <a:spcPts val="0"/>
                        </a:spcAft>
                      </a:pPr>
                      <a:r>
                        <a:rPr lang="en-US" sz="2400">
                          <a:solidFill>
                            <a:srgbClr val="000000"/>
                          </a:solidFill>
                          <a:effectLst/>
                          <a:latin typeface="Arial" pitchFamily="34" charset="0"/>
                          <a:ea typeface="Times New Roman"/>
                          <a:cs typeface="Arial" pitchFamily="34" charset="0"/>
                        </a:rPr>
                        <a:t>HashSet(Collection c)</a:t>
                      </a:r>
                      <a:endParaRPr lang="en-US" sz="2400">
                        <a:effectLst/>
                        <a:latin typeface="Arial" pitchFamily="34" charset="0"/>
                        <a:ea typeface="Calibri"/>
                        <a:cs typeface="Arial"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2400">
                          <a:solidFill>
                            <a:srgbClr val="000000"/>
                          </a:solidFill>
                          <a:effectLst/>
                          <a:latin typeface="Arial" pitchFamily="34" charset="0"/>
                          <a:cs typeface="Arial" pitchFamily="34" charset="0"/>
                        </a:rPr>
                        <a:t>Đ</a:t>
                      </a:r>
                      <a:r>
                        <a:rPr lang="vi-VN" sz="2400">
                          <a:solidFill>
                            <a:srgbClr val="000000"/>
                          </a:solidFill>
                          <a:effectLst/>
                          <a:latin typeface="Arial" pitchFamily="34" charset="0"/>
                          <a:cs typeface="Arial" pitchFamily="34" charset="0"/>
                        </a:rPr>
                        <a:t>ể khởi tạo </a:t>
                      </a:r>
                      <a:r>
                        <a:rPr lang="en-US" sz="2400">
                          <a:solidFill>
                            <a:srgbClr val="000000"/>
                          </a:solidFill>
                          <a:effectLst/>
                          <a:latin typeface="Arial" pitchFamily="34" charset="0"/>
                          <a:cs typeface="Arial" pitchFamily="34" charset="0"/>
                        </a:rPr>
                        <a:t>Hashset</a:t>
                      </a:r>
                      <a:r>
                        <a:rPr lang="en-US" sz="2400" baseline="0">
                          <a:solidFill>
                            <a:srgbClr val="000000"/>
                          </a:solidFill>
                          <a:effectLst/>
                          <a:latin typeface="Arial" pitchFamily="34" charset="0"/>
                          <a:cs typeface="Arial" pitchFamily="34" charset="0"/>
                        </a:rPr>
                        <a:t> </a:t>
                      </a:r>
                      <a:r>
                        <a:rPr lang="vi-VN" sz="2400">
                          <a:solidFill>
                            <a:srgbClr val="000000"/>
                          </a:solidFill>
                          <a:effectLst/>
                          <a:latin typeface="Arial" pitchFamily="34" charset="0"/>
                          <a:cs typeface="Arial" pitchFamily="34" charset="0"/>
                        </a:rPr>
                        <a:t>bằng cách sử dụng các phần tử của </a:t>
                      </a:r>
                      <a:r>
                        <a:rPr lang="en-US" sz="2400">
                          <a:solidFill>
                            <a:srgbClr val="000000"/>
                          </a:solidFill>
                          <a:effectLst/>
                          <a:latin typeface="Arial" pitchFamily="34" charset="0"/>
                          <a:cs typeface="Arial" pitchFamily="34" charset="0"/>
                        </a:rPr>
                        <a:t>Collection </a:t>
                      </a:r>
                      <a:r>
                        <a:rPr lang="vi-VN" sz="2400">
                          <a:solidFill>
                            <a:srgbClr val="000000"/>
                          </a:solidFill>
                          <a:effectLst/>
                          <a:latin typeface="Arial" pitchFamily="34" charset="0"/>
                          <a:cs typeface="Arial" pitchFamily="34" charset="0"/>
                        </a:rPr>
                        <a:t>c</a:t>
                      </a:r>
                    </a:p>
                  </a:txBody>
                  <a:tcPr marL="73713" marR="73713" marT="73713" marB="7371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915622">
                <a:tc>
                  <a:txBody>
                    <a:bodyPr/>
                    <a:lstStyle/>
                    <a:p>
                      <a:pPr marL="0">
                        <a:lnSpc>
                          <a:spcPct val="100000"/>
                        </a:lnSpc>
                        <a:spcAft>
                          <a:spcPts val="0"/>
                        </a:spcAft>
                      </a:pPr>
                      <a:r>
                        <a:rPr lang="en-US" sz="2400">
                          <a:solidFill>
                            <a:srgbClr val="000000"/>
                          </a:solidFill>
                          <a:effectLst/>
                          <a:latin typeface="Arial" pitchFamily="34" charset="0"/>
                          <a:ea typeface="Times New Roman"/>
                          <a:cs typeface="Arial" pitchFamily="34" charset="0"/>
                        </a:rPr>
                        <a:t>LinkedHashSet(int capacity)</a:t>
                      </a:r>
                      <a:endParaRPr lang="en-US" sz="2400">
                        <a:effectLst/>
                        <a:latin typeface="Arial" pitchFamily="34" charset="0"/>
                        <a:ea typeface="Calibri"/>
                        <a:cs typeface="Arial"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2400">
                          <a:solidFill>
                            <a:srgbClr val="000000"/>
                          </a:solidFill>
                          <a:effectLst/>
                          <a:latin typeface="Arial" pitchFamily="34" charset="0"/>
                          <a:cs typeface="Arial" pitchFamily="34" charset="0"/>
                        </a:rPr>
                        <a:t>Đ</a:t>
                      </a:r>
                      <a:r>
                        <a:rPr lang="vi-VN" sz="2400">
                          <a:solidFill>
                            <a:srgbClr val="000000"/>
                          </a:solidFill>
                          <a:effectLst/>
                          <a:latin typeface="Arial" pitchFamily="34" charset="0"/>
                          <a:cs typeface="Arial" pitchFamily="34" charset="0"/>
                        </a:rPr>
                        <a:t>ể khởi tạo </a:t>
                      </a:r>
                      <a:r>
                        <a:rPr lang="en-US" sz="2400">
                          <a:solidFill>
                            <a:srgbClr val="000000"/>
                          </a:solidFill>
                          <a:effectLst/>
                          <a:latin typeface="Arial" pitchFamily="34" charset="0"/>
                          <a:cs typeface="Arial" pitchFamily="34" charset="0"/>
                        </a:rPr>
                        <a:t>LinkedHashSet</a:t>
                      </a:r>
                      <a:r>
                        <a:rPr lang="en-US" sz="2400" baseline="0">
                          <a:solidFill>
                            <a:srgbClr val="000000"/>
                          </a:solidFill>
                          <a:effectLst/>
                          <a:latin typeface="Arial" pitchFamily="34" charset="0"/>
                          <a:cs typeface="Arial" pitchFamily="34" charset="0"/>
                        </a:rPr>
                        <a:t> với dung lượng </a:t>
                      </a:r>
                      <a:r>
                        <a:rPr lang="en-US" sz="2400">
                          <a:solidFill>
                            <a:srgbClr val="000000"/>
                          </a:solidFill>
                          <a:effectLst/>
                          <a:latin typeface="Arial" pitchFamily="34" charset="0"/>
                          <a:cs typeface="Arial" pitchFamily="34" charset="0"/>
                        </a:rPr>
                        <a:t>capacity</a:t>
                      </a:r>
                      <a:endParaRPr lang="vi-VN" sz="2400">
                        <a:solidFill>
                          <a:srgbClr val="000000"/>
                        </a:solidFill>
                        <a:effectLst/>
                        <a:latin typeface="Arial" pitchFamily="34" charset="0"/>
                        <a:cs typeface="Arial" pitchFamily="34" charset="0"/>
                      </a:endParaRPr>
                    </a:p>
                  </a:txBody>
                  <a:tcPr marL="73713" marR="73713" marT="73713" marB="7371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208889">
                <a:tc>
                  <a:txBody>
                    <a:bodyPr/>
                    <a:lstStyle/>
                    <a:p>
                      <a:pPr marL="0">
                        <a:lnSpc>
                          <a:spcPct val="100000"/>
                        </a:lnSpc>
                        <a:spcAft>
                          <a:spcPts val="0"/>
                        </a:spcAft>
                      </a:pPr>
                      <a:r>
                        <a:rPr lang="en-US" sz="2400">
                          <a:solidFill>
                            <a:srgbClr val="000000"/>
                          </a:solidFill>
                          <a:effectLst/>
                          <a:latin typeface="Arial" pitchFamily="34" charset="0"/>
                          <a:ea typeface="Times New Roman"/>
                          <a:cs typeface="Arial" pitchFamily="34" charset="0"/>
                        </a:rPr>
                        <a:t>LinkedHashSet(int capacity, float fillRatio)</a:t>
                      </a:r>
                      <a:endParaRPr lang="en-US" sz="2400">
                        <a:effectLst/>
                        <a:latin typeface="Arial" pitchFamily="34" charset="0"/>
                        <a:ea typeface="Calibri"/>
                        <a:cs typeface="Arial"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2400">
                          <a:solidFill>
                            <a:srgbClr val="000000"/>
                          </a:solidFill>
                          <a:effectLst/>
                          <a:latin typeface="Arial" pitchFamily="34" charset="0"/>
                          <a:cs typeface="Arial" pitchFamily="34" charset="0"/>
                        </a:rPr>
                        <a:t>Đ</a:t>
                      </a:r>
                      <a:r>
                        <a:rPr lang="vi-VN" sz="2400">
                          <a:solidFill>
                            <a:srgbClr val="000000"/>
                          </a:solidFill>
                          <a:effectLst/>
                          <a:latin typeface="Arial" pitchFamily="34" charset="0"/>
                          <a:cs typeface="Arial" pitchFamily="34" charset="0"/>
                        </a:rPr>
                        <a:t>ể khởi tạo </a:t>
                      </a:r>
                      <a:r>
                        <a:rPr lang="en-US" sz="2400">
                          <a:solidFill>
                            <a:srgbClr val="000000"/>
                          </a:solidFill>
                          <a:effectLst/>
                          <a:latin typeface="Arial" pitchFamily="34" charset="0"/>
                          <a:ea typeface="Times New Roman"/>
                          <a:cs typeface="Arial" pitchFamily="34" charset="0"/>
                        </a:rPr>
                        <a:t>LinkedHashSet với</a:t>
                      </a:r>
                      <a:r>
                        <a:rPr lang="en-US" sz="2400" baseline="0">
                          <a:solidFill>
                            <a:srgbClr val="000000"/>
                          </a:solidFill>
                          <a:effectLst/>
                          <a:latin typeface="Arial" pitchFamily="34" charset="0"/>
                          <a:ea typeface="Times New Roman"/>
                          <a:cs typeface="Arial" pitchFamily="34" charset="0"/>
                        </a:rPr>
                        <a:t> dung lượng capacity và </a:t>
                      </a:r>
                      <a:r>
                        <a:rPr lang="en-US" sz="2400">
                          <a:solidFill>
                            <a:srgbClr val="000000"/>
                          </a:solidFill>
                          <a:effectLst/>
                          <a:latin typeface="Arial" pitchFamily="34" charset="0"/>
                          <a:cs typeface="Arial" pitchFamily="34" charset="0"/>
                        </a:rPr>
                        <a:t>hệ</a:t>
                      </a:r>
                      <a:r>
                        <a:rPr lang="en-US" sz="2400" baseline="0">
                          <a:solidFill>
                            <a:srgbClr val="000000"/>
                          </a:solidFill>
                          <a:effectLst/>
                          <a:latin typeface="Arial" pitchFamily="34" charset="0"/>
                          <a:cs typeface="Arial" pitchFamily="34" charset="0"/>
                        </a:rPr>
                        <a:t> số tải fillRatio</a:t>
                      </a:r>
                      <a:endParaRPr lang="vi-VN" sz="2400">
                        <a:solidFill>
                          <a:srgbClr val="000000"/>
                        </a:solidFill>
                        <a:effectLst/>
                        <a:latin typeface="Arial" pitchFamily="34" charset="0"/>
                        <a:cs typeface="Arial" pitchFamily="34" charset="0"/>
                      </a:endParaRPr>
                    </a:p>
                  </a:txBody>
                  <a:tcPr marL="73713" marR="73713" marT="73713" marB="7371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1638104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LinkedHashset - Ví dụ 1</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223" y="1962150"/>
            <a:ext cx="8348177"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49602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LinkedHashset - Ví dụ 2</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828800"/>
            <a:ext cx="8851479"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468232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LinkedHashSet - Ví dụ 3 (1)</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371600"/>
            <a:ext cx="344043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164311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LinkedHashSet - Ví dụ 3(2)</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566863"/>
            <a:ext cx="7156978" cy="5119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87106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4.2.3. Lớp TreeSet</a:t>
            </a:r>
          </a:p>
        </p:txBody>
      </p:sp>
      <p:sp>
        <p:nvSpPr>
          <p:cNvPr id="3" name="Content Placeholder 2"/>
          <p:cNvSpPr>
            <a:spLocks noGrp="1"/>
          </p:cNvSpPr>
          <p:nvPr>
            <p:ph idx="1"/>
          </p:nvPr>
        </p:nvSpPr>
        <p:spPr>
          <a:xfrm>
            <a:off x="304800" y="1676400"/>
            <a:ext cx="8534400" cy="5257800"/>
          </a:xfrm>
        </p:spPr>
        <p:txBody>
          <a:bodyPr>
            <a:normAutofit/>
          </a:bodyPr>
          <a:lstStyle/>
          <a:p>
            <a:r>
              <a:rPr lang="en-US" sz="2400"/>
              <a:t>Là thực thi phổ biến của giao diện Set</a:t>
            </a:r>
          </a:p>
          <a:p>
            <a:r>
              <a:rPr lang="en-US" sz="2400"/>
              <a:t>Các phần tử trong Treeset được sắp xếp theo Comparator đã chỉ định</a:t>
            </a:r>
          </a:p>
          <a:p>
            <a:pPr lvl="1"/>
            <a:r>
              <a:rPr lang="en-US" sz="2400"/>
              <a:t>Cần cung cấp Comparator này khi tạo một TreeSet</a:t>
            </a:r>
          </a:p>
          <a:p>
            <a:pPr lvl="1"/>
            <a:r>
              <a:rPr lang="en-US" sz="2400"/>
              <a:t>Nếu không có bất kỳ Comparator nào khi tạo, các phần tử sẽ được đặt theo thứ tự tăng dần</a:t>
            </a:r>
          </a:p>
          <a:p>
            <a:r>
              <a:rPr lang="en-US" sz="2400"/>
              <a:t>TreeSet không cho phép có bất kỳ phần tử null nào</a:t>
            </a:r>
          </a:p>
          <a:p>
            <a:r>
              <a:rPr lang="en-US" sz="2400"/>
              <a:t>Các phần tử được chèn trong TreeSet phải cùng kiểu, có thể so sánh được với nhau</a:t>
            </a:r>
          </a:p>
        </p:txBody>
      </p:sp>
    </p:spTree>
    <p:extLst>
      <p:ext uri="{BB962C8B-B14F-4D97-AF65-F5344CB8AC3E}">
        <p14:creationId xmlns:p14="http://schemas.microsoft.com/office/powerpoint/2010/main" val="128233235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4.2.3. Lớp TreeSet (tiếp)</a:t>
            </a:r>
          </a:p>
        </p:txBody>
      </p:sp>
      <p:sp>
        <p:nvSpPr>
          <p:cNvPr id="3" name="Content Placeholder 2"/>
          <p:cNvSpPr>
            <a:spLocks noGrp="1"/>
          </p:cNvSpPr>
          <p:nvPr>
            <p:ph idx="1"/>
          </p:nvPr>
        </p:nvSpPr>
        <p:spPr>
          <a:xfrm>
            <a:off x="76200" y="1600200"/>
            <a:ext cx="9144000" cy="5257800"/>
          </a:xfrm>
        </p:spPr>
        <p:txBody>
          <a:bodyPr>
            <a:normAutofit/>
          </a:bodyPr>
          <a:lstStyle/>
          <a:p>
            <a:pPr lvl="0"/>
            <a:r>
              <a:rPr lang="en-US"/>
              <a:t>TreeSetkhông được đồng bộ hóa. Để đồng bộ hóa, hãy sử dụng phương thức </a:t>
            </a:r>
            <a:r>
              <a:rPr lang="en-US" sz="2800"/>
              <a:t>Collections.synchronizedSortedSet()</a:t>
            </a:r>
          </a:p>
          <a:p>
            <a:pPr lvl="0"/>
            <a:r>
              <a:rPr lang="en-US"/>
              <a:t>Nếu TreeSet được sửa sau khi tạo một đối tượng Iterator, bạn sẽ nhận được </a:t>
            </a:r>
            <a:r>
              <a:rPr lang="en-US" sz="2800"/>
              <a:t>ConcurrentModificationException</a:t>
            </a:r>
          </a:p>
          <a:p>
            <a:pPr lvl="0"/>
            <a:r>
              <a:rPr lang="en-US" sz="2800"/>
              <a:t>Không sử dụng các phương thức hashCode() và equals() để so sánh các phần tử</a:t>
            </a:r>
          </a:p>
          <a:p>
            <a:pPr lvl="1"/>
            <a:r>
              <a:rPr lang="en-US" sz="2400"/>
              <a:t>Sử dụng phương thức compare() (hoặc compareTo())</a:t>
            </a:r>
          </a:p>
        </p:txBody>
      </p:sp>
    </p:spTree>
    <p:extLst>
      <p:ext uri="{BB962C8B-B14F-4D97-AF65-F5344CB8AC3E}">
        <p14:creationId xmlns:p14="http://schemas.microsoft.com/office/powerpoint/2010/main" val="103740265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Hàm tạo</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82835598"/>
              </p:ext>
            </p:extLst>
          </p:nvPr>
        </p:nvGraphicFramePr>
        <p:xfrm>
          <a:off x="152400" y="1600200"/>
          <a:ext cx="8915400" cy="5044440"/>
        </p:xfrm>
        <a:graphic>
          <a:graphicData uri="http://schemas.openxmlformats.org/drawingml/2006/table">
            <a:tbl>
              <a:tblPr firstRow="1" firstCol="1" bandRow="1">
                <a:tableStyleId>{5C22544A-7EE6-4342-B048-85BDC9FD1C3A}</a:tableStyleId>
              </a:tblPr>
              <a:tblGrid>
                <a:gridCol w="3810000">
                  <a:extLst>
                    <a:ext uri="{9D8B030D-6E8A-4147-A177-3AD203B41FA5}">
                      <a16:colId xmlns:a16="http://schemas.microsoft.com/office/drawing/2014/main" val="20000"/>
                    </a:ext>
                  </a:extLst>
                </a:gridCol>
                <a:gridCol w="5105400">
                  <a:extLst>
                    <a:ext uri="{9D8B030D-6E8A-4147-A177-3AD203B41FA5}">
                      <a16:colId xmlns:a16="http://schemas.microsoft.com/office/drawing/2014/main" val="20001"/>
                    </a:ext>
                  </a:extLst>
                </a:gridCol>
              </a:tblGrid>
              <a:tr h="0">
                <a:tc>
                  <a:txBody>
                    <a:bodyPr/>
                    <a:lstStyle/>
                    <a:p>
                      <a:pPr>
                        <a:lnSpc>
                          <a:spcPct val="115000"/>
                        </a:lnSpc>
                        <a:spcAft>
                          <a:spcPts val="0"/>
                        </a:spcAft>
                      </a:pPr>
                      <a:r>
                        <a:rPr lang="en-US" sz="2400">
                          <a:effectLst/>
                          <a:latin typeface="Arial" pitchFamily="34" charset="0"/>
                          <a:cs typeface="Arial" pitchFamily="34" charset="0"/>
                        </a:rPr>
                        <a:t>Constructor</a:t>
                      </a:r>
                      <a:endParaRPr lang="en-US" sz="2400">
                        <a:solidFill>
                          <a:srgbClr val="000000"/>
                        </a:solidFill>
                        <a:effectLst/>
                        <a:latin typeface="Arial" pitchFamily="34" charset="0"/>
                        <a:ea typeface="Calibri"/>
                        <a:cs typeface="Arial" pitchFamily="34" charset="0"/>
                      </a:endParaRPr>
                    </a:p>
                  </a:txBody>
                  <a:tcPr marL="114300" marR="114300" marT="114300" marB="114300"/>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114300" marR="114300" marT="114300" marB="114300"/>
                </a:tc>
                <a:extLst>
                  <a:ext uri="{0D108BD9-81ED-4DB2-BD59-A6C34878D82A}">
                    <a16:rowId xmlns:a16="http://schemas.microsoft.com/office/drawing/2014/main" val="10000"/>
                  </a:ext>
                </a:extLst>
              </a:tr>
              <a:tr h="0">
                <a:tc>
                  <a:txBody>
                    <a:bodyPr/>
                    <a:lstStyle/>
                    <a:p>
                      <a:pPr>
                        <a:lnSpc>
                          <a:spcPct val="115000"/>
                        </a:lnSpc>
                        <a:spcAft>
                          <a:spcPts val="0"/>
                        </a:spcAft>
                      </a:pPr>
                      <a:r>
                        <a:rPr lang="en-US" sz="2400">
                          <a:effectLst/>
                          <a:latin typeface="Arial" pitchFamily="34" charset="0"/>
                          <a:cs typeface="Arial" pitchFamily="34" charset="0"/>
                        </a:rPr>
                        <a:t>TreeSet()</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treeset trống sẽ được sắp xếp theo thứ tự tăng dần theo thứ tự tự nhiên của treeset</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1"/>
                  </a:ext>
                </a:extLst>
              </a:tr>
              <a:tr h="0">
                <a:tc>
                  <a:txBody>
                    <a:bodyPr/>
                    <a:lstStyle/>
                    <a:p>
                      <a:pPr>
                        <a:lnSpc>
                          <a:spcPct val="115000"/>
                        </a:lnSpc>
                        <a:spcAft>
                          <a:spcPts val="0"/>
                        </a:spcAft>
                      </a:pPr>
                      <a:r>
                        <a:rPr lang="en-US" sz="2400">
                          <a:effectLst/>
                          <a:latin typeface="Arial" pitchFamily="34" charset="0"/>
                          <a:cs typeface="Arial" pitchFamily="34" charset="0"/>
                        </a:rPr>
                        <a:t>TreeSet(Collection&lt;? extends E&gt; c)</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treeset mới chứa các phần tử của Collection c</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2"/>
                  </a:ext>
                </a:extLst>
              </a:tr>
              <a:tr h="0">
                <a:tc>
                  <a:txBody>
                    <a:bodyPr/>
                    <a:lstStyle/>
                    <a:p>
                      <a:pPr>
                        <a:lnSpc>
                          <a:spcPct val="115000"/>
                        </a:lnSpc>
                        <a:spcAft>
                          <a:spcPts val="0"/>
                        </a:spcAft>
                      </a:pPr>
                      <a:r>
                        <a:rPr lang="en-US" sz="2400">
                          <a:effectLst/>
                          <a:latin typeface="Arial" pitchFamily="34" charset="0"/>
                          <a:cs typeface="Arial" pitchFamily="34" charset="0"/>
                        </a:rPr>
                        <a:t>TreeSet(Comparator&lt;? super E&gt; comparator)</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treeset trống sẽ được sắp xếp theo comparator</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3"/>
                  </a:ext>
                </a:extLst>
              </a:tr>
              <a:tr h="0">
                <a:tc>
                  <a:txBody>
                    <a:bodyPr/>
                    <a:lstStyle/>
                    <a:p>
                      <a:pPr>
                        <a:lnSpc>
                          <a:spcPct val="115000"/>
                        </a:lnSpc>
                        <a:spcAft>
                          <a:spcPts val="0"/>
                        </a:spcAft>
                      </a:pPr>
                      <a:r>
                        <a:rPr lang="en-US" sz="2400">
                          <a:effectLst/>
                          <a:latin typeface="Arial" pitchFamily="34" charset="0"/>
                          <a:cs typeface="Arial" pitchFamily="34" charset="0"/>
                        </a:rPr>
                        <a:t>TreeSet(SortedSet&lt;E&gt; s)</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TreeSet chứa các phần tử có trong SortedSet s</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7321987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63562"/>
          </a:xfrm>
        </p:spPr>
        <p:txBody>
          <a:bodyPr>
            <a:normAutofit fontScale="90000"/>
          </a:bodyPr>
          <a:lstStyle/>
          <a:p>
            <a:r>
              <a:rPr lang="en-US"/>
              <a:t>Phương thức (1)</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80824277"/>
              </p:ext>
            </p:extLst>
          </p:nvPr>
        </p:nvGraphicFramePr>
        <p:xfrm>
          <a:off x="228601" y="685800"/>
          <a:ext cx="8762999" cy="5767052"/>
        </p:xfrm>
        <a:graphic>
          <a:graphicData uri="http://schemas.openxmlformats.org/drawingml/2006/table">
            <a:tbl>
              <a:tblPr firstRow="1" firstCol="1" bandRow="1">
                <a:tableStyleId>{5C22544A-7EE6-4342-B048-85BDC9FD1C3A}</a:tableStyleId>
              </a:tblPr>
              <a:tblGrid>
                <a:gridCol w="4198745">
                  <a:extLst>
                    <a:ext uri="{9D8B030D-6E8A-4147-A177-3AD203B41FA5}">
                      <a16:colId xmlns:a16="http://schemas.microsoft.com/office/drawing/2014/main" val="20000"/>
                    </a:ext>
                  </a:extLst>
                </a:gridCol>
                <a:gridCol w="4564254">
                  <a:extLst>
                    <a:ext uri="{9D8B030D-6E8A-4147-A177-3AD203B41FA5}">
                      <a16:colId xmlns:a16="http://schemas.microsoft.com/office/drawing/2014/main" val="20001"/>
                    </a:ext>
                  </a:extLst>
                </a:gridCol>
              </a:tblGrid>
              <a:tr h="141713">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6904" marR="36904" marT="36904" marB="36904"/>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6904" marR="36904" marT="36904" marB="36904"/>
                </a:tc>
                <a:extLst>
                  <a:ext uri="{0D108BD9-81ED-4DB2-BD59-A6C34878D82A}">
                    <a16:rowId xmlns:a16="http://schemas.microsoft.com/office/drawing/2014/main" val="10000"/>
                  </a:ext>
                </a:extLst>
              </a:tr>
              <a:tr h="185014">
                <a:tc>
                  <a:txBody>
                    <a:bodyPr/>
                    <a:lstStyle/>
                    <a:p>
                      <a:pPr>
                        <a:lnSpc>
                          <a:spcPct val="115000"/>
                        </a:lnSpc>
                        <a:spcAft>
                          <a:spcPts val="0"/>
                        </a:spcAft>
                      </a:pPr>
                      <a:r>
                        <a:rPr lang="en-US" sz="2200">
                          <a:effectLst/>
                          <a:latin typeface="Arial" pitchFamily="34" charset="0"/>
                          <a:cs typeface="Arial" pitchFamily="34" charset="0"/>
                        </a:rPr>
                        <a:t>boolean add(E 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Thêm phần tử được chỉ định vào tập hợp này nếu nó chưa có sẵn</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1"/>
                  </a:ext>
                </a:extLst>
              </a:tr>
              <a:tr h="185014">
                <a:tc>
                  <a:txBody>
                    <a:bodyPr/>
                    <a:lstStyle/>
                    <a:p>
                      <a:pPr>
                        <a:lnSpc>
                          <a:spcPct val="115000"/>
                        </a:lnSpc>
                        <a:spcAft>
                          <a:spcPts val="0"/>
                        </a:spcAft>
                      </a:pPr>
                      <a:r>
                        <a:rPr lang="en-US" sz="2200">
                          <a:effectLst/>
                          <a:latin typeface="Arial" pitchFamily="34" charset="0"/>
                          <a:cs typeface="Arial" pitchFamily="34" charset="0"/>
                        </a:rPr>
                        <a:t>boolean addAll(Collection&lt;? extends E&gt; c)</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Thêm tất cả các phần tử trong Collection được chỉ định</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2"/>
                  </a:ext>
                </a:extLst>
              </a:tr>
              <a:tr h="252919">
                <a:tc>
                  <a:txBody>
                    <a:bodyPr/>
                    <a:lstStyle/>
                    <a:p>
                      <a:pPr>
                        <a:lnSpc>
                          <a:spcPct val="115000"/>
                        </a:lnSpc>
                        <a:spcAft>
                          <a:spcPts val="0"/>
                        </a:spcAft>
                      </a:pPr>
                      <a:r>
                        <a:rPr lang="en-US" sz="2200">
                          <a:effectLst/>
                          <a:latin typeface="Arial" pitchFamily="34" charset="0"/>
                          <a:cs typeface="Arial" pitchFamily="34" charset="0"/>
                        </a:rPr>
                        <a:t>E ceiling(E 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phần tử bé nhất bằng hoặc lớn</a:t>
                      </a:r>
                      <a:r>
                        <a:rPr lang="en-US" sz="2200" baseline="0">
                          <a:effectLst/>
                          <a:latin typeface="Arial" pitchFamily="34" charset="0"/>
                          <a:cs typeface="Arial" pitchFamily="34" charset="0"/>
                        </a:rPr>
                        <a:t> hơn </a:t>
                      </a:r>
                      <a:r>
                        <a:rPr lang="en-US" sz="2200">
                          <a:effectLst/>
                          <a:latin typeface="Arial" pitchFamily="34" charset="0"/>
                          <a:cs typeface="Arial" pitchFamily="34" charset="0"/>
                        </a:rPr>
                        <a:t>phần tử đã chỉ định hoặc null nếu</a:t>
                      </a:r>
                      <a:r>
                        <a:rPr lang="en-US" sz="2200" baseline="0">
                          <a:effectLst/>
                          <a:latin typeface="Arial" pitchFamily="34" charset="0"/>
                          <a:cs typeface="Arial" pitchFamily="34" charset="0"/>
                        </a:rPr>
                        <a:t> </a:t>
                      </a:r>
                      <a:r>
                        <a:rPr lang="en-US" sz="2200">
                          <a:effectLst/>
                          <a:latin typeface="Arial" pitchFamily="34" charset="0"/>
                          <a:cs typeface="Arial" pitchFamily="34" charset="0"/>
                        </a:rPr>
                        <a:t>không có</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3"/>
                  </a:ext>
                </a:extLst>
              </a:tr>
              <a:tr h="117110">
                <a:tc>
                  <a:txBody>
                    <a:bodyPr/>
                    <a:lstStyle/>
                    <a:p>
                      <a:pPr>
                        <a:lnSpc>
                          <a:spcPct val="115000"/>
                        </a:lnSpc>
                        <a:spcAft>
                          <a:spcPts val="0"/>
                        </a:spcAft>
                      </a:pPr>
                      <a:r>
                        <a:rPr lang="en-US" sz="2200">
                          <a:effectLst/>
                          <a:latin typeface="Arial" pitchFamily="34" charset="0"/>
                          <a:cs typeface="Arial" pitchFamily="34" charset="0"/>
                        </a:rPr>
                        <a:t>Comparator&lt;? super E&gt; comparator()</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comparator đã sắp xếp các phần tử theo thứ tự</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4"/>
                  </a:ext>
                </a:extLst>
              </a:tr>
              <a:tr h="117110">
                <a:tc>
                  <a:txBody>
                    <a:bodyPr/>
                    <a:lstStyle/>
                    <a:p>
                      <a:pPr>
                        <a:lnSpc>
                          <a:spcPct val="115000"/>
                        </a:lnSpc>
                        <a:spcAft>
                          <a:spcPts val="0"/>
                        </a:spcAft>
                      </a:pPr>
                      <a:r>
                        <a:rPr lang="en-US" sz="2200">
                          <a:effectLst/>
                          <a:latin typeface="Arial" pitchFamily="34" charset="0"/>
                          <a:cs typeface="Arial" pitchFamily="34" charset="0"/>
                        </a:rPr>
                        <a:t>Iterator descendingIterator()</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Để lặp lại các phần tử theo thứ tự giảm dần</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5"/>
                  </a:ext>
                </a:extLst>
              </a:tr>
              <a:tr h="117110">
                <a:tc>
                  <a:txBody>
                    <a:bodyPr/>
                    <a:lstStyle/>
                    <a:p>
                      <a:pPr>
                        <a:lnSpc>
                          <a:spcPct val="115000"/>
                        </a:lnSpc>
                        <a:spcAft>
                          <a:spcPts val="0"/>
                        </a:spcAft>
                      </a:pPr>
                      <a:r>
                        <a:rPr lang="en-US" sz="2200">
                          <a:effectLst/>
                          <a:latin typeface="Arial" pitchFamily="34" charset="0"/>
                          <a:cs typeface="Arial" pitchFamily="34" charset="0"/>
                        </a:rPr>
                        <a:t>NavigableSet descendingSet()</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các phần tử theo thứ tự ngược lại</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96903298"/>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63562"/>
          </a:xfrm>
        </p:spPr>
        <p:txBody>
          <a:bodyPr>
            <a:normAutofit fontScale="90000"/>
          </a:bodyPr>
          <a:lstStyle/>
          <a:p>
            <a:r>
              <a:rPr lang="en-US"/>
              <a:t>Phương thức (2)</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38527932"/>
              </p:ext>
            </p:extLst>
          </p:nvPr>
        </p:nvGraphicFramePr>
        <p:xfrm>
          <a:off x="228601" y="685800"/>
          <a:ext cx="8762999" cy="5717846"/>
        </p:xfrm>
        <a:graphic>
          <a:graphicData uri="http://schemas.openxmlformats.org/drawingml/2006/table">
            <a:tbl>
              <a:tblPr firstRow="1" firstCol="1" bandRow="1">
                <a:tableStyleId>{5C22544A-7EE6-4342-B048-85BDC9FD1C3A}</a:tableStyleId>
              </a:tblPr>
              <a:tblGrid>
                <a:gridCol w="4198745">
                  <a:extLst>
                    <a:ext uri="{9D8B030D-6E8A-4147-A177-3AD203B41FA5}">
                      <a16:colId xmlns:a16="http://schemas.microsoft.com/office/drawing/2014/main" val="20000"/>
                    </a:ext>
                  </a:extLst>
                </a:gridCol>
                <a:gridCol w="4564254">
                  <a:extLst>
                    <a:ext uri="{9D8B030D-6E8A-4147-A177-3AD203B41FA5}">
                      <a16:colId xmlns:a16="http://schemas.microsoft.com/office/drawing/2014/main" val="20001"/>
                    </a:ext>
                  </a:extLst>
                </a:gridCol>
              </a:tblGrid>
              <a:tr h="141713">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6904" marR="36904" marT="36904" marB="36904"/>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6904" marR="36904" marT="36904" marB="36904"/>
                </a:tc>
                <a:extLst>
                  <a:ext uri="{0D108BD9-81ED-4DB2-BD59-A6C34878D82A}">
                    <a16:rowId xmlns:a16="http://schemas.microsoft.com/office/drawing/2014/main" val="10000"/>
                  </a:ext>
                </a:extLst>
              </a:tr>
              <a:tr h="185014">
                <a:tc>
                  <a:txBody>
                    <a:bodyPr/>
                    <a:lstStyle/>
                    <a:p>
                      <a:pPr>
                        <a:lnSpc>
                          <a:spcPct val="115000"/>
                        </a:lnSpc>
                        <a:spcAft>
                          <a:spcPts val="0"/>
                        </a:spcAft>
                      </a:pPr>
                      <a:r>
                        <a:rPr lang="en-US" sz="2200">
                          <a:effectLst/>
                          <a:latin typeface="Arial" pitchFamily="34" charset="0"/>
                          <a:cs typeface="Arial" pitchFamily="34" charset="0"/>
                        </a:rPr>
                        <a:t>E floor(E 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phần tử lớn</a:t>
                      </a:r>
                      <a:r>
                        <a:rPr lang="en-US" sz="2200" baseline="0">
                          <a:effectLst/>
                          <a:latin typeface="Arial" pitchFamily="34" charset="0"/>
                          <a:cs typeface="Arial" pitchFamily="34" charset="0"/>
                        </a:rPr>
                        <a:t> nhất bé hơn hoặc </a:t>
                      </a:r>
                      <a:r>
                        <a:rPr lang="en-US" sz="2200">
                          <a:effectLst/>
                          <a:latin typeface="Arial" pitchFamily="34" charset="0"/>
                          <a:cs typeface="Arial" pitchFamily="34" charset="0"/>
                        </a:rPr>
                        <a:t>bằng phần tử được chỉ định từ hoặc null nếu</a:t>
                      </a:r>
                      <a:r>
                        <a:rPr lang="en-US" sz="2200" baseline="0">
                          <a:effectLst/>
                          <a:latin typeface="Arial" pitchFamily="34" charset="0"/>
                          <a:cs typeface="Arial" pitchFamily="34" charset="0"/>
                        </a:rPr>
                        <a:t> </a:t>
                      </a:r>
                      <a:r>
                        <a:rPr lang="en-US" sz="2200">
                          <a:effectLst/>
                          <a:latin typeface="Arial" pitchFamily="34" charset="0"/>
                          <a:cs typeface="Arial" pitchFamily="34" charset="0"/>
                        </a:rPr>
                        <a:t>không có phần tử đó</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1"/>
                  </a:ext>
                </a:extLst>
              </a:tr>
              <a:tr h="185014">
                <a:tc>
                  <a:txBody>
                    <a:bodyPr/>
                    <a:lstStyle/>
                    <a:p>
                      <a:pPr>
                        <a:lnSpc>
                          <a:spcPct val="115000"/>
                        </a:lnSpc>
                        <a:spcAft>
                          <a:spcPts val="0"/>
                        </a:spcAft>
                      </a:pPr>
                      <a:r>
                        <a:rPr lang="en-US" sz="2200">
                          <a:effectLst/>
                          <a:latin typeface="Arial" pitchFamily="34" charset="0"/>
                          <a:cs typeface="Arial" pitchFamily="34" charset="0"/>
                        </a:rPr>
                        <a:t>SortedSet headSet(E toElement)</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nhóm các phần tử nhỏ hơn phần tử đã chỉ định</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2"/>
                  </a:ext>
                </a:extLst>
              </a:tr>
              <a:tr h="185014">
                <a:tc>
                  <a:txBody>
                    <a:bodyPr/>
                    <a:lstStyle/>
                    <a:p>
                      <a:pPr>
                        <a:lnSpc>
                          <a:spcPct val="115000"/>
                        </a:lnSpc>
                        <a:spcAft>
                          <a:spcPts val="0"/>
                        </a:spcAft>
                      </a:pPr>
                      <a:r>
                        <a:rPr lang="en-US" sz="2200">
                          <a:effectLst/>
                          <a:latin typeface="Arial" pitchFamily="34" charset="0"/>
                          <a:cs typeface="Arial" pitchFamily="34" charset="0"/>
                        </a:rPr>
                        <a:t>NavigableSet headSet(E toElement, boolean inclusive)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nhóm các phần tử nhỏ hơn hoặc bằng (nếu inclusive là true) phần tử được chỉ định</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3"/>
                  </a:ext>
                </a:extLst>
              </a:tr>
              <a:tr h="185014">
                <a:tc>
                  <a:txBody>
                    <a:bodyPr/>
                    <a:lstStyle/>
                    <a:p>
                      <a:pPr>
                        <a:lnSpc>
                          <a:spcPct val="115000"/>
                        </a:lnSpc>
                        <a:spcAft>
                          <a:spcPts val="0"/>
                        </a:spcAft>
                      </a:pPr>
                      <a:r>
                        <a:rPr lang="en-US" sz="2200">
                          <a:effectLst/>
                          <a:latin typeface="Arial" pitchFamily="34" charset="0"/>
                          <a:cs typeface="Arial" pitchFamily="34" charset="0"/>
                        </a:rPr>
                        <a:t>E higher(E 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phần tử bé</a:t>
                      </a:r>
                      <a:r>
                        <a:rPr lang="en-US" sz="2200" baseline="0">
                          <a:effectLst/>
                          <a:latin typeface="Arial" pitchFamily="34" charset="0"/>
                          <a:cs typeface="Arial" pitchFamily="34" charset="0"/>
                        </a:rPr>
                        <a:t> nhất lớn hơn </a:t>
                      </a:r>
                      <a:r>
                        <a:rPr lang="en-US" sz="2200">
                          <a:effectLst/>
                          <a:latin typeface="Arial" pitchFamily="34" charset="0"/>
                          <a:cs typeface="Arial" pitchFamily="34" charset="0"/>
                        </a:rPr>
                        <a:t>phần tử đã chỉ định hoặc null nếu</a:t>
                      </a:r>
                      <a:r>
                        <a:rPr lang="en-US" sz="2200" baseline="0">
                          <a:effectLst/>
                          <a:latin typeface="Arial" pitchFamily="34" charset="0"/>
                          <a:cs typeface="Arial" pitchFamily="34" charset="0"/>
                        </a:rPr>
                        <a:t> </a:t>
                      </a:r>
                      <a:r>
                        <a:rPr lang="en-US" sz="2200">
                          <a:effectLst/>
                          <a:latin typeface="Arial" pitchFamily="34" charset="0"/>
                          <a:cs typeface="Arial" pitchFamily="34" charset="0"/>
                        </a:rPr>
                        <a:t>không có phần tử đó</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4"/>
                  </a:ext>
                </a:extLst>
              </a:tr>
              <a:tr h="117110">
                <a:tc>
                  <a:txBody>
                    <a:bodyPr/>
                    <a:lstStyle/>
                    <a:p>
                      <a:pPr>
                        <a:lnSpc>
                          <a:spcPct val="115000"/>
                        </a:lnSpc>
                        <a:spcAft>
                          <a:spcPts val="0"/>
                        </a:spcAft>
                      </a:pPr>
                      <a:r>
                        <a:rPr lang="en-US" sz="2200">
                          <a:effectLst/>
                          <a:latin typeface="Arial" pitchFamily="34" charset="0"/>
                          <a:cs typeface="Arial" pitchFamily="34" charset="0"/>
                        </a:rPr>
                        <a:t>Iterator iterator()</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Lặp lại các phần tử theo thứ tự tăng dần</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8469001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63562"/>
          </a:xfrm>
        </p:spPr>
        <p:txBody>
          <a:bodyPr>
            <a:normAutofit fontScale="90000"/>
          </a:bodyPr>
          <a:lstStyle/>
          <a:p>
            <a:r>
              <a:rPr lang="en-US"/>
              <a:t>Phương thức (3)</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80671339"/>
              </p:ext>
            </p:extLst>
          </p:nvPr>
        </p:nvGraphicFramePr>
        <p:xfrm>
          <a:off x="228601" y="685800"/>
          <a:ext cx="8762999" cy="5332274"/>
        </p:xfrm>
        <a:graphic>
          <a:graphicData uri="http://schemas.openxmlformats.org/drawingml/2006/table">
            <a:tbl>
              <a:tblPr firstRow="1" firstCol="1" bandRow="1">
                <a:tableStyleId>{5C22544A-7EE6-4342-B048-85BDC9FD1C3A}</a:tableStyleId>
              </a:tblPr>
              <a:tblGrid>
                <a:gridCol w="4198745">
                  <a:extLst>
                    <a:ext uri="{9D8B030D-6E8A-4147-A177-3AD203B41FA5}">
                      <a16:colId xmlns:a16="http://schemas.microsoft.com/office/drawing/2014/main" val="20000"/>
                    </a:ext>
                  </a:extLst>
                </a:gridCol>
                <a:gridCol w="4564254">
                  <a:extLst>
                    <a:ext uri="{9D8B030D-6E8A-4147-A177-3AD203B41FA5}">
                      <a16:colId xmlns:a16="http://schemas.microsoft.com/office/drawing/2014/main" val="20001"/>
                    </a:ext>
                  </a:extLst>
                </a:gridCol>
              </a:tblGrid>
              <a:tr h="141713">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6904" marR="36904" marT="36904" marB="36904"/>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6904" marR="36904" marT="36904" marB="36904"/>
                </a:tc>
                <a:extLst>
                  <a:ext uri="{0D108BD9-81ED-4DB2-BD59-A6C34878D82A}">
                    <a16:rowId xmlns:a16="http://schemas.microsoft.com/office/drawing/2014/main" val="10000"/>
                  </a:ext>
                </a:extLst>
              </a:tr>
              <a:tr h="185014">
                <a:tc>
                  <a:txBody>
                    <a:bodyPr/>
                    <a:lstStyle/>
                    <a:p>
                      <a:pPr>
                        <a:lnSpc>
                          <a:spcPct val="115000"/>
                        </a:lnSpc>
                        <a:spcAft>
                          <a:spcPts val="0"/>
                        </a:spcAft>
                      </a:pPr>
                      <a:r>
                        <a:rPr lang="en-US" sz="2200">
                          <a:effectLst/>
                          <a:latin typeface="Arial" pitchFamily="34" charset="0"/>
                          <a:cs typeface="Arial" pitchFamily="34" charset="0"/>
                        </a:rPr>
                        <a:t>E lower(E 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lớn</a:t>
                      </a:r>
                      <a:r>
                        <a:rPr lang="en-US" sz="2200" baseline="0">
                          <a:effectLst/>
                          <a:latin typeface="Arial" pitchFamily="34" charset="0"/>
                          <a:cs typeface="Arial" pitchFamily="34" charset="0"/>
                        </a:rPr>
                        <a:t> nhất bé hơn</a:t>
                      </a:r>
                      <a:r>
                        <a:rPr lang="en-US" sz="2200">
                          <a:effectLst/>
                          <a:latin typeface="Arial" pitchFamily="34" charset="0"/>
                          <a:cs typeface="Arial" pitchFamily="34" charset="0"/>
                        </a:rPr>
                        <a:t> phần tử đã chỉ định hoặc null nếu</a:t>
                      </a:r>
                      <a:r>
                        <a:rPr lang="en-US" sz="2200" baseline="0">
                          <a:effectLst/>
                          <a:latin typeface="Arial" pitchFamily="34" charset="0"/>
                          <a:cs typeface="Arial" pitchFamily="34" charset="0"/>
                        </a:rPr>
                        <a:t> </a:t>
                      </a:r>
                      <a:r>
                        <a:rPr lang="en-US" sz="2200">
                          <a:effectLst/>
                          <a:latin typeface="Arial" pitchFamily="34" charset="0"/>
                          <a:cs typeface="Arial" pitchFamily="34" charset="0"/>
                        </a:rPr>
                        <a:t>không có</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1"/>
                  </a:ext>
                </a:extLst>
              </a:tr>
              <a:tr h="117110">
                <a:tc>
                  <a:txBody>
                    <a:bodyPr/>
                    <a:lstStyle/>
                    <a:p>
                      <a:pPr>
                        <a:lnSpc>
                          <a:spcPct val="115000"/>
                        </a:lnSpc>
                        <a:spcAft>
                          <a:spcPts val="0"/>
                        </a:spcAft>
                      </a:pPr>
                      <a:r>
                        <a:rPr lang="en-US" sz="2200">
                          <a:effectLst/>
                          <a:latin typeface="Arial" pitchFamily="34" charset="0"/>
                          <a:cs typeface="Arial" pitchFamily="34" charset="0"/>
                        </a:rPr>
                        <a:t>E pollFirst()</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Lấy và loại bỏ phần tử thấp nhất</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2"/>
                  </a:ext>
                </a:extLst>
              </a:tr>
              <a:tr h="117110">
                <a:tc>
                  <a:txBody>
                    <a:bodyPr/>
                    <a:lstStyle/>
                    <a:p>
                      <a:pPr>
                        <a:lnSpc>
                          <a:spcPct val="115000"/>
                        </a:lnSpc>
                        <a:spcAft>
                          <a:spcPts val="0"/>
                        </a:spcAft>
                      </a:pPr>
                      <a:r>
                        <a:rPr lang="en-US" sz="2200">
                          <a:effectLst/>
                          <a:latin typeface="Arial" pitchFamily="34" charset="0"/>
                          <a:cs typeface="Arial" pitchFamily="34" charset="0"/>
                        </a:rPr>
                        <a:t>E pollLast()</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Lấy và loại bỏ phần tử cao nhất</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3"/>
                  </a:ext>
                </a:extLst>
              </a:tr>
              <a:tr h="252919">
                <a:tc>
                  <a:txBody>
                    <a:bodyPr/>
                    <a:lstStyle/>
                    <a:p>
                      <a:pPr>
                        <a:lnSpc>
                          <a:spcPct val="115000"/>
                        </a:lnSpc>
                        <a:spcAft>
                          <a:spcPts val="0"/>
                        </a:spcAft>
                      </a:pPr>
                      <a:r>
                        <a:rPr lang="en-US" sz="2200">
                          <a:effectLst/>
                          <a:latin typeface="Arial" pitchFamily="34" charset="0"/>
                          <a:cs typeface="Arial" pitchFamily="34" charset="0"/>
                        </a:rPr>
                        <a:t>NavigableSet subSet(E fromElement, boolean fromInclusive, E toElement, boolean toInclusive)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một tập hợp các phần tử lớn</a:t>
                      </a:r>
                      <a:r>
                        <a:rPr lang="en-US" sz="2200" baseline="0">
                          <a:effectLst/>
                          <a:latin typeface="Arial" pitchFamily="34" charset="0"/>
                          <a:cs typeface="Arial" pitchFamily="34" charset="0"/>
                        </a:rPr>
                        <a:t> hơn (hoặc bằng </a:t>
                      </a:r>
                      <a:r>
                        <a:rPr lang="en-US" sz="2200">
                          <a:effectLst/>
                          <a:latin typeface="Arial" pitchFamily="34" charset="0"/>
                          <a:cs typeface="Arial" pitchFamily="34" charset="0"/>
                        </a:rPr>
                        <a:t>nếu</a:t>
                      </a:r>
                      <a:r>
                        <a:rPr lang="en-US" sz="2200" baseline="0">
                          <a:effectLst/>
                          <a:latin typeface="Arial" pitchFamily="34" charset="0"/>
                          <a:cs typeface="Arial" pitchFamily="34" charset="0"/>
                        </a:rPr>
                        <a:t> </a:t>
                      </a:r>
                      <a:r>
                        <a:rPr lang="en-US" sz="2200">
                          <a:effectLst/>
                          <a:latin typeface="Arial" pitchFamily="34" charset="0"/>
                          <a:cs typeface="Arial" pitchFamily="34" charset="0"/>
                        </a:rPr>
                        <a:t>fromInclusive = true</a:t>
                      </a:r>
                      <a:r>
                        <a:rPr lang="en-US" sz="2200" baseline="0">
                          <a:effectLst/>
                          <a:latin typeface="Arial" pitchFamily="34" charset="0"/>
                          <a:cs typeface="Arial" pitchFamily="34" charset="0"/>
                        </a:rPr>
                        <a:t>) </a:t>
                      </a:r>
                      <a:r>
                        <a:rPr lang="en-US" sz="2200">
                          <a:effectLst/>
                          <a:latin typeface="Arial" pitchFamily="34" charset="0"/>
                          <a:cs typeface="Arial" pitchFamily="34" charset="0"/>
                        </a:rPr>
                        <a:t>fromElement và</a:t>
                      </a:r>
                      <a:r>
                        <a:rPr lang="en-US" sz="2200" baseline="0">
                          <a:effectLst/>
                          <a:latin typeface="Arial" pitchFamily="34" charset="0"/>
                          <a:cs typeface="Arial" pitchFamily="34" charset="0"/>
                        </a:rPr>
                        <a:t> nhỏ hơn (hoặc bằng nếu </a:t>
                      </a:r>
                      <a:r>
                        <a:rPr lang="en-US" sz="2200">
                          <a:effectLst/>
                          <a:latin typeface="Arial" pitchFamily="34" charset="0"/>
                          <a:cs typeface="Arial" pitchFamily="34" charset="0"/>
                        </a:rPr>
                        <a:t>toInclusive là</a:t>
                      </a:r>
                      <a:r>
                        <a:rPr lang="en-US" sz="2200" baseline="0">
                          <a:effectLst/>
                          <a:latin typeface="Arial" pitchFamily="34" charset="0"/>
                          <a:cs typeface="Arial" pitchFamily="34" charset="0"/>
                        </a:rPr>
                        <a:t> true)</a:t>
                      </a:r>
                      <a:r>
                        <a:rPr lang="en-US" sz="2200">
                          <a:effectLst/>
                          <a:latin typeface="Arial" pitchFamily="34" charset="0"/>
                          <a:cs typeface="Arial" pitchFamily="34" charset="0"/>
                        </a:rPr>
                        <a:t> toElement</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4"/>
                  </a:ext>
                </a:extLst>
              </a:tr>
              <a:tr h="185014">
                <a:tc>
                  <a:txBody>
                    <a:bodyPr/>
                    <a:lstStyle/>
                    <a:p>
                      <a:pPr>
                        <a:lnSpc>
                          <a:spcPct val="115000"/>
                        </a:lnSpc>
                        <a:spcAft>
                          <a:spcPts val="0"/>
                        </a:spcAft>
                      </a:pPr>
                      <a:r>
                        <a:rPr lang="en-US" sz="2200">
                          <a:effectLst/>
                          <a:latin typeface="Arial" pitchFamily="34" charset="0"/>
                          <a:cs typeface="Arial" pitchFamily="34" charset="0"/>
                        </a:rPr>
                        <a:t>SortedSet subSet(E fromElement, E toElement))</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một tập hợp các phần tử lớn</a:t>
                      </a:r>
                      <a:r>
                        <a:rPr lang="en-US" sz="2200" baseline="0">
                          <a:effectLst/>
                          <a:latin typeface="Arial" pitchFamily="34" charset="0"/>
                          <a:cs typeface="Arial" pitchFamily="34" charset="0"/>
                        </a:rPr>
                        <a:t> hơn</a:t>
                      </a:r>
                      <a:r>
                        <a:rPr lang="en-US" sz="2200">
                          <a:effectLst/>
                          <a:latin typeface="Arial" pitchFamily="34" charset="0"/>
                          <a:cs typeface="Arial" pitchFamily="34" charset="0"/>
                        </a:rPr>
                        <a:t> fromElement và</a:t>
                      </a:r>
                      <a:r>
                        <a:rPr lang="en-US" sz="2200" baseline="0">
                          <a:effectLst/>
                          <a:latin typeface="Arial" pitchFamily="34" charset="0"/>
                          <a:cs typeface="Arial" pitchFamily="34" charset="0"/>
                        </a:rPr>
                        <a:t> nhỏ hơn</a:t>
                      </a:r>
                      <a:r>
                        <a:rPr lang="en-US" sz="2200">
                          <a:effectLst/>
                          <a:latin typeface="Arial" pitchFamily="34" charset="0"/>
                          <a:cs typeface="Arial" pitchFamily="34" charset="0"/>
                        </a:rPr>
                        <a:t> toElement</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4991539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63562"/>
          </a:xfrm>
        </p:spPr>
        <p:txBody>
          <a:bodyPr>
            <a:normAutofit fontScale="90000"/>
          </a:bodyPr>
          <a:lstStyle/>
          <a:p>
            <a:r>
              <a:rPr lang="en-US"/>
              <a:t>Phương thức (4)</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47751786"/>
              </p:ext>
            </p:extLst>
          </p:nvPr>
        </p:nvGraphicFramePr>
        <p:xfrm>
          <a:off x="228601" y="685800"/>
          <a:ext cx="8762999" cy="5767052"/>
        </p:xfrm>
        <a:graphic>
          <a:graphicData uri="http://schemas.openxmlformats.org/drawingml/2006/table">
            <a:tbl>
              <a:tblPr firstRow="1" firstCol="1" bandRow="1">
                <a:tableStyleId>{5C22544A-7EE6-4342-B048-85BDC9FD1C3A}</a:tableStyleId>
              </a:tblPr>
              <a:tblGrid>
                <a:gridCol w="4198745">
                  <a:extLst>
                    <a:ext uri="{9D8B030D-6E8A-4147-A177-3AD203B41FA5}">
                      <a16:colId xmlns:a16="http://schemas.microsoft.com/office/drawing/2014/main" val="20000"/>
                    </a:ext>
                  </a:extLst>
                </a:gridCol>
                <a:gridCol w="4564254">
                  <a:extLst>
                    <a:ext uri="{9D8B030D-6E8A-4147-A177-3AD203B41FA5}">
                      <a16:colId xmlns:a16="http://schemas.microsoft.com/office/drawing/2014/main" val="20001"/>
                    </a:ext>
                  </a:extLst>
                </a:gridCol>
              </a:tblGrid>
              <a:tr h="141713">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6904" marR="36904" marT="36904" marB="36904"/>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6904" marR="36904" marT="36904" marB="36904"/>
                </a:tc>
                <a:extLst>
                  <a:ext uri="{0D108BD9-81ED-4DB2-BD59-A6C34878D82A}">
                    <a16:rowId xmlns:a16="http://schemas.microsoft.com/office/drawing/2014/main" val="10000"/>
                  </a:ext>
                </a:extLst>
              </a:tr>
              <a:tr h="185014">
                <a:tc>
                  <a:txBody>
                    <a:bodyPr/>
                    <a:lstStyle/>
                    <a:p>
                      <a:pPr>
                        <a:lnSpc>
                          <a:spcPct val="115000"/>
                        </a:lnSpc>
                        <a:spcAft>
                          <a:spcPts val="0"/>
                        </a:spcAft>
                      </a:pPr>
                      <a:r>
                        <a:rPr lang="en-US" sz="2200">
                          <a:effectLst/>
                          <a:latin typeface="Arial" pitchFamily="34" charset="0"/>
                          <a:cs typeface="Arial" pitchFamily="34" charset="0"/>
                        </a:rPr>
                        <a:t>SortedSet tailSet(E fromElement)</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một tập hợp các phần tử lớn hơn hoặc bằng phần tử đã chỉ định</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1"/>
                  </a:ext>
                </a:extLst>
              </a:tr>
              <a:tr h="185014">
                <a:tc>
                  <a:txBody>
                    <a:bodyPr/>
                    <a:lstStyle/>
                    <a:p>
                      <a:pPr>
                        <a:lnSpc>
                          <a:spcPct val="115000"/>
                        </a:lnSpc>
                        <a:spcAft>
                          <a:spcPts val="0"/>
                        </a:spcAft>
                      </a:pPr>
                      <a:r>
                        <a:rPr lang="en-US" sz="2200">
                          <a:effectLst/>
                          <a:latin typeface="Arial" pitchFamily="34" charset="0"/>
                          <a:cs typeface="Arial" pitchFamily="34" charset="0"/>
                        </a:rPr>
                        <a:t>NavigableSet tailSet(E fromElement, boolean inclusive)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một tập hợp các phần tử lớn hơn (hoặc bằng nếu inclusive là true) phần tử được chỉ định</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2"/>
                  </a:ext>
                </a:extLst>
              </a:tr>
              <a:tr h="117110">
                <a:tc>
                  <a:txBody>
                    <a:bodyPr/>
                    <a:lstStyle/>
                    <a:p>
                      <a:pPr>
                        <a:lnSpc>
                          <a:spcPct val="115000"/>
                        </a:lnSpc>
                        <a:spcAft>
                          <a:spcPts val="0"/>
                        </a:spcAft>
                      </a:pPr>
                      <a:r>
                        <a:rPr lang="en-US" sz="2200">
                          <a:effectLst/>
                          <a:latin typeface="Arial" pitchFamily="34" charset="0"/>
                          <a:cs typeface="Arial" pitchFamily="34" charset="0"/>
                        </a:rPr>
                        <a:t>boolean contains(Object o)</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true nếu tập này chứa phần tử được chỉ định</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3"/>
                  </a:ext>
                </a:extLst>
              </a:tr>
              <a:tr h="117110">
                <a:tc>
                  <a:txBody>
                    <a:bodyPr/>
                    <a:lstStyle/>
                    <a:p>
                      <a:pPr>
                        <a:lnSpc>
                          <a:spcPct val="115000"/>
                        </a:lnSpc>
                        <a:spcAft>
                          <a:spcPts val="0"/>
                        </a:spcAft>
                      </a:pPr>
                      <a:r>
                        <a:rPr lang="en-US" sz="2200">
                          <a:effectLst/>
                          <a:latin typeface="Arial" pitchFamily="34" charset="0"/>
                          <a:cs typeface="Arial" pitchFamily="34" charset="0"/>
                        </a:rPr>
                        <a:t>boolean isEmpty()</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true nếu tập này không chứa phần tử</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4"/>
                  </a:ext>
                </a:extLst>
              </a:tr>
              <a:tr h="185014">
                <a:tc>
                  <a:txBody>
                    <a:bodyPr/>
                    <a:lstStyle/>
                    <a:p>
                      <a:pPr>
                        <a:lnSpc>
                          <a:spcPct val="115000"/>
                        </a:lnSpc>
                        <a:spcAft>
                          <a:spcPts val="0"/>
                        </a:spcAft>
                      </a:pPr>
                      <a:r>
                        <a:rPr lang="en-US" sz="2200">
                          <a:effectLst/>
                          <a:latin typeface="Arial" pitchFamily="34" charset="0"/>
                          <a:cs typeface="Arial" pitchFamily="34" charset="0"/>
                        </a:rPr>
                        <a:t>boolean remove(Object o)</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Loại bỏ phần tử được chỉ định khỏi tập này nếu nó có mặt</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5"/>
                  </a:ext>
                </a:extLst>
              </a:tr>
              <a:tr h="117110">
                <a:tc>
                  <a:txBody>
                    <a:bodyPr/>
                    <a:lstStyle/>
                    <a:p>
                      <a:pPr>
                        <a:lnSpc>
                          <a:spcPct val="115000"/>
                        </a:lnSpc>
                        <a:spcAft>
                          <a:spcPts val="0"/>
                        </a:spcAft>
                      </a:pPr>
                      <a:r>
                        <a:rPr lang="en-US" sz="2200">
                          <a:effectLst/>
                          <a:latin typeface="Arial" pitchFamily="34" charset="0"/>
                          <a:cs typeface="Arial" pitchFamily="34" charset="0"/>
                        </a:rPr>
                        <a:t>void clear()</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Loại bỏ tất cả các phần tử khỏi tập này</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0335034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563562"/>
          </a:xfrm>
        </p:spPr>
        <p:txBody>
          <a:bodyPr>
            <a:normAutofit fontScale="90000"/>
          </a:bodyPr>
          <a:lstStyle/>
          <a:p>
            <a:r>
              <a:rPr lang="en-US"/>
              <a:t>Phương thức (5)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63568428"/>
              </p:ext>
            </p:extLst>
          </p:nvPr>
        </p:nvGraphicFramePr>
        <p:xfrm>
          <a:off x="228601" y="1212220"/>
          <a:ext cx="8762999" cy="3740780"/>
        </p:xfrm>
        <a:graphic>
          <a:graphicData uri="http://schemas.openxmlformats.org/drawingml/2006/table">
            <a:tbl>
              <a:tblPr firstRow="1" firstCol="1" bandRow="1">
                <a:tableStyleId>{5C22544A-7EE6-4342-B048-85BDC9FD1C3A}</a:tableStyleId>
              </a:tblPr>
              <a:tblGrid>
                <a:gridCol w="4198745">
                  <a:extLst>
                    <a:ext uri="{9D8B030D-6E8A-4147-A177-3AD203B41FA5}">
                      <a16:colId xmlns:a16="http://schemas.microsoft.com/office/drawing/2014/main" val="20000"/>
                    </a:ext>
                  </a:extLst>
                </a:gridCol>
                <a:gridCol w="4564254">
                  <a:extLst>
                    <a:ext uri="{9D8B030D-6E8A-4147-A177-3AD203B41FA5}">
                      <a16:colId xmlns:a16="http://schemas.microsoft.com/office/drawing/2014/main" val="20001"/>
                    </a:ext>
                  </a:extLst>
                </a:gridCol>
              </a:tblGrid>
              <a:tr h="141713">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6904" marR="36904" marT="36904" marB="36904"/>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6904" marR="36904" marT="36904" marB="36904"/>
                </a:tc>
                <a:extLst>
                  <a:ext uri="{0D108BD9-81ED-4DB2-BD59-A6C34878D82A}">
                    <a16:rowId xmlns:a16="http://schemas.microsoft.com/office/drawing/2014/main" val="10000"/>
                  </a:ext>
                </a:extLst>
              </a:tr>
              <a:tr h="117110">
                <a:tc>
                  <a:txBody>
                    <a:bodyPr/>
                    <a:lstStyle/>
                    <a:p>
                      <a:pPr>
                        <a:lnSpc>
                          <a:spcPct val="115000"/>
                        </a:lnSpc>
                        <a:spcAft>
                          <a:spcPts val="0"/>
                        </a:spcAft>
                      </a:pPr>
                      <a:r>
                        <a:rPr lang="en-US" sz="2200">
                          <a:effectLst/>
                          <a:latin typeface="Arial" pitchFamily="34" charset="0"/>
                          <a:cs typeface="Arial" pitchFamily="34" charset="0"/>
                        </a:rPr>
                        <a:t>Object clone()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một bản sao nông của thể hiện TreeSet này</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1"/>
                  </a:ext>
                </a:extLst>
              </a:tr>
              <a:tr h="185014">
                <a:tc>
                  <a:txBody>
                    <a:bodyPr/>
                    <a:lstStyle/>
                    <a:p>
                      <a:pPr>
                        <a:lnSpc>
                          <a:spcPct val="115000"/>
                        </a:lnSpc>
                        <a:spcAft>
                          <a:spcPts val="0"/>
                        </a:spcAft>
                      </a:pPr>
                      <a:r>
                        <a:rPr lang="en-US" sz="2200">
                          <a:effectLst/>
                          <a:latin typeface="Arial" pitchFamily="34" charset="0"/>
                          <a:cs typeface="Arial" pitchFamily="34" charset="0"/>
                        </a:rPr>
                        <a:t>E first()</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phần tử đầu tiên (thấp nhất) hiện tại trong bộ được sắp xếp này</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2"/>
                  </a:ext>
                </a:extLst>
              </a:tr>
              <a:tr h="185014">
                <a:tc>
                  <a:txBody>
                    <a:bodyPr/>
                    <a:lstStyle/>
                    <a:p>
                      <a:pPr>
                        <a:lnSpc>
                          <a:spcPct val="115000"/>
                        </a:lnSpc>
                        <a:spcAft>
                          <a:spcPts val="0"/>
                        </a:spcAft>
                      </a:pPr>
                      <a:r>
                        <a:rPr lang="en-US" sz="2200">
                          <a:effectLst/>
                          <a:latin typeface="Arial" pitchFamily="34" charset="0"/>
                          <a:cs typeface="Arial" pitchFamily="34" charset="0"/>
                        </a:rPr>
                        <a:t>E last()</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phần tử cuối cùng (cao nhất) hiện tại trong tập được sắp xếp này</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3"/>
                  </a:ext>
                </a:extLst>
              </a:tr>
              <a:tr h="117110">
                <a:tc>
                  <a:txBody>
                    <a:bodyPr/>
                    <a:lstStyle/>
                    <a:p>
                      <a:pPr>
                        <a:lnSpc>
                          <a:spcPct val="115000"/>
                        </a:lnSpc>
                        <a:spcAft>
                          <a:spcPts val="0"/>
                        </a:spcAft>
                      </a:pPr>
                      <a:r>
                        <a:rPr lang="en-US" sz="2200">
                          <a:effectLst/>
                          <a:latin typeface="Arial" pitchFamily="34" charset="0"/>
                          <a:cs typeface="Arial" pitchFamily="34" charset="0"/>
                        </a:rPr>
                        <a:t>int size()</a:t>
                      </a:r>
                      <a:endParaRPr lang="en-US" sz="2200">
                        <a:effectLst/>
                        <a:latin typeface="Arial" pitchFamily="34" charset="0"/>
                        <a:ea typeface="Calibri"/>
                        <a:cs typeface="Arial" pitchFamily="34" charset="0"/>
                      </a:endParaRPr>
                    </a:p>
                  </a:txBody>
                  <a:tcPr marL="24603" marR="24603" marT="24603" marB="24603"/>
                </a:tc>
                <a:tc>
                  <a:txBody>
                    <a:bodyPr/>
                    <a:lstStyle/>
                    <a:p>
                      <a:pPr>
                        <a:lnSpc>
                          <a:spcPct val="115000"/>
                        </a:lnSpc>
                        <a:spcAft>
                          <a:spcPts val="0"/>
                        </a:spcAft>
                      </a:pPr>
                      <a:r>
                        <a:rPr lang="en-US" sz="2200">
                          <a:effectLst/>
                          <a:latin typeface="Arial" pitchFamily="34" charset="0"/>
                          <a:cs typeface="Arial" pitchFamily="34" charset="0"/>
                        </a:rPr>
                        <a:t>Trả về số lượng phần tử trong tập này</a:t>
                      </a:r>
                      <a:endParaRPr lang="en-US" sz="2200">
                        <a:solidFill>
                          <a:srgbClr val="000000"/>
                        </a:solidFill>
                        <a:effectLst/>
                        <a:latin typeface="Arial" pitchFamily="34" charset="0"/>
                        <a:ea typeface="Calibri"/>
                        <a:cs typeface="Arial" pitchFamily="34" charset="0"/>
                      </a:endParaRPr>
                    </a:p>
                  </a:txBody>
                  <a:tcPr marL="24603" marR="24603" marT="24603" marB="24603"/>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654129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TreeSet - Ví dụ 1</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09800"/>
            <a:ext cx="8896077"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220965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TreeSet - Ví dụ 2</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371600"/>
            <a:ext cx="7402635"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28187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TreeSet - Ví dụ 3 (1)</a:t>
            </a:r>
          </a:p>
        </p:txBody>
      </p:sp>
      <p:sp>
        <p:nvSpPr>
          <p:cNvPr id="3" name="Content Placeholder 2"/>
          <p:cNvSpPr>
            <a:spLocks noGrp="1"/>
          </p:cNvSpPr>
          <p:nvPr>
            <p:ph idx="1"/>
          </p:nvPr>
        </p:nvSpPr>
        <p:spPr/>
        <p:txBody>
          <a:bodyPr/>
          <a:lstStyle/>
          <a:p>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8776322"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395823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TreeSet - Ví dụ 3 (2)</a:t>
            </a:r>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305050"/>
            <a:ext cx="8906792"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781731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TreeSet - Ví dụ 3 (3)</a:t>
            </a:r>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199"/>
            <a:ext cx="8763000" cy="5092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748356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Nội dung chương 4</a:t>
            </a:r>
          </a:p>
        </p:txBody>
      </p:sp>
      <p:sp>
        <p:nvSpPr>
          <p:cNvPr id="4" name="Freeform 3"/>
          <p:cNvSpPr/>
          <p:nvPr/>
        </p:nvSpPr>
        <p:spPr>
          <a:xfrm>
            <a:off x="459185"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0" bIns="905193" numCol="1" spcCol="1270" anchor="ctr" anchorCtr="0">
            <a:noAutofit/>
          </a:bodyPr>
          <a:lstStyle/>
          <a:p>
            <a:pPr lvl="0" algn="ctr" defTabSz="2133600">
              <a:lnSpc>
                <a:spcPct val="90000"/>
              </a:lnSpc>
              <a:spcBef>
                <a:spcPct val="0"/>
              </a:spcBef>
              <a:spcAft>
                <a:spcPct val="35000"/>
              </a:spcAft>
            </a:pPr>
            <a:r>
              <a:rPr lang="en-US" sz="4800" kern="1200"/>
              <a:t>4.1. LIST</a:t>
            </a:r>
          </a:p>
        </p:txBody>
      </p:sp>
      <p:sp>
        <p:nvSpPr>
          <p:cNvPr id="5" name="Freeform 4"/>
          <p:cNvSpPr/>
          <p:nvPr/>
        </p:nvSpPr>
        <p:spPr>
          <a:xfrm>
            <a:off x="2552096" y="1600199"/>
            <a:ext cx="1946896"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1" bIns="905193" numCol="1" spcCol="1270" anchor="ctr" anchorCtr="0">
            <a:noAutofit/>
          </a:bodyPr>
          <a:lstStyle/>
          <a:p>
            <a:pPr lvl="0" algn="ctr" defTabSz="2133600">
              <a:lnSpc>
                <a:spcPct val="90000"/>
              </a:lnSpc>
              <a:spcBef>
                <a:spcPct val="0"/>
              </a:spcBef>
              <a:spcAft>
                <a:spcPct val="35000"/>
              </a:spcAft>
            </a:pPr>
            <a:r>
              <a:rPr lang="en-US" sz="4800" kern="1200"/>
              <a:t>4.2. SET</a:t>
            </a:r>
          </a:p>
        </p:txBody>
      </p:sp>
      <p:sp>
        <p:nvSpPr>
          <p:cNvPr id="6" name="Freeform 5"/>
          <p:cNvSpPr/>
          <p:nvPr/>
        </p:nvSpPr>
        <p:spPr>
          <a:xfrm>
            <a:off x="4645008"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0" bIns="905193" numCol="1" spcCol="1270" anchor="ctr" anchorCtr="0">
            <a:noAutofit/>
          </a:bodyPr>
          <a:lstStyle/>
          <a:p>
            <a:pPr lvl="0" algn="ctr" defTabSz="2133600">
              <a:lnSpc>
                <a:spcPct val="90000"/>
              </a:lnSpc>
              <a:spcBef>
                <a:spcPct val="0"/>
              </a:spcBef>
              <a:spcAft>
                <a:spcPct val="35000"/>
              </a:spcAft>
            </a:pPr>
            <a:r>
              <a:rPr lang="en-US" sz="4800" kern="1200"/>
              <a:t>4.3. MAP</a:t>
            </a:r>
          </a:p>
        </p:txBody>
      </p:sp>
      <p:sp>
        <p:nvSpPr>
          <p:cNvPr id="8" name="Freeform 7"/>
          <p:cNvSpPr/>
          <p:nvPr/>
        </p:nvSpPr>
        <p:spPr>
          <a:xfrm>
            <a:off x="6737920"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5594" bIns="905193" numCol="1" spcCol="1270" anchor="ctr" anchorCtr="0">
            <a:noAutofit/>
          </a:bodyPr>
          <a:lstStyle/>
          <a:p>
            <a:pPr lvl="0" algn="ctr" defTabSz="2133600">
              <a:lnSpc>
                <a:spcPct val="90000"/>
              </a:lnSpc>
              <a:spcBef>
                <a:spcPct val="0"/>
              </a:spcBef>
              <a:spcAft>
                <a:spcPct val="35000"/>
              </a:spcAft>
            </a:pPr>
            <a:r>
              <a:rPr lang="en-US" sz="4800" kern="1200"/>
              <a:t>4.4. Lớp tổng quát</a:t>
            </a:r>
          </a:p>
        </p:txBody>
      </p:sp>
    </p:spTree>
    <p:extLst>
      <p:ext uri="{BB962C8B-B14F-4D97-AF65-F5344CB8AC3E}">
        <p14:creationId xmlns:p14="http://schemas.microsoft.com/office/powerpoint/2010/main" val="2276144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 MAP</a:t>
            </a:r>
          </a:p>
        </p:txBody>
      </p:sp>
      <p:sp>
        <p:nvSpPr>
          <p:cNvPr id="3" name="Content Placeholder 2"/>
          <p:cNvSpPr>
            <a:spLocks noGrp="1"/>
          </p:cNvSpPr>
          <p:nvPr>
            <p:ph idx="1"/>
          </p:nvPr>
        </p:nvSpPr>
        <p:spPr/>
        <p:txBody>
          <a:bodyPr>
            <a:normAutofit fontScale="92500" lnSpcReduction="10000"/>
          </a:bodyPr>
          <a:lstStyle/>
          <a:p>
            <a:r>
              <a:rPr lang="en-US"/>
              <a:t>Là tập các cặp khóa-giá trị (key-value) và </a:t>
            </a:r>
          </a:p>
          <a:p>
            <a:pPr marL="0" indent="0">
              <a:buNone/>
            </a:pPr>
            <a:r>
              <a:rPr lang="en-US"/>
              <a:t>không cho phép khóa lặp lại</a:t>
            </a:r>
          </a:p>
          <a:p>
            <a:pPr lvl="0"/>
            <a:r>
              <a:rPr lang="en-US"/>
              <a:t>Một map không thể có các key trùng lặp nhưng có thể có các value trùng lặp</a:t>
            </a:r>
          </a:p>
          <a:p>
            <a:r>
              <a:rPr lang="en-US"/>
              <a:t>Mỗi key được liên kết tối đa với một value</a:t>
            </a:r>
          </a:p>
          <a:p>
            <a:r>
              <a:rPr lang="en-US"/>
              <a:t>Mỗi cặp key - value của map được lưu trữ dưới dạng các đối tượng Map.Entry</a:t>
            </a:r>
          </a:p>
          <a:p>
            <a:r>
              <a:rPr lang="en-US"/>
              <a:t>Các thực thi của giao diện Map là HashMap, LinkedHashMap, TreeMap và HashTable</a:t>
            </a:r>
          </a:p>
          <a:p>
            <a:pPr lvl="0"/>
            <a:endParaRPr lang="en-US"/>
          </a:p>
        </p:txBody>
      </p:sp>
    </p:spTree>
    <p:extLst>
      <p:ext uri="{BB962C8B-B14F-4D97-AF65-F5344CB8AC3E}">
        <p14:creationId xmlns:p14="http://schemas.microsoft.com/office/powerpoint/2010/main" val="98299518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 MAP (tiếp)</a:t>
            </a:r>
          </a:p>
        </p:txBody>
      </p:sp>
      <p:sp>
        <p:nvSpPr>
          <p:cNvPr id="3" name="Content Placeholder 2"/>
          <p:cNvSpPr>
            <a:spLocks noGrp="1"/>
          </p:cNvSpPr>
          <p:nvPr>
            <p:ph idx="1"/>
          </p:nvPr>
        </p:nvSpPr>
        <p:spPr/>
        <p:txBody>
          <a:bodyPr/>
          <a:lstStyle/>
          <a:p>
            <a:r>
              <a:rPr lang="en-US"/>
              <a:t>Thứ tự các phần tử trong map tùy thuộc vào thực thi</a:t>
            </a:r>
          </a:p>
          <a:p>
            <a:pPr lvl="1"/>
            <a:r>
              <a:rPr lang="en-US"/>
              <a:t>HashMap không duy trì thứ tự các phần tử</a:t>
            </a:r>
          </a:p>
          <a:p>
            <a:pPr lvl="1"/>
            <a:r>
              <a:rPr lang="en-US"/>
              <a:t>LinkedHashMap duy trì trật tự chèn các phần tử</a:t>
            </a:r>
          </a:p>
          <a:p>
            <a:pPr lvl="1"/>
            <a:r>
              <a:rPr lang="en-US"/>
              <a:t>TreeMap đặt các phần tử theo Comparator được chỉ định</a:t>
            </a:r>
          </a:p>
        </p:txBody>
      </p:sp>
    </p:spTree>
    <p:extLst>
      <p:ext uri="{BB962C8B-B14F-4D97-AF65-F5344CB8AC3E}">
        <p14:creationId xmlns:p14="http://schemas.microsoft.com/office/powerpoint/2010/main" val="164654076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a:t>Các phương thức giao diện Map</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41904108"/>
              </p:ext>
            </p:extLst>
          </p:nvPr>
        </p:nvGraphicFramePr>
        <p:xfrm>
          <a:off x="228600" y="762000"/>
          <a:ext cx="8763000" cy="6096660"/>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5410200">
                  <a:extLst>
                    <a:ext uri="{9D8B030D-6E8A-4147-A177-3AD203B41FA5}">
                      <a16:colId xmlns:a16="http://schemas.microsoft.com/office/drawing/2014/main" val="20002"/>
                    </a:ext>
                  </a:extLst>
                </a:gridCol>
              </a:tblGrid>
              <a:tr h="207489">
                <a:tc>
                  <a:txBody>
                    <a:bodyPr/>
                    <a:lstStyle/>
                    <a:p>
                      <a:pPr>
                        <a:lnSpc>
                          <a:spcPct val="100000"/>
                        </a:lnSpc>
                        <a:spcAft>
                          <a:spcPts val="0"/>
                        </a:spcAft>
                      </a:pPr>
                      <a:r>
                        <a:rPr lang="en-US" sz="2400">
                          <a:effectLst/>
                          <a:latin typeface="Times New Roman" pitchFamily="18" charset="0"/>
                          <a:cs typeface="Times New Roman" pitchFamily="18" charset="0"/>
                        </a:rPr>
                        <a:t>STT</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Phương thức</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Mô tả</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0"/>
                  </a:ext>
                </a:extLst>
              </a:tr>
              <a:tr h="207489">
                <a:tc>
                  <a:txBody>
                    <a:bodyPr/>
                    <a:lstStyle/>
                    <a:p>
                      <a:pPr algn="ctr">
                        <a:lnSpc>
                          <a:spcPct val="100000"/>
                        </a:lnSpc>
                        <a:spcAft>
                          <a:spcPts val="0"/>
                        </a:spcAft>
                      </a:pPr>
                      <a:r>
                        <a:rPr lang="en-US" sz="2400">
                          <a:effectLst/>
                          <a:latin typeface="Times New Roman" pitchFamily="18" charset="0"/>
                          <a:cs typeface="Times New Roman" pitchFamily="18" charset="0"/>
                        </a:rPr>
                        <a:t>1</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int size()</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Trả về số cặp key – value trong map</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1"/>
                  </a:ext>
                </a:extLst>
              </a:tr>
              <a:tr h="207489">
                <a:tc>
                  <a:txBody>
                    <a:bodyPr/>
                    <a:lstStyle/>
                    <a:p>
                      <a:pPr algn="ctr">
                        <a:lnSpc>
                          <a:spcPct val="100000"/>
                        </a:lnSpc>
                        <a:spcAft>
                          <a:spcPts val="0"/>
                        </a:spcAft>
                      </a:pPr>
                      <a:r>
                        <a:rPr lang="en-US" sz="2400">
                          <a:effectLst/>
                          <a:latin typeface="Times New Roman" pitchFamily="18" charset="0"/>
                          <a:cs typeface="Times New Roman" pitchFamily="18" charset="0"/>
                        </a:rPr>
                        <a:t>2</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boolean isEmpty ()</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Kiểm tra xem map này có trống hay không</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2"/>
                  </a:ext>
                </a:extLst>
              </a:tr>
              <a:tr h="327798">
                <a:tc>
                  <a:txBody>
                    <a:bodyPr/>
                    <a:lstStyle/>
                    <a:p>
                      <a:pPr algn="ctr">
                        <a:lnSpc>
                          <a:spcPct val="100000"/>
                        </a:lnSpc>
                        <a:spcAft>
                          <a:spcPts val="0"/>
                        </a:spcAft>
                      </a:pPr>
                      <a:r>
                        <a:rPr lang="en-US" sz="2400">
                          <a:effectLst/>
                          <a:latin typeface="Times New Roman" pitchFamily="18" charset="0"/>
                          <a:cs typeface="Times New Roman" pitchFamily="18" charset="0"/>
                        </a:rPr>
                        <a:t>3</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boolean containsKey(Object key)</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Trả về true nếu map chứa ánh xạ cho khóa được chỉ định.</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3"/>
                  </a:ext>
                </a:extLst>
              </a:tr>
              <a:tr h="327798">
                <a:tc>
                  <a:txBody>
                    <a:bodyPr/>
                    <a:lstStyle/>
                    <a:p>
                      <a:pPr algn="ctr">
                        <a:lnSpc>
                          <a:spcPct val="100000"/>
                        </a:lnSpc>
                        <a:spcAft>
                          <a:spcPts val="0"/>
                        </a:spcAft>
                      </a:pPr>
                      <a:r>
                        <a:rPr lang="en-US" sz="2400">
                          <a:effectLst/>
                          <a:latin typeface="Times New Roman" pitchFamily="18" charset="0"/>
                          <a:cs typeface="Times New Roman" pitchFamily="18" charset="0"/>
                        </a:rPr>
                        <a:t>4</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boolean containsValue(Object value)</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Trả về true nếu map chứa một hoặc nhiều key được liên kết với giá trị được chỉ định</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4"/>
                  </a:ext>
                </a:extLst>
              </a:tr>
              <a:tr h="207489">
                <a:tc>
                  <a:txBody>
                    <a:bodyPr/>
                    <a:lstStyle/>
                    <a:p>
                      <a:pPr algn="ctr">
                        <a:lnSpc>
                          <a:spcPct val="100000"/>
                        </a:lnSpc>
                        <a:spcAft>
                          <a:spcPts val="0"/>
                        </a:spcAft>
                      </a:pPr>
                      <a:r>
                        <a:rPr lang="en-US" sz="2400">
                          <a:effectLst/>
                          <a:latin typeface="Times New Roman" pitchFamily="18" charset="0"/>
                          <a:cs typeface="Times New Roman" pitchFamily="18" charset="0"/>
                        </a:rPr>
                        <a:t>5</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V get(Object key)</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Trả về value được liên kết với key được chỉ định</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5"/>
                  </a:ext>
                </a:extLst>
              </a:tr>
              <a:tr h="448107">
                <a:tc>
                  <a:txBody>
                    <a:bodyPr/>
                    <a:lstStyle/>
                    <a:p>
                      <a:pPr algn="ctr">
                        <a:lnSpc>
                          <a:spcPct val="100000"/>
                        </a:lnSpc>
                        <a:spcAft>
                          <a:spcPts val="0"/>
                        </a:spcAft>
                      </a:pPr>
                      <a:r>
                        <a:rPr lang="en-US" sz="2400">
                          <a:effectLst/>
                          <a:latin typeface="Times New Roman" pitchFamily="18" charset="0"/>
                          <a:cs typeface="Times New Roman" pitchFamily="18" charset="0"/>
                        </a:rPr>
                        <a:t>6</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V put(K key, V value)</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Thêm cặp key - value được chỉ định vào map. Nếu key được chỉ định đã tồn tại trong map, giá trị cũ sẽ được thay thế bằng giá trị được chỉ định</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4135901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17208985"/>
              </p:ext>
            </p:extLst>
          </p:nvPr>
        </p:nvGraphicFramePr>
        <p:xfrm>
          <a:off x="228600" y="533400"/>
          <a:ext cx="8763000" cy="6020735"/>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207489">
                <a:tc>
                  <a:txBody>
                    <a:bodyPr/>
                    <a:lstStyle/>
                    <a:p>
                      <a:pPr>
                        <a:lnSpc>
                          <a:spcPct val="100000"/>
                        </a:lnSpc>
                        <a:spcAft>
                          <a:spcPts val="0"/>
                        </a:spcAft>
                      </a:pPr>
                      <a:r>
                        <a:rPr lang="en-US" sz="2400">
                          <a:effectLst/>
                          <a:latin typeface="Times New Roman" pitchFamily="18" charset="0"/>
                          <a:cs typeface="Times New Roman" pitchFamily="18" charset="0"/>
                        </a:rPr>
                        <a:t>STT</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Phương thức</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Mô tả</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0"/>
                  </a:ext>
                </a:extLst>
              </a:tr>
              <a:tr h="327798">
                <a:tc>
                  <a:txBody>
                    <a:bodyPr/>
                    <a:lstStyle/>
                    <a:p>
                      <a:pPr algn="ctr">
                        <a:lnSpc>
                          <a:spcPct val="100000"/>
                        </a:lnSpc>
                        <a:spcAft>
                          <a:spcPts val="0"/>
                        </a:spcAft>
                      </a:pPr>
                      <a:r>
                        <a:rPr lang="en-US" sz="2400">
                          <a:effectLst/>
                          <a:latin typeface="Times New Roman" pitchFamily="18" charset="0"/>
                          <a:cs typeface="Times New Roman" pitchFamily="18" charset="0"/>
                        </a:rPr>
                        <a:t>7</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V remove(Object key)</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Xóa key được chỉ định cùng với value của nó khỏi map</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1"/>
                  </a:ext>
                </a:extLst>
              </a:tr>
              <a:tr h="327798">
                <a:tc>
                  <a:txBody>
                    <a:bodyPr/>
                    <a:lstStyle/>
                    <a:p>
                      <a:pPr algn="ctr">
                        <a:lnSpc>
                          <a:spcPct val="100000"/>
                        </a:lnSpc>
                        <a:spcAft>
                          <a:spcPts val="0"/>
                        </a:spcAft>
                      </a:pPr>
                      <a:r>
                        <a:rPr lang="en-US" sz="2400">
                          <a:effectLst/>
                          <a:latin typeface="Times New Roman" pitchFamily="18" charset="0"/>
                          <a:cs typeface="Times New Roman" pitchFamily="18" charset="0"/>
                        </a:rPr>
                        <a:t>8</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void putAll(Map&lt;? extends K, ? extends V&gt; m)</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Sao chép tất cả các cặp key - value trị từ map đã chỉ định vào map này</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2"/>
                  </a:ext>
                </a:extLst>
              </a:tr>
              <a:tr h="207489">
                <a:tc>
                  <a:txBody>
                    <a:bodyPr/>
                    <a:lstStyle/>
                    <a:p>
                      <a:pPr algn="ctr">
                        <a:lnSpc>
                          <a:spcPct val="100000"/>
                        </a:lnSpc>
                        <a:spcAft>
                          <a:spcPts val="0"/>
                        </a:spcAft>
                      </a:pPr>
                      <a:r>
                        <a:rPr lang="en-US" sz="2400">
                          <a:effectLst/>
                          <a:latin typeface="Times New Roman" pitchFamily="18" charset="0"/>
                          <a:cs typeface="Times New Roman" pitchFamily="18" charset="0"/>
                        </a:rPr>
                        <a:t>9</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void clear()</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Loại bỏ tất cả các ánh xạ từ map</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3"/>
                  </a:ext>
                </a:extLst>
              </a:tr>
              <a:tr h="568415">
                <a:tc>
                  <a:txBody>
                    <a:bodyPr/>
                    <a:lstStyle/>
                    <a:p>
                      <a:pPr algn="ctr">
                        <a:lnSpc>
                          <a:spcPct val="100000"/>
                        </a:lnSpc>
                        <a:spcAft>
                          <a:spcPts val="0"/>
                        </a:spcAft>
                      </a:pPr>
                      <a:r>
                        <a:rPr lang="en-US" sz="2400">
                          <a:effectLst/>
                          <a:latin typeface="Times New Roman" pitchFamily="18" charset="0"/>
                          <a:cs typeface="Times New Roman" pitchFamily="18" charset="0"/>
                        </a:rPr>
                        <a:t>10</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Set&lt;K&gt; keySet()</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Trả về một bộ chứa tất cả các key</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4"/>
                  </a:ext>
                </a:extLst>
              </a:tr>
              <a:tr h="568415">
                <a:tc>
                  <a:txBody>
                    <a:bodyPr/>
                    <a:lstStyle/>
                    <a:p>
                      <a:pPr algn="ctr">
                        <a:lnSpc>
                          <a:spcPct val="100000"/>
                        </a:lnSpc>
                        <a:spcAft>
                          <a:spcPts val="0"/>
                        </a:spcAft>
                      </a:pPr>
                      <a:r>
                        <a:rPr lang="en-US" sz="2400">
                          <a:effectLst/>
                          <a:latin typeface="Times New Roman" pitchFamily="18" charset="0"/>
                          <a:cs typeface="Times New Roman" pitchFamily="18" charset="0"/>
                        </a:rPr>
                        <a:t>11</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Collection&lt;V&gt; values()</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Trả về một tập hợp các value của map</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5"/>
                  </a:ext>
                </a:extLst>
              </a:tr>
              <a:tr h="297721">
                <a:tc>
                  <a:txBody>
                    <a:bodyPr/>
                    <a:lstStyle/>
                    <a:p>
                      <a:pPr algn="ctr">
                        <a:lnSpc>
                          <a:spcPct val="100000"/>
                        </a:lnSpc>
                        <a:spcAft>
                          <a:spcPts val="0"/>
                        </a:spcAft>
                      </a:pPr>
                      <a:r>
                        <a:rPr lang="en-US" sz="2400">
                          <a:effectLst/>
                          <a:latin typeface="Times New Roman" pitchFamily="18" charset="0"/>
                          <a:cs typeface="Times New Roman" pitchFamily="18" charset="0"/>
                        </a:rPr>
                        <a:t>12</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Set&lt;Map.Entry&lt;K, V&gt;&gt; entrySet()</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Trả về chế độ xem của ánh xạ có trong map</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6"/>
                  </a:ext>
                </a:extLst>
              </a:tr>
              <a:tr h="207489">
                <a:tc>
                  <a:txBody>
                    <a:bodyPr/>
                    <a:lstStyle/>
                    <a:p>
                      <a:pPr algn="ctr">
                        <a:lnSpc>
                          <a:spcPct val="100000"/>
                        </a:lnSpc>
                        <a:spcAft>
                          <a:spcPts val="0"/>
                        </a:spcAft>
                      </a:pPr>
                      <a:r>
                        <a:rPr lang="en-US" sz="2400">
                          <a:effectLst/>
                          <a:latin typeface="Times New Roman" pitchFamily="18" charset="0"/>
                          <a:cs typeface="Times New Roman" pitchFamily="18" charset="0"/>
                        </a:rPr>
                        <a:t>13</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boolean equals(Object o)</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So sánh đối tượng được chỉ định với map</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7"/>
                  </a:ext>
                </a:extLst>
              </a:tr>
              <a:tr h="207489">
                <a:tc>
                  <a:txBody>
                    <a:bodyPr/>
                    <a:lstStyle/>
                    <a:p>
                      <a:pPr algn="ctr">
                        <a:lnSpc>
                          <a:spcPct val="100000"/>
                        </a:lnSpc>
                        <a:spcAft>
                          <a:spcPts val="0"/>
                        </a:spcAft>
                      </a:pPr>
                      <a:r>
                        <a:rPr lang="en-US" sz="2400">
                          <a:effectLst/>
                          <a:latin typeface="Times New Roman" pitchFamily="18" charset="0"/>
                          <a:cs typeface="Times New Roman" pitchFamily="18" charset="0"/>
                        </a:rPr>
                        <a:t>14</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ctr"/>
                </a:tc>
                <a:tc>
                  <a:txBody>
                    <a:bodyPr/>
                    <a:lstStyle/>
                    <a:p>
                      <a:pPr>
                        <a:lnSpc>
                          <a:spcPct val="100000"/>
                        </a:lnSpc>
                        <a:spcAft>
                          <a:spcPts val="0"/>
                        </a:spcAft>
                      </a:pPr>
                      <a:r>
                        <a:rPr lang="en-US" sz="2400">
                          <a:effectLst/>
                          <a:latin typeface="Times New Roman" pitchFamily="18" charset="0"/>
                          <a:cs typeface="Times New Roman" pitchFamily="18" charset="0"/>
                        </a:rPr>
                        <a:t>int hashCode ()</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tc>
                  <a:txBody>
                    <a:bodyPr/>
                    <a:lstStyle/>
                    <a:p>
                      <a:pPr>
                        <a:lnSpc>
                          <a:spcPct val="100000"/>
                        </a:lnSpc>
                        <a:spcAft>
                          <a:spcPts val="0"/>
                        </a:spcAft>
                      </a:pPr>
                      <a:r>
                        <a:rPr lang="en-US" sz="2400">
                          <a:effectLst/>
                          <a:latin typeface="Times New Roman" pitchFamily="18" charset="0"/>
                          <a:cs typeface="Times New Roman" pitchFamily="18" charset="0"/>
                        </a:rPr>
                        <a:t>Trả về giá trị mã băm của map này</a:t>
                      </a:r>
                      <a:endParaRPr lang="en-US" sz="2400">
                        <a:solidFill>
                          <a:srgbClr val="000000"/>
                        </a:solidFill>
                        <a:effectLst/>
                        <a:latin typeface="Times New Roman" pitchFamily="18" charset="0"/>
                        <a:ea typeface="Calibri"/>
                        <a:cs typeface="Times New Roman" pitchFamily="18" charset="0"/>
                      </a:endParaRPr>
                    </a:p>
                  </a:txBody>
                  <a:tcPr marL="43590" marR="43590" marT="43590" marB="43590" anchor="b"/>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85368311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2062194388"/>
              </p:ext>
            </p:extLst>
          </p:nvPr>
        </p:nvGraphicFramePr>
        <p:xfrm>
          <a:off x="381000" y="762000"/>
          <a:ext cx="84582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616678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t>4.3.1. Lớp HashMap</a:t>
            </a:r>
          </a:p>
        </p:txBody>
      </p:sp>
      <p:sp>
        <p:nvSpPr>
          <p:cNvPr id="3" name="Content Placeholder 2"/>
          <p:cNvSpPr>
            <a:spLocks noGrp="1"/>
          </p:cNvSpPr>
          <p:nvPr>
            <p:ph idx="1"/>
          </p:nvPr>
        </p:nvSpPr>
        <p:spPr/>
        <p:txBody>
          <a:bodyPr>
            <a:normAutofit fontScale="85000" lnSpcReduction="20000"/>
          </a:bodyPr>
          <a:lstStyle/>
          <a:p>
            <a:r>
              <a:rPr lang="en-US"/>
              <a:t>HashMap quản lý dữ liệu dưới dạng các cặp key - value</a:t>
            </a:r>
          </a:p>
          <a:p>
            <a:pPr lvl="1"/>
            <a:r>
              <a:rPr lang="en-US"/>
              <a:t>Mỗi key được liên kết với một value</a:t>
            </a:r>
          </a:p>
          <a:p>
            <a:r>
              <a:rPr lang="en-US"/>
              <a:t>Không cho phép trùng lặp các key</a:t>
            </a:r>
          </a:p>
          <a:p>
            <a:pPr lvl="0"/>
            <a:r>
              <a:rPr lang="en-US"/>
              <a:t>Có thể có nhiều value là null nhưng chỉ có một key là null</a:t>
            </a:r>
          </a:p>
          <a:p>
            <a:pPr lvl="0"/>
            <a:r>
              <a:rPr lang="en-US"/>
              <a:t>Không đồng bộ</a:t>
            </a:r>
          </a:p>
          <a:p>
            <a:pPr lvl="1"/>
            <a:r>
              <a:rPr lang="en-US"/>
              <a:t>Để đồng bộ, sử dụng phương thức </a:t>
            </a:r>
            <a:r>
              <a:rPr lang="en-US" i="1"/>
              <a:t>Collections.synchronizedMap()</a:t>
            </a:r>
          </a:p>
          <a:p>
            <a:r>
              <a:rPr lang="en-US"/>
              <a:t>Không duy trì thứ tự</a:t>
            </a:r>
          </a:p>
          <a:p>
            <a:r>
              <a:rPr lang="en-US"/>
              <a:t>Dung lương mặc định ban đầu của HashMap là 16</a:t>
            </a:r>
          </a:p>
          <a:p>
            <a:endParaRPr lang="en-US"/>
          </a:p>
        </p:txBody>
      </p:sp>
    </p:spTree>
    <p:extLst>
      <p:ext uri="{BB962C8B-B14F-4D97-AF65-F5344CB8AC3E}">
        <p14:creationId xmlns:p14="http://schemas.microsoft.com/office/powerpoint/2010/main" val="11864017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hàm tạo</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34725729"/>
              </p:ext>
            </p:extLst>
          </p:nvPr>
        </p:nvGraphicFramePr>
        <p:xfrm>
          <a:off x="152400" y="1687830"/>
          <a:ext cx="8839200" cy="5044440"/>
        </p:xfrm>
        <a:graphic>
          <a:graphicData uri="http://schemas.openxmlformats.org/drawingml/2006/table">
            <a:tbl>
              <a:tblPr firstRow="1" firstCol="1" bandRow="1">
                <a:tableStyleId>{5C22544A-7EE6-4342-B048-85BDC9FD1C3A}</a:tableStyleId>
              </a:tblPr>
              <a:tblGrid>
                <a:gridCol w="4317366">
                  <a:extLst>
                    <a:ext uri="{9D8B030D-6E8A-4147-A177-3AD203B41FA5}">
                      <a16:colId xmlns:a16="http://schemas.microsoft.com/office/drawing/2014/main" val="20000"/>
                    </a:ext>
                  </a:extLst>
                </a:gridCol>
                <a:gridCol w="4521834">
                  <a:extLst>
                    <a:ext uri="{9D8B030D-6E8A-4147-A177-3AD203B41FA5}">
                      <a16:colId xmlns:a16="http://schemas.microsoft.com/office/drawing/2014/main" val="20001"/>
                    </a:ext>
                  </a:extLst>
                </a:gridCol>
              </a:tblGrid>
              <a:tr h="0">
                <a:tc>
                  <a:txBody>
                    <a:bodyPr/>
                    <a:lstStyle/>
                    <a:p>
                      <a:pPr>
                        <a:lnSpc>
                          <a:spcPct val="115000"/>
                        </a:lnSpc>
                        <a:spcAft>
                          <a:spcPts val="0"/>
                        </a:spcAft>
                      </a:pPr>
                      <a:r>
                        <a:rPr lang="en-US" sz="2400">
                          <a:effectLst/>
                          <a:latin typeface="Arial" pitchFamily="34" charset="0"/>
                          <a:cs typeface="Arial" pitchFamily="34" charset="0"/>
                        </a:rPr>
                        <a:t>Constructor</a:t>
                      </a:r>
                      <a:endParaRPr lang="en-US" sz="2400">
                        <a:solidFill>
                          <a:srgbClr val="000000"/>
                        </a:solidFill>
                        <a:effectLst/>
                        <a:latin typeface="Arial" pitchFamily="34" charset="0"/>
                        <a:ea typeface="Calibri"/>
                        <a:cs typeface="Arial" pitchFamily="34" charset="0"/>
                      </a:endParaRPr>
                    </a:p>
                  </a:txBody>
                  <a:tcPr marL="114300" marR="114300" marT="114300" marB="114300"/>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114300" marR="114300" marT="114300" marB="114300"/>
                </a:tc>
                <a:extLst>
                  <a:ext uri="{0D108BD9-81ED-4DB2-BD59-A6C34878D82A}">
                    <a16:rowId xmlns:a16="http://schemas.microsoft.com/office/drawing/2014/main" val="10000"/>
                  </a:ext>
                </a:extLst>
              </a:tr>
              <a:tr h="0">
                <a:tc>
                  <a:txBody>
                    <a:bodyPr/>
                    <a:lstStyle/>
                    <a:p>
                      <a:pPr>
                        <a:lnSpc>
                          <a:spcPct val="115000"/>
                        </a:lnSpc>
                        <a:spcAft>
                          <a:spcPts val="0"/>
                        </a:spcAft>
                      </a:pPr>
                      <a:r>
                        <a:rPr lang="en-US" sz="2400">
                          <a:effectLst/>
                          <a:latin typeface="Arial" pitchFamily="34" charset="0"/>
                          <a:cs typeface="Arial" pitchFamily="34" charset="0"/>
                        </a:rPr>
                        <a:t>HashMap()</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Xây dựng một HashMap mặc định</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1"/>
                  </a:ext>
                </a:extLst>
              </a:tr>
              <a:tr h="0">
                <a:tc>
                  <a:txBody>
                    <a:bodyPr/>
                    <a:lstStyle/>
                    <a:p>
                      <a:pPr>
                        <a:lnSpc>
                          <a:spcPct val="115000"/>
                        </a:lnSpc>
                        <a:spcAft>
                          <a:spcPts val="0"/>
                        </a:spcAft>
                      </a:pPr>
                      <a:r>
                        <a:rPr lang="en-US" sz="2400">
                          <a:effectLst/>
                          <a:latin typeface="Arial" pitchFamily="34" charset="0"/>
                          <a:cs typeface="Arial" pitchFamily="34" charset="0"/>
                        </a:rPr>
                        <a:t>HashMap(Map&lt;? extends K,? extends V&gt; m)</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Khởi tạo hash map bằng cách sử dụng các phần tử của đối tượng Map  m.</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2"/>
                  </a:ext>
                </a:extLst>
              </a:tr>
              <a:tr h="0">
                <a:tc>
                  <a:txBody>
                    <a:bodyPr/>
                    <a:lstStyle/>
                    <a:p>
                      <a:pPr>
                        <a:lnSpc>
                          <a:spcPct val="115000"/>
                        </a:lnSpc>
                        <a:spcAft>
                          <a:spcPts val="0"/>
                        </a:spcAft>
                      </a:pPr>
                      <a:r>
                        <a:rPr lang="en-US" sz="2400">
                          <a:effectLst/>
                          <a:latin typeface="Arial" pitchFamily="34" charset="0"/>
                          <a:cs typeface="Arial" pitchFamily="34" charset="0"/>
                        </a:rPr>
                        <a:t>HashMap(int capacity)</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Khởi tạo dung lượng của hash map</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3"/>
                  </a:ext>
                </a:extLst>
              </a:tr>
              <a:tr h="0">
                <a:tc>
                  <a:txBody>
                    <a:bodyPr/>
                    <a:lstStyle/>
                    <a:p>
                      <a:pPr>
                        <a:lnSpc>
                          <a:spcPct val="115000"/>
                        </a:lnSpc>
                        <a:spcAft>
                          <a:spcPts val="0"/>
                        </a:spcAft>
                      </a:pPr>
                      <a:r>
                        <a:rPr lang="en-US" sz="2400">
                          <a:effectLst/>
                          <a:latin typeface="Arial" pitchFamily="34" charset="0"/>
                          <a:cs typeface="Arial" pitchFamily="34" charset="0"/>
                        </a:rPr>
                        <a:t>HashMap(int capacity, float loadFactor)</a:t>
                      </a:r>
                      <a:endParaRPr lang="en-US" sz="24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Khởi tạo cả dung lượng và hệ số tải của hash map</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8850698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a:t>Phương thức (1)</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85130349"/>
              </p:ext>
            </p:extLst>
          </p:nvPr>
        </p:nvGraphicFramePr>
        <p:xfrm>
          <a:off x="152400" y="908926"/>
          <a:ext cx="8839200" cy="5796674"/>
        </p:xfrm>
        <a:graphic>
          <a:graphicData uri="http://schemas.openxmlformats.org/drawingml/2006/table">
            <a:tbl>
              <a:tblPr firstRow="1" firstCol="1" bandRow="1">
                <a:tableStyleId>{5C22544A-7EE6-4342-B048-85BDC9FD1C3A}</a:tableStyleId>
              </a:tblPr>
              <a:tblGrid>
                <a:gridCol w="4281721">
                  <a:extLst>
                    <a:ext uri="{9D8B030D-6E8A-4147-A177-3AD203B41FA5}">
                      <a16:colId xmlns:a16="http://schemas.microsoft.com/office/drawing/2014/main" val="20000"/>
                    </a:ext>
                  </a:extLst>
                </a:gridCol>
                <a:gridCol w="4557479">
                  <a:extLst>
                    <a:ext uri="{9D8B030D-6E8A-4147-A177-3AD203B41FA5}">
                      <a16:colId xmlns:a16="http://schemas.microsoft.com/office/drawing/2014/main" val="20001"/>
                    </a:ext>
                  </a:extLst>
                </a:gridCol>
              </a:tblGrid>
              <a:tr h="135075">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5176" marR="35176" marT="35176" marB="35176"/>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5176" marR="35176" marT="35176" marB="35176"/>
                </a:tc>
                <a:extLst>
                  <a:ext uri="{0D108BD9-81ED-4DB2-BD59-A6C34878D82A}">
                    <a16:rowId xmlns:a16="http://schemas.microsoft.com/office/drawing/2014/main" val="10000"/>
                  </a:ext>
                </a:extLst>
              </a:tr>
              <a:tr h="111625">
                <a:tc>
                  <a:txBody>
                    <a:bodyPr/>
                    <a:lstStyle/>
                    <a:p>
                      <a:pPr>
                        <a:lnSpc>
                          <a:spcPct val="115000"/>
                        </a:lnSpc>
                        <a:spcAft>
                          <a:spcPts val="0"/>
                        </a:spcAft>
                      </a:pPr>
                      <a:r>
                        <a:rPr lang="en-US" sz="2200">
                          <a:effectLst/>
                          <a:latin typeface="Arial" pitchFamily="34" charset="0"/>
                          <a:cs typeface="Arial" pitchFamily="34" charset="0"/>
                        </a:rPr>
                        <a:t>void clear()</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Loại bỏ tất cả các ánh xạ khỏi map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1"/>
                  </a:ext>
                </a:extLst>
              </a:tr>
              <a:tr h="176348">
                <a:tc>
                  <a:txBody>
                    <a:bodyPr/>
                    <a:lstStyle/>
                    <a:p>
                      <a:pPr>
                        <a:lnSpc>
                          <a:spcPct val="115000"/>
                        </a:lnSpc>
                        <a:spcAft>
                          <a:spcPts val="0"/>
                        </a:spcAft>
                      </a:pPr>
                      <a:r>
                        <a:rPr lang="en-US" sz="2200">
                          <a:effectLst/>
                          <a:latin typeface="Arial" pitchFamily="34" charset="0"/>
                          <a:cs typeface="Arial" pitchFamily="34" charset="0"/>
                        </a:rPr>
                        <a:t>boolean isEmpty()</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true nếu map này không chứa ánh xạ key - value</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2"/>
                  </a:ext>
                </a:extLst>
              </a:tr>
              <a:tr h="176348">
                <a:tc>
                  <a:txBody>
                    <a:bodyPr/>
                    <a:lstStyle/>
                    <a:p>
                      <a:pPr>
                        <a:lnSpc>
                          <a:spcPct val="115000"/>
                        </a:lnSpc>
                        <a:spcAft>
                          <a:spcPts val="0"/>
                        </a:spcAft>
                      </a:pPr>
                      <a:r>
                        <a:rPr lang="en-US" sz="2200">
                          <a:effectLst/>
                          <a:latin typeface="Arial" pitchFamily="34" charset="0"/>
                          <a:cs typeface="Arial" pitchFamily="34" charset="0"/>
                        </a:rPr>
                        <a:t>Object clone()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một bản sao nông của thể hiện HashMap này: bản thân các khóa và giá trị không được sao chép.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3"/>
                  </a:ext>
                </a:extLst>
              </a:tr>
              <a:tr h="111625">
                <a:tc>
                  <a:txBody>
                    <a:bodyPr/>
                    <a:lstStyle/>
                    <a:p>
                      <a:pPr>
                        <a:lnSpc>
                          <a:spcPct val="115000"/>
                        </a:lnSpc>
                        <a:spcAft>
                          <a:spcPts val="0"/>
                        </a:spcAft>
                      </a:pPr>
                      <a:r>
                        <a:rPr lang="en-US" sz="2200">
                          <a:effectLst/>
                          <a:latin typeface="Arial" pitchFamily="34" charset="0"/>
                          <a:cs typeface="Arial" pitchFamily="34" charset="0"/>
                        </a:rPr>
                        <a:t>Set entrySet()</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collection view các ánh xạ có trong map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4"/>
                  </a:ext>
                </a:extLst>
              </a:tr>
              <a:tr h="111625">
                <a:tc>
                  <a:txBody>
                    <a:bodyPr/>
                    <a:lstStyle/>
                    <a:p>
                      <a:pPr>
                        <a:lnSpc>
                          <a:spcPct val="115000"/>
                        </a:lnSpc>
                        <a:spcAft>
                          <a:spcPts val="0"/>
                        </a:spcAft>
                      </a:pPr>
                      <a:r>
                        <a:rPr lang="en-US" sz="2200">
                          <a:effectLst/>
                          <a:latin typeface="Arial" pitchFamily="34" charset="0"/>
                          <a:cs typeface="Arial" pitchFamily="34" charset="0"/>
                        </a:rPr>
                        <a:t>Set keySet()</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set view của các key có trong map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5"/>
                  </a:ext>
                </a:extLst>
              </a:tr>
              <a:tr h="111625">
                <a:tc>
                  <a:txBody>
                    <a:bodyPr/>
                    <a:lstStyle/>
                    <a:p>
                      <a:pPr>
                        <a:lnSpc>
                          <a:spcPct val="115000"/>
                        </a:lnSpc>
                        <a:spcAft>
                          <a:spcPts val="0"/>
                        </a:spcAft>
                      </a:pPr>
                      <a:r>
                        <a:rPr lang="en-US" sz="2200">
                          <a:effectLst/>
                          <a:latin typeface="Arial" pitchFamily="34" charset="0"/>
                          <a:cs typeface="Arial" pitchFamily="34" charset="0"/>
                        </a:rPr>
                        <a:t>V put(Object key, Object value)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Chèn một entry trong map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6"/>
                  </a:ext>
                </a:extLst>
              </a:tr>
              <a:tr h="111625">
                <a:tc>
                  <a:txBody>
                    <a:bodyPr/>
                    <a:lstStyle/>
                    <a:p>
                      <a:pPr>
                        <a:lnSpc>
                          <a:spcPct val="115000"/>
                        </a:lnSpc>
                        <a:spcAft>
                          <a:spcPts val="0"/>
                        </a:spcAft>
                      </a:pPr>
                      <a:r>
                        <a:rPr lang="en-US" sz="2200">
                          <a:effectLst/>
                          <a:latin typeface="Arial" pitchFamily="34" charset="0"/>
                          <a:cs typeface="Arial" pitchFamily="34" charset="0"/>
                        </a:rPr>
                        <a:t>void putAll(Map map)</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Chèn map được chỉ định trong map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4769250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a:t>Phương thức (2)</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89104271"/>
              </p:ext>
            </p:extLst>
          </p:nvPr>
        </p:nvGraphicFramePr>
        <p:xfrm>
          <a:off x="152400" y="1668376"/>
          <a:ext cx="8839200" cy="4884824"/>
        </p:xfrm>
        <a:graphic>
          <a:graphicData uri="http://schemas.openxmlformats.org/drawingml/2006/table">
            <a:tbl>
              <a:tblPr firstRow="1" firstCol="1" bandRow="1">
                <a:tableStyleId>{5C22544A-7EE6-4342-B048-85BDC9FD1C3A}</a:tableStyleId>
              </a:tblPr>
              <a:tblGrid>
                <a:gridCol w="4281721">
                  <a:extLst>
                    <a:ext uri="{9D8B030D-6E8A-4147-A177-3AD203B41FA5}">
                      <a16:colId xmlns:a16="http://schemas.microsoft.com/office/drawing/2014/main" val="20000"/>
                    </a:ext>
                  </a:extLst>
                </a:gridCol>
                <a:gridCol w="4557479">
                  <a:extLst>
                    <a:ext uri="{9D8B030D-6E8A-4147-A177-3AD203B41FA5}">
                      <a16:colId xmlns:a16="http://schemas.microsoft.com/office/drawing/2014/main" val="20001"/>
                    </a:ext>
                  </a:extLst>
                </a:gridCol>
              </a:tblGrid>
              <a:tr h="135075">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5176" marR="35176" marT="35176" marB="35176"/>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5176" marR="35176" marT="35176" marB="35176"/>
                </a:tc>
                <a:extLst>
                  <a:ext uri="{0D108BD9-81ED-4DB2-BD59-A6C34878D82A}">
                    <a16:rowId xmlns:a16="http://schemas.microsoft.com/office/drawing/2014/main" val="10000"/>
                  </a:ext>
                </a:extLst>
              </a:tr>
              <a:tr h="176348">
                <a:tc>
                  <a:txBody>
                    <a:bodyPr/>
                    <a:lstStyle/>
                    <a:p>
                      <a:pPr>
                        <a:lnSpc>
                          <a:spcPct val="115000"/>
                        </a:lnSpc>
                        <a:spcAft>
                          <a:spcPts val="0"/>
                        </a:spcAft>
                      </a:pPr>
                      <a:r>
                        <a:rPr lang="en-US" sz="2200">
                          <a:effectLst/>
                          <a:latin typeface="Arial" pitchFamily="34" charset="0"/>
                          <a:cs typeface="Arial" pitchFamily="34" charset="0"/>
                        </a:rPr>
                        <a:t>V putIfAbsent(K key, V value)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Chỉ chèn value được chỉ định bằng key được chỉ định trong map nếu nó chưa được chỉ định</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1"/>
                  </a:ext>
                </a:extLst>
              </a:tr>
              <a:tr h="111625">
                <a:tc>
                  <a:txBody>
                    <a:bodyPr/>
                    <a:lstStyle/>
                    <a:p>
                      <a:pPr>
                        <a:lnSpc>
                          <a:spcPct val="115000"/>
                        </a:lnSpc>
                        <a:spcAft>
                          <a:spcPts val="0"/>
                        </a:spcAft>
                      </a:pPr>
                      <a:r>
                        <a:rPr lang="en-US" sz="2200">
                          <a:effectLst/>
                          <a:latin typeface="Arial" pitchFamily="34" charset="0"/>
                          <a:cs typeface="Arial" pitchFamily="34" charset="0"/>
                        </a:rPr>
                        <a:t>V remove(Object key)</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Xóa một entry cho key được chỉ định</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2"/>
                  </a:ext>
                </a:extLst>
              </a:tr>
              <a:tr h="176348">
                <a:tc>
                  <a:txBody>
                    <a:bodyPr/>
                    <a:lstStyle/>
                    <a:p>
                      <a:pPr>
                        <a:lnSpc>
                          <a:spcPct val="115000"/>
                        </a:lnSpc>
                        <a:spcAft>
                          <a:spcPts val="0"/>
                        </a:spcAft>
                      </a:pPr>
                      <a:r>
                        <a:rPr lang="en-US" sz="2200">
                          <a:effectLst/>
                          <a:latin typeface="Arial" pitchFamily="34" charset="0"/>
                          <a:cs typeface="Arial" pitchFamily="34" charset="0"/>
                        </a:rPr>
                        <a:t>boolean remove(Object key, Object value)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Loại bỏ các value được chỉ định bằng các key được chỉ định liên quan</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3"/>
                  </a:ext>
                </a:extLst>
              </a:tr>
              <a:tr h="241072">
                <a:tc>
                  <a:txBody>
                    <a:bodyPr/>
                    <a:lstStyle/>
                    <a:p>
                      <a:pPr>
                        <a:lnSpc>
                          <a:spcPct val="115000"/>
                        </a:lnSpc>
                        <a:spcAft>
                          <a:spcPts val="0"/>
                        </a:spcAft>
                      </a:pPr>
                      <a:r>
                        <a:rPr lang="en-US" sz="2200">
                          <a:effectLst/>
                          <a:latin typeface="Arial" pitchFamily="34" charset="0"/>
                          <a:cs typeface="Arial" pitchFamily="34" charset="0"/>
                        </a:rPr>
                        <a:t>V compute(K key, BiFunction&lt;? super K,? super V,? extends V&gt; remappingFunction)</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Tính toán ánh xạ cho key được chỉ định và value được ánh xạ (Là null nếu không có ánh xạ)</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6566219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8229600" cy="639762"/>
          </a:xfrm>
        </p:spPr>
        <p:txBody>
          <a:bodyPr>
            <a:normAutofit fontScale="90000"/>
          </a:bodyPr>
          <a:lstStyle/>
          <a:p>
            <a:r>
              <a:rPr lang="en-US"/>
              <a:t>Phương thức (3)</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62561300"/>
              </p:ext>
            </p:extLst>
          </p:nvPr>
        </p:nvGraphicFramePr>
        <p:xfrm>
          <a:off x="152400" y="1096534"/>
          <a:ext cx="8839200" cy="5609066"/>
        </p:xfrm>
        <a:graphic>
          <a:graphicData uri="http://schemas.openxmlformats.org/drawingml/2006/table">
            <a:tbl>
              <a:tblPr firstRow="1" firstCol="1" bandRow="1">
                <a:tableStyleId>{5C22544A-7EE6-4342-B048-85BDC9FD1C3A}</a:tableStyleId>
              </a:tblPr>
              <a:tblGrid>
                <a:gridCol w="4281721">
                  <a:extLst>
                    <a:ext uri="{9D8B030D-6E8A-4147-A177-3AD203B41FA5}">
                      <a16:colId xmlns:a16="http://schemas.microsoft.com/office/drawing/2014/main" val="20000"/>
                    </a:ext>
                  </a:extLst>
                </a:gridCol>
                <a:gridCol w="4557479">
                  <a:extLst>
                    <a:ext uri="{9D8B030D-6E8A-4147-A177-3AD203B41FA5}">
                      <a16:colId xmlns:a16="http://schemas.microsoft.com/office/drawing/2014/main" val="20001"/>
                    </a:ext>
                  </a:extLst>
                </a:gridCol>
              </a:tblGrid>
              <a:tr h="135075">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5176" marR="35176" marT="35176" marB="35176"/>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5176" marR="35176" marT="35176" marB="35176"/>
                </a:tc>
                <a:extLst>
                  <a:ext uri="{0D108BD9-81ED-4DB2-BD59-A6C34878D82A}">
                    <a16:rowId xmlns:a16="http://schemas.microsoft.com/office/drawing/2014/main" val="10000"/>
                  </a:ext>
                </a:extLst>
              </a:tr>
              <a:tr h="305796">
                <a:tc>
                  <a:txBody>
                    <a:bodyPr/>
                    <a:lstStyle/>
                    <a:p>
                      <a:pPr>
                        <a:lnSpc>
                          <a:spcPct val="115000"/>
                        </a:lnSpc>
                        <a:spcAft>
                          <a:spcPts val="0"/>
                        </a:spcAft>
                      </a:pPr>
                      <a:r>
                        <a:rPr lang="en-US" sz="2200">
                          <a:effectLst/>
                          <a:latin typeface="Arial" pitchFamily="34" charset="0"/>
                          <a:cs typeface="Arial" pitchFamily="34" charset="0"/>
                        </a:rPr>
                        <a:t>V computeIfAbsent(K key, Function&lt;? super K,? extends V&gt; mappingFunction)</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Để tính value của nó bằng hàm ánh xạ đã cho, nếu key được chỉ định chưa được liên kết với một giá trị (hoặc được ánh xạ thành null) và nhập nó vàomap này trừ khi null.</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1"/>
                  </a:ext>
                </a:extLst>
              </a:tr>
              <a:tr h="241072">
                <a:tc>
                  <a:txBody>
                    <a:bodyPr/>
                    <a:lstStyle/>
                    <a:p>
                      <a:pPr>
                        <a:lnSpc>
                          <a:spcPct val="115000"/>
                        </a:lnSpc>
                        <a:spcAft>
                          <a:spcPts val="0"/>
                        </a:spcAft>
                      </a:pPr>
                      <a:r>
                        <a:rPr lang="en-US" sz="2200">
                          <a:effectLst/>
                          <a:latin typeface="Arial" pitchFamily="34" charset="0"/>
                          <a:cs typeface="Arial" pitchFamily="34" charset="0"/>
                        </a:rPr>
                        <a:t>V computeIfPresent(K key, BiFunction&lt;? super K,? super V,? extends V&gt; remappingFunction)</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Tính toán một ánh xạ mới được cung cấp cho key và value được ánh xạ hiện tại của nó nếu value của key được chỉ định là thực tại và không có null</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2"/>
                  </a:ext>
                </a:extLst>
              </a:tr>
              <a:tr h="176348">
                <a:tc>
                  <a:txBody>
                    <a:bodyPr/>
                    <a:lstStyle/>
                    <a:p>
                      <a:pPr>
                        <a:lnSpc>
                          <a:spcPct val="115000"/>
                        </a:lnSpc>
                        <a:spcAft>
                          <a:spcPts val="0"/>
                        </a:spcAft>
                      </a:pPr>
                      <a:r>
                        <a:rPr lang="en-US" sz="2200">
                          <a:effectLst/>
                          <a:latin typeface="Arial" pitchFamily="34" charset="0"/>
                          <a:cs typeface="Arial" pitchFamily="34" charset="0"/>
                        </a:rPr>
                        <a:t>boolean containsValue(Object value)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true nếu value bằng với value tồn tại trong map, ngược lại trả về false</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7805615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a:t>Phương thức (4)</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84734337"/>
              </p:ext>
            </p:extLst>
          </p:nvPr>
        </p:nvGraphicFramePr>
        <p:xfrm>
          <a:off x="152400" y="685800"/>
          <a:ext cx="8839200" cy="6088442"/>
        </p:xfrm>
        <a:graphic>
          <a:graphicData uri="http://schemas.openxmlformats.org/drawingml/2006/table">
            <a:tbl>
              <a:tblPr firstRow="1" firstCol="1" bandRow="1">
                <a:tableStyleId>{5C22544A-7EE6-4342-B048-85BDC9FD1C3A}</a:tableStyleId>
              </a:tblPr>
              <a:tblGrid>
                <a:gridCol w="4281721">
                  <a:extLst>
                    <a:ext uri="{9D8B030D-6E8A-4147-A177-3AD203B41FA5}">
                      <a16:colId xmlns:a16="http://schemas.microsoft.com/office/drawing/2014/main" val="20000"/>
                    </a:ext>
                  </a:extLst>
                </a:gridCol>
                <a:gridCol w="4557479">
                  <a:extLst>
                    <a:ext uri="{9D8B030D-6E8A-4147-A177-3AD203B41FA5}">
                      <a16:colId xmlns:a16="http://schemas.microsoft.com/office/drawing/2014/main" val="20001"/>
                    </a:ext>
                  </a:extLst>
                </a:gridCol>
              </a:tblGrid>
              <a:tr h="135075">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5176" marR="35176" marT="35176" marB="35176"/>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5176" marR="35176" marT="35176" marB="35176"/>
                </a:tc>
                <a:extLst>
                  <a:ext uri="{0D108BD9-81ED-4DB2-BD59-A6C34878D82A}">
                    <a16:rowId xmlns:a16="http://schemas.microsoft.com/office/drawing/2014/main" val="10000"/>
                  </a:ext>
                </a:extLst>
              </a:tr>
              <a:tr h="176348">
                <a:tc>
                  <a:txBody>
                    <a:bodyPr/>
                    <a:lstStyle/>
                    <a:p>
                      <a:pPr>
                        <a:lnSpc>
                          <a:spcPct val="115000"/>
                        </a:lnSpc>
                        <a:spcAft>
                          <a:spcPts val="0"/>
                        </a:spcAft>
                      </a:pPr>
                      <a:r>
                        <a:rPr lang="en-US" sz="2200">
                          <a:effectLst/>
                          <a:latin typeface="Arial" pitchFamily="34" charset="0"/>
                          <a:cs typeface="Arial" pitchFamily="34" charset="0"/>
                        </a:rPr>
                        <a:t>boolean containsKey(Object key)</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true nếu key bằng với key tồn tại trong map, ngược lại trả về false</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1"/>
                  </a:ext>
                </a:extLst>
              </a:tr>
              <a:tr h="111625">
                <a:tc>
                  <a:txBody>
                    <a:bodyPr/>
                    <a:lstStyle/>
                    <a:p>
                      <a:pPr>
                        <a:lnSpc>
                          <a:spcPct val="115000"/>
                        </a:lnSpc>
                        <a:spcAft>
                          <a:spcPts val="0"/>
                        </a:spcAft>
                      </a:pPr>
                      <a:r>
                        <a:rPr lang="en-US" sz="2200">
                          <a:effectLst/>
                          <a:latin typeface="Arial" pitchFamily="34" charset="0"/>
                          <a:cs typeface="Arial" pitchFamily="34" charset="0"/>
                        </a:rPr>
                        <a:t>boolean equals(Object o)</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So sánh đối tượng  o được chỉ định với map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2"/>
                  </a:ext>
                </a:extLst>
              </a:tr>
              <a:tr h="241072">
                <a:tc>
                  <a:txBody>
                    <a:bodyPr/>
                    <a:lstStyle/>
                    <a:p>
                      <a:pPr>
                        <a:lnSpc>
                          <a:spcPct val="115000"/>
                        </a:lnSpc>
                        <a:spcAft>
                          <a:spcPts val="0"/>
                        </a:spcAft>
                      </a:pPr>
                      <a:r>
                        <a:rPr lang="en-US" sz="2200">
                          <a:effectLst/>
                          <a:latin typeface="Arial" pitchFamily="34" charset="0"/>
                          <a:cs typeface="Arial" pitchFamily="34" charset="0"/>
                        </a:rPr>
                        <a:t>void forEach(BiConsumer&lt;? super K,? super V&gt; action)</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Thực hiện action cho từng mục trong map cho đến khi tất cả các mục đã được xử lý hoặc action đưa ra một ngoại lệ</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3"/>
                  </a:ext>
                </a:extLst>
              </a:tr>
              <a:tr h="111625">
                <a:tc>
                  <a:txBody>
                    <a:bodyPr/>
                    <a:lstStyle/>
                    <a:p>
                      <a:pPr>
                        <a:lnSpc>
                          <a:spcPct val="115000"/>
                        </a:lnSpc>
                        <a:spcAft>
                          <a:spcPts val="0"/>
                        </a:spcAft>
                      </a:pPr>
                      <a:r>
                        <a:rPr lang="en-US" sz="2200">
                          <a:effectLst/>
                          <a:latin typeface="Arial" pitchFamily="34" charset="0"/>
                          <a:cs typeface="Arial" pitchFamily="34" charset="0"/>
                        </a:rPr>
                        <a:t>V get(Object key)</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đối tượng chứa value được liên kết với key</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4"/>
                  </a:ext>
                </a:extLst>
              </a:tr>
              <a:tr h="176348">
                <a:tc>
                  <a:txBody>
                    <a:bodyPr/>
                    <a:lstStyle/>
                    <a:p>
                      <a:pPr>
                        <a:lnSpc>
                          <a:spcPct val="115000"/>
                        </a:lnSpc>
                        <a:spcAft>
                          <a:spcPts val="0"/>
                        </a:spcAft>
                      </a:pPr>
                      <a:r>
                        <a:rPr lang="en-US" sz="2200">
                          <a:effectLst/>
                          <a:latin typeface="Arial" pitchFamily="34" charset="0"/>
                          <a:cs typeface="Arial" pitchFamily="34" charset="0"/>
                        </a:rPr>
                        <a:t>V getOrDefault(Object key, V defaultValue)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Value mà key được chỉ định được ánh xạ hoặc defaultValue nếu bản đồ không chứa ánh xạ cho key</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1905908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639762"/>
          </a:xfrm>
        </p:spPr>
        <p:txBody>
          <a:bodyPr>
            <a:normAutofit fontScale="90000"/>
          </a:bodyPr>
          <a:lstStyle/>
          <a:p>
            <a:r>
              <a:rPr lang="en-US"/>
              <a:t>Phương thức (5)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41012810"/>
              </p:ext>
            </p:extLst>
          </p:nvPr>
        </p:nvGraphicFramePr>
        <p:xfrm>
          <a:off x="152400" y="1828800"/>
          <a:ext cx="8915400" cy="4884824"/>
        </p:xfrm>
        <a:graphic>
          <a:graphicData uri="http://schemas.openxmlformats.org/drawingml/2006/table">
            <a:tbl>
              <a:tblPr firstRow="1" firstCol="1" bandRow="1">
                <a:tableStyleId>{5C22544A-7EE6-4342-B048-85BDC9FD1C3A}</a:tableStyleId>
              </a:tblPr>
              <a:tblGrid>
                <a:gridCol w="4357921">
                  <a:extLst>
                    <a:ext uri="{9D8B030D-6E8A-4147-A177-3AD203B41FA5}">
                      <a16:colId xmlns:a16="http://schemas.microsoft.com/office/drawing/2014/main" val="20000"/>
                    </a:ext>
                  </a:extLst>
                </a:gridCol>
                <a:gridCol w="4557479">
                  <a:extLst>
                    <a:ext uri="{9D8B030D-6E8A-4147-A177-3AD203B41FA5}">
                      <a16:colId xmlns:a16="http://schemas.microsoft.com/office/drawing/2014/main" val="20001"/>
                    </a:ext>
                  </a:extLst>
                </a:gridCol>
              </a:tblGrid>
              <a:tr h="135075">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5176" marR="35176" marT="35176" marB="35176"/>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5176" marR="35176" marT="35176" marB="35176"/>
                </a:tc>
                <a:extLst>
                  <a:ext uri="{0D108BD9-81ED-4DB2-BD59-A6C34878D82A}">
                    <a16:rowId xmlns:a16="http://schemas.microsoft.com/office/drawing/2014/main" val="10000"/>
                  </a:ext>
                </a:extLst>
              </a:tr>
              <a:tr h="176348">
                <a:tc>
                  <a:txBody>
                    <a:bodyPr/>
                    <a:lstStyle/>
                    <a:p>
                      <a:pPr>
                        <a:lnSpc>
                          <a:spcPct val="115000"/>
                        </a:lnSpc>
                        <a:spcAft>
                          <a:spcPts val="0"/>
                        </a:spcAft>
                      </a:pPr>
                      <a:r>
                        <a:rPr lang="en-US" sz="2200">
                          <a:effectLst/>
                          <a:latin typeface="Arial" pitchFamily="34" charset="0"/>
                          <a:cs typeface="Arial" pitchFamily="34" charset="0"/>
                        </a:rPr>
                        <a:t>boolean isEmpty()</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true nếu map trống; trả về false nếu nó chứa ít nhất một key</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1"/>
                  </a:ext>
                </a:extLst>
              </a:tr>
              <a:tr h="241072">
                <a:tc>
                  <a:txBody>
                    <a:bodyPr/>
                    <a:lstStyle/>
                    <a:p>
                      <a:pPr>
                        <a:lnSpc>
                          <a:spcPct val="115000"/>
                        </a:lnSpc>
                        <a:spcAft>
                          <a:spcPts val="0"/>
                        </a:spcAft>
                      </a:pPr>
                      <a:r>
                        <a:rPr lang="en-US" sz="2200">
                          <a:effectLst/>
                          <a:latin typeface="Arial" pitchFamily="34" charset="0"/>
                          <a:cs typeface="Arial" pitchFamily="34" charset="0"/>
                        </a:rPr>
                        <a:t>V merge(K key, V value, BiFunction&lt;? super V,? super V,? extends V&gt; remappingFunction)</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Nếu key được chỉ định chưa được liên kết với một value hoặc được liên kết với null, liên kết nó với value không null đã cho</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2"/>
                  </a:ext>
                </a:extLst>
              </a:tr>
              <a:tr h="176348">
                <a:tc>
                  <a:txBody>
                    <a:bodyPr/>
                    <a:lstStyle/>
                    <a:p>
                      <a:pPr>
                        <a:lnSpc>
                          <a:spcPct val="115000"/>
                        </a:lnSpc>
                        <a:spcAft>
                          <a:spcPts val="0"/>
                        </a:spcAft>
                      </a:pPr>
                      <a:r>
                        <a:rPr lang="en-US" sz="2200">
                          <a:effectLst/>
                          <a:latin typeface="Arial" pitchFamily="34" charset="0"/>
                          <a:cs typeface="Arial" pitchFamily="34" charset="0"/>
                        </a:rPr>
                        <a:t>V replace(K key, V value)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Thay thế value được chỉ định cho một key được chỉ định (Giá</a:t>
                      </a:r>
                      <a:r>
                        <a:rPr lang="en-US" sz="2200" baseline="0">
                          <a:effectLst/>
                          <a:latin typeface="Arial" pitchFamily="34" charset="0"/>
                          <a:cs typeface="Arial" pitchFamily="34" charset="0"/>
                        </a:rPr>
                        <a:t> trị trả về là value trước khi bị thay thế</a:t>
                      </a:r>
                      <a:r>
                        <a:rPr lang="en-US" sz="2200">
                          <a:effectLst/>
                          <a:latin typeface="Arial" pitchFamily="34" charset="0"/>
                          <a:cs typeface="Arial" pitchFamily="34" charset="0"/>
                        </a:rPr>
                        <a:t>)</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3"/>
                  </a:ext>
                </a:extLst>
              </a:tr>
              <a:tr h="176348">
                <a:tc>
                  <a:txBody>
                    <a:bodyPr/>
                    <a:lstStyle/>
                    <a:p>
                      <a:pPr>
                        <a:lnSpc>
                          <a:spcPct val="115000"/>
                        </a:lnSpc>
                        <a:spcAft>
                          <a:spcPts val="0"/>
                        </a:spcAft>
                      </a:pPr>
                      <a:r>
                        <a:rPr lang="en-US" sz="2200">
                          <a:effectLst/>
                          <a:latin typeface="Arial" pitchFamily="34" charset="0"/>
                          <a:cs typeface="Arial" pitchFamily="34" charset="0"/>
                        </a:rPr>
                        <a:t>boolean replace(K key, V oldValue, V newValue)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Thay thế value cũ bằng value mới cho một key được chỉ định</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462643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7038"/>
            <a:ext cx="8229600" cy="639762"/>
          </a:xfrm>
        </p:spPr>
        <p:txBody>
          <a:bodyPr>
            <a:normAutofit fontScale="90000"/>
          </a:bodyPr>
          <a:lstStyle/>
          <a:p>
            <a:r>
              <a:rPr lang="en-US"/>
              <a:t>Phương thức (6)</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60848693"/>
              </p:ext>
            </p:extLst>
          </p:nvPr>
        </p:nvGraphicFramePr>
        <p:xfrm>
          <a:off x="152400" y="2262394"/>
          <a:ext cx="8839200" cy="3681206"/>
        </p:xfrm>
        <a:graphic>
          <a:graphicData uri="http://schemas.openxmlformats.org/drawingml/2006/table">
            <a:tbl>
              <a:tblPr firstRow="1" firstCol="1" bandRow="1">
                <a:tableStyleId>{5C22544A-7EE6-4342-B048-85BDC9FD1C3A}</a:tableStyleId>
              </a:tblPr>
              <a:tblGrid>
                <a:gridCol w="4281721">
                  <a:extLst>
                    <a:ext uri="{9D8B030D-6E8A-4147-A177-3AD203B41FA5}">
                      <a16:colId xmlns:a16="http://schemas.microsoft.com/office/drawing/2014/main" val="20000"/>
                    </a:ext>
                  </a:extLst>
                </a:gridCol>
                <a:gridCol w="4557479">
                  <a:extLst>
                    <a:ext uri="{9D8B030D-6E8A-4147-A177-3AD203B41FA5}">
                      <a16:colId xmlns:a16="http://schemas.microsoft.com/office/drawing/2014/main" val="20001"/>
                    </a:ext>
                  </a:extLst>
                </a:gridCol>
              </a:tblGrid>
              <a:tr h="135075">
                <a:tc>
                  <a:txBody>
                    <a:bodyPr/>
                    <a:lstStyle/>
                    <a:p>
                      <a:pPr>
                        <a:lnSpc>
                          <a:spcPct val="115000"/>
                        </a:lnSpc>
                        <a:spcAft>
                          <a:spcPts val="0"/>
                        </a:spcAft>
                      </a:pPr>
                      <a:r>
                        <a:rPr lang="en-US" sz="2200">
                          <a:effectLst/>
                          <a:latin typeface="Arial" pitchFamily="34" charset="0"/>
                          <a:cs typeface="Arial" pitchFamily="34" charset="0"/>
                        </a:rPr>
                        <a:t>Phương thức</a:t>
                      </a:r>
                      <a:endParaRPr lang="en-US" sz="2200">
                        <a:solidFill>
                          <a:srgbClr val="000000"/>
                        </a:solidFill>
                        <a:effectLst/>
                        <a:latin typeface="Arial" pitchFamily="34" charset="0"/>
                        <a:ea typeface="Calibri"/>
                        <a:cs typeface="Arial" pitchFamily="34" charset="0"/>
                      </a:endParaRPr>
                    </a:p>
                  </a:txBody>
                  <a:tcPr marL="35176" marR="35176" marT="35176" marB="35176"/>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5176" marR="35176" marT="35176" marB="35176"/>
                </a:tc>
                <a:extLst>
                  <a:ext uri="{0D108BD9-81ED-4DB2-BD59-A6C34878D82A}">
                    <a16:rowId xmlns:a16="http://schemas.microsoft.com/office/drawing/2014/main" val="10000"/>
                  </a:ext>
                </a:extLst>
              </a:tr>
              <a:tr h="241072">
                <a:tc>
                  <a:txBody>
                    <a:bodyPr/>
                    <a:lstStyle/>
                    <a:p>
                      <a:pPr>
                        <a:lnSpc>
                          <a:spcPct val="115000"/>
                        </a:lnSpc>
                        <a:spcAft>
                          <a:spcPts val="0"/>
                        </a:spcAft>
                      </a:pPr>
                      <a:r>
                        <a:rPr lang="en-US" sz="2200">
                          <a:effectLst/>
                          <a:latin typeface="Arial" pitchFamily="34" charset="0"/>
                          <a:cs typeface="Arial" pitchFamily="34" charset="0"/>
                        </a:rPr>
                        <a:t>void replaceAll(BiFunction&lt;? super K,? super V,? extends V&gt; function)</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Thay thế value của mỗi entry bằng kết quả của việc gọi hàm đã cho trên entry đó cho đến khi tất cả các entry đã được xử lý hoặc hàm ném ngoại lệ</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1"/>
                  </a:ext>
                </a:extLst>
              </a:tr>
              <a:tr h="111625">
                <a:tc>
                  <a:txBody>
                    <a:bodyPr/>
                    <a:lstStyle/>
                    <a:p>
                      <a:pPr>
                        <a:lnSpc>
                          <a:spcPct val="115000"/>
                        </a:lnSpc>
                        <a:spcAft>
                          <a:spcPts val="0"/>
                        </a:spcAft>
                      </a:pPr>
                      <a:r>
                        <a:rPr lang="en-US" sz="2200">
                          <a:effectLst/>
                          <a:latin typeface="Arial" pitchFamily="34" charset="0"/>
                          <a:cs typeface="Arial" pitchFamily="34" charset="0"/>
                        </a:rPr>
                        <a:t>Collection&lt;V&gt; values()</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collection view các value có trong map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2"/>
                  </a:ext>
                </a:extLst>
              </a:tr>
              <a:tr h="111625">
                <a:tc>
                  <a:txBody>
                    <a:bodyPr/>
                    <a:lstStyle/>
                    <a:p>
                      <a:pPr>
                        <a:lnSpc>
                          <a:spcPct val="115000"/>
                        </a:lnSpc>
                        <a:spcAft>
                          <a:spcPts val="0"/>
                        </a:spcAft>
                      </a:pPr>
                      <a:r>
                        <a:rPr lang="en-US" sz="2200">
                          <a:effectLst/>
                          <a:latin typeface="Arial" pitchFamily="34" charset="0"/>
                          <a:cs typeface="Arial" pitchFamily="34" charset="0"/>
                        </a:rPr>
                        <a:t>int size()</a:t>
                      </a:r>
                      <a:endParaRPr lang="en-US" sz="2200">
                        <a:effectLst/>
                        <a:latin typeface="Arial" pitchFamily="34" charset="0"/>
                        <a:ea typeface="Calibri"/>
                        <a:cs typeface="Arial" pitchFamily="34" charset="0"/>
                      </a:endParaRPr>
                    </a:p>
                  </a:txBody>
                  <a:tcPr marL="23451" marR="23451" marT="23451" marB="23451"/>
                </a:tc>
                <a:tc>
                  <a:txBody>
                    <a:bodyPr/>
                    <a:lstStyle/>
                    <a:p>
                      <a:pPr>
                        <a:lnSpc>
                          <a:spcPct val="115000"/>
                        </a:lnSpc>
                        <a:spcAft>
                          <a:spcPts val="0"/>
                        </a:spcAft>
                      </a:pPr>
                      <a:r>
                        <a:rPr lang="en-US" sz="2200">
                          <a:effectLst/>
                          <a:latin typeface="Arial" pitchFamily="34" charset="0"/>
                          <a:cs typeface="Arial" pitchFamily="34" charset="0"/>
                        </a:rPr>
                        <a:t>Trả về số lượng entry trong map</a:t>
                      </a:r>
                      <a:endParaRPr lang="en-US" sz="2200">
                        <a:solidFill>
                          <a:srgbClr val="000000"/>
                        </a:solidFill>
                        <a:effectLst/>
                        <a:latin typeface="Arial" pitchFamily="34" charset="0"/>
                        <a:ea typeface="Calibri"/>
                        <a:cs typeface="Arial" pitchFamily="34" charset="0"/>
                      </a:endParaRPr>
                    </a:p>
                  </a:txBody>
                  <a:tcPr marL="23451" marR="23451" marT="23451" marB="23451"/>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15660868"/>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HashMap - Ví dụ 1</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8589537"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831890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HashMap - Ví dụ 2 (1)</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90" y="2209800"/>
            <a:ext cx="8849458"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829875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HashMap - Ví dụ 2 (2)</a:t>
            </a:r>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852611"/>
            <a:ext cx="8991600" cy="417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3203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t>4.3.2. Lớp LinkedHashMap</a:t>
            </a:r>
          </a:p>
        </p:txBody>
      </p:sp>
      <p:sp>
        <p:nvSpPr>
          <p:cNvPr id="3" name="Content Placeholder 2"/>
          <p:cNvSpPr>
            <a:spLocks noGrp="1"/>
          </p:cNvSpPr>
          <p:nvPr>
            <p:ph idx="1"/>
          </p:nvPr>
        </p:nvSpPr>
        <p:spPr/>
        <p:txBody>
          <a:bodyPr>
            <a:normAutofit fontScale="77500" lnSpcReduction="20000"/>
          </a:bodyPr>
          <a:lstStyle/>
          <a:p>
            <a:r>
              <a:rPr lang="en-US" sz="2800"/>
              <a:t>Kế thừa lớp HashMap và thực thi giao diện Map</a:t>
            </a:r>
          </a:p>
          <a:p>
            <a:pPr lvl="1"/>
            <a:r>
              <a:rPr lang="en-US"/>
              <a:t>Chứa các giá trị value dựa trên khóa key</a:t>
            </a:r>
          </a:p>
          <a:p>
            <a:pPr lvl="1"/>
            <a:r>
              <a:rPr lang="en-US"/>
              <a:t>Chứa các phần tử duy nhất</a:t>
            </a:r>
          </a:p>
          <a:p>
            <a:pPr lvl="1"/>
            <a:r>
              <a:rPr lang="en-US"/>
              <a:t>Có thể có một khóa key null và nhiều giá trị value null</a:t>
            </a:r>
          </a:p>
          <a:p>
            <a:pPr lvl="1"/>
            <a:r>
              <a:rPr lang="en-US"/>
              <a:t>Không được đồng bộ hóa</a:t>
            </a:r>
          </a:p>
          <a:p>
            <a:pPr lvl="1"/>
            <a:r>
              <a:rPr lang="en-US"/>
              <a:t>Duy trì thứ tự chèn</a:t>
            </a:r>
          </a:p>
          <a:p>
            <a:pPr lvl="1"/>
            <a:r>
              <a:rPr lang="en-US"/>
              <a:t>Dung lượng mặc định ban đầu của lớp HashMap là 16 với hệ số tải là 0,75</a:t>
            </a:r>
          </a:p>
          <a:p>
            <a:pPr marL="0" indent="0">
              <a:buNone/>
            </a:pPr>
            <a:r>
              <a:rPr lang="en-US" sz="2800" b="1"/>
              <a:t>public</a:t>
            </a:r>
            <a:r>
              <a:rPr lang="en-US" sz="2800"/>
              <a:t> </a:t>
            </a:r>
            <a:r>
              <a:rPr lang="en-US" sz="2800" b="1"/>
              <a:t>class</a:t>
            </a:r>
            <a:r>
              <a:rPr lang="en-US" sz="2800"/>
              <a:t> LinkedHashMap&lt;K,V&gt; </a:t>
            </a:r>
            <a:r>
              <a:rPr lang="en-US" sz="2800" b="1"/>
              <a:t>extends</a:t>
            </a:r>
            <a:r>
              <a:rPr lang="en-US" sz="2800"/>
              <a:t> HashMap&lt;K,V&gt; </a:t>
            </a:r>
            <a:r>
              <a:rPr lang="en-US" sz="2800" b="1"/>
              <a:t>implements</a:t>
            </a:r>
            <a:r>
              <a:rPr lang="en-US" sz="2800"/>
              <a:t> Map&lt;K,V&gt; </a:t>
            </a:r>
          </a:p>
          <a:p>
            <a:pPr marL="0" indent="0">
              <a:buNone/>
            </a:pPr>
            <a:r>
              <a:rPr lang="en-US" sz="2800"/>
              <a:t>Trong đó:</a:t>
            </a:r>
          </a:p>
          <a:p>
            <a:pPr lvl="1"/>
            <a:r>
              <a:rPr lang="en-US"/>
              <a:t>K : Kiểu của key khóa được duy trì bởi Map này</a:t>
            </a:r>
          </a:p>
          <a:p>
            <a:pPr lvl="1"/>
            <a:r>
              <a:rPr lang="en-US"/>
              <a:t>V : Kiểu của các value được ánh xạ</a:t>
            </a:r>
          </a:p>
          <a:p>
            <a:pPr lvl="1"/>
            <a:endParaRPr lang="en-US"/>
          </a:p>
          <a:p>
            <a:pPr lvl="1"/>
            <a:endParaRPr lang="en-US"/>
          </a:p>
        </p:txBody>
      </p:sp>
    </p:spTree>
    <p:extLst>
      <p:ext uri="{BB962C8B-B14F-4D97-AF65-F5344CB8AC3E}">
        <p14:creationId xmlns:p14="http://schemas.microsoft.com/office/powerpoint/2010/main" val="137736701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a:t>Các hàm tạo</a:t>
            </a: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52884068"/>
              </p:ext>
            </p:extLst>
          </p:nvPr>
        </p:nvGraphicFramePr>
        <p:xfrm>
          <a:off x="228600" y="1295400"/>
          <a:ext cx="8686800" cy="5537590"/>
        </p:xfrm>
        <a:graphic>
          <a:graphicData uri="http://schemas.openxmlformats.org/drawingml/2006/table">
            <a:tbl>
              <a:tblPr firstRow="1" firstCol="1" bandRow="1">
                <a:tableStyleId>{5C22544A-7EE6-4342-B048-85BDC9FD1C3A}</a:tableStyleId>
              </a:tblPr>
              <a:tblGrid>
                <a:gridCol w="44958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653826">
                <a:tc>
                  <a:txBody>
                    <a:bodyPr/>
                    <a:lstStyle/>
                    <a:p>
                      <a:pPr>
                        <a:lnSpc>
                          <a:spcPct val="100000"/>
                        </a:lnSpc>
                        <a:spcAft>
                          <a:spcPts val="0"/>
                        </a:spcAft>
                      </a:pPr>
                      <a:r>
                        <a:rPr lang="en-US" sz="2200">
                          <a:effectLst/>
                          <a:latin typeface="Arial" pitchFamily="34" charset="0"/>
                          <a:cs typeface="Arial" pitchFamily="34" charset="0"/>
                        </a:rPr>
                        <a:t>Constructor</a:t>
                      </a:r>
                      <a:endParaRPr lang="en-US" sz="2200">
                        <a:solidFill>
                          <a:srgbClr val="000000"/>
                        </a:solidFill>
                        <a:effectLst/>
                        <a:latin typeface="Arial" pitchFamily="34" charset="0"/>
                        <a:ea typeface="Calibri"/>
                        <a:cs typeface="Arial" pitchFamily="34" charset="0"/>
                      </a:endParaRPr>
                    </a:p>
                  </a:txBody>
                  <a:tcPr marL="114300" marR="114300" marT="114300" marB="114300"/>
                </a:tc>
                <a:tc>
                  <a:txBody>
                    <a:bodyPr/>
                    <a:lstStyle/>
                    <a:p>
                      <a:pPr>
                        <a:lnSpc>
                          <a:spcPct val="100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114300" marR="114300" marT="114300" marB="114300"/>
                </a:tc>
                <a:extLst>
                  <a:ext uri="{0D108BD9-81ED-4DB2-BD59-A6C34878D82A}">
                    <a16:rowId xmlns:a16="http://schemas.microsoft.com/office/drawing/2014/main" val="10000"/>
                  </a:ext>
                </a:extLst>
              </a:tr>
              <a:tr h="536775">
                <a:tc>
                  <a:txBody>
                    <a:bodyPr/>
                    <a:lstStyle/>
                    <a:p>
                      <a:pPr>
                        <a:lnSpc>
                          <a:spcPct val="100000"/>
                        </a:lnSpc>
                        <a:spcAft>
                          <a:spcPts val="0"/>
                        </a:spcAft>
                      </a:pPr>
                      <a:r>
                        <a:rPr lang="en-US" sz="2200">
                          <a:effectLst/>
                          <a:latin typeface="Arial" pitchFamily="34" charset="0"/>
                          <a:cs typeface="Arial" pitchFamily="34" charset="0"/>
                        </a:rPr>
                        <a:t>LinkedHashMap ()</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00000"/>
                        </a:lnSpc>
                        <a:spcAft>
                          <a:spcPts val="0"/>
                        </a:spcAft>
                      </a:pPr>
                      <a:r>
                        <a:rPr lang="en-US" sz="2200">
                          <a:effectLst/>
                          <a:latin typeface="Arial" pitchFamily="34" charset="0"/>
                          <a:cs typeface="Arial" pitchFamily="34" charset="0"/>
                        </a:rPr>
                        <a:t>Khởi tạo LinkedHashMap mặc định</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1"/>
                  </a:ext>
                </a:extLst>
              </a:tr>
              <a:tr h="859835">
                <a:tc>
                  <a:txBody>
                    <a:bodyPr/>
                    <a:lstStyle/>
                    <a:p>
                      <a:pPr>
                        <a:lnSpc>
                          <a:spcPct val="100000"/>
                        </a:lnSpc>
                        <a:spcAft>
                          <a:spcPts val="0"/>
                        </a:spcAft>
                      </a:pPr>
                      <a:r>
                        <a:rPr lang="en-US" sz="2200">
                          <a:effectLst/>
                          <a:latin typeface="Arial" pitchFamily="34" charset="0"/>
                          <a:cs typeface="Arial" pitchFamily="34" charset="0"/>
                        </a:rPr>
                        <a:t>LinkedHashMap (int capacity)</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00000"/>
                        </a:lnSpc>
                        <a:spcAft>
                          <a:spcPts val="0"/>
                        </a:spcAft>
                      </a:pPr>
                      <a:r>
                        <a:rPr lang="en-US" sz="2200">
                          <a:effectLst/>
                          <a:latin typeface="Arial" pitchFamily="34" charset="0"/>
                          <a:cs typeface="Arial" pitchFamily="34" charset="0"/>
                        </a:rPr>
                        <a:t>Khởi tạo LinkedHashMap với dung lượng đã cho</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2"/>
                  </a:ext>
                </a:extLst>
              </a:tr>
              <a:tr h="859835">
                <a:tc>
                  <a:txBody>
                    <a:bodyPr/>
                    <a:lstStyle/>
                    <a:p>
                      <a:pPr>
                        <a:lnSpc>
                          <a:spcPct val="100000"/>
                        </a:lnSpc>
                        <a:spcAft>
                          <a:spcPts val="0"/>
                        </a:spcAft>
                      </a:pPr>
                      <a:r>
                        <a:rPr lang="en-US" sz="2200">
                          <a:effectLst/>
                          <a:latin typeface="Arial" pitchFamily="34" charset="0"/>
                          <a:cs typeface="Arial" pitchFamily="34" charset="0"/>
                        </a:rPr>
                        <a:t>LinkedHashMap (int capacity, float loadFactor)</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00000"/>
                        </a:lnSpc>
                        <a:spcAft>
                          <a:spcPts val="0"/>
                        </a:spcAft>
                      </a:pPr>
                      <a:r>
                        <a:rPr lang="en-US" sz="2200">
                          <a:effectLst/>
                          <a:latin typeface="Arial" pitchFamily="34" charset="0"/>
                          <a:cs typeface="Arial" pitchFamily="34" charset="0"/>
                        </a:rPr>
                        <a:t>Khởi tạo cả công suất và hệ số tải</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3"/>
                  </a:ext>
                </a:extLst>
              </a:tr>
              <a:tr h="859835">
                <a:tc>
                  <a:txBody>
                    <a:bodyPr/>
                    <a:lstStyle/>
                    <a:p>
                      <a:pPr>
                        <a:lnSpc>
                          <a:spcPct val="100000"/>
                        </a:lnSpc>
                        <a:spcAft>
                          <a:spcPts val="0"/>
                        </a:spcAft>
                      </a:pPr>
                      <a:r>
                        <a:rPr lang="en-US" sz="2200">
                          <a:effectLst/>
                          <a:latin typeface="Arial" pitchFamily="34" charset="0"/>
                          <a:cs typeface="Arial" pitchFamily="34" charset="0"/>
                        </a:rPr>
                        <a:t>LinkedHashMap (int capacity, float loadFactor, boolean accessOrder)</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00000"/>
                        </a:lnSpc>
                        <a:spcAft>
                          <a:spcPts val="0"/>
                        </a:spcAft>
                      </a:pPr>
                      <a:r>
                        <a:rPr lang="en-US" sz="2200">
                          <a:effectLst/>
                          <a:latin typeface="Arial" pitchFamily="34" charset="0"/>
                          <a:cs typeface="Arial" pitchFamily="34" charset="0"/>
                        </a:rPr>
                        <a:t>Khởi tạo cả công suất và hệ số tải với cách sắp xếp được chỉ định</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4"/>
                  </a:ext>
                </a:extLst>
              </a:tr>
              <a:tr h="1182894">
                <a:tc>
                  <a:txBody>
                    <a:bodyPr/>
                    <a:lstStyle/>
                    <a:p>
                      <a:pPr>
                        <a:lnSpc>
                          <a:spcPct val="100000"/>
                        </a:lnSpc>
                        <a:spcAft>
                          <a:spcPts val="0"/>
                        </a:spcAft>
                      </a:pPr>
                      <a:r>
                        <a:rPr lang="en-US" sz="2200">
                          <a:effectLst/>
                          <a:latin typeface="Arial" pitchFamily="34" charset="0"/>
                          <a:cs typeface="Arial" pitchFamily="34" charset="0"/>
                        </a:rPr>
                        <a:t>LinkedHashMap (Map &lt;? Extends K,? Extends V&gt; m)</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00000"/>
                        </a:lnSpc>
                        <a:spcAft>
                          <a:spcPts val="0"/>
                        </a:spcAft>
                      </a:pPr>
                      <a:r>
                        <a:rPr lang="en-US" sz="2200">
                          <a:effectLst/>
                          <a:latin typeface="Arial" pitchFamily="34" charset="0"/>
                          <a:cs typeface="Arial" pitchFamily="34" charset="0"/>
                        </a:rPr>
                        <a:t>Nó được sử dụng để khởi tạo LinkedHashMap với các phần tử từ lớp Map m đã cho</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1876063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038"/>
            <a:ext cx="8229600" cy="868362"/>
          </a:xfrm>
        </p:spPr>
        <p:txBody>
          <a:bodyPr>
            <a:noAutofit/>
          </a:bodyPr>
          <a:lstStyle/>
          <a:p>
            <a:r>
              <a:rPr lang="en-US" sz="3200" b="1"/>
              <a:t>Các phương thức (1)</a:t>
            </a:r>
            <a:endParaRPr lang="en-US" sz="32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1352809"/>
              </p:ext>
            </p:extLst>
          </p:nvPr>
        </p:nvGraphicFramePr>
        <p:xfrm>
          <a:off x="228600" y="1447800"/>
          <a:ext cx="8595360" cy="5283512"/>
        </p:xfrm>
        <a:graphic>
          <a:graphicData uri="http://schemas.openxmlformats.org/drawingml/2006/table">
            <a:tbl>
              <a:tblPr firstRow="1" firstCol="1" bandRow="1">
                <a:tableStyleId>{5C22544A-7EE6-4342-B048-85BDC9FD1C3A}</a:tableStyleId>
              </a:tblPr>
              <a:tblGrid>
                <a:gridCol w="42976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0">
                <a:tc>
                  <a:txBody>
                    <a:bodyPr/>
                    <a:lstStyle/>
                    <a:p>
                      <a:pPr>
                        <a:lnSpc>
                          <a:spcPct val="115000"/>
                        </a:lnSpc>
                        <a:spcAft>
                          <a:spcPts val="0"/>
                        </a:spcAft>
                      </a:pPr>
                      <a:r>
                        <a:rPr lang="en-US" sz="2000">
                          <a:effectLst/>
                          <a:latin typeface="Arial" pitchFamily="34" charset="0"/>
                          <a:cs typeface="Arial" pitchFamily="34" charset="0"/>
                        </a:rPr>
                        <a:t>Phương thức</a:t>
                      </a:r>
                      <a:endParaRPr lang="en-US" sz="2000">
                        <a:solidFill>
                          <a:srgbClr val="000000"/>
                        </a:solidFill>
                        <a:effectLst/>
                        <a:latin typeface="Arial" pitchFamily="34" charset="0"/>
                        <a:ea typeface="Calibri"/>
                        <a:cs typeface="Arial" pitchFamily="34" charset="0"/>
                      </a:endParaRPr>
                    </a:p>
                  </a:txBody>
                  <a:tcPr marL="83856" marR="83856" marT="83856" marB="83856"/>
                </a:tc>
                <a:tc>
                  <a:txBody>
                    <a:bodyPr/>
                    <a:lstStyle/>
                    <a:p>
                      <a:pPr>
                        <a:lnSpc>
                          <a:spcPct val="115000"/>
                        </a:lnSpc>
                        <a:spcAft>
                          <a:spcPts val="0"/>
                        </a:spcAft>
                      </a:pPr>
                      <a:r>
                        <a:rPr lang="en-US" sz="2000">
                          <a:effectLst/>
                          <a:latin typeface="Arial" pitchFamily="34" charset="0"/>
                          <a:cs typeface="Arial" pitchFamily="34" charset="0"/>
                        </a:rPr>
                        <a:t>Mô tả</a:t>
                      </a:r>
                      <a:endParaRPr lang="en-US" sz="2000">
                        <a:solidFill>
                          <a:srgbClr val="000000"/>
                        </a:solidFill>
                        <a:effectLst/>
                        <a:latin typeface="Arial" pitchFamily="34" charset="0"/>
                        <a:ea typeface="Calibri"/>
                        <a:cs typeface="Arial" pitchFamily="34" charset="0"/>
                      </a:endParaRPr>
                    </a:p>
                  </a:txBody>
                  <a:tcPr marL="83856" marR="83856" marT="83856" marB="83856"/>
                </a:tc>
                <a:extLst>
                  <a:ext uri="{0D108BD9-81ED-4DB2-BD59-A6C34878D82A}">
                    <a16:rowId xmlns:a16="http://schemas.microsoft.com/office/drawing/2014/main" val="10000"/>
                  </a:ext>
                </a:extLst>
              </a:tr>
              <a:tr h="0">
                <a:tc>
                  <a:txBody>
                    <a:bodyPr/>
                    <a:lstStyle/>
                    <a:p>
                      <a:pPr>
                        <a:lnSpc>
                          <a:spcPct val="115000"/>
                        </a:lnSpc>
                        <a:spcAft>
                          <a:spcPts val="0"/>
                        </a:spcAft>
                      </a:pPr>
                      <a:r>
                        <a:rPr lang="en-US" sz="2000">
                          <a:effectLst/>
                          <a:latin typeface="Arial" pitchFamily="34" charset="0"/>
                          <a:cs typeface="Arial" pitchFamily="34" charset="0"/>
                        </a:rPr>
                        <a:t>V get (Object key)</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Trả về value mà key được chỉ định được ánh xạ đến</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1"/>
                  </a:ext>
                </a:extLst>
              </a:tr>
              <a:tr h="0">
                <a:tc>
                  <a:txBody>
                    <a:bodyPr/>
                    <a:lstStyle/>
                    <a:p>
                      <a:pPr>
                        <a:lnSpc>
                          <a:spcPct val="115000"/>
                        </a:lnSpc>
                        <a:spcAft>
                          <a:spcPts val="0"/>
                        </a:spcAft>
                      </a:pPr>
                      <a:r>
                        <a:rPr lang="en-US" sz="2000">
                          <a:effectLst/>
                          <a:latin typeface="Arial" pitchFamily="34" charset="0"/>
                          <a:cs typeface="Arial" pitchFamily="34" charset="0"/>
                        </a:rPr>
                        <a:t>void clear ()</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Xóa tất cả các cặp key - value khỏi Map</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2"/>
                  </a:ext>
                </a:extLst>
              </a:tr>
              <a:tr h="0">
                <a:tc>
                  <a:txBody>
                    <a:bodyPr/>
                    <a:lstStyle/>
                    <a:p>
                      <a:pPr>
                        <a:lnSpc>
                          <a:spcPct val="115000"/>
                        </a:lnSpc>
                        <a:spcAft>
                          <a:spcPts val="0"/>
                        </a:spcAft>
                      </a:pPr>
                      <a:r>
                        <a:rPr lang="en-US" sz="2000">
                          <a:effectLst/>
                          <a:latin typeface="Arial" pitchFamily="34" charset="0"/>
                          <a:cs typeface="Arial" pitchFamily="34" charset="0"/>
                        </a:rPr>
                        <a:t>boolean containsValue (Object value)</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Trả về true nếu Map ánh xạ một hoặc nhiều key tới value đã chỉ định</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3"/>
                  </a:ext>
                </a:extLst>
              </a:tr>
              <a:tr h="0">
                <a:tc>
                  <a:txBody>
                    <a:bodyPr/>
                    <a:lstStyle/>
                    <a:p>
                      <a:pPr>
                        <a:lnSpc>
                          <a:spcPct val="115000"/>
                        </a:lnSpc>
                        <a:spcAft>
                          <a:spcPts val="0"/>
                        </a:spcAft>
                      </a:pPr>
                      <a:r>
                        <a:rPr lang="en-US" sz="2000">
                          <a:effectLst/>
                          <a:latin typeface="Arial" pitchFamily="34" charset="0"/>
                          <a:cs typeface="Arial" pitchFamily="34" charset="0"/>
                        </a:rPr>
                        <a:t>Set &lt;Map.Entry &lt;K, V &gt;&gt; entryset ()</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Trả về tập các ánh xạ có trong Map</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4"/>
                  </a:ext>
                </a:extLst>
              </a:tr>
              <a:tr h="0">
                <a:tc>
                  <a:txBody>
                    <a:bodyPr/>
                    <a:lstStyle/>
                    <a:p>
                      <a:pPr>
                        <a:lnSpc>
                          <a:spcPct val="115000"/>
                        </a:lnSpc>
                        <a:spcAft>
                          <a:spcPts val="0"/>
                        </a:spcAft>
                      </a:pPr>
                      <a:r>
                        <a:rPr lang="en-US" sz="2000">
                          <a:effectLst/>
                          <a:latin typeface="Arial" pitchFamily="34" charset="0"/>
                          <a:cs typeface="Arial" pitchFamily="34" charset="0"/>
                        </a:rPr>
                        <a:t>void forEach (BiConsumer &lt;? super K,? super V&gt; action)</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Thực hiện action đã cho cho từng entry trong Map cho đến khi tất cả các entry được xử lý hoặc action đưa ra một ngoại lệ</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3725218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038"/>
            <a:ext cx="8229600" cy="868362"/>
          </a:xfrm>
        </p:spPr>
        <p:txBody>
          <a:bodyPr>
            <a:noAutofit/>
          </a:bodyPr>
          <a:lstStyle/>
          <a:p>
            <a:r>
              <a:rPr lang="en-US" sz="3200" b="1"/>
              <a:t>Các phương thức (2)</a:t>
            </a:r>
            <a:endParaRPr lang="en-US" sz="320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33305773"/>
              </p:ext>
            </p:extLst>
          </p:nvPr>
        </p:nvGraphicFramePr>
        <p:xfrm>
          <a:off x="304800" y="1223968"/>
          <a:ext cx="8684597" cy="5634032"/>
        </p:xfrm>
        <a:graphic>
          <a:graphicData uri="http://schemas.openxmlformats.org/drawingml/2006/table">
            <a:tbl>
              <a:tblPr firstRow="1" firstCol="1" bandRow="1">
                <a:tableStyleId>{5C22544A-7EE6-4342-B048-85BDC9FD1C3A}</a:tableStyleId>
              </a:tblPr>
              <a:tblGrid>
                <a:gridCol w="3810000">
                  <a:extLst>
                    <a:ext uri="{9D8B030D-6E8A-4147-A177-3AD203B41FA5}">
                      <a16:colId xmlns:a16="http://schemas.microsoft.com/office/drawing/2014/main" val="20000"/>
                    </a:ext>
                  </a:extLst>
                </a:gridCol>
                <a:gridCol w="4874597">
                  <a:extLst>
                    <a:ext uri="{9D8B030D-6E8A-4147-A177-3AD203B41FA5}">
                      <a16:colId xmlns:a16="http://schemas.microsoft.com/office/drawing/2014/main" val="20001"/>
                    </a:ext>
                  </a:extLst>
                </a:gridCol>
              </a:tblGrid>
              <a:tr h="322005">
                <a:tc>
                  <a:txBody>
                    <a:bodyPr/>
                    <a:lstStyle/>
                    <a:p>
                      <a:pPr>
                        <a:lnSpc>
                          <a:spcPct val="115000"/>
                        </a:lnSpc>
                        <a:spcAft>
                          <a:spcPts val="0"/>
                        </a:spcAft>
                      </a:pPr>
                      <a:r>
                        <a:rPr lang="en-US" sz="2000">
                          <a:effectLst/>
                          <a:latin typeface="Arial" pitchFamily="34" charset="0"/>
                          <a:cs typeface="Arial" pitchFamily="34" charset="0"/>
                        </a:rPr>
                        <a:t>Phương thức</a:t>
                      </a:r>
                      <a:endParaRPr lang="en-US" sz="2000">
                        <a:solidFill>
                          <a:srgbClr val="000000"/>
                        </a:solidFill>
                        <a:effectLst/>
                        <a:latin typeface="Arial" pitchFamily="34" charset="0"/>
                        <a:ea typeface="Calibri"/>
                        <a:cs typeface="Arial" pitchFamily="34" charset="0"/>
                      </a:endParaRPr>
                    </a:p>
                  </a:txBody>
                  <a:tcPr marL="83856" marR="83856" marT="83856" marB="83856"/>
                </a:tc>
                <a:tc>
                  <a:txBody>
                    <a:bodyPr/>
                    <a:lstStyle/>
                    <a:p>
                      <a:pPr>
                        <a:lnSpc>
                          <a:spcPct val="115000"/>
                        </a:lnSpc>
                        <a:spcAft>
                          <a:spcPts val="0"/>
                        </a:spcAft>
                      </a:pPr>
                      <a:r>
                        <a:rPr lang="en-US" sz="2000">
                          <a:effectLst/>
                          <a:latin typeface="Arial" pitchFamily="34" charset="0"/>
                          <a:cs typeface="Arial" pitchFamily="34" charset="0"/>
                        </a:rPr>
                        <a:t>Mô tả</a:t>
                      </a:r>
                      <a:endParaRPr lang="en-US" sz="2000">
                        <a:solidFill>
                          <a:srgbClr val="000000"/>
                        </a:solidFill>
                        <a:effectLst/>
                        <a:latin typeface="Arial" pitchFamily="34" charset="0"/>
                        <a:ea typeface="Calibri"/>
                        <a:cs typeface="Arial" pitchFamily="34" charset="0"/>
                      </a:endParaRPr>
                    </a:p>
                  </a:txBody>
                  <a:tcPr marL="83856" marR="83856" marT="83856" marB="83856"/>
                </a:tc>
                <a:extLst>
                  <a:ext uri="{0D108BD9-81ED-4DB2-BD59-A6C34878D82A}">
                    <a16:rowId xmlns:a16="http://schemas.microsoft.com/office/drawing/2014/main" val="10000"/>
                  </a:ext>
                </a:extLst>
              </a:tr>
              <a:tr h="574690">
                <a:tc>
                  <a:txBody>
                    <a:bodyPr/>
                    <a:lstStyle/>
                    <a:p>
                      <a:pPr>
                        <a:lnSpc>
                          <a:spcPct val="115000"/>
                        </a:lnSpc>
                        <a:spcAft>
                          <a:spcPts val="0"/>
                        </a:spcAft>
                      </a:pPr>
                      <a:r>
                        <a:rPr lang="en-US" sz="2000">
                          <a:effectLst/>
                          <a:latin typeface="Arial" pitchFamily="34" charset="0"/>
                          <a:cs typeface="Arial" pitchFamily="34" charset="0"/>
                        </a:rPr>
                        <a:t>V getOrDefault (Object key, V defaultValue)</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Trả về value mà key được chỉ định ánh xạ đến hoặc defaultValue nếu Map này không chứa ánh xạ cho key</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1"/>
                  </a:ext>
                </a:extLst>
              </a:tr>
              <a:tr h="266102">
                <a:tc>
                  <a:txBody>
                    <a:bodyPr/>
                    <a:lstStyle/>
                    <a:p>
                      <a:pPr>
                        <a:lnSpc>
                          <a:spcPct val="115000"/>
                        </a:lnSpc>
                        <a:spcAft>
                          <a:spcPts val="0"/>
                        </a:spcAft>
                      </a:pPr>
                      <a:r>
                        <a:rPr lang="en-US" sz="2000">
                          <a:effectLst/>
                          <a:latin typeface="Arial" pitchFamily="34" charset="0"/>
                          <a:cs typeface="Arial" pitchFamily="34" charset="0"/>
                        </a:rPr>
                        <a:t>Set &lt;K&gt; keySet ()</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Trả về một tập các key có trong Map</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2"/>
                  </a:ext>
                </a:extLst>
              </a:tr>
              <a:tr h="420396">
                <a:tc>
                  <a:txBody>
                    <a:bodyPr/>
                    <a:lstStyle/>
                    <a:p>
                      <a:pPr>
                        <a:lnSpc>
                          <a:spcPct val="115000"/>
                        </a:lnSpc>
                        <a:spcAft>
                          <a:spcPts val="0"/>
                        </a:spcAft>
                      </a:pPr>
                      <a:r>
                        <a:rPr lang="en-US" sz="2000">
                          <a:effectLst/>
                          <a:latin typeface="Arial" pitchFamily="34" charset="0"/>
                          <a:cs typeface="Arial" pitchFamily="34" charset="0"/>
                        </a:rPr>
                        <a:t>protected   boolean   removeEldestEntry (Map.Entry &lt;K, V&gt; eldest)</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Trả về true khi loại bỏ entry lớn nhất</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3"/>
                  </a:ext>
                </a:extLst>
              </a:tr>
              <a:tr h="728984">
                <a:tc>
                  <a:txBody>
                    <a:bodyPr/>
                    <a:lstStyle/>
                    <a:p>
                      <a:pPr>
                        <a:lnSpc>
                          <a:spcPct val="115000"/>
                        </a:lnSpc>
                        <a:spcAft>
                          <a:spcPts val="0"/>
                        </a:spcAft>
                      </a:pPr>
                      <a:r>
                        <a:rPr lang="en-US" sz="2000">
                          <a:effectLst/>
                          <a:latin typeface="Arial" pitchFamily="34" charset="0"/>
                          <a:cs typeface="Arial" pitchFamily="34" charset="0"/>
                        </a:rPr>
                        <a:t>void   replaceAll (BiFunction &lt;? super K,? super V,? extends V&gt;function)</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Thay thế giá trị của từng entry bằng kết quả của việc gọi hàm đã cho trên entry đó cho đến khi tất cả các entry đã được xử lý hoặc hàm ném ra một ngoại lệ</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4"/>
                  </a:ext>
                </a:extLst>
              </a:tr>
              <a:tr h="266102">
                <a:tc>
                  <a:txBody>
                    <a:bodyPr/>
                    <a:lstStyle/>
                    <a:p>
                      <a:pPr>
                        <a:lnSpc>
                          <a:spcPct val="115000"/>
                        </a:lnSpc>
                        <a:spcAft>
                          <a:spcPts val="0"/>
                        </a:spcAft>
                      </a:pPr>
                      <a:r>
                        <a:rPr lang="en-US" sz="2000">
                          <a:effectLst/>
                          <a:latin typeface="Arial" pitchFamily="34" charset="0"/>
                          <a:cs typeface="Arial" pitchFamily="34" charset="0"/>
                        </a:rPr>
                        <a:t>Collection &lt;V&gt; values ()</a:t>
                      </a:r>
                      <a:endParaRPr lang="en-US" sz="2000">
                        <a:solidFill>
                          <a:srgbClr val="000000"/>
                        </a:solidFill>
                        <a:effectLst/>
                        <a:latin typeface="Arial" pitchFamily="34" charset="0"/>
                        <a:ea typeface="Calibri"/>
                        <a:cs typeface="Arial" pitchFamily="34" charset="0"/>
                      </a:endParaRPr>
                    </a:p>
                  </a:txBody>
                  <a:tcPr marL="55904" marR="55904" marT="55904" marB="55904"/>
                </a:tc>
                <a:tc>
                  <a:txBody>
                    <a:bodyPr/>
                    <a:lstStyle/>
                    <a:p>
                      <a:pPr>
                        <a:lnSpc>
                          <a:spcPct val="115000"/>
                        </a:lnSpc>
                        <a:spcAft>
                          <a:spcPts val="0"/>
                        </a:spcAft>
                      </a:pPr>
                      <a:r>
                        <a:rPr lang="en-US" sz="2000">
                          <a:effectLst/>
                          <a:latin typeface="Arial" pitchFamily="34" charset="0"/>
                          <a:cs typeface="Arial" pitchFamily="34" charset="0"/>
                        </a:rPr>
                        <a:t>Trả về Collection các value có trong Map này</a:t>
                      </a:r>
                      <a:endParaRPr lang="en-US" sz="2000">
                        <a:solidFill>
                          <a:srgbClr val="000000"/>
                        </a:solidFill>
                        <a:effectLst/>
                        <a:latin typeface="Arial" pitchFamily="34" charset="0"/>
                        <a:ea typeface="Calibri"/>
                        <a:cs typeface="Arial" pitchFamily="34" charset="0"/>
                      </a:endParaRPr>
                    </a:p>
                  </a:txBody>
                  <a:tcPr marL="55904" marR="55904" marT="55904" marB="55904"/>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0931689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LinkedHashMap - Ví dụ 1</a:t>
            </a:r>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151538"/>
            <a:ext cx="9076657" cy="348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848229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LinkedHashMap - Ví dụ 2</a:t>
            </a:r>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37" y="2209800"/>
            <a:ext cx="9129013" cy="3832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310280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LinkedHashMap - Ví dụ 3</a:t>
            </a:r>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65" y="2667000"/>
            <a:ext cx="8881135" cy="3539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941792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4.3.3. Lớp TreeMap</a:t>
            </a:r>
          </a:p>
        </p:txBody>
      </p:sp>
      <p:sp>
        <p:nvSpPr>
          <p:cNvPr id="3" name="Content Placeholder 2"/>
          <p:cNvSpPr>
            <a:spLocks noGrp="1"/>
          </p:cNvSpPr>
          <p:nvPr>
            <p:ph idx="1"/>
          </p:nvPr>
        </p:nvSpPr>
        <p:spPr/>
        <p:txBody>
          <a:bodyPr>
            <a:noAutofit/>
          </a:bodyPr>
          <a:lstStyle/>
          <a:p>
            <a:r>
              <a:rPr lang="en-US" sz="2400"/>
              <a:t>Để lưu trữ các cặp key - value theo thứ tự được sắp xếp</a:t>
            </a:r>
          </a:p>
          <a:p>
            <a:r>
              <a:rPr lang="en-US" sz="2400"/>
              <a:t>Chứa các giá trị value dựa trên khóa key</a:t>
            </a:r>
          </a:p>
          <a:p>
            <a:r>
              <a:rPr lang="en-US" sz="2400"/>
              <a:t>Không thể có khóa null nhưng có thể có nhiều giá trị null</a:t>
            </a:r>
          </a:p>
          <a:p>
            <a:r>
              <a:rPr lang="en-US" sz="2400"/>
              <a:t>Không được đồng bộ hóa</a:t>
            </a:r>
          </a:p>
          <a:p>
            <a:r>
              <a:rPr lang="en-US" sz="2400"/>
              <a:t>TreeMap duy trì thứ tự tăng dần</a:t>
            </a:r>
          </a:p>
          <a:p>
            <a:pPr marL="0" indent="0">
              <a:buNone/>
            </a:pPr>
            <a:r>
              <a:rPr lang="en-US" sz="2400"/>
              <a:t>public class TreeMap&lt;K,V&gt; extends AbstractMap&lt;K,V&gt; implements NavigableMap&lt;K,V&gt;, Cloneable, Serializable</a:t>
            </a:r>
          </a:p>
          <a:p>
            <a:pPr marL="0" indent="0">
              <a:buNone/>
            </a:pPr>
            <a:r>
              <a:rPr lang="en-US" sz="2400"/>
              <a:t>Trong đó:</a:t>
            </a:r>
          </a:p>
          <a:p>
            <a:pPr lvl="1"/>
            <a:r>
              <a:rPr lang="en-US" sz="2400"/>
              <a:t>K : Kiểu của key, được duy trì bởi map này</a:t>
            </a:r>
          </a:p>
          <a:p>
            <a:pPr lvl="1"/>
            <a:r>
              <a:rPr lang="en-US" sz="2400"/>
              <a:t>V : Kiểu của các value được ánh xạ đến</a:t>
            </a:r>
          </a:p>
        </p:txBody>
      </p:sp>
    </p:spTree>
    <p:extLst>
      <p:ext uri="{BB962C8B-B14F-4D97-AF65-F5344CB8AC3E}">
        <p14:creationId xmlns:p14="http://schemas.microsoft.com/office/powerpoint/2010/main" val="319799544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b="1"/>
              <a:t>Các hàm tạo</a:t>
            </a: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23433070"/>
              </p:ext>
            </p:extLst>
          </p:nvPr>
        </p:nvGraphicFramePr>
        <p:xfrm>
          <a:off x="152400" y="914403"/>
          <a:ext cx="8839200" cy="5867397"/>
        </p:xfrm>
        <a:graphic>
          <a:graphicData uri="http://schemas.openxmlformats.org/drawingml/2006/table">
            <a:tbl>
              <a:tblPr firstRow="1" firstCol="1" bandRow="1">
                <a:tableStyleId>{5C22544A-7EE6-4342-B048-85BDC9FD1C3A}</a:tableStyleId>
              </a:tblPr>
              <a:tblGrid>
                <a:gridCol w="3733800">
                  <a:extLst>
                    <a:ext uri="{9D8B030D-6E8A-4147-A177-3AD203B41FA5}">
                      <a16:colId xmlns:a16="http://schemas.microsoft.com/office/drawing/2014/main" val="20000"/>
                    </a:ext>
                  </a:extLst>
                </a:gridCol>
                <a:gridCol w="5105400">
                  <a:extLst>
                    <a:ext uri="{9D8B030D-6E8A-4147-A177-3AD203B41FA5}">
                      <a16:colId xmlns:a16="http://schemas.microsoft.com/office/drawing/2014/main" val="20001"/>
                    </a:ext>
                  </a:extLst>
                </a:gridCol>
              </a:tblGrid>
              <a:tr h="809459">
                <a:tc>
                  <a:txBody>
                    <a:bodyPr/>
                    <a:lstStyle/>
                    <a:p>
                      <a:pPr>
                        <a:lnSpc>
                          <a:spcPct val="115000"/>
                        </a:lnSpc>
                        <a:spcAft>
                          <a:spcPts val="0"/>
                        </a:spcAft>
                      </a:pPr>
                      <a:r>
                        <a:rPr lang="en-US" sz="2200">
                          <a:effectLst/>
                          <a:latin typeface="Arial" pitchFamily="34" charset="0"/>
                          <a:cs typeface="Arial" pitchFamily="34" charset="0"/>
                        </a:rPr>
                        <a:t>Constructor</a:t>
                      </a:r>
                      <a:endParaRPr lang="en-US" sz="2200">
                        <a:solidFill>
                          <a:srgbClr val="000000"/>
                        </a:solidFill>
                        <a:effectLst/>
                        <a:latin typeface="Arial" pitchFamily="34" charset="0"/>
                        <a:ea typeface="Calibri"/>
                        <a:cs typeface="Arial" pitchFamily="34" charset="0"/>
                      </a:endParaRPr>
                    </a:p>
                  </a:txBody>
                  <a:tcPr marL="114300" marR="114300" marT="114300" marB="114300"/>
                </a:tc>
                <a:tc>
                  <a:txBody>
                    <a:bodyPr/>
                    <a:lstStyle/>
                    <a:p>
                      <a:pPr>
                        <a:lnSpc>
                          <a:spcPct val="115000"/>
                        </a:lnSpc>
                        <a:spcAft>
                          <a:spcPts val="0"/>
                        </a:spcAft>
                      </a:pPr>
                      <a:r>
                        <a:rPr lang="en-US" sz="2200">
                          <a:effectLst/>
                          <a:latin typeface="Arial" pitchFamily="34" charset="0"/>
                          <a:cs typeface="Arial" pitchFamily="34" charset="0"/>
                        </a:rPr>
                        <a:t>Sự miêu tả</a:t>
                      </a:r>
                      <a:endParaRPr lang="en-US" sz="2200">
                        <a:solidFill>
                          <a:srgbClr val="000000"/>
                        </a:solidFill>
                        <a:effectLst/>
                        <a:latin typeface="Arial" pitchFamily="34" charset="0"/>
                        <a:ea typeface="Calibri"/>
                        <a:cs typeface="Arial" pitchFamily="34" charset="0"/>
                      </a:endParaRPr>
                    </a:p>
                  </a:txBody>
                  <a:tcPr marL="114300" marR="114300" marT="114300" marB="114300"/>
                </a:tc>
                <a:extLst>
                  <a:ext uri="{0D108BD9-81ED-4DB2-BD59-A6C34878D82A}">
                    <a16:rowId xmlns:a16="http://schemas.microsoft.com/office/drawing/2014/main" val="10000"/>
                  </a:ext>
                </a:extLst>
              </a:tr>
              <a:tr h="1064505">
                <a:tc>
                  <a:txBody>
                    <a:bodyPr/>
                    <a:lstStyle/>
                    <a:p>
                      <a:pPr algn="just">
                        <a:lnSpc>
                          <a:spcPct val="130000"/>
                        </a:lnSpc>
                        <a:spcBef>
                          <a:spcPts val="300"/>
                        </a:spcBef>
                        <a:spcAft>
                          <a:spcPts val="300"/>
                        </a:spcAft>
                      </a:pPr>
                      <a:r>
                        <a:rPr lang="en-US" sz="2200">
                          <a:effectLst/>
                          <a:latin typeface="Arial" pitchFamily="34" charset="0"/>
                          <a:cs typeface="Arial" pitchFamily="34" charset="0"/>
                        </a:rPr>
                        <a:t>TreeMap()</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200">
                          <a:effectLst/>
                          <a:latin typeface="Arial" pitchFamily="34" charset="0"/>
                          <a:cs typeface="Arial" pitchFamily="34" charset="0"/>
                        </a:rPr>
                        <a:t>Xây dựng một tree map trống được sắp xếp theo thứ tự tự nhiên của khóa.</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1"/>
                  </a:ext>
                </a:extLst>
              </a:tr>
              <a:tr h="1064505">
                <a:tc>
                  <a:txBody>
                    <a:bodyPr/>
                    <a:lstStyle/>
                    <a:p>
                      <a:pPr>
                        <a:lnSpc>
                          <a:spcPct val="115000"/>
                        </a:lnSpc>
                        <a:spcAft>
                          <a:spcPts val="0"/>
                        </a:spcAft>
                      </a:pPr>
                      <a:r>
                        <a:rPr lang="en-US" sz="2200">
                          <a:effectLst/>
                          <a:latin typeface="Arial" pitchFamily="34" charset="0"/>
                          <a:cs typeface="Arial" pitchFamily="34" charset="0"/>
                        </a:rPr>
                        <a:t>TreeMap (Comparator &lt;? super K&gt; comparator)</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200">
                          <a:effectLst/>
                          <a:latin typeface="Arial" pitchFamily="34" charset="0"/>
                          <a:cs typeface="Arial" pitchFamily="34" charset="0"/>
                        </a:rPr>
                        <a:t>Xây dựng một map dựa trên tree trống sẽ được sắp xếp bằng comparator</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2"/>
                  </a:ext>
                </a:extLst>
              </a:tr>
              <a:tr h="1464464">
                <a:tc>
                  <a:txBody>
                    <a:bodyPr/>
                    <a:lstStyle/>
                    <a:p>
                      <a:pPr>
                        <a:lnSpc>
                          <a:spcPct val="115000"/>
                        </a:lnSpc>
                        <a:spcAft>
                          <a:spcPts val="0"/>
                        </a:spcAft>
                      </a:pPr>
                      <a:r>
                        <a:rPr lang="en-US" sz="2200">
                          <a:effectLst/>
                          <a:latin typeface="Arial" pitchFamily="34" charset="0"/>
                          <a:cs typeface="Arial" pitchFamily="34" charset="0"/>
                        </a:rPr>
                        <a:t>TreeMap (Map &lt;? extends K,? extends V&gt; m)</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200">
                          <a:effectLst/>
                          <a:latin typeface="Arial" pitchFamily="34" charset="0"/>
                          <a:cs typeface="Arial" pitchFamily="34" charset="0"/>
                        </a:rPr>
                        <a:t>Khởi tạo một treemap với các entry từ m, sẽ được sắp xếp theo thứ tự tự nhiên của các key</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3"/>
                  </a:ext>
                </a:extLst>
              </a:tr>
              <a:tr h="1464464">
                <a:tc>
                  <a:txBody>
                    <a:bodyPr/>
                    <a:lstStyle/>
                    <a:p>
                      <a:pPr>
                        <a:lnSpc>
                          <a:spcPct val="115000"/>
                        </a:lnSpc>
                        <a:spcAft>
                          <a:spcPts val="0"/>
                        </a:spcAft>
                      </a:pPr>
                      <a:r>
                        <a:rPr lang="en-US" sz="2200">
                          <a:effectLst/>
                          <a:latin typeface="Arial" pitchFamily="34" charset="0"/>
                          <a:cs typeface="Arial" pitchFamily="34" charset="0"/>
                        </a:rPr>
                        <a:t>TreeMap (SortedMap &lt;K,? extends V&gt; m)</a:t>
                      </a:r>
                      <a:endParaRPr lang="en-US" sz="2200">
                        <a:solidFill>
                          <a:srgbClr val="000000"/>
                        </a:solidFill>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200">
                          <a:effectLst/>
                          <a:latin typeface="Arial" pitchFamily="34" charset="0"/>
                          <a:cs typeface="Arial" pitchFamily="34" charset="0"/>
                        </a:rPr>
                        <a:t>Khởi tạo một treemap với các entry từ SortedMap m, sẽ được sắp xếp theo thứ tự như m.</a:t>
                      </a:r>
                      <a:endParaRPr lang="en-US" sz="22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0031325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a:t>Các phương thức (1)</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3897532"/>
              </p:ext>
            </p:extLst>
          </p:nvPr>
        </p:nvGraphicFramePr>
        <p:xfrm>
          <a:off x="228601" y="609600"/>
          <a:ext cx="8839199" cy="5729336"/>
        </p:xfrm>
        <a:graphic>
          <a:graphicData uri="http://schemas.openxmlformats.org/drawingml/2006/table">
            <a:tbl>
              <a:tblPr firstRow="1" firstCol="1" bandRow="1">
                <a:tableStyleId>{5C22544A-7EE6-4342-B048-85BDC9FD1C3A}</a:tableStyleId>
              </a:tblPr>
              <a:tblGrid>
                <a:gridCol w="4343400">
                  <a:extLst>
                    <a:ext uri="{9D8B030D-6E8A-4147-A177-3AD203B41FA5}">
                      <a16:colId xmlns:a16="http://schemas.microsoft.com/office/drawing/2014/main" val="20000"/>
                    </a:ext>
                  </a:extLst>
                </a:gridCol>
                <a:gridCol w="4495799">
                  <a:extLst>
                    <a:ext uri="{9D8B030D-6E8A-4147-A177-3AD203B41FA5}">
                      <a16:colId xmlns:a16="http://schemas.microsoft.com/office/drawing/2014/main" val="20001"/>
                    </a:ext>
                  </a:extLst>
                </a:gridCol>
              </a:tblGrid>
              <a:tr h="83332">
                <a:tc>
                  <a:txBody>
                    <a:bodyPr/>
                    <a:lstStyle/>
                    <a:p>
                      <a:pPr>
                        <a:lnSpc>
                          <a:spcPct val="115000"/>
                        </a:lnSpc>
                        <a:spcAft>
                          <a:spcPts val="0"/>
                        </a:spcAft>
                      </a:pPr>
                      <a:r>
                        <a:rPr lang="en-US" sz="2400">
                          <a:effectLst/>
                          <a:latin typeface="Arial" pitchFamily="34" charset="0"/>
                          <a:cs typeface="Arial" pitchFamily="34" charset="0"/>
                        </a:rPr>
                        <a:t>Phương thức</a:t>
                      </a:r>
                      <a:endParaRPr lang="en-US" sz="2400">
                        <a:solidFill>
                          <a:srgbClr val="000000"/>
                        </a:solidFill>
                        <a:effectLst/>
                        <a:latin typeface="Arial" pitchFamily="34" charset="0"/>
                        <a:ea typeface="Calibri"/>
                        <a:cs typeface="Arial" pitchFamily="34" charset="0"/>
                      </a:endParaRPr>
                    </a:p>
                  </a:txBody>
                  <a:tcPr marL="21701" marR="21701" marT="21701" marB="21701"/>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21701" marR="21701" marT="21701" marB="21701"/>
                </a:tc>
                <a:extLst>
                  <a:ext uri="{0D108BD9-81ED-4DB2-BD59-A6C34878D82A}">
                    <a16:rowId xmlns:a16="http://schemas.microsoft.com/office/drawing/2014/main" val="10000"/>
                  </a:ext>
                </a:extLst>
              </a:tr>
              <a:tr h="148724">
                <a:tc>
                  <a:txBody>
                    <a:bodyPr/>
                    <a:lstStyle/>
                    <a:p>
                      <a:pPr>
                        <a:lnSpc>
                          <a:spcPct val="100000"/>
                        </a:lnSpc>
                        <a:spcAft>
                          <a:spcPts val="0"/>
                        </a:spcAft>
                      </a:pPr>
                      <a:r>
                        <a:rPr lang="en-US" sz="2400">
                          <a:effectLst/>
                          <a:latin typeface="Arial" pitchFamily="34" charset="0"/>
                          <a:cs typeface="Arial" pitchFamily="34" charset="0"/>
                        </a:rPr>
                        <a:t>Map.Entry&lt;K,V&gt; ceilingEntry(K key)</a:t>
                      </a:r>
                      <a:endParaRPr lang="en-US" sz="24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00000"/>
                        </a:lnSpc>
                        <a:spcAft>
                          <a:spcPts val="0"/>
                        </a:spcAft>
                      </a:pPr>
                      <a:r>
                        <a:rPr lang="en-US" sz="2400">
                          <a:effectLst/>
                          <a:latin typeface="Arial" pitchFamily="34" charset="0"/>
                          <a:cs typeface="Arial" pitchFamily="34" charset="0"/>
                        </a:rPr>
                        <a:t>Trả về cặp key - value có key nhỏ nhất, lớn hơn hoặc bằng key đã chỉ định hoặc null nếu không có key đó</a:t>
                      </a:r>
                      <a:endParaRPr lang="en-US" sz="24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1"/>
                  </a:ext>
                </a:extLst>
              </a:tr>
              <a:tr h="108794">
                <a:tc>
                  <a:txBody>
                    <a:bodyPr/>
                    <a:lstStyle/>
                    <a:p>
                      <a:pPr>
                        <a:lnSpc>
                          <a:spcPct val="100000"/>
                        </a:lnSpc>
                        <a:spcAft>
                          <a:spcPts val="0"/>
                        </a:spcAft>
                      </a:pPr>
                      <a:r>
                        <a:rPr lang="en-US" sz="2400">
                          <a:effectLst/>
                          <a:latin typeface="Arial" pitchFamily="34" charset="0"/>
                          <a:cs typeface="Arial" pitchFamily="34" charset="0"/>
                        </a:rPr>
                        <a:t>K ceilingKey(K key)</a:t>
                      </a:r>
                      <a:endParaRPr lang="en-US" sz="24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00000"/>
                        </a:lnSpc>
                        <a:spcAft>
                          <a:spcPts val="0"/>
                        </a:spcAft>
                      </a:pPr>
                      <a:r>
                        <a:rPr lang="en-US" sz="2400">
                          <a:effectLst/>
                          <a:latin typeface="Arial" pitchFamily="34" charset="0"/>
                          <a:cs typeface="Arial" pitchFamily="34" charset="0"/>
                        </a:rPr>
                        <a:t>Trả về key bé nhất, lớn hơn hoặc bằng key đã chỉ định hoặc null nếu không có key đó</a:t>
                      </a:r>
                      <a:endParaRPr lang="en-US" sz="24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2"/>
                  </a:ext>
                </a:extLst>
              </a:tr>
              <a:tr h="68865">
                <a:tc>
                  <a:txBody>
                    <a:bodyPr/>
                    <a:lstStyle/>
                    <a:p>
                      <a:pPr>
                        <a:lnSpc>
                          <a:spcPct val="100000"/>
                        </a:lnSpc>
                        <a:spcAft>
                          <a:spcPts val="0"/>
                        </a:spcAft>
                      </a:pPr>
                      <a:r>
                        <a:rPr lang="en-US" sz="2400">
                          <a:effectLst/>
                          <a:latin typeface="Arial" pitchFamily="34" charset="0"/>
                          <a:cs typeface="Arial" pitchFamily="34" charset="0"/>
                        </a:rPr>
                        <a:t>void clear()</a:t>
                      </a:r>
                      <a:endParaRPr lang="en-US" sz="24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00000"/>
                        </a:lnSpc>
                        <a:spcAft>
                          <a:spcPts val="0"/>
                        </a:spcAft>
                      </a:pPr>
                      <a:r>
                        <a:rPr lang="en-US" sz="2400">
                          <a:effectLst/>
                          <a:latin typeface="Arial" pitchFamily="34" charset="0"/>
                          <a:cs typeface="Arial" pitchFamily="34" charset="0"/>
                        </a:rPr>
                        <a:t>Xóa tất cả các cặp key - value khỏi map</a:t>
                      </a:r>
                      <a:endParaRPr lang="en-US" sz="24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3"/>
                  </a:ext>
                </a:extLst>
              </a:tr>
              <a:tr h="108794">
                <a:tc>
                  <a:txBody>
                    <a:bodyPr/>
                    <a:lstStyle/>
                    <a:p>
                      <a:pPr>
                        <a:lnSpc>
                          <a:spcPct val="100000"/>
                        </a:lnSpc>
                        <a:spcAft>
                          <a:spcPts val="0"/>
                        </a:spcAft>
                      </a:pPr>
                      <a:r>
                        <a:rPr lang="en-US" sz="2400">
                          <a:effectLst/>
                          <a:latin typeface="Arial" pitchFamily="34" charset="0"/>
                          <a:cs typeface="Arial" pitchFamily="34" charset="0"/>
                        </a:rPr>
                        <a:t>Object clone()</a:t>
                      </a:r>
                      <a:endParaRPr lang="en-US" sz="24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00000"/>
                        </a:lnSpc>
                        <a:spcAft>
                          <a:spcPts val="0"/>
                        </a:spcAft>
                      </a:pPr>
                      <a:r>
                        <a:rPr lang="en-US" sz="2400">
                          <a:effectLst/>
                          <a:latin typeface="Arial" pitchFamily="34" charset="0"/>
                          <a:cs typeface="Arial" pitchFamily="34" charset="0"/>
                        </a:rPr>
                        <a:t>Trả về một bản sao nông của đối tượng TreeMap</a:t>
                      </a:r>
                      <a:endParaRPr lang="en-US" sz="24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4"/>
                  </a:ext>
                </a:extLst>
              </a:tr>
              <a:tr h="108794">
                <a:tc>
                  <a:txBody>
                    <a:bodyPr/>
                    <a:lstStyle/>
                    <a:p>
                      <a:pPr>
                        <a:lnSpc>
                          <a:spcPct val="100000"/>
                        </a:lnSpc>
                        <a:spcAft>
                          <a:spcPts val="0"/>
                        </a:spcAft>
                      </a:pPr>
                      <a:r>
                        <a:rPr lang="en-US" sz="2400">
                          <a:effectLst/>
                          <a:latin typeface="Arial" pitchFamily="34" charset="0"/>
                          <a:cs typeface="Arial" pitchFamily="34" charset="0"/>
                        </a:rPr>
                        <a:t>Comparator&lt;? super K&gt; comparator()</a:t>
                      </a:r>
                      <a:endParaRPr lang="en-US" sz="24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00000"/>
                        </a:lnSpc>
                        <a:spcAft>
                          <a:spcPts val="0"/>
                        </a:spcAft>
                      </a:pPr>
                      <a:r>
                        <a:rPr lang="en-US" sz="2400">
                          <a:effectLst/>
                          <a:latin typeface="Arial" pitchFamily="34" charset="0"/>
                          <a:cs typeface="Arial" pitchFamily="34" charset="0"/>
                        </a:rPr>
                        <a:t>Trả về Comparator sắp xếp key theo thứ tự hoặc null nếu map sử dụng thứ tự tự nhiên.</a:t>
                      </a:r>
                      <a:endParaRPr lang="en-US" sz="24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1270721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a:t>Các phương thức (2)</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3126668"/>
              </p:ext>
            </p:extLst>
          </p:nvPr>
        </p:nvGraphicFramePr>
        <p:xfrm>
          <a:off x="304801" y="533400"/>
          <a:ext cx="8762999" cy="6076808"/>
        </p:xfrm>
        <a:graphic>
          <a:graphicData uri="http://schemas.openxmlformats.org/drawingml/2006/table">
            <a:tbl>
              <a:tblPr firstRow="1" firstCol="1" bandRow="1">
                <a:tableStyleId>{5C22544A-7EE6-4342-B048-85BDC9FD1C3A}</a:tableStyleId>
              </a:tblPr>
              <a:tblGrid>
                <a:gridCol w="4419600">
                  <a:extLst>
                    <a:ext uri="{9D8B030D-6E8A-4147-A177-3AD203B41FA5}">
                      <a16:colId xmlns:a16="http://schemas.microsoft.com/office/drawing/2014/main" val="20000"/>
                    </a:ext>
                  </a:extLst>
                </a:gridCol>
                <a:gridCol w="4343399">
                  <a:extLst>
                    <a:ext uri="{9D8B030D-6E8A-4147-A177-3AD203B41FA5}">
                      <a16:colId xmlns:a16="http://schemas.microsoft.com/office/drawing/2014/main" val="20001"/>
                    </a:ext>
                  </a:extLst>
                </a:gridCol>
              </a:tblGrid>
              <a:tr h="83332">
                <a:tc>
                  <a:txBody>
                    <a:bodyPr/>
                    <a:lstStyle/>
                    <a:p>
                      <a:pPr>
                        <a:lnSpc>
                          <a:spcPct val="115000"/>
                        </a:lnSpc>
                        <a:spcAft>
                          <a:spcPts val="0"/>
                        </a:spcAft>
                      </a:pPr>
                      <a:r>
                        <a:rPr lang="en-US" sz="2400">
                          <a:effectLst/>
                        </a:rPr>
                        <a:t>Phương thức</a:t>
                      </a:r>
                      <a:endParaRPr lang="en-US" sz="2400">
                        <a:solidFill>
                          <a:srgbClr val="000000"/>
                        </a:solidFill>
                        <a:effectLst/>
                        <a:latin typeface="Times New Roman"/>
                        <a:ea typeface="Calibri"/>
                        <a:cs typeface="Tahoma"/>
                      </a:endParaRPr>
                    </a:p>
                  </a:txBody>
                  <a:tcPr marL="21701" marR="21701" marT="21701" marB="21701"/>
                </a:tc>
                <a:tc>
                  <a:txBody>
                    <a:bodyPr/>
                    <a:lstStyle/>
                    <a:p>
                      <a:pPr>
                        <a:lnSpc>
                          <a:spcPct val="115000"/>
                        </a:lnSpc>
                        <a:spcAft>
                          <a:spcPts val="0"/>
                        </a:spcAft>
                      </a:pPr>
                      <a:r>
                        <a:rPr lang="en-US" sz="2400">
                          <a:effectLst/>
                        </a:rPr>
                        <a:t>Mô tả</a:t>
                      </a:r>
                      <a:endParaRPr lang="en-US" sz="2400">
                        <a:solidFill>
                          <a:srgbClr val="000000"/>
                        </a:solidFill>
                        <a:effectLst/>
                        <a:latin typeface="Times New Roman"/>
                        <a:ea typeface="Calibri"/>
                        <a:cs typeface="Tahoma"/>
                      </a:endParaRPr>
                    </a:p>
                  </a:txBody>
                  <a:tcPr marL="21701" marR="21701" marT="21701" marB="21701"/>
                </a:tc>
                <a:extLst>
                  <a:ext uri="{0D108BD9-81ED-4DB2-BD59-A6C34878D82A}">
                    <a16:rowId xmlns:a16="http://schemas.microsoft.com/office/drawing/2014/main" val="10000"/>
                  </a:ext>
                </a:extLst>
              </a:tr>
              <a:tr h="108794">
                <a:tc>
                  <a:txBody>
                    <a:bodyPr/>
                    <a:lstStyle/>
                    <a:p>
                      <a:pPr>
                        <a:lnSpc>
                          <a:spcPct val="115000"/>
                        </a:lnSpc>
                        <a:spcAft>
                          <a:spcPts val="0"/>
                        </a:spcAft>
                      </a:pPr>
                      <a:r>
                        <a:rPr lang="en-US" sz="2400">
                          <a:effectLst/>
                        </a:rPr>
                        <a:t>NavigableSet&lt;K&gt; descendingKeySet()</a:t>
                      </a:r>
                      <a:endParaRPr lang="en-US" sz="24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400">
                          <a:effectLst/>
                        </a:rPr>
                        <a:t>Trả về một tập</a:t>
                      </a:r>
                      <a:r>
                        <a:rPr lang="en-US" sz="2400" baseline="0">
                          <a:effectLst/>
                        </a:rPr>
                        <a:t> </a:t>
                      </a:r>
                      <a:r>
                        <a:rPr lang="en-US" sz="2400">
                          <a:effectLst/>
                        </a:rPr>
                        <a:t>các key theo trật tự đảo ngược có trong map</a:t>
                      </a:r>
                      <a:endParaRPr lang="en-US" sz="24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1"/>
                  </a:ext>
                </a:extLst>
              </a:tr>
              <a:tr h="108794">
                <a:tc>
                  <a:txBody>
                    <a:bodyPr/>
                    <a:lstStyle/>
                    <a:p>
                      <a:pPr>
                        <a:lnSpc>
                          <a:spcPct val="115000"/>
                        </a:lnSpc>
                        <a:spcAft>
                          <a:spcPts val="0"/>
                        </a:spcAft>
                      </a:pPr>
                      <a:r>
                        <a:rPr lang="en-US" sz="2400">
                          <a:effectLst/>
                        </a:rPr>
                        <a:t>NavigableMap&lt;K,V&gt; descendingMap()</a:t>
                      </a:r>
                      <a:endParaRPr lang="en-US" sz="24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400">
                          <a:effectLst/>
                        </a:rPr>
                        <a:t>Trả về các cặp key - value được chỉ định theo thứ tự giảm dần</a:t>
                      </a:r>
                      <a:endParaRPr lang="en-US" sz="24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2"/>
                  </a:ext>
                </a:extLst>
              </a:tr>
              <a:tr h="68865">
                <a:tc>
                  <a:txBody>
                    <a:bodyPr/>
                    <a:lstStyle/>
                    <a:p>
                      <a:pPr>
                        <a:lnSpc>
                          <a:spcPct val="115000"/>
                        </a:lnSpc>
                        <a:spcAft>
                          <a:spcPts val="0"/>
                        </a:spcAft>
                      </a:pPr>
                      <a:r>
                        <a:rPr lang="en-US" sz="2400">
                          <a:effectLst/>
                        </a:rPr>
                        <a:t>Map.Entry firstEntry()</a:t>
                      </a:r>
                      <a:endParaRPr lang="en-US" sz="24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400">
                          <a:effectLst/>
                        </a:rPr>
                        <a:t>Trả về cặp key - value có key bé nhất</a:t>
                      </a:r>
                      <a:endParaRPr lang="en-US" sz="24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3"/>
                  </a:ext>
                </a:extLst>
              </a:tr>
              <a:tr h="108794">
                <a:tc>
                  <a:txBody>
                    <a:bodyPr/>
                    <a:lstStyle/>
                    <a:p>
                      <a:pPr>
                        <a:lnSpc>
                          <a:spcPct val="115000"/>
                        </a:lnSpc>
                        <a:spcAft>
                          <a:spcPts val="0"/>
                        </a:spcAft>
                      </a:pPr>
                      <a:r>
                        <a:rPr lang="en-US" sz="2400">
                          <a:effectLst/>
                        </a:rPr>
                        <a:t>Map.Entry&lt;K,V&gt; floorEntry(K key)</a:t>
                      </a:r>
                      <a:endParaRPr lang="en-US" sz="24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400">
                          <a:effectLst/>
                        </a:rPr>
                        <a:t>Trả về key lớn nhất, nhỏ hơn hoặc bằng key đã chỉ định hoặc null nếu không có key đó</a:t>
                      </a:r>
                      <a:endParaRPr lang="en-US" sz="24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4"/>
                  </a:ext>
                </a:extLst>
              </a:tr>
              <a:tr h="148724">
                <a:tc>
                  <a:txBody>
                    <a:bodyPr/>
                    <a:lstStyle/>
                    <a:p>
                      <a:pPr>
                        <a:lnSpc>
                          <a:spcPct val="115000"/>
                        </a:lnSpc>
                        <a:spcAft>
                          <a:spcPts val="0"/>
                        </a:spcAft>
                      </a:pPr>
                      <a:r>
                        <a:rPr lang="en-US" sz="2400">
                          <a:effectLst/>
                        </a:rPr>
                        <a:t>void forEach(BiConsumer&lt;? super K,? super V&gt; action)</a:t>
                      </a:r>
                      <a:endParaRPr lang="en-US" sz="24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400">
                          <a:effectLst/>
                        </a:rPr>
                        <a:t>Thực hiện hành động đã cho cho từng entry trong map cho đến khi tất cả các entry được xử lý hoặc hành động đưa ra một ngoại lệ</a:t>
                      </a:r>
                      <a:endParaRPr lang="en-US" sz="24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6401397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a:t>Các phương thức (3)</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98663219"/>
              </p:ext>
            </p:extLst>
          </p:nvPr>
        </p:nvGraphicFramePr>
        <p:xfrm>
          <a:off x="152400" y="698940"/>
          <a:ext cx="8915399" cy="5794698"/>
        </p:xfrm>
        <a:graphic>
          <a:graphicData uri="http://schemas.openxmlformats.org/drawingml/2006/table">
            <a:tbl>
              <a:tblPr firstRow="1" firstCol="1" bandRow="1">
                <a:tableStyleId>{5C22544A-7EE6-4342-B048-85BDC9FD1C3A}</a:tableStyleId>
              </a:tblPr>
              <a:tblGrid>
                <a:gridCol w="4114799">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83332">
                <a:tc>
                  <a:txBody>
                    <a:bodyPr/>
                    <a:lstStyle/>
                    <a:p>
                      <a:pPr>
                        <a:lnSpc>
                          <a:spcPct val="115000"/>
                        </a:lnSpc>
                        <a:spcAft>
                          <a:spcPts val="0"/>
                        </a:spcAft>
                      </a:pPr>
                      <a:r>
                        <a:rPr lang="en-US" sz="2000">
                          <a:effectLst/>
                          <a:latin typeface="Arial" pitchFamily="34" charset="0"/>
                          <a:cs typeface="Arial" pitchFamily="34" charset="0"/>
                        </a:rPr>
                        <a:t>Phương thức</a:t>
                      </a:r>
                      <a:endParaRPr lang="en-US" sz="2000">
                        <a:solidFill>
                          <a:srgbClr val="000000"/>
                        </a:solidFill>
                        <a:effectLst/>
                        <a:latin typeface="Arial" pitchFamily="34" charset="0"/>
                        <a:ea typeface="Calibri"/>
                        <a:cs typeface="Arial" pitchFamily="34" charset="0"/>
                      </a:endParaRPr>
                    </a:p>
                  </a:txBody>
                  <a:tcPr marL="21701" marR="21701" marT="21701" marB="21701"/>
                </a:tc>
                <a:tc>
                  <a:txBody>
                    <a:bodyPr/>
                    <a:lstStyle/>
                    <a:p>
                      <a:pPr>
                        <a:lnSpc>
                          <a:spcPct val="115000"/>
                        </a:lnSpc>
                        <a:spcAft>
                          <a:spcPts val="0"/>
                        </a:spcAft>
                      </a:pPr>
                      <a:r>
                        <a:rPr lang="en-US" sz="2000">
                          <a:effectLst/>
                          <a:latin typeface="Arial" pitchFamily="34" charset="0"/>
                          <a:cs typeface="Arial" pitchFamily="34" charset="0"/>
                        </a:rPr>
                        <a:t>Mô tả</a:t>
                      </a:r>
                      <a:endParaRPr lang="en-US" sz="2000">
                        <a:solidFill>
                          <a:srgbClr val="000000"/>
                        </a:solidFill>
                        <a:effectLst/>
                        <a:latin typeface="Arial" pitchFamily="34" charset="0"/>
                        <a:ea typeface="Calibri"/>
                        <a:cs typeface="Arial" pitchFamily="34" charset="0"/>
                      </a:endParaRPr>
                    </a:p>
                  </a:txBody>
                  <a:tcPr marL="21701" marR="21701" marT="21701" marB="21701"/>
                </a:tc>
                <a:extLst>
                  <a:ext uri="{0D108BD9-81ED-4DB2-BD59-A6C34878D82A}">
                    <a16:rowId xmlns:a16="http://schemas.microsoft.com/office/drawing/2014/main" val="10000"/>
                  </a:ext>
                </a:extLst>
              </a:tr>
              <a:tr h="108794">
                <a:tc>
                  <a:txBody>
                    <a:bodyPr/>
                    <a:lstStyle/>
                    <a:p>
                      <a:pPr>
                        <a:lnSpc>
                          <a:spcPct val="115000"/>
                        </a:lnSpc>
                        <a:spcAft>
                          <a:spcPts val="0"/>
                        </a:spcAft>
                      </a:pPr>
                      <a:r>
                        <a:rPr lang="en-US" sz="2000">
                          <a:effectLst/>
                          <a:latin typeface="Arial" pitchFamily="34" charset="0"/>
                          <a:cs typeface="Arial" pitchFamily="34" charset="0"/>
                        </a:rPr>
                        <a:t>SortedMap&lt;K,V&gt; headMap(K toKey)	</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các cặp key - value có key hoàn toàn nhỏ hơn toKey.</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1"/>
                  </a:ext>
                </a:extLst>
              </a:tr>
              <a:tr h="108794">
                <a:tc>
                  <a:txBody>
                    <a:bodyPr/>
                    <a:lstStyle/>
                    <a:p>
                      <a:pPr>
                        <a:lnSpc>
                          <a:spcPct val="115000"/>
                        </a:lnSpc>
                        <a:spcAft>
                          <a:spcPts val="0"/>
                        </a:spcAft>
                      </a:pPr>
                      <a:r>
                        <a:rPr lang="en-US" sz="2000">
                          <a:effectLst/>
                          <a:latin typeface="Arial" pitchFamily="34" charset="0"/>
                          <a:cs typeface="Arial" pitchFamily="34" charset="0"/>
                        </a:rPr>
                        <a:t>NavigableMap&lt;K,V&gt; headMap(K toKey, boolean inclusive)</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các cặp key - value có key nhỏ hơn (hoặc bằng nếu inclusive là đúng) toKey</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2"/>
                  </a:ext>
                </a:extLst>
              </a:tr>
              <a:tr h="108794">
                <a:tc>
                  <a:txBody>
                    <a:bodyPr/>
                    <a:lstStyle/>
                    <a:p>
                      <a:pPr>
                        <a:lnSpc>
                          <a:spcPct val="115000"/>
                        </a:lnSpc>
                        <a:spcAft>
                          <a:spcPts val="0"/>
                        </a:spcAft>
                      </a:pPr>
                      <a:r>
                        <a:rPr lang="en-US" sz="2000">
                          <a:effectLst/>
                          <a:latin typeface="Arial" pitchFamily="34" charset="0"/>
                          <a:cs typeface="Arial" pitchFamily="34" charset="0"/>
                        </a:rPr>
                        <a:t>Map.Entry&lt;K,V&gt; higherEntry(K 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cặp</a:t>
                      </a:r>
                      <a:r>
                        <a:rPr lang="en-US" sz="2000" baseline="0">
                          <a:effectLst/>
                          <a:latin typeface="Arial" pitchFamily="34" charset="0"/>
                          <a:cs typeface="Arial" pitchFamily="34" charset="0"/>
                        </a:rPr>
                        <a:t> key - value ứng với </a:t>
                      </a:r>
                      <a:r>
                        <a:rPr lang="en-US" sz="2000">
                          <a:effectLst/>
                          <a:latin typeface="Arial" pitchFamily="34" charset="0"/>
                          <a:cs typeface="Arial" pitchFamily="34" charset="0"/>
                        </a:rPr>
                        <a:t>key bé</a:t>
                      </a:r>
                      <a:r>
                        <a:rPr lang="en-US" sz="2000" baseline="0">
                          <a:effectLst/>
                          <a:latin typeface="Arial" pitchFamily="34" charset="0"/>
                          <a:cs typeface="Arial" pitchFamily="34" charset="0"/>
                        </a:rPr>
                        <a:t> nhất </a:t>
                      </a:r>
                      <a:r>
                        <a:rPr lang="en-US" sz="2000">
                          <a:effectLst/>
                          <a:latin typeface="Arial" pitchFamily="34" charset="0"/>
                          <a:cs typeface="Arial" pitchFamily="34" charset="0"/>
                        </a:rPr>
                        <a:t>lớn hơn key đã cho hoặc null nếu không có key đó</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3"/>
                  </a:ext>
                </a:extLst>
              </a:tr>
              <a:tr h="108794">
                <a:tc>
                  <a:txBody>
                    <a:bodyPr/>
                    <a:lstStyle/>
                    <a:p>
                      <a:pPr>
                        <a:lnSpc>
                          <a:spcPct val="115000"/>
                        </a:lnSpc>
                        <a:spcAft>
                          <a:spcPts val="0"/>
                        </a:spcAft>
                      </a:pPr>
                      <a:r>
                        <a:rPr lang="en-US" sz="2000">
                          <a:effectLst/>
                          <a:latin typeface="Arial" pitchFamily="34" charset="0"/>
                          <a:cs typeface="Arial" pitchFamily="34" charset="0"/>
                        </a:rPr>
                        <a:t>K higherKey(K 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key bé</a:t>
                      </a:r>
                      <a:r>
                        <a:rPr lang="en-US" sz="2000" baseline="0">
                          <a:effectLst/>
                          <a:latin typeface="Arial" pitchFamily="34" charset="0"/>
                          <a:cs typeface="Arial" pitchFamily="34" charset="0"/>
                        </a:rPr>
                        <a:t> nhất </a:t>
                      </a:r>
                      <a:r>
                        <a:rPr lang="en-US" sz="2000">
                          <a:effectLst/>
                          <a:latin typeface="Arial" pitchFamily="34" charset="0"/>
                          <a:cs typeface="Arial" pitchFamily="34" charset="0"/>
                        </a:rPr>
                        <a:t>lớn hơn key đã cho hoặc null nếu không có key đó</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4"/>
                  </a:ext>
                </a:extLst>
              </a:tr>
              <a:tr h="68865">
                <a:tc>
                  <a:txBody>
                    <a:bodyPr/>
                    <a:lstStyle/>
                    <a:p>
                      <a:pPr>
                        <a:lnSpc>
                          <a:spcPct val="115000"/>
                        </a:lnSpc>
                        <a:spcAft>
                          <a:spcPts val="0"/>
                        </a:spcAft>
                      </a:pPr>
                      <a:r>
                        <a:rPr lang="en-US" sz="2000">
                          <a:effectLst/>
                          <a:latin typeface="Arial" pitchFamily="34" charset="0"/>
                          <a:cs typeface="Arial" pitchFamily="34" charset="0"/>
                        </a:rPr>
                        <a:t>Set keySet()</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colection các key tồn tại trong map</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5"/>
                  </a:ext>
                </a:extLst>
              </a:tr>
              <a:tr h="108794">
                <a:tc>
                  <a:txBody>
                    <a:bodyPr/>
                    <a:lstStyle/>
                    <a:p>
                      <a:pPr>
                        <a:lnSpc>
                          <a:spcPct val="115000"/>
                        </a:lnSpc>
                        <a:spcAft>
                          <a:spcPts val="0"/>
                        </a:spcAft>
                      </a:pPr>
                      <a:r>
                        <a:rPr lang="en-US" sz="2000">
                          <a:effectLst/>
                          <a:latin typeface="Arial" pitchFamily="34" charset="0"/>
                          <a:cs typeface="Arial" pitchFamily="34" charset="0"/>
                        </a:rPr>
                        <a:t>Map.Entry &lt;K, V&gt; lastEntry ()</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cặp key - value trị có key lớn nhất hoặc null nếu không có key đó</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6"/>
                  </a:ext>
                </a:extLst>
              </a:tr>
              <a:tr h="148724">
                <a:tc>
                  <a:txBody>
                    <a:bodyPr/>
                    <a:lstStyle/>
                    <a:p>
                      <a:pPr>
                        <a:lnSpc>
                          <a:spcPct val="115000"/>
                        </a:lnSpc>
                        <a:spcAft>
                          <a:spcPts val="0"/>
                        </a:spcAft>
                      </a:pPr>
                      <a:r>
                        <a:rPr lang="en-US" sz="2000">
                          <a:effectLst/>
                          <a:latin typeface="Arial" pitchFamily="34" charset="0"/>
                          <a:cs typeface="Arial" pitchFamily="34" charset="0"/>
                        </a:rPr>
                        <a:t>Map.Entry &lt;K, V&gt; lowerEntry (K 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ánh xạ key - value được liên kết với key lớn nhất hoàn toàn nhỏ hơn key đã cho hoặc null nếu không có key đó</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6225344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a:t>Các phương thức (4)</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48922695"/>
              </p:ext>
            </p:extLst>
          </p:nvPr>
        </p:nvGraphicFramePr>
        <p:xfrm>
          <a:off x="152400" y="464748"/>
          <a:ext cx="8915400" cy="6555300"/>
        </p:xfrm>
        <a:graphic>
          <a:graphicData uri="http://schemas.openxmlformats.org/drawingml/2006/table">
            <a:tbl>
              <a:tblPr firstRow="1" firstCol="1" bandRow="1">
                <a:tableStyleId>{5C22544A-7EE6-4342-B048-85BDC9FD1C3A}</a:tableStyleId>
              </a:tblPr>
              <a:tblGrid>
                <a:gridCol w="44958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83332">
                <a:tc>
                  <a:txBody>
                    <a:bodyPr/>
                    <a:lstStyle/>
                    <a:p>
                      <a:pPr>
                        <a:lnSpc>
                          <a:spcPct val="115000"/>
                        </a:lnSpc>
                        <a:spcAft>
                          <a:spcPts val="0"/>
                        </a:spcAft>
                      </a:pPr>
                      <a:r>
                        <a:rPr lang="en-US" sz="2000">
                          <a:effectLst/>
                          <a:latin typeface="Arial" pitchFamily="34" charset="0"/>
                          <a:cs typeface="Arial" pitchFamily="34" charset="0"/>
                        </a:rPr>
                        <a:t>Phương thức</a:t>
                      </a:r>
                      <a:endParaRPr lang="en-US" sz="2000">
                        <a:solidFill>
                          <a:srgbClr val="000000"/>
                        </a:solidFill>
                        <a:effectLst/>
                        <a:latin typeface="Arial" pitchFamily="34" charset="0"/>
                        <a:ea typeface="Calibri"/>
                        <a:cs typeface="Arial" pitchFamily="34" charset="0"/>
                      </a:endParaRPr>
                    </a:p>
                  </a:txBody>
                  <a:tcPr marL="21701" marR="21701" marT="21701" marB="21701"/>
                </a:tc>
                <a:tc>
                  <a:txBody>
                    <a:bodyPr/>
                    <a:lstStyle/>
                    <a:p>
                      <a:pPr>
                        <a:lnSpc>
                          <a:spcPct val="115000"/>
                        </a:lnSpc>
                        <a:spcAft>
                          <a:spcPts val="0"/>
                        </a:spcAft>
                      </a:pPr>
                      <a:r>
                        <a:rPr lang="en-US" sz="2000">
                          <a:effectLst/>
                          <a:latin typeface="Arial" pitchFamily="34" charset="0"/>
                          <a:cs typeface="Arial" pitchFamily="34" charset="0"/>
                        </a:rPr>
                        <a:t>Mô tả</a:t>
                      </a:r>
                      <a:endParaRPr lang="en-US" sz="2000">
                        <a:solidFill>
                          <a:srgbClr val="000000"/>
                        </a:solidFill>
                        <a:effectLst/>
                        <a:latin typeface="Arial" pitchFamily="34" charset="0"/>
                        <a:ea typeface="Calibri"/>
                        <a:cs typeface="Arial" pitchFamily="34" charset="0"/>
                      </a:endParaRPr>
                    </a:p>
                  </a:txBody>
                  <a:tcPr marL="21701" marR="21701" marT="21701" marB="21701"/>
                </a:tc>
                <a:extLst>
                  <a:ext uri="{0D108BD9-81ED-4DB2-BD59-A6C34878D82A}">
                    <a16:rowId xmlns:a16="http://schemas.microsoft.com/office/drawing/2014/main" val="10000"/>
                  </a:ext>
                </a:extLst>
              </a:tr>
              <a:tr h="108794">
                <a:tc>
                  <a:txBody>
                    <a:bodyPr/>
                    <a:lstStyle/>
                    <a:p>
                      <a:pPr>
                        <a:lnSpc>
                          <a:spcPct val="115000"/>
                        </a:lnSpc>
                        <a:spcAft>
                          <a:spcPts val="0"/>
                        </a:spcAft>
                      </a:pPr>
                      <a:r>
                        <a:rPr lang="en-US" sz="2000">
                          <a:effectLst/>
                          <a:latin typeface="Arial" pitchFamily="34" charset="0"/>
                          <a:cs typeface="Arial" pitchFamily="34" charset="0"/>
                        </a:rPr>
                        <a:t>K lowerKey(K 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key lớn nhất hoàn toàn ít hơn khóa đã cho hoặc null nếu không có key đó</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1"/>
                  </a:ext>
                </a:extLst>
              </a:tr>
              <a:tr h="108794">
                <a:tc>
                  <a:txBody>
                    <a:bodyPr/>
                    <a:lstStyle/>
                    <a:p>
                      <a:pPr>
                        <a:lnSpc>
                          <a:spcPct val="115000"/>
                        </a:lnSpc>
                        <a:spcAft>
                          <a:spcPts val="0"/>
                        </a:spcAft>
                      </a:pPr>
                      <a:r>
                        <a:rPr lang="en-US" sz="2000">
                          <a:effectLst/>
                          <a:latin typeface="Arial" pitchFamily="34" charset="0"/>
                          <a:cs typeface="Arial" pitchFamily="34" charset="0"/>
                        </a:rPr>
                        <a:t>NavigableSet&lt;K&gt; navigableKeySet()</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Navigable Set các key có trong map này</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2"/>
                  </a:ext>
                </a:extLst>
              </a:tr>
              <a:tr h="148724">
                <a:tc>
                  <a:txBody>
                    <a:bodyPr/>
                    <a:lstStyle/>
                    <a:p>
                      <a:pPr>
                        <a:lnSpc>
                          <a:spcPct val="115000"/>
                        </a:lnSpc>
                        <a:spcAft>
                          <a:spcPts val="0"/>
                        </a:spcAft>
                      </a:pPr>
                      <a:r>
                        <a:rPr lang="en-US" sz="2000">
                          <a:effectLst/>
                          <a:latin typeface="Arial" pitchFamily="34" charset="0"/>
                          <a:cs typeface="Arial" pitchFamily="34" charset="0"/>
                        </a:rPr>
                        <a:t>Map.Entry &lt;K, V&gt; pollFirstEntry ()</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Xóa và trả về ánh xạ key - value được liên kết với key nhỏ nhất trong map này hoặc null nếu map trống</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3"/>
                  </a:ext>
                </a:extLst>
              </a:tr>
              <a:tr h="148724">
                <a:tc>
                  <a:txBody>
                    <a:bodyPr/>
                    <a:lstStyle/>
                    <a:p>
                      <a:pPr>
                        <a:lnSpc>
                          <a:spcPct val="115000"/>
                        </a:lnSpc>
                        <a:spcAft>
                          <a:spcPts val="0"/>
                        </a:spcAft>
                      </a:pPr>
                      <a:r>
                        <a:rPr lang="en-US" sz="2000">
                          <a:effectLst/>
                          <a:latin typeface="Arial" pitchFamily="34" charset="0"/>
                          <a:cs typeface="Arial" pitchFamily="34" charset="0"/>
                        </a:rPr>
                        <a:t>Map.Entry &lt;K, V&gt; pollLastEntry ()</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Xóa và trả về ánh xạ key - value được liên kết với key lớn nhất trong map này hoặc null nếu map trống</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4"/>
                  </a:ext>
                </a:extLst>
              </a:tr>
              <a:tr h="108794">
                <a:tc>
                  <a:txBody>
                    <a:bodyPr/>
                    <a:lstStyle/>
                    <a:p>
                      <a:pPr>
                        <a:lnSpc>
                          <a:spcPct val="115000"/>
                        </a:lnSpc>
                        <a:spcAft>
                          <a:spcPts val="0"/>
                        </a:spcAft>
                      </a:pPr>
                      <a:r>
                        <a:rPr lang="en-US" sz="2000">
                          <a:effectLst/>
                          <a:latin typeface="Arial" pitchFamily="34" charset="0"/>
                          <a:cs typeface="Arial" pitchFamily="34" charset="0"/>
                        </a:rPr>
                        <a:t>V put(K key, V value)	</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Chèn value được chỉ định với key được chỉ định trong map</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5"/>
                  </a:ext>
                </a:extLst>
              </a:tr>
              <a:tr h="108794">
                <a:tc>
                  <a:txBody>
                    <a:bodyPr/>
                    <a:lstStyle/>
                    <a:p>
                      <a:pPr>
                        <a:lnSpc>
                          <a:spcPct val="115000"/>
                        </a:lnSpc>
                        <a:spcAft>
                          <a:spcPts val="0"/>
                        </a:spcAft>
                      </a:pPr>
                      <a:r>
                        <a:rPr lang="en-US" sz="2000">
                          <a:effectLst/>
                          <a:latin typeface="Arial" pitchFamily="34" charset="0"/>
                          <a:cs typeface="Arial" pitchFamily="34" charset="0"/>
                        </a:rPr>
                        <a:t>void putAll(Map&lt;? extends K,? extends V&gt; map)</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Sao chép tất cả các cặp key - value từ map này sang map khác</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6"/>
                  </a:ext>
                </a:extLst>
              </a:tr>
              <a:tr h="108794">
                <a:tc>
                  <a:txBody>
                    <a:bodyPr/>
                    <a:lstStyle/>
                    <a:p>
                      <a:pPr>
                        <a:lnSpc>
                          <a:spcPct val="115000"/>
                        </a:lnSpc>
                        <a:spcAft>
                          <a:spcPts val="0"/>
                        </a:spcAft>
                      </a:pPr>
                      <a:r>
                        <a:rPr lang="en-US" sz="2000">
                          <a:effectLst/>
                          <a:latin typeface="Arial" pitchFamily="34" charset="0"/>
                          <a:cs typeface="Arial" pitchFamily="34" charset="0"/>
                        </a:rPr>
                        <a:t>V replace(K key, V value)</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Thay thế value được chỉ định cho một key được chỉ định</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25519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a:t>Các phương thức (5)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9549958"/>
              </p:ext>
            </p:extLst>
          </p:nvPr>
        </p:nvGraphicFramePr>
        <p:xfrm>
          <a:off x="152400" y="685329"/>
          <a:ext cx="8915400" cy="5825326"/>
        </p:xfrm>
        <a:graphic>
          <a:graphicData uri="http://schemas.openxmlformats.org/drawingml/2006/table">
            <a:tbl>
              <a:tblPr firstRow="1" firstCol="1" bandRow="1">
                <a:tableStyleId>{5C22544A-7EE6-4342-B048-85BDC9FD1C3A}</a:tableStyleId>
              </a:tblPr>
              <a:tblGrid>
                <a:gridCol w="44958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83332">
                <a:tc>
                  <a:txBody>
                    <a:bodyPr/>
                    <a:lstStyle/>
                    <a:p>
                      <a:pPr>
                        <a:lnSpc>
                          <a:spcPct val="115000"/>
                        </a:lnSpc>
                        <a:spcAft>
                          <a:spcPts val="0"/>
                        </a:spcAft>
                      </a:pPr>
                      <a:r>
                        <a:rPr lang="en-US" sz="2000">
                          <a:effectLst/>
                        </a:rPr>
                        <a:t>Phương thức</a:t>
                      </a:r>
                      <a:endParaRPr lang="en-US" sz="2000">
                        <a:solidFill>
                          <a:srgbClr val="000000"/>
                        </a:solidFill>
                        <a:effectLst/>
                        <a:latin typeface="Times New Roman"/>
                        <a:ea typeface="Calibri"/>
                        <a:cs typeface="Tahoma"/>
                      </a:endParaRPr>
                    </a:p>
                  </a:txBody>
                  <a:tcPr marL="21701" marR="21701" marT="21701" marB="21701"/>
                </a:tc>
                <a:tc>
                  <a:txBody>
                    <a:bodyPr/>
                    <a:lstStyle/>
                    <a:p>
                      <a:pPr>
                        <a:lnSpc>
                          <a:spcPct val="115000"/>
                        </a:lnSpc>
                        <a:spcAft>
                          <a:spcPts val="0"/>
                        </a:spcAft>
                      </a:pPr>
                      <a:r>
                        <a:rPr lang="en-US" sz="2000">
                          <a:effectLst/>
                        </a:rPr>
                        <a:t>Mô tả</a:t>
                      </a:r>
                      <a:endParaRPr lang="en-US" sz="2000">
                        <a:solidFill>
                          <a:srgbClr val="000000"/>
                        </a:solidFill>
                        <a:effectLst/>
                        <a:latin typeface="Times New Roman"/>
                        <a:ea typeface="Calibri"/>
                        <a:cs typeface="Tahoma"/>
                      </a:endParaRPr>
                    </a:p>
                  </a:txBody>
                  <a:tcPr marL="21701" marR="21701" marT="21701" marB="21701"/>
                </a:tc>
                <a:extLst>
                  <a:ext uri="{0D108BD9-81ED-4DB2-BD59-A6C34878D82A}">
                    <a16:rowId xmlns:a16="http://schemas.microsoft.com/office/drawing/2014/main" val="10000"/>
                  </a:ext>
                </a:extLst>
              </a:tr>
              <a:tr h="108794">
                <a:tc>
                  <a:txBody>
                    <a:bodyPr/>
                    <a:lstStyle/>
                    <a:p>
                      <a:pPr>
                        <a:lnSpc>
                          <a:spcPct val="115000"/>
                        </a:lnSpc>
                        <a:spcAft>
                          <a:spcPts val="0"/>
                        </a:spcAft>
                      </a:pPr>
                      <a:r>
                        <a:rPr lang="en-US" sz="2000">
                          <a:effectLst/>
                        </a:rPr>
                        <a:t>boolean replace(K key, V oldValue, V newValue)	</a:t>
                      </a:r>
                      <a:endParaRPr lang="en-US" sz="20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000">
                          <a:effectLst/>
                        </a:rPr>
                        <a:t>Thay thế value cũ bằng value mới cho một key được chỉ định</a:t>
                      </a:r>
                      <a:endParaRPr lang="en-US" sz="20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1"/>
                  </a:ext>
                </a:extLst>
              </a:tr>
              <a:tr h="188654">
                <a:tc>
                  <a:txBody>
                    <a:bodyPr/>
                    <a:lstStyle/>
                    <a:p>
                      <a:pPr>
                        <a:lnSpc>
                          <a:spcPct val="115000"/>
                        </a:lnSpc>
                        <a:spcAft>
                          <a:spcPts val="0"/>
                        </a:spcAft>
                      </a:pPr>
                      <a:r>
                        <a:rPr lang="en-US" sz="2000">
                          <a:effectLst/>
                        </a:rPr>
                        <a:t>void replaceAll(BiFunction&lt;? super K,? super V,? extends V&gt; function)</a:t>
                      </a:r>
                      <a:endParaRPr lang="en-US" sz="20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000">
                          <a:effectLst/>
                        </a:rPr>
                        <a:t>Thay thế value của từng entry bằng kết quả của việc gọi hàm đã cho trên entry đó cho đến khi tất cả các entry đã được xử lý hoặc hàm ném ra một ngoại lệ</a:t>
                      </a:r>
                      <a:endParaRPr lang="en-US" sz="20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2"/>
                  </a:ext>
                </a:extLst>
              </a:tr>
              <a:tr h="148724">
                <a:tc>
                  <a:txBody>
                    <a:bodyPr/>
                    <a:lstStyle/>
                    <a:p>
                      <a:pPr>
                        <a:lnSpc>
                          <a:spcPct val="115000"/>
                        </a:lnSpc>
                        <a:spcAft>
                          <a:spcPts val="0"/>
                        </a:spcAft>
                      </a:pPr>
                      <a:r>
                        <a:rPr lang="en-US" sz="2000">
                          <a:effectLst/>
                        </a:rPr>
                        <a:t>NavigableMap&lt;K,V&gt; subMap(K fromKey, boolean fromInclusive, K toKey, boolean toInclusive)</a:t>
                      </a:r>
                      <a:endParaRPr lang="en-US" sz="20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000">
                          <a:effectLst/>
                        </a:rPr>
                        <a:t>Trả về các cặp key - value có phạm vi key từ fromKey đến toKey.</a:t>
                      </a:r>
                      <a:endParaRPr lang="en-US" sz="20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3"/>
                  </a:ext>
                </a:extLst>
              </a:tr>
              <a:tr h="148724">
                <a:tc>
                  <a:txBody>
                    <a:bodyPr/>
                    <a:lstStyle/>
                    <a:p>
                      <a:pPr>
                        <a:lnSpc>
                          <a:spcPct val="115000"/>
                        </a:lnSpc>
                        <a:spcAft>
                          <a:spcPts val="0"/>
                        </a:spcAft>
                      </a:pPr>
                      <a:r>
                        <a:rPr lang="en-US" sz="2000">
                          <a:effectLst/>
                        </a:rPr>
                        <a:t>SortedMap&lt;K,V&gt; subMap(K fromKey, K toKey)</a:t>
                      </a:r>
                      <a:endParaRPr lang="en-US" sz="20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000">
                          <a:effectLst/>
                        </a:rPr>
                        <a:t>Trả về các cặp key - value có phạm vi key từ fromKey đến nhỏ</a:t>
                      </a:r>
                      <a:r>
                        <a:rPr lang="en-US" sz="2000" baseline="0">
                          <a:effectLst/>
                        </a:rPr>
                        <a:t> hơn</a:t>
                      </a:r>
                      <a:r>
                        <a:rPr lang="en-US" sz="2000">
                          <a:effectLst/>
                        </a:rPr>
                        <a:t> toKey</a:t>
                      </a:r>
                      <a:endParaRPr lang="en-US" sz="20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4"/>
                  </a:ext>
                </a:extLst>
              </a:tr>
              <a:tr h="108794">
                <a:tc>
                  <a:txBody>
                    <a:bodyPr/>
                    <a:lstStyle/>
                    <a:p>
                      <a:pPr>
                        <a:lnSpc>
                          <a:spcPct val="115000"/>
                        </a:lnSpc>
                        <a:spcAft>
                          <a:spcPts val="0"/>
                        </a:spcAft>
                      </a:pPr>
                      <a:r>
                        <a:rPr lang="en-US" sz="2000">
                          <a:effectLst/>
                        </a:rPr>
                        <a:t>SortedMap&lt;K,V&gt; tailMap(K fromKey)</a:t>
                      </a:r>
                      <a:endParaRPr lang="en-US" sz="20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000">
                          <a:effectLst/>
                        </a:rPr>
                        <a:t>Trả về các cặp key - value có khóa lớn hơn hoặc bằng fromKey.</a:t>
                      </a:r>
                      <a:endParaRPr lang="en-US" sz="20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5"/>
                  </a:ext>
                </a:extLst>
              </a:tr>
              <a:tr h="108794">
                <a:tc>
                  <a:txBody>
                    <a:bodyPr/>
                    <a:lstStyle/>
                    <a:p>
                      <a:pPr>
                        <a:lnSpc>
                          <a:spcPct val="115000"/>
                        </a:lnSpc>
                        <a:spcAft>
                          <a:spcPts val="0"/>
                        </a:spcAft>
                      </a:pPr>
                      <a:r>
                        <a:rPr lang="en-US" sz="2000">
                          <a:effectLst/>
                        </a:rPr>
                        <a:t>NavigableMap&lt;K,V&gt; tailMap(K fromKey, boolean inclusive)</a:t>
                      </a:r>
                      <a:endParaRPr lang="en-US" sz="2000">
                        <a:solidFill>
                          <a:srgbClr val="000000"/>
                        </a:solidFill>
                        <a:effectLst/>
                        <a:latin typeface="Times New Roman"/>
                        <a:ea typeface="Calibri"/>
                        <a:cs typeface="Tahoma"/>
                      </a:endParaRPr>
                    </a:p>
                  </a:txBody>
                  <a:tcPr marL="14467" marR="14467" marT="14467" marB="14467"/>
                </a:tc>
                <a:tc>
                  <a:txBody>
                    <a:bodyPr/>
                    <a:lstStyle/>
                    <a:p>
                      <a:pPr>
                        <a:lnSpc>
                          <a:spcPct val="115000"/>
                        </a:lnSpc>
                        <a:spcAft>
                          <a:spcPts val="0"/>
                        </a:spcAft>
                      </a:pPr>
                      <a:r>
                        <a:rPr lang="en-US" sz="2000">
                          <a:effectLst/>
                        </a:rPr>
                        <a:t>Trả về các cặp key - value có khóa lớn hơn (hoặc bằng, nếu inclusive là đúng) toKey</a:t>
                      </a:r>
                      <a:endParaRPr lang="en-US" sz="2000">
                        <a:solidFill>
                          <a:srgbClr val="000000"/>
                        </a:solidFill>
                        <a:effectLst/>
                        <a:latin typeface="Times New Roman"/>
                        <a:ea typeface="Calibri"/>
                        <a:cs typeface="Tahoma"/>
                      </a:endParaRPr>
                    </a:p>
                  </a:txBody>
                  <a:tcPr marL="14467" marR="14467" marT="14467" marB="14467"/>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0190593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a:t>Các phương thức (6)</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92357477"/>
              </p:ext>
            </p:extLst>
          </p:nvPr>
        </p:nvGraphicFramePr>
        <p:xfrm>
          <a:off x="152400" y="533400"/>
          <a:ext cx="8915400" cy="6613168"/>
        </p:xfrm>
        <a:graphic>
          <a:graphicData uri="http://schemas.openxmlformats.org/drawingml/2006/table">
            <a:tbl>
              <a:tblPr firstRow="1" firstCol="1" bandRow="1">
                <a:tableStyleId>{5C22544A-7EE6-4342-B048-85BDC9FD1C3A}</a:tableStyleId>
              </a:tblPr>
              <a:tblGrid>
                <a:gridCol w="41148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83332">
                <a:tc>
                  <a:txBody>
                    <a:bodyPr/>
                    <a:lstStyle/>
                    <a:p>
                      <a:pPr>
                        <a:lnSpc>
                          <a:spcPct val="115000"/>
                        </a:lnSpc>
                        <a:spcAft>
                          <a:spcPts val="0"/>
                        </a:spcAft>
                      </a:pPr>
                      <a:r>
                        <a:rPr lang="en-US" sz="2000">
                          <a:effectLst/>
                          <a:latin typeface="Arial" pitchFamily="34" charset="0"/>
                          <a:cs typeface="Arial" pitchFamily="34" charset="0"/>
                        </a:rPr>
                        <a:t>Phương thức</a:t>
                      </a:r>
                      <a:endParaRPr lang="en-US" sz="2000">
                        <a:solidFill>
                          <a:srgbClr val="000000"/>
                        </a:solidFill>
                        <a:effectLst/>
                        <a:latin typeface="Arial" pitchFamily="34" charset="0"/>
                        <a:ea typeface="Calibri"/>
                        <a:cs typeface="Arial" pitchFamily="34" charset="0"/>
                      </a:endParaRPr>
                    </a:p>
                  </a:txBody>
                  <a:tcPr marL="21701" marR="21701" marT="21701" marB="21701"/>
                </a:tc>
                <a:tc>
                  <a:txBody>
                    <a:bodyPr/>
                    <a:lstStyle/>
                    <a:p>
                      <a:pPr>
                        <a:lnSpc>
                          <a:spcPct val="115000"/>
                        </a:lnSpc>
                        <a:spcAft>
                          <a:spcPts val="0"/>
                        </a:spcAft>
                      </a:pPr>
                      <a:r>
                        <a:rPr lang="en-US" sz="2000">
                          <a:effectLst/>
                          <a:latin typeface="Arial" pitchFamily="34" charset="0"/>
                          <a:cs typeface="Arial" pitchFamily="34" charset="0"/>
                        </a:rPr>
                        <a:t>Mô tả</a:t>
                      </a:r>
                      <a:endParaRPr lang="en-US" sz="2000">
                        <a:solidFill>
                          <a:srgbClr val="000000"/>
                        </a:solidFill>
                        <a:effectLst/>
                        <a:latin typeface="Arial" pitchFamily="34" charset="0"/>
                        <a:ea typeface="Calibri"/>
                        <a:cs typeface="Arial" pitchFamily="34" charset="0"/>
                      </a:endParaRPr>
                    </a:p>
                  </a:txBody>
                  <a:tcPr marL="21701" marR="21701" marT="21701" marB="21701"/>
                </a:tc>
                <a:extLst>
                  <a:ext uri="{0D108BD9-81ED-4DB2-BD59-A6C34878D82A}">
                    <a16:rowId xmlns:a16="http://schemas.microsoft.com/office/drawing/2014/main" val="10000"/>
                  </a:ext>
                </a:extLst>
              </a:tr>
              <a:tr h="108794">
                <a:tc>
                  <a:txBody>
                    <a:bodyPr/>
                    <a:lstStyle/>
                    <a:p>
                      <a:pPr>
                        <a:lnSpc>
                          <a:spcPct val="115000"/>
                        </a:lnSpc>
                        <a:spcAft>
                          <a:spcPts val="0"/>
                        </a:spcAft>
                      </a:pPr>
                      <a:r>
                        <a:rPr lang="en-US" sz="2000">
                          <a:effectLst/>
                          <a:latin typeface="Arial" pitchFamily="34" charset="0"/>
                          <a:cs typeface="Arial" pitchFamily="34" charset="0"/>
                        </a:rPr>
                        <a:t>boolean containsKey(Object 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true nếu map chứa ánh xạ cho key được chỉ định</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1"/>
                  </a:ext>
                </a:extLst>
              </a:tr>
              <a:tr h="108794">
                <a:tc>
                  <a:txBody>
                    <a:bodyPr/>
                    <a:lstStyle/>
                    <a:p>
                      <a:pPr>
                        <a:lnSpc>
                          <a:spcPct val="115000"/>
                        </a:lnSpc>
                        <a:spcAft>
                          <a:spcPts val="0"/>
                        </a:spcAft>
                      </a:pPr>
                      <a:r>
                        <a:rPr lang="en-US" sz="2000">
                          <a:effectLst/>
                          <a:latin typeface="Arial" pitchFamily="34" charset="0"/>
                          <a:cs typeface="Arial" pitchFamily="34" charset="0"/>
                        </a:rPr>
                        <a:t>boolean containsValue(Object value)</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true nếu map ánh xạ một hoặc nhiều key tới value đã chỉ định</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2"/>
                  </a:ext>
                </a:extLst>
              </a:tr>
              <a:tr h="108794">
                <a:tc>
                  <a:txBody>
                    <a:bodyPr/>
                    <a:lstStyle/>
                    <a:p>
                      <a:pPr>
                        <a:lnSpc>
                          <a:spcPct val="115000"/>
                        </a:lnSpc>
                        <a:spcAft>
                          <a:spcPts val="0"/>
                        </a:spcAft>
                      </a:pPr>
                      <a:r>
                        <a:rPr lang="en-US" sz="2000">
                          <a:effectLst/>
                          <a:latin typeface="Arial" pitchFamily="34" charset="0"/>
                          <a:cs typeface="Arial" pitchFamily="34" charset="0"/>
                        </a:rPr>
                        <a:t>K firstKey()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key đầu tiên (thấp nhất) hiện tại trong map được sắp xếp này</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3"/>
                  </a:ext>
                </a:extLst>
              </a:tr>
              <a:tr h="108794">
                <a:tc>
                  <a:txBody>
                    <a:bodyPr/>
                    <a:lstStyle/>
                    <a:p>
                      <a:pPr>
                        <a:lnSpc>
                          <a:spcPct val="115000"/>
                        </a:lnSpc>
                        <a:spcAft>
                          <a:spcPts val="0"/>
                        </a:spcAft>
                      </a:pPr>
                      <a:r>
                        <a:rPr lang="en-US" sz="2000">
                          <a:effectLst/>
                          <a:latin typeface="Arial" pitchFamily="34" charset="0"/>
                          <a:cs typeface="Arial" pitchFamily="34" charset="0"/>
                        </a:rPr>
                        <a:t>V get(Object 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value mà map ánh xạ key được chỉ định</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4"/>
                  </a:ext>
                </a:extLst>
              </a:tr>
              <a:tr h="108794">
                <a:tc>
                  <a:txBody>
                    <a:bodyPr/>
                    <a:lstStyle/>
                    <a:p>
                      <a:pPr>
                        <a:lnSpc>
                          <a:spcPct val="115000"/>
                        </a:lnSpc>
                        <a:spcAft>
                          <a:spcPts val="0"/>
                        </a:spcAft>
                      </a:pPr>
                      <a:r>
                        <a:rPr lang="en-US" sz="2000">
                          <a:effectLst/>
                          <a:latin typeface="Arial" pitchFamily="34" charset="0"/>
                          <a:cs typeface="Arial" pitchFamily="34" charset="0"/>
                        </a:rPr>
                        <a:t>K lastKey()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key cuối cùng (cao nhất) hiện tại trong map được sắp xếp</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5"/>
                  </a:ext>
                </a:extLst>
              </a:tr>
              <a:tr h="108794">
                <a:tc>
                  <a:txBody>
                    <a:bodyPr/>
                    <a:lstStyle/>
                    <a:p>
                      <a:pPr>
                        <a:lnSpc>
                          <a:spcPct val="115000"/>
                        </a:lnSpc>
                        <a:spcAft>
                          <a:spcPts val="0"/>
                        </a:spcAft>
                      </a:pPr>
                      <a:r>
                        <a:rPr lang="en-US" sz="2000">
                          <a:effectLst/>
                          <a:latin typeface="Arial" pitchFamily="34" charset="0"/>
                          <a:cs typeface="Arial" pitchFamily="34" charset="0"/>
                        </a:rPr>
                        <a:t>V remove(Object key)</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Loại bỏ cặp key - value của key được chỉ định khỏi map</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6"/>
                  </a:ext>
                </a:extLst>
              </a:tr>
              <a:tr h="68865">
                <a:tc>
                  <a:txBody>
                    <a:bodyPr/>
                    <a:lstStyle/>
                    <a:p>
                      <a:pPr>
                        <a:lnSpc>
                          <a:spcPct val="115000"/>
                        </a:lnSpc>
                        <a:spcAft>
                          <a:spcPts val="0"/>
                        </a:spcAft>
                      </a:pPr>
                      <a:r>
                        <a:rPr lang="en-US" sz="2000">
                          <a:effectLst/>
                          <a:latin typeface="Arial" pitchFamily="34" charset="0"/>
                          <a:cs typeface="Arial" pitchFamily="34" charset="0"/>
                        </a:rPr>
                        <a:t>Set&lt;Map.Entry&lt;K,V&gt;&gt; entrySet()</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một view các ánh xạ có trong map</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7"/>
                  </a:ext>
                </a:extLst>
              </a:tr>
              <a:tr h="108794">
                <a:tc>
                  <a:txBody>
                    <a:bodyPr/>
                    <a:lstStyle/>
                    <a:p>
                      <a:pPr>
                        <a:lnSpc>
                          <a:spcPct val="115000"/>
                        </a:lnSpc>
                        <a:spcAft>
                          <a:spcPts val="0"/>
                        </a:spcAft>
                      </a:pPr>
                      <a:r>
                        <a:rPr lang="en-US" sz="2000">
                          <a:effectLst/>
                          <a:latin typeface="Arial" pitchFamily="34" charset="0"/>
                          <a:cs typeface="Arial" pitchFamily="34" charset="0"/>
                        </a:rPr>
                        <a:t>int size()</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số lượng cặp key - value tồn tại trong hashtable</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8"/>
                  </a:ext>
                </a:extLst>
              </a:tr>
              <a:tr h="108794">
                <a:tc>
                  <a:txBody>
                    <a:bodyPr/>
                    <a:lstStyle/>
                    <a:p>
                      <a:pPr>
                        <a:lnSpc>
                          <a:spcPct val="115000"/>
                        </a:lnSpc>
                        <a:spcAft>
                          <a:spcPts val="0"/>
                        </a:spcAft>
                      </a:pPr>
                      <a:r>
                        <a:rPr lang="en-US" sz="2000">
                          <a:effectLst/>
                          <a:latin typeface="Arial" pitchFamily="34" charset="0"/>
                          <a:cs typeface="Arial" pitchFamily="34" charset="0"/>
                        </a:rPr>
                        <a:t>Collection values()</a:t>
                      </a:r>
                      <a:endParaRPr lang="en-US" sz="2000">
                        <a:solidFill>
                          <a:srgbClr val="000000"/>
                        </a:solidFill>
                        <a:effectLst/>
                        <a:latin typeface="Arial" pitchFamily="34" charset="0"/>
                        <a:ea typeface="Calibri"/>
                        <a:cs typeface="Arial" pitchFamily="34" charset="0"/>
                      </a:endParaRPr>
                    </a:p>
                  </a:txBody>
                  <a:tcPr marL="14467" marR="14467" marT="14467" marB="14467"/>
                </a:tc>
                <a:tc>
                  <a:txBody>
                    <a:bodyPr/>
                    <a:lstStyle/>
                    <a:p>
                      <a:pPr>
                        <a:lnSpc>
                          <a:spcPct val="115000"/>
                        </a:lnSpc>
                        <a:spcAft>
                          <a:spcPts val="0"/>
                        </a:spcAft>
                      </a:pPr>
                      <a:r>
                        <a:rPr lang="en-US" sz="2000">
                          <a:effectLst/>
                          <a:latin typeface="Arial" pitchFamily="34" charset="0"/>
                          <a:cs typeface="Arial" pitchFamily="34" charset="0"/>
                        </a:rPr>
                        <a:t>Trả về collection view các value có trong map</a:t>
                      </a:r>
                      <a:endParaRPr lang="en-US" sz="2000">
                        <a:solidFill>
                          <a:srgbClr val="000000"/>
                        </a:solidFill>
                        <a:effectLst/>
                        <a:latin typeface="Arial" pitchFamily="34" charset="0"/>
                        <a:ea typeface="Calibri"/>
                        <a:cs typeface="Arial" pitchFamily="34" charset="0"/>
                      </a:endParaRPr>
                    </a:p>
                  </a:txBody>
                  <a:tcPr marL="14467" marR="14467" marT="14467" marB="14467"/>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5547174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TreeMap - Ví dụ 1</a:t>
            </a:r>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15338"/>
            <a:ext cx="8458200" cy="425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548235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TreeMap - Ví dụ 2</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76400"/>
            <a:ext cx="8745848"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857843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TreeMap - Ví dụ 3 (1)</a:t>
            </a:r>
          </a:p>
        </p:txBody>
      </p:sp>
      <p:sp>
        <p:nvSpPr>
          <p:cNvPr id="3" name="Content Placeholder 2"/>
          <p:cNvSpPr>
            <a:spLocks noGrp="1"/>
          </p:cNvSpPr>
          <p:nvPr>
            <p:ph idx="1"/>
          </p:nvPr>
        </p:nvSpPr>
        <p:spPr/>
        <p:txBody>
          <a:bodyPr/>
          <a:lstStyle/>
          <a:p>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981200"/>
            <a:ext cx="8917781"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003139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TreeMap - Ví dụ 3(2)</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11" y="1852612"/>
            <a:ext cx="9000189" cy="454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287112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4.3.4. Lớp HashTable</a:t>
            </a:r>
          </a:p>
        </p:txBody>
      </p:sp>
      <p:sp>
        <p:nvSpPr>
          <p:cNvPr id="3" name="Content Placeholder 2"/>
          <p:cNvSpPr>
            <a:spLocks noGrp="1"/>
          </p:cNvSpPr>
          <p:nvPr>
            <p:ph idx="1"/>
          </p:nvPr>
        </p:nvSpPr>
        <p:spPr>
          <a:xfrm>
            <a:off x="457200" y="1371600"/>
            <a:ext cx="8229600" cy="5029200"/>
          </a:xfrm>
        </p:spPr>
        <p:txBody>
          <a:bodyPr>
            <a:noAutofit/>
          </a:bodyPr>
          <a:lstStyle/>
          <a:p>
            <a:r>
              <a:rPr lang="en-US" sz="2200"/>
              <a:t>Lớp Java Hashtable thực hiện hàm băm, ánh xạ các key tới các value</a:t>
            </a:r>
          </a:p>
          <a:p>
            <a:r>
              <a:rPr lang="en-US" sz="2200"/>
              <a:t>Kế thừa lớp Dictionary và thực thi giao diện Map</a:t>
            </a:r>
          </a:p>
          <a:p>
            <a:r>
              <a:rPr lang="en-US" sz="2200"/>
              <a:t>Là một mảng các List. Mỗi List được gọi là một nhóm. Vị trí của nhóm được xác định bằng cách gọi phương thức hashcode (). Hashtable chứa các value dựa trên key.</a:t>
            </a:r>
          </a:p>
          <a:p>
            <a:r>
              <a:rPr lang="en-US" sz="2200"/>
              <a:t>Chứa các phần tử duy nhất</a:t>
            </a:r>
          </a:p>
          <a:p>
            <a:r>
              <a:rPr lang="en-US" sz="2200"/>
              <a:t>Không cho phép key hoặc value null</a:t>
            </a:r>
          </a:p>
          <a:p>
            <a:r>
              <a:rPr lang="en-US" sz="2200"/>
              <a:t>Được đồng bộ hóa</a:t>
            </a:r>
          </a:p>
          <a:p>
            <a:r>
              <a:rPr lang="en-US" sz="2200"/>
              <a:t>Dung lượng mặc định ban đầu của lớp Hashtable là 11, loadFactor là 0,75.</a:t>
            </a:r>
          </a:p>
          <a:p>
            <a:r>
              <a:rPr lang="en-US" sz="2200"/>
              <a:t>public class Hashtable&lt;K,V&gt; extends Dictionary&lt;K,V&gt; implements Map&lt;K,V&gt;, Cloneable, Serializable</a:t>
            </a:r>
          </a:p>
          <a:p>
            <a:pPr lvl="1"/>
            <a:r>
              <a:rPr lang="vi-VN" sz="2200" b="1"/>
              <a:t>K</a:t>
            </a:r>
            <a:r>
              <a:rPr lang="vi-VN" sz="2200"/>
              <a:t> : </a:t>
            </a:r>
            <a:r>
              <a:rPr lang="en-US" sz="2200"/>
              <a:t>kiểu của </a:t>
            </a:r>
            <a:r>
              <a:rPr lang="vi-VN" sz="2200"/>
              <a:t>k</a:t>
            </a:r>
            <a:r>
              <a:rPr lang="en-US" sz="2200"/>
              <a:t>ey, </a:t>
            </a:r>
            <a:r>
              <a:rPr lang="vi-VN" sz="2200" b="1"/>
              <a:t>V</a:t>
            </a:r>
            <a:r>
              <a:rPr lang="vi-VN" sz="2200"/>
              <a:t> : </a:t>
            </a:r>
            <a:r>
              <a:rPr lang="en-US" sz="2200"/>
              <a:t>kiểu của value</a:t>
            </a:r>
          </a:p>
          <a:p>
            <a:endParaRPr lang="en-US" sz="2200"/>
          </a:p>
        </p:txBody>
      </p:sp>
    </p:spTree>
    <p:extLst>
      <p:ext uri="{BB962C8B-B14F-4D97-AF65-F5344CB8AC3E}">
        <p14:creationId xmlns:p14="http://schemas.microsoft.com/office/powerpoint/2010/main" val="292904133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a:t>Hàm tạo</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21994563"/>
              </p:ext>
            </p:extLst>
          </p:nvPr>
        </p:nvGraphicFramePr>
        <p:xfrm>
          <a:off x="152400" y="1219200"/>
          <a:ext cx="8839200" cy="5465064"/>
        </p:xfrm>
        <a:graphic>
          <a:graphicData uri="http://schemas.openxmlformats.org/drawingml/2006/table">
            <a:tbl>
              <a:tblPr firstRow="1" firstCol="1" bandRow="1">
                <a:tableStyleId>{5C22544A-7EE6-4342-B048-85BDC9FD1C3A}</a:tableStyleId>
              </a:tblPr>
              <a:tblGrid>
                <a:gridCol w="4016637">
                  <a:extLst>
                    <a:ext uri="{9D8B030D-6E8A-4147-A177-3AD203B41FA5}">
                      <a16:colId xmlns:a16="http://schemas.microsoft.com/office/drawing/2014/main" val="20000"/>
                    </a:ext>
                  </a:extLst>
                </a:gridCol>
                <a:gridCol w="4822563">
                  <a:extLst>
                    <a:ext uri="{9D8B030D-6E8A-4147-A177-3AD203B41FA5}">
                      <a16:colId xmlns:a16="http://schemas.microsoft.com/office/drawing/2014/main" val="20001"/>
                    </a:ext>
                  </a:extLst>
                </a:gridCol>
              </a:tblGrid>
              <a:tr h="0">
                <a:tc>
                  <a:txBody>
                    <a:bodyPr/>
                    <a:lstStyle/>
                    <a:p>
                      <a:pPr>
                        <a:lnSpc>
                          <a:spcPct val="115000"/>
                        </a:lnSpc>
                        <a:spcAft>
                          <a:spcPts val="0"/>
                        </a:spcAft>
                      </a:pPr>
                      <a:r>
                        <a:rPr lang="en-US" sz="2400">
                          <a:effectLst/>
                          <a:latin typeface="Arial" pitchFamily="34" charset="0"/>
                          <a:cs typeface="Arial" pitchFamily="34" charset="0"/>
                        </a:rPr>
                        <a:t>Constructor</a:t>
                      </a:r>
                      <a:endParaRPr lang="en-US" sz="2400">
                        <a:solidFill>
                          <a:srgbClr val="000000"/>
                        </a:solidFill>
                        <a:effectLst/>
                        <a:latin typeface="Arial" pitchFamily="34" charset="0"/>
                        <a:ea typeface="Calibri"/>
                        <a:cs typeface="Arial" pitchFamily="34" charset="0"/>
                      </a:endParaRPr>
                    </a:p>
                  </a:txBody>
                  <a:tcPr marL="114300" marR="114300" marT="114300" marB="114300"/>
                </a:tc>
                <a:tc>
                  <a:txBody>
                    <a:bodyPr/>
                    <a:lstStyle/>
                    <a:p>
                      <a:pPr>
                        <a:lnSpc>
                          <a:spcPct val="115000"/>
                        </a:lnSpc>
                        <a:spcAft>
                          <a:spcPts val="0"/>
                        </a:spcAft>
                      </a:pPr>
                      <a:r>
                        <a:rPr lang="en-US" sz="2400">
                          <a:effectLst/>
                          <a:latin typeface="Arial" pitchFamily="34" charset="0"/>
                          <a:cs typeface="Arial" pitchFamily="34" charset="0"/>
                        </a:rPr>
                        <a:t>Mô tả</a:t>
                      </a:r>
                      <a:endParaRPr lang="en-US" sz="2400">
                        <a:solidFill>
                          <a:srgbClr val="000000"/>
                        </a:solidFill>
                        <a:effectLst/>
                        <a:latin typeface="Arial" pitchFamily="34" charset="0"/>
                        <a:ea typeface="Calibri"/>
                        <a:cs typeface="Arial" pitchFamily="34" charset="0"/>
                      </a:endParaRPr>
                    </a:p>
                  </a:txBody>
                  <a:tcPr marL="114300" marR="114300" marT="114300" marB="114300"/>
                </a:tc>
                <a:extLst>
                  <a:ext uri="{0D108BD9-81ED-4DB2-BD59-A6C34878D82A}">
                    <a16:rowId xmlns:a16="http://schemas.microsoft.com/office/drawing/2014/main" val="10000"/>
                  </a:ext>
                </a:extLst>
              </a:tr>
              <a:tr h="0">
                <a:tc>
                  <a:txBody>
                    <a:bodyPr/>
                    <a:lstStyle/>
                    <a:p>
                      <a:pPr>
                        <a:lnSpc>
                          <a:spcPct val="115000"/>
                        </a:lnSpc>
                        <a:spcAft>
                          <a:spcPts val="0"/>
                        </a:spcAft>
                      </a:pPr>
                      <a:r>
                        <a:rPr lang="en-US" sz="2400">
                          <a:effectLst/>
                          <a:latin typeface="Arial" pitchFamily="34" charset="0"/>
                          <a:cs typeface="Arial" pitchFamily="34" charset="0"/>
                        </a:rPr>
                        <a:t>Hashtable()</a:t>
                      </a:r>
                      <a:endParaRPr lang="en-US" sz="2400">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Tạo ra một hashtable trống có dung lượng và hệ số tải mặc định ban đầu</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1"/>
                  </a:ext>
                </a:extLst>
              </a:tr>
              <a:tr h="0">
                <a:tc>
                  <a:txBody>
                    <a:bodyPr/>
                    <a:lstStyle/>
                    <a:p>
                      <a:pPr>
                        <a:lnSpc>
                          <a:spcPct val="115000"/>
                        </a:lnSpc>
                        <a:spcAft>
                          <a:spcPts val="0"/>
                        </a:spcAft>
                      </a:pPr>
                      <a:r>
                        <a:rPr lang="en-US" sz="2400">
                          <a:effectLst/>
                          <a:latin typeface="Arial" pitchFamily="34" charset="0"/>
                          <a:cs typeface="Arial" pitchFamily="34" charset="0"/>
                        </a:rPr>
                        <a:t>Hashtable(int capacity)</a:t>
                      </a:r>
                      <a:endParaRPr lang="en-US" sz="2400">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Tạo một hashtable có chứa dung lượng ban đầu là capacity</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2"/>
                  </a:ext>
                </a:extLst>
              </a:tr>
              <a:tr h="0">
                <a:tc>
                  <a:txBody>
                    <a:bodyPr/>
                    <a:lstStyle/>
                    <a:p>
                      <a:pPr>
                        <a:lnSpc>
                          <a:spcPct val="115000"/>
                        </a:lnSpc>
                        <a:spcAft>
                          <a:spcPts val="0"/>
                        </a:spcAft>
                      </a:pPr>
                      <a:r>
                        <a:rPr lang="en-US" sz="2400">
                          <a:effectLst/>
                          <a:latin typeface="Arial" pitchFamily="34" charset="0"/>
                          <a:cs typeface="Arial" pitchFamily="34" charset="0"/>
                        </a:rPr>
                        <a:t>Hashtable(int capacity, float loadFactor)</a:t>
                      </a:r>
                      <a:endParaRPr lang="en-US" sz="2400">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Tạo một hashtable có dung lượng capacity ban đầu và loadFactor được chỉ định</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3"/>
                  </a:ext>
                </a:extLst>
              </a:tr>
              <a:tr h="0">
                <a:tc>
                  <a:txBody>
                    <a:bodyPr/>
                    <a:lstStyle/>
                    <a:p>
                      <a:pPr>
                        <a:lnSpc>
                          <a:spcPct val="115000"/>
                        </a:lnSpc>
                        <a:spcAft>
                          <a:spcPts val="0"/>
                        </a:spcAft>
                      </a:pPr>
                      <a:r>
                        <a:rPr lang="en-US" sz="2400">
                          <a:effectLst/>
                          <a:latin typeface="Arial" pitchFamily="34" charset="0"/>
                          <a:cs typeface="Arial" pitchFamily="34" charset="0"/>
                        </a:rPr>
                        <a:t>Hashtable(Map&lt;? extends K,? extends V&gt; t)</a:t>
                      </a:r>
                      <a:endParaRPr lang="en-US" sz="2400">
                        <a:effectLst/>
                        <a:latin typeface="Arial" pitchFamily="34" charset="0"/>
                        <a:ea typeface="Calibri"/>
                        <a:cs typeface="Arial" pitchFamily="34" charset="0"/>
                      </a:endParaRPr>
                    </a:p>
                  </a:txBody>
                  <a:tcPr marL="76200" marR="76200" marT="76200" marB="76200"/>
                </a:tc>
                <a:tc>
                  <a:txBody>
                    <a:bodyPr/>
                    <a:lstStyle/>
                    <a:p>
                      <a:pPr>
                        <a:lnSpc>
                          <a:spcPct val="115000"/>
                        </a:lnSpc>
                        <a:spcAft>
                          <a:spcPts val="0"/>
                        </a:spcAft>
                      </a:pPr>
                      <a:r>
                        <a:rPr lang="en-US" sz="2400">
                          <a:effectLst/>
                          <a:latin typeface="Arial" pitchFamily="34" charset="0"/>
                          <a:cs typeface="Arial" pitchFamily="34" charset="0"/>
                        </a:rPr>
                        <a:t>Tạo ra một hashtable mới có cùng ánh xạ với Map đã cho</a:t>
                      </a:r>
                      <a:endParaRPr lang="en-US" sz="2400">
                        <a:solidFill>
                          <a:srgbClr val="000000"/>
                        </a:solidFill>
                        <a:effectLst/>
                        <a:latin typeface="Arial" pitchFamily="34" charset="0"/>
                        <a:ea typeface="Calibri"/>
                        <a:cs typeface="Arial" pitchFamily="34" charset="0"/>
                      </a:endParaRPr>
                    </a:p>
                  </a:txBody>
                  <a:tcPr marL="76200" marR="76200" marT="76200" marB="762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99194741"/>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715962"/>
          </a:xfrm>
        </p:spPr>
        <p:txBody>
          <a:bodyPr>
            <a:normAutofit fontScale="90000"/>
          </a:bodyPr>
          <a:lstStyle/>
          <a:p>
            <a:r>
              <a:rPr lang="en-US"/>
              <a:t>Phương thức (1)</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56345527"/>
              </p:ext>
            </p:extLst>
          </p:nvPr>
        </p:nvGraphicFramePr>
        <p:xfrm>
          <a:off x="152400" y="1243376"/>
          <a:ext cx="8915400" cy="5233624"/>
        </p:xfrm>
        <a:graphic>
          <a:graphicData uri="http://schemas.openxmlformats.org/drawingml/2006/table">
            <a:tbl>
              <a:tblPr firstRow="1" firstCol="1" bandRow="1">
                <a:tableStyleId>{5C22544A-7EE6-4342-B048-85BDC9FD1C3A}</a:tableStyleId>
              </a:tblPr>
              <a:tblGrid>
                <a:gridCol w="4301373">
                  <a:extLst>
                    <a:ext uri="{9D8B030D-6E8A-4147-A177-3AD203B41FA5}">
                      <a16:colId xmlns:a16="http://schemas.microsoft.com/office/drawing/2014/main" val="20000"/>
                    </a:ext>
                  </a:extLst>
                </a:gridCol>
                <a:gridCol w="4614027">
                  <a:extLst>
                    <a:ext uri="{9D8B030D-6E8A-4147-A177-3AD203B41FA5}">
                      <a16:colId xmlns:a16="http://schemas.microsoft.com/office/drawing/2014/main" val="20001"/>
                    </a:ext>
                  </a:extLst>
                </a:gridCol>
              </a:tblGrid>
              <a:tr h="115823">
                <a:tc>
                  <a:txBody>
                    <a:bodyPr/>
                    <a:lstStyle/>
                    <a:p>
                      <a:pPr>
                        <a:lnSpc>
                          <a:spcPct val="115000"/>
                        </a:lnSpc>
                        <a:spcAft>
                          <a:spcPts val="0"/>
                        </a:spcAft>
                      </a:pPr>
                      <a:r>
                        <a:rPr lang="en-US" sz="2200">
                          <a:effectLst/>
                          <a:latin typeface="Arial" pitchFamily="34" charset="0"/>
                          <a:cs typeface="Arial" pitchFamily="34" charset="0"/>
                        </a:rPr>
                        <a:t>Phương thưc</a:t>
                      </a:r>
                      <a:endParaRPr lang="en-US" sz="2200">
                        <a:solidFill>
                          <a:srgbClr val="000000"/>
                        </a:solidFill>
                        <a:effectLst/>
                        <a:latin typeface="Arial" pitchFamily="34" charset="0"/>
                        <a:ea typeface="Calibri"/>
                        <a:cs typeface="Arial" pitchFamily="34" charset="0"/>
                      </a:endParaRPr>
                    </a:p>
                  </a:txBody>
                  <a:tcPr marL="30162" marR="30162" marT="30162" marB="30162"/>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0162" marR="30162" marT="30162" marB="30162"/>
                </a:tc>
                <a:extLst>
                  <a:ext uri="{0D108BD9-81ED-4DB2-BD59-A6C34878D82A}">
                    <a16:rowId xmlns:a16="http://schemas.microsoft.com/office/drawing/2014/main" val="10000"/>
                  </a:ext>
                </a:extLst>
              </a:tr>
              <a:tr h="95715">
                <a:tc>
                  <a:txBody>
                    <a:bodyPr/>
                    <a:lstStyle/>
                    <a:p>
                      <a:pPr>
                        <a:lnSpc>
                          <a:spcPct val="115000"/>
                        </a:lnSpc>
                        <a:spcAft>
                          <a:spcPts val="0"/>
                        </a:spcAft>
                      </a:pPr>
                      <a:r>
                        <a:rPr lang="en-US" sz="2200">
                          <a:effectLst/>
                          <a:latin typeface="Arial" pitchFamily="34" charset="0"/>
                          <a:cs typeface="Arial" pitchFamily="34" charset="0"/>
                        </a:rPr>
                        <a:t>void clear()</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Thiết lập lại Hashtable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1"/>
                  </a:ext>
                </a:extLst>
              </a:tr>
              <a:tr h="95715">
                <a:tc>
                  <a:txBody>
                    <a:bodyPr/>
                    <a:lstStyle/>
                    <a:p>
                      <a:pPr>
                        <a:lnSpc>
                          <a:spcPct val="115000"/>
                        </a:lnSpc>
                        <a:spcAft>
                          <a:spcPts val="0"/>
                        </a:spcAft>
                      </a:pPr>
                      <a:r>
                        <a:rPr lang="en-US" sz="2200">
                          <a:effectLst/>
                          <a:latin typeface="Arial" pitchFamily="34" charset="0"/>
                          <a:cs typeface="Arial" pitchFamily="34" charset="0"/>
                        </a:rPr>
                        <a:t>Object clone()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một bản sao nông của Hashtable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2"/>
                  </a:ext>
                </a:extLst>
              </a:tr>
              <a:tr h="206713">
                <a:tc>
                  <a:txBody>
                    <a:bodyPr/>
                    <a:lstStyle/>
                    <a:p>
                      <a:pPr>
                        <a:lnSpc>
                          <a:spcPct val="115000"/>
                        </a:lnSpc>
                        <a:spcAft>
                          <a:spcPts val="0"/>
                        </a:spcAft>
                      </a:pPr>
                      <a:r>
                        <a:rPr lang="en-US" sz="2200">
                          <a:effectLst/>
                          <a:latin typeface="Arial" pitchFamily="34" charset="0"/>
                          <a:cs typeface="Arial" pitchFamily="34" charset="0"/>
                        </a:rPr>
                        <a:t>V compute(K key, BiFunction&lt;? super K,? super V,? extends V&gt; remappingFunction)</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Tính toán ánh xạ cho key được chỉ định và value ánh xạ hiện tại của nó (hoặc null nếu không có ánh xạ hiện tại)</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3"/>
                  </a:ext>
                </a:extLst>
              </a:tr>
              <a:tr h="262211">
                <a:tc>
                  <a:txBody>
                    <a:bodyPr/>
                    <a:lstStyle/>
                    <a:p>
                      <a:pPr>
                        <a:lnSpc>
                          <a:spcPct val="115000"/>
                        </a:lnSpc>
                        <a:spcAft>
                          <a:spcPts val="0"/>
                        </a:spcAft>
                      </a:pPr>
                      <a:r>
                        <a:rPr lang="en-US" sz="2200">
                          <a:effectLst/>
                          <a:latin typeface="Arial" pitchFamily="34" charset="0"/>
                          <a:cs typeface="Arial" pitchFamily="34" charset="0"/>
                        </a:rPr>
                        <a:t>V computeIfAbsent(K key, Function&lt;? super K,? extends V&gt; mappingFunction)</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Tính value của nó bằng hàm ánh xạ đã cho, nếu key được chỉ định chưa được liên kết với một value (hoặc được ánh xạ thành null) và nhập nó vào Map này trừ khi null</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2336755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a:t>Phương thức (2)</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746516887"/>
              </p:ext>
            </p:extLst>
          </p:nvPr>
        </p:nvGraphicFramePr>
        <p:xfrm>
          <a:off x="128587" y="762000"/>
          <a:ext cx="8991601" cy="6044984"/>
        </p:xfrm>
        <a:graphic>
          <a:graphicData uri="http://schemas.openxmlformats.org/drawingml/2006/table">
            <a:tbl>
              <a:tblPr firstRow="1" firstCol="1" bandRow="1">
                <a:tableStyleId>{5C22544A-7EE6-4342-B048-85BDC9FD1C3A}</a:tableStyleId>
              </a:tblPr>
              <a:tblGrid>
                <a:gridCol w="4062413">
                  <a:extLst>
                    <a:ext uri="{9D8B030D-6E8A-4147-A177-3AD203B41FA5}">
                      <a16:colId xmlns:a16="http://schemas.microsoft.com/office/drawing/2014/main" val="20000"/>
                    </a:ext>
                  </a:extLst>
                </a:gridCol>
                <a:gridCol w="4929188">
                  <a:extLst>
                    <a:ext uri="{9D8B030D-6E8A-4147-A177-3AD203B41FA5}">
                      <a16:colId xmlns:a16="http://schemas.microsoft.com/office/drawing/2014/main" val="20001"/>
                    </a:ext>
                  </a:extLst>
                </a:gridCol>
              </a:tblGrid>
              <a:tr h="115823">
                <a:tc>
                  <a:txBody>
                    <a:bodyPr/>
                    <a:lstStyle/>
                    <a:p>
                      <a:pPr>
                        <a:lnSpc>
                          <a:spcPct val="115000"/>
                        </a:lnSpc>
                        <a:spcAft>
                          <a:spcPts val="0"/>
                        </a:spcAft>
                      </a:pPr>
                      <a:r>
                        <a:rPr lang="en-US" sz="2200">
                          <a:effectLst/>
                          <a:latin typeface="Arial" pitchFamily="34" charset="0"/>
                          <a:cs typeface="Arial" pitchFamily="34" charset="0"/>
                        </a:rPr>
                        <a:t>Phương thưc</a:t>
                      </a:r>
                      <a:endParaRPr lang="en-US" sz="2200">
                        <a:solidFill>
                          <a:srgbClr val="000000"/>
                        </a:solidFill>
                        <a:effectLst/>
                        <a:latin typeface="Arial" pitchFamily="34" charset="0"/>
                        <a:ea typeface="Calibri"/>
                        <a:cs typeface="Arial" pitchFamily="34" charset="0"/>
                      </a:endParaRPr>
                    </a:p>
                  </a:txBody>
                  <a:tcPr marL="30162" marR="30162" marT="30162" marB="30162"/>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0162" marR="30162" marT="30162" marB="30162"/>
                </a:tc>
                <a:extLst>
                  <a:ext uri="{0D108BD9-81ED-4DB2-BD59-A6C34878D82A}">
                    <a16:rowId xmlns:a16="http://schemas.microsoft.com/office/drawing/2014/main" val="10000"/>
                  </a:ext>
                </a:extLst>
              </a:tr>
              <a:tr h="206713">
                <a:tc>
                  <a:txBody>
                    <a:bodyPr/>
                    <a:lstStyle/>
                    <a:p>
                      <a:pPr>
                        <a:lnSpc>
                          <a:spcPct val="115000"/>
                        </a:lnSpc>
                        <a:spcAft>
                          <a:spcPts val="0"/>
                        </a:spcAft>
                      </a:pPr>
                      <a:r>
                        <a:rPr lang="en-US" sz="2200">
                          <a:effectLst/>
                          <a:latin typeface="Arial" pitchFamily="34" charset="0"/>
                          <a:cs typeface="Arial" pitchFamily="34" charset="0"/>
                        </a:rPr>
                        <a:t>V computeIfPresent(K key, BiFunction&lt;? super K,? super V,? extends V&gt; remappingFunction)</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Tính toán một ánh xạ mới được cung cấp cho key và value được ánh xạ hiện tại của nó nếu value của key được chỉ định xuất hiện và không có giá trị</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1"/>
                  </a:ext>
                </a:extLst>
              </a:tr>
              <a:tr h="95715">
                <a:tc>
                  <a:txBody>
                    <a:bodyPr/>
                    <a:lstStyle/>
                    <a:p>
                      <a:pPr>
                        <a:lnSpc>
                          <a:spcPct val="115000"/>
                        </a:lnSpc>
                        <a:spcAft>
                          <a:spcPts val="0"/>
                        </a:spcAft>
                      </a:pPr>
                      <a:r>
                        <a:rPr lang="en-US" sz="2200">
                          <a:effectLst/>
                          <a:latin typeface="Arial" pitchFamily="34" charset="0"/>
                          <a:cs typeface="Arial" pitchFamily="34" charset="0"/>
                        </a:rPr>
                        <a:t>Enumeration elements()</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một bảng liệt kê các value trong bảng băm</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2"/>
                  </a:ext>
                </a:extLst>
              </a:tr>
              <a:tr h="151214">
                <a:tc>
                  <a:txBody>
                    <a:bodyPr/>
                    <a:lstStyle/>
                    <a:p>
                      <a:pPr>
                        <a:lnSpc>
                          <a:spcPct val="115000"/>
                        </a:lnSpc>
                        <a:spcAft>
                          <a:spcPts val="0"/>
                        </a:spcAft>
                      </a:pPr>
                      <a:r>
                        <a:rPr lang="en-US" sz="2200">
                          <a:effectLst/>
                          <a:latin typeface="Arial" pitchFamily="34" charset="0"/>
                          <a:cs typeface="Arial" pitchFamily="34" charset="0"/>
                        </a:rPr>
                        <a:t>Set&lt;Map.Entry&lt;K,V&gt;&gt; entrySet()</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một chế độ xem được đặt của các ánh xạ có trong Map</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3"/>
                  </a:ext>
                </a:extLst>
              </a:tr>
              <a:tr h="95715">
                <a:tc>
                  <a:txBody>
                    <a:bodyPr/>
                    <a:lstStyle/>
                    <a:p>
                      <a:pPr>
                        <a:lnSpc>
                          <a:spcPct val="115000"/>
                        </a:lnSpc>
                        <a:spcAft>
                          <a:spcPts val="0"/>
                        </a:spcAft>
                      </a:pPr>
                      <a:r>
                        <a:rPr lang="en-US" sz="2200">
                          <a:effectLst/>
                          <a:latin typeface="Arial" pitchFamily="34" charset="0"/>
                          <a:cs typeface="Arial" pitchFamily="34" charset="0"/>
                        </a:rPr>
                        <a:t>boolean equals(Object o)</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so sánh Đối tượng được chỉ định với map.</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4"/>
                  </a:ext>
                </a:extLst>
              </a:tr>
              <a:tr h="206713">
                <a:tc>
                  <a:txBody>
                    <a:bodyPr/>
                    <a:lstStyle/>
                    <a:p>
                      <a:pPr>
                        <a:lnSpc>
                          <a:spcPct val="115000"/>
                        </a:lnSpc>
                        <a:spcAft>
                          <a:spcPts val="0"/>
                        </a:spcAft>
                      </a:pPr>
                      <a:r>
                        <a:rPr lang="en-US" sz="2200">
                          <a:effectLst/>
                          <a:latin typeface="Arial" pitchFamily="34" charset="0"/>
                          <a:cs typeface="Arial" pitchFamily="34" charset="0"/>
                        </a:rPr>
                        <a:t>void forEach(BiConsumer&lt;? super K,? super V&gt; action)</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Thực hiện action cho từng mục trong Map cho đến khi tất cả các mục đã được xử lý hoặc action đưa ra một ngoại lệ</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83228799"/>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a:t>Phương thức (3)</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8461500"/>
              </p:ext>
            </p:extLst>
          </p:nvPr>
        </p:nvGraphicFramePr>
        <p:xfrm>
          <a:off x="128587" y="685800"/>
          <a:ext cx="8991600" cy="6085200"/>
        </p:xfrm>
        <a:graphic>
          <a:graphicData uri="http://schemas.openxmlformats.org/drawingml/2006/table">
            <a:tbl>
              <a:tblPr firstRow="1" firstCol="1" bandRow="1">
                <a:tableStyleId>{5C22544A-7EE6-4342-B048-85BDC9FD1C3A}</a:tableStyleId>
              </a:tblPr>
              <a:tblGrid>
                <a:gridCol w="4377573">
                  <a:extLst>
                    <a:ext uri="{9D8B030D-6E8A-4147-A177-3AD203B41FA5}">
                      <a16:colId xmlns:a16="http://schemas.microsoft.com/office/drawing/2014/main" val="20000"/>
                    </a:ext>
                  </a:extLst>
                </a:gridCol>
                <a:gridCol w="4614027">
                  <a:extLst>
                    <a:ext uri="{9D8B030D-6E8A-4147-A177-3AD203B41FA5}">
                      <a16:colId xmlns:a16="http://schemas.microsoft.com/office/drawing/2014/main" val="20001"/>
                    </a:ext>
                  </a:extLst>
                </a:gridCol>
              </a:tblGrid>
              <a:tr h="115823">
                <a:tc>
                  <a:txBody>
                    <a:bodyPr/>
                    <a:lstStyle/>
                    <a:p>
                      <a:pPr>
                        <a:lnSpc>
                          <a:spcPct val="115000"/>
                        </a:lnSpc>
                        <a:spcAft>
                          <a:spcPts val="0"/>
                        </a:spcAft>
                      </a:pPr>
                      <a:r>
                        <a:rPr lang="en-US" sz="2200">
                          <a:effectLst/>
                          <a:latin typeface="Arial" pitchFamily="34" charset="0"/>
                          <a:cs typeface="Arial" pitchFamily="34" charset="0"/>
                        </a:rPr>
                        <a:t>Phương thưc</a:t>
                      </a:r>
                      <a:endParaRPr lang="en-US" sz="2200">
                        <a:solidFill>
                          <a:srgbClr val="000000"/>
                        </a:solidFill>
                        <a:effectLst/>
                        <a:latin typeface="Arial" pitchFamily="34" charset="0"/>
                        <a:ea typeface="Calibri"/>
                        <a:cs typeface="Arial" pitchFamily="34" charset="0"/>
                      </a:endParaRPr>
                    </a:p>
                  </a:txBody>
                  <a:tcPr marL="30162" marR="30162" marT="30162" marB="30162"/>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0162" marR="30162" marT="30162" marB="30162"/>
                </a:tc>
                <a:extLst>
                  <a:ext uri="{0D108BD9-81ED-4DB2-BD59-A6C34878D82A}">
                    <a16:rowId xmlns:a16="http://schemas.microsoft.com/office/drawing/2014/main" val="10000"/>
                  </a:ext>
                </a:extLst>
              </a:tr>
              <a:tr h="151214">
                <a:tc>
                  <a:txBody>
                    <a:bodyPr/>
                    <a:lstStyle/>
                    <a:p>
                      <a:pPr>
                        <a:lnSpc>
                          <a:spcPct val="115000"/>
                        </a:lnSpc>
                        <a:spcAft>
                          <a:spcPts val="0"/>
                        </a:spcAft>
                      </a:pPr>
                      <a:r>
                        <a:rPr lang="en-US" sz="2200">
                          <a:effectLst/>
                          <a:latin typeface="Arial" pitchFamily="34" charset="0"/>
                          <a:cs typeface="Arial" pitchFamily="34" charset="0"/>
                        </a:rPr>
                        <a:t>V getOrDefault(Object key, V defaultValue)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value mà key được chỉ định được ánh xạ hoặc defaultValue nếu Map không chứa ánh xạ cho key</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1"/>
                  </a:ext>
                </a:extLst>
              </a:tr>
              <a:tr h="95715">
                <a:tc>
                  <a:txBody>
                    <a:bodyPr/>
                    <a:lstStyle/>
                    <a:p>
                      <a:pPr>
                        <a:lnSpc>
                          <a:spcPct val="115000"/>
                        </a:lnSpc>
                        <a:spcAft>
                          <a:spcPts val="0"/>
                        </a:spcAft>
                      </a:pPr>
                      <a:r>
                        <a:rPr lang="en-US" sz="2200">
                          <a:effectLst/>
                          <a:latin typeface="Arial" pitchFamily="34" charset="0"/>
                          <a:cs typeface="Arial" pitchFamily="34" charset="0"/>
                        </a:rPr>
                        <a:t>int hashCode()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giá trị mã băm cho Map</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2"/>
                  </a:ext>
                </a:extLst>
              </a:tr>
              <a:tr h="95715">
                <a:tc>
                  <a:txBody>
                    <a:bodyPr/>
                    <a:lstStyle/>
                    <a:p>
                      <a:pPr>
                        <a:lnSpc>
                          <a:spcPct val="115000"/>
                        </a:lnSpc>
                        <a:spcAft>
                          <a:spcPts val="0"/>
                        </a:spcAft>
                      </a:pPr>
                      <a:r>
                        <a:rPr lang="en-US" sz="2200">
                          <a:effectLst/>
                          <a:latin typeface="Arial" pitchFamily="34" charset="0"/>
                          <a:cs typeface="Arial" pitchFamily="34" charset="0"/>
                        </a:rPr>
                        <a:t>Enumeration&lt;K&gt; keys()</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một bảng liệt kê các key trong hàm băm</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3"/>
                  </a:ext>
                </a:extLst>
              </a:tr>
              <a:tr h="95715">
                <a:tc>
                  <a:txBody>
                    <a:bodyPr/>
                    <a:lstStyle/>
                    <a:p>
                      <a:pPr>
                        <a:lnSpc>
                          <a:spcPct val="115000"/>
                        </a:lnSpc>
                        <a:spcAft>
                          <a:spcPts val="0"/>
                        </a:spcAft>
                      </a:pPr>
                      <a:r>
                        <a:rPr lang="en-US" sz="2200">
                          <a:effectLst/>
                          <a:latin typeface="Arial" pitchFamily="34" charset="0"/>
                          <a:cs typeface="Arial" pitchFamily="34" charset="0"/>
                        </a:rPr>
                        <a:t>Set&lt;K&gt; keySet()</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Set view của các key có trong Map</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4"/>
                  </a:ext>
                </a:extLst>
              </a:tr>
              <a:tr h="206713">
                <a:tc>
                  <a:txBody>
                    <a:bodyPr/>
                    <a:lstStyle/>
                    <a:p>
                      <a:pPr>
                        <a:lnSpc>
                          <a:spcPct val="115000"/>
                        </a:lnSpc>
                        <a:spcAft>
                          <a:spcPts val="0"/>
                        </a:spcAft>
                      </a:pPr>
                      <a:r>
                        <a:rPr lang="en-US" sz="2200">
                          <a:effectLst/>
                          <a:latin typeface="Arial" pitchFamily="34" charset="0"/>
                          <a:cs typeface="Arial" pitchFamily="34" charset="0"/>
                        </a:rPr>
                        <a:t>V merge(K key, V value, BiFunction&lt;? super V,? super V,? extends V&gt; remappingFunction)</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Nếu key được chỉ định chưa được liên kết với một value hoặc được liên kết với null, liên kết nó với value  không null đã cho</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5"/>
                  </a:ext>
                </a:extLst>
              </a:tr>
              <a:tr h="95715">
                <a:tc>
                  <a:txBody>
                    <a:bodyPr/>
                    <a:lstStyle/>
                    <a:p>
                      <a:pPr>
                        <a:lnSpc>
                          <a:spcPct val="115000"/>
                        </a:lnSpc>
                        <a:spcAft>
                          <a:spcPts val="0"/>
                        </a:spcAft>
                      </a:pPr>
                      <a:r>
                        <a:rPr lang="en-US" sz="2200">
                          <a:effectLst/>
                          <a:latin typeface="Arial" pitchFamily="34" charset="0"/>
                          <a:cs typeface="Arial" pitchFamily="34" charset="0"/>
                        </a:rPr>
                        <a:t>V put(K key, V value)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Chèn value với key được chỉ định trong Hashtable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1975970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a:t>Phương thức (4)</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42155364"/>
              </p:ext>
            </p:extLst>
          </p:nvPr>
        </p:nvGraphicFramePr>
        <p:xfrm>
          <a:off x="128587" y="1355560"/>
          <a:ext cx="8991600" cy="5273840"/>
        </p:xfrm>
        <a:graphic>
          <a:graphicData uri="http://schemas.openxmlformats.org/drawingml/2006/table">
            <a:tbl>
              <a:tblPr firstRow="1" firstCol="1" bandRow="1">
                <a:tableStyleId>{5C22544A-7EE6-4342-B048-85BDC9FD1C3A}</a:tableStyleId>
              </a:tblPr>
              <a:tblGrid>
                <a:gridCol w="4377573">
                  <a:extLst>
                    <a:ext uri="{9D8B030D-6E8A-4147-A177-3AD203B41FA5}">
                      <a16:colId xmlns:a16="http://schemas.microsoft.com/office/drawing/2014/main" val="20000"/>
                    </a:ext>
                  </a:extLst>
                </a:gridCol>
                <a:gridCol w="4614027">
                  <a:extLst>
                    <a:ext uri="{9D8B030D-6E8A-4147-A177-3AD203B41FA5}">
                      <a16:colId xmlns:a16="http://schemas.microsoft.com/office/drawing/2014/main" val="20001"/>
                    </a:ext>
                  </a:extLst>
                </a:gridCol>
              </a:tblGrid>
              <a:tr h="115823">
                <a:tc>
                  <a:txBody>
                    <a:bodyPr/>
                    <a:lstStyle/>
                    <a:p>
                      <a:pPr>
                        <a:lnSpc>
                          <a:spcPct val="115000"/>
                        </a:lnSpc>
                        <a:spcAft>
                          <a:spcPts val="0"/>
                        </a:spcAft>
                      </a:pPr>
                      <a:r>
                        <a:rPr lang="en-US" sz="2200">
                          <a:effectLst/>
                          <a:latin typeface="Arial" pitchFamily="34" charset="0"/>
                          <a:cs typeface="Arial" pitchFamily="34" charset="0"/>
                        </a:rPr>
                        <a:t>Phương thưc</a:t>
                      </a:r>
                      <a:endParaRPr lang="en-US" sz="2200">
                        <a:solidFill>
                          <a:srgbClr val="000000"/>
                        </a:solidFill>
                        <a:effectLst/>
                        <a:latin typeface="Arial" pitchFamily="34" charset="0"/>
                        <a:ea typeface="Calibri"/>
                        <a:cs typeface="Arial" pitchFamily="34" charset="0"/>
                      </a:endParaRPr>
                    </a:p>
                  </a:txBody>
                  <a:tcPr marL="30162" marR="30162" marT="30162" marB="30162"/>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0162" marR="30162" marT="30162" marB="30162"/>
                </a:tc>
                <a:extLst>
                  <a:ext uri="{0D108BD9-81ED-4DB2-BD59-A6C34878D82A}">
                    <a16:rowId xmlns:a16="http://schemas.microsoft.com/office/drawing/2014/main" val="10000"/>
                  </a:ext>
                </a:extLst>
              </a:tr>
              <a:tr h="151214">
                <a:tc>
                  <a:txBody>
                    <a:bodyPr/>
                    <a:lstStyle/>
                    <a:p>
                      <a:pPr>
                        <a:lnSpc>
                          <a:spcPct val="115000"/>
                        </a:lnSpc>
                        <a:spcAft>
                          <a:spcPts val="0"/>
                        </a:spcAft>
                      </a:pPr>
                      <a:r>
                        <a:rPr lang="en-US" sz="2200">
                          <a:effectLst/>
                          <a:latin typeface="Arial" pitchFamily="34" charset="0"/>
                          <a:cs typeface="Arial" pitchFamily="34" charset="0"/>
                        </a:rPr>
                        <a:t>void putAll(Map&lt;? extends K,? extends V&gt; t))</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Sao chép tất cả các cặp key - value từ Map sang hashtable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1"/>
                  </a:ext>
                </a:extLst>
              </a:tr>
              <a:tr h="206713">
                <a:tc>
                  <a:txBody>
                    <a:bodyPr/>
                    <a:lstStyle/>
                    <a:p>
                      <a:pPr>
                        <a:lnSpc>
                          <a:spcPct val="115000"/>
                        </a:lnSpc>
                        <a:spcAft>
                          <a:spcPts val="0"/>
                        </a:spcAft>
                      </a:pPr>
                      <a:r>
                        <a:rPr lang="en-US" sz="2200">
                          <a:effectLst/>
                          <a:latin typeface="Arial" pitchFamily="34" charset="0"/>
                          <a:cs typeface="Arial" pitchFamily="34" charset="0"/>
                        </a:rPr>
                        <a:t>V putIfAbsent(K key, V value)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Nếu key được chỉ định chưa được liên kết với một value (hoặc nó được ánh xạ tới null) thì cho liên kết tới value hiện tại</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2"/>
                  </a:ext>
                </a:extLst>
              </a:tr>
              <a:tr h="151214">
                <a:tc>
                  <a:txBody>
                    <a:bodyPr/>
                    <a:lstStyle/>
                    <a:p>
                      <a:pPr>
                        <a:lnSpc>
                          <a:spcPct val="115000"/>
                        </a:lnSpc>
                        <a:spcAft>
                          <a:spcPts val="0"/>
                        </a:spcAft>
                      </a:pPr>
                      <a:r>
                        <a:rPr lang="en-US" sz="2200">
                          <a:effectLst/>
                          <a:latin typeface="Arial" pitchFamily="34" charset="0"/>
                          <a:cs typeface="Arial" pitchFamily="34" charset="0"/>
                        </a:rPr>
                        <a:t>boolean remove(Object key, Object value)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Loại bỏ các value với các key được chỉ định khỏi hashtable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3"/>
                  </a:ext>
                </a:extLst>
              </a:tr>
              <a:tr h="95715">
                <a:tc>
                  <a:txBody>
                    <a:bodyPr/>
                    <a:lstStyle/>
                    <a:p>
                      <a:pPr>
                        <a:lnSpc>
                          <a:spcPct val="115000"/>
                        </a:lnSpc>
                        <a:spcAft>
                          <a:spcPts val="0"/>
                        </a:spcAft>
                      </a:pPr>
                      <a:r>
                        <a:rPr lang="en-US" sz="2200">
                          <a:effectLst/>
                          <a:latin typeface="Arial" pitchFamily="34" charset="0"/>
                          <a:cs typeface="Arial" pitchFamily="34" charset="0"/>
                        </a:rPr>
                        <a:t>V replace(K key, V value)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Thay thế value cho key được chỉ định</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4"/>
                  </a:ext>
                </a:extLst>
              </a:tr>
              <a:tr h="151214">
                <a:tc>
                  <a:txBody>
                    <a:bodyPr/>
                    <a:lstStyle/>
                    <a:p>
                      <a:pPr>
                        <a:lnSpc>
                          <a:spcPct val="115000"/>
                        </a:lnSpc>
                        <a:spcAft>
                          <a:spcPts val="0"/>
                        </a:spcAft>
                      </a:pPr>
                      <a:r>
                        <a:rPr lang="en-US" sz="2200">
                          <a:effectLst/>
                          <a:latin typeface="Arial" pitchFamily="34" charset="0"/>
                          <a:cs typeface="Arial" pitchFamily="34" charset="0"/>
                        </a:rPr>
                        <a:t>boolean replace(K key, V oldValue, V newValue)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Thay thế value cũ bằng value mới cho key được chỉ định.</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38114570"/>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a:t>Phương thức (5)</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060516140"/>
              </p:ext>
            </p:extLst>
          </p:nvPr>
        </p:nvGraphicFramePr>
        <p:xfrm>
          <a:off x="128587" y="685800"/>
          <a:ext cx="8991600" cy="6044984"/>
        </p:xfrm>
        <a:graphic>
          <a:graphicData uri="http://schemas.openxmlformats.org/drawingml/2006/table">
            <a:tbl>
              <a:tblPr firstRow="1" firstCol="1" bandRow="1">
                <a:tableStyleId>{5C22544A-7EE6-4342-B048-85BDC9FD1C3A}</a:tableStyleId>
              </a:tblPr>
              <a:tblGrid>
                <a:gridCol w="4062413">
                  <a:extLst>
                    <a:ext uri="{9D8B030D-6E8A-4147-A177-3AD203B41FA5}">
                      <a16:colId xmlns:a16="http://schemas.microsoft.com/office/drawing/2014/main" val="20000"/>
                    </a:ext>
                  </a:extLst>
                </a:gridCol>
                <a:gridCol w="4929187">
                  <a:extLst>
                    <a:ext uri="{9D8B030D-6E8A-4147-A177-3AD203B41FA5}">
                      <a16:colId xmlns:a16="http://schemas.microsoft.com/office/drawing/2014/main" val="20001"/>
                    </a:ext>
                  </a:extLst>
                </a:gridCol>
              </a:tblGrid>
              <a:tr h="115823">
                <a:tc>
                  <a:txBody>
                    <a:bodyPr/>
                    <a:lstStyle/>
                    <a:p>
                      <a:pPr>
                        <a:lnSpc>
                          <a:spcPct val="115000"/>
                        </a:lnSpc>
                        <a:spcAft>
                          <a:spcPts val="0"/>
                        </a:spcAft>
                      </a:pPr>
                      <a:r>
                        <a:rPr lang="en-US" sz="2200">
                          <a:effectLst/>
                          <a:latin typeface="Arial" pitchFamily="34" charset="0"/>
                          <a:cs typeface="Arial" pitchFamily="34" charset="0"/>
                        </a:rPr>
                        <a:t>Phương thưc</a:t>
                      </a:r>
                      <a:endParaRPr lang="en-US" sz="2200">
                        <a:solidFill>
                          <a:srgbClr val="000000"/>
                        </a:solidFill>
                        <a:effectLst/>
                        <a:latin typeface="Arial" pitchFamily="34" charset="0"/>
                        <a:ea typeface="Calibri"/>
                        <a:cs typeface="Arial" pitchFamily="34" charset="0"/>
                      </a:endParaRPr>
                    </a:p>
                  </a:txBody>
                  <a:tcPr marL="30162" marR="30162" marT="30162" marB="30162"/>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0162" marR="30162" marT="30162" marB="30162"/>
                </a:tc>
                <a:extLst>
                  <a:ext uri="{0D108BD9-81ED-4DB2-BD59-A6C34878D82A}">
                    <a16:rowId xmlns:a16="http://schemas.microsoft.com/office/drawing/2014/main" val="10000"/>
                  </a:ext>
                </a:extLst>
              </a:tr>
              <a:tr h="206713">
                <a:tc>
                  <a:txBody>
                    <a:bodyPr/>
                    <a:lstStyle/>
                    <a:p>
                      <a:pPr>
                        <a:lnSpc>
                          <a:spcPct val="115000"/>
                        </a:lnSpc>
                        <a:spcAft>
                          <a:spcPts val="0"/>
                        </a:spcAft>
                      </a:pPr>
                      <a:r>
                        <a:rPr lang="en-US" sz="2200">
                          <a:effectLst/>
                          <a:latin typeface="Arial" pitchFamily="34" charset="0"/>
                          <a:cs typeface="Arial" pitchFamily="34" charset="0"/>
                        </a:rPr>
                        <a:t>void replaceAll(BiFunction&lt;? super K,? super V,? extends V&gt; function)</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Thay thế value của mỗi entry bằng kết quả của việc gọi hàm đã cho trên entry đó cho đến khi tất cả các entry đã được xử lý hoặc hàm ném ngoại lệ.</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1"/>
                  </a:ext>
                </a:extLst>
              </a:tr>
              <a:tr h="95715">
                <a:tc>
                  <a:txBody>
                    <a:bodyPr/>
                    <a:lstStyle/>
                    <a:p>
                      <a:pPr>
                        <a:lnSpc>
                          <a:spcPct val="115000"/>
                        </a:lnSpc>
                        <a:spcAft>
                          <a:spcPts val="0"/>
                        </a:spcAft>
                      </a:pPr>
                      <a:r>
                        <a:rPr lang="en-US" sz="2200">
                          <a:effectLst/>
                          <a:latin typeface="Arial" pitchFamily="34" charset="0"/>
                          <a:cs typeface="Arial" pitchFamily="34" charset="0"/>
                        </a:rPr>
                        <a:t>String toString()</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một chuỗi đại diện của đối tượng Hashtable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2"/>
                  </a:ext>
                </a:extLst>
              </a:tr>
              <a:tr h="95715">
                <a:tc>
                  <a:txBody>
                    <a:bodyPr/>
                    <a:lstStyle/>
                    <a:p>
                      <a:pPr>
                        <a:lnSpc>
                          <a:spcPct val="115000"/>
                        </a:lnSpc>
                        <a:spcAft>
                          <a:spcPts val="0"/>
                        </a:spcAft>
                      </a:pPr>
                      <a:r>
                        <a:rPr lang="en-US" sz="2200">
                          <a:effectLst/>
                          <a:latin typeface="Arial" pitchFamily="34" charset="0"/>
                          <a:cs typeface="Arial" pitchFamily="34" charset="0"/>
                        </a:rPr>
                        <a:t>Collection values()</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một collection view các value có trong map</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3"/>
                  </a:ext>
                </a:extLst>
              </a:tr>
              <a:tr h="151214">
                <a:tc>
                  <a:txBody>
                    <a:bodyPr/>
                    <a:lstStyle/>
                    <a:p>
                      <a:pPr>
                        <a:lnSpc>
                          <a:spcPct val="115000"/>
                        </a:lnSpc>
                        <a:spcAft>
                          <a:spcPts val="0"/>
                        </a:spcAft>
                      </a:pPr>
                      <a:r>
                        <a:rPr lang="en-US" sz="2200">
                          <a:effectLst/>
                          <a:latin typeface="Arial" pitchFamily="34" charset="0"/>
                          <a:cs typeface="Arial" pitchFamily="34" charset="0"/>
                        </a:rPr>
                        <a:t>boolean contains(Object value)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true nếu value bằng với value tồn tại trong hashtable, ngược lại trả về false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4"/>
                  </a:ext>
                </a:extLst>
              </a:tr>
              <a:tr h="151214">
                <a:tc>
                  <a:txBody>
                    <a:bodyPr/>
                    <a:lstStyle/>
                    <a:p>
                      <a:pPr>
                        <a:lnSpc>
                          <a:spcPct val="115000"/>
                        </a:lnSpc>
                        <a:spcAft>
                          <a:spcPts val="0"/>
                        </a:spcAft>
                      </a:pPr>
                      <a:r>
                        <a:rPr lang="en-US" sz="2200">
                          <a:effectLst/>
                          <a:latin typeface="Arial" pitchFamily="34" charset="0"/>
                          <a:cs typeface="Arial" pitchFamily="34" charset="0"/>
                        </a:rPr>
                        <a:t>boolean containsValue(Object value)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true nếu value bằng với value tồn tại trong hashtable, ngược lại trả về false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8675587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a:t>Phương thức (6)</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635967645"/>
              </p:ext>
            </p:extLst>
          </p:nvPr>
        </p:nvGraphicFramePr>
        <p:xfrm>
          <a:off x="128587" y="969988"/>
          <a:ext cx="8991600" cy="5659412"/>
        </p:xfrm>
        <a:graphic>
          <a:graphicData uri="http://schemas.openxmlformats.org/drawingml/2006/table">
            <a:tbl>
              <a:tblPr firstRow="1" firstCol="1" bandRow="1">
                <a:tableStyleId>{5C22544A-7EE6-4342-B048-85BDC9FD1C3A}</a:tableStyleId>
              </a:tblPr>
              <a:tblGrid>
                <a:gridCol w="4377573">
                  <a:extLst>
                    <a:ext uri="{9D8B030D-6E8A-4147-A177-3AD203B41FA5}">
                      <a16:colId xmlns:a16="http://schemas.microsoft.com/office/drawing/2014/main" val="20000"/>
                    </a:ext>
                  </a:extLst>
                </a:gridCol>
                <a:gridCol w="4614027">
                  <a:extLst>
                    <a:ext uri="{9D8B030D-6E8A-4147-A177-3AD203B41FA5}">
                      <a16:colId xmlns:a16="http://schemas.microsoft.com/office/drawing/2014/main" val="20001"/>
                    </a:ext>
                  </a:extLst>
                </a:gridCol>
              </a:tblGrid>
              <a:tr h="115823">
                <a:tc>
                  <a:txBody>
                    <a:bodyPr/>
                    <a:lstStyle/>
                    <a:p>
                      <a:pPr>
                        <a:lnSpc>
                          <a:spcPct val="115000"/>
                        </a:lnSpc>
                        <a:spcAft>
                          <a:spcPts val="0"/>
                        </a:spcAft>
                      </a:pPr>
                      <a:r>
                        <a:rPr lang="en-US" sz="2200">
                          <a:effectLst/>
                          <a:latin typeface="Arial" pitchFamily="34" charset="0"/>
                          <a:cs typeface="Arial" pitchFamily="34" charset="0"/>
                        </a:rPr>
                        <a:t>Phương thưc</a:t>
                      </a:r>
                      <a:endParaRPr lang="en-US" sz="2200">
                        <a:solidFill>
                          <a:srgbClr val="000000"/>
                        </a:solidFill>
                        <a:effectLst/>
                        <a:latin typeface="Arial" pitchFamily="34" charset="0"/>
                        <a:ea typeface="Calibri"/>
                        <a:cs typeface="Arial" pitchFamily="34" charset="0"/>
                      </a:endParaRPr>
                    </a:p>
                  </a:txBody>
                  <a:tcPr marL="30162" marR="30162" marT="30162" marB="30162"/>
                </a:tc>
                <a:tc>
                  <a:txBody>
                    <a:bodyPr/>
                    <a:lstStyle/>
                    <a:p>
                      <a:pPr>
                        <a:lnSpc>
                          <a:spcPct val="115000"/>
                        </a:lnSpc>
                        <a:spcAft>
                          <a:spcPts val="0"/>
                        </a:spcAft>
                      </a:pPr>
                      <a:r>
                        <a:rPr lang="en-US" sz="2200">
                          <a:effectLst/>
                          <a:latin typeface="Arial" pitchFamily="34" charset="0"/>
                          <a:cs typeface="Arial" pitchFamily="34" charset="0"/>
                        </a:rPr>
                        <a:t>Mô tả</a:t>
                      </a:r>
                      <a:endParaRPr lang="en-US" sz="2200">
                        <a:solidFill>
                          <a:srgbClr val="000000"/>
                        </a:solidFill>
                        <a:effectLst/>
                        <a:latin typeface="Arial" pitchFamily="34" charset="0"/>
                        <a:ea typeface="Calibri"/>
                        <a:cs typeface="Arial" pitchFamily="34" charset="0"/>
                      </a:endParaRPr>
                    </a:p>
                  </a:txBody>
                  <a:tcPr marL="30162" marR="30162" marT="30162" marB="30162"/>
                </a:tc>
                <a:extLst>
                  <a:ext uri="{0D108BD9-81ED-4DB2-BD59-A6C34878D82A}">
                    <a16:rowId xmlns:a16="http://schemas.microsoft.com/office/drawing/2014/main" val="10000"/>
                  </a:ext>
                </a:extLst>
              </a:tr>
              <a:tr h="151214">
                <a:tc>
                  <a:txBody>
                    <a:bodyPr/>
                    <a:lstStyle/>
                    <a:p>
                      <a:pPr>
                        <a:lnSpc>
                          <a:spcPct val="115000"/>
                        </a:lnSpc>
                        <a:spcAft>
                          <a:spcPts val="0"/>
                        </a:spcAft>
                      </a:pPr>
                      <a:r>
                        <a:rPr lang="en-US" sz="2200">
                          <a:effectLst/>
                          <a:latin typeface="Arial" pitchFamily="34" charset="0"/>
                          <a:cs typeface="Arial" pitchFamily="34" charset="0"/>
                        </a:rPr>
                        <a:t>boolean containsKey(Object key)</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true nếu key bằng với key tồn tại trong hashtable, ngược lại trả về false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1"/>
                  </a:ext>
                </a:extLst>
              </a:tr>
              <a:tr h="151214">
                <a:tc>
                  <a:txBody>
                    <a:bodyPr/>
                    <a:lstStyle/>
                    <a:p>
                      <a:pPr>
                        <a:lnSpc>
                          <a:spcPct val="115000"/>
                        </a:lnSpc>
                        <a:spcAft>
                          <a:spcPts val="0"/>
                        </a:spcAft>
                      </a:pPr>
                      <a:r>
                        <a:rPr lang="en-US" sz="2200">
                          <a:effectLst/>
                          <a:latin typeface="Arial" pitchFamily="34" charset="0"/>
                          <a:cs typeface="Arial" pitchFamily="34" charset="0"/>
                        </a:rPr>
                        <a:t>boolean isEmpty()</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true nếu hashtable trống; trả về false nếu nó chứa ít nhất một key.</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2"/>
                  </a:ext>
                </a:extLst>
              </a:tr>
              <a:tr h="95715">
                <a:tc>
                  <a:txBody>
                    <a:bodyPr/>
                    <a:lstStyle/>
                    <a:p>
                      <a:pPr>
                        <a:lnSpc>
                          <a:spcPct val="115000"/>
                        </a:lnSpc>
                        <a:spcAft>
                          <a:spcPts val="0"/>
                        </a:spcAft>
                      </a:pPr>
                      <a:r>
                        <a:rPr lang="en-US" sz="2200">
                          <a:effectLst/>
                          <a:latin typeface="Arial" pitchFamily="34" charset="0"/>
                          <a:cs typeface="Arial" pitchFamily="34" charset="0"/>
                        </a:rPr>
                        <a:t>V get(Object key)</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đối tượng chứa value được liên kết với key</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3"/>
                  </a:ext>
                </a:extLst>
              </a:tr>
              <a:tr h="151214">
                <a:tc>
                  <a:txBody>
                    <a:bodyPr/>
                    <a:lstStyle/>
                    <a:p>
                      <a:pPr>
                        <a:lnSpc>
                          <a:spcPct val="115000"/>
                        </a:lnSpc>
                        <a:spcAft>
                          <a:spcPts val="0"/>
                        </a:spcAft>
                      </a:pPr>
                      <a:r>
                        <a:rPr lang="en-US" sz="2200">
                          <a:effectLst/>
                          <a:latin typeface="Arial" pitchFamily="34" charset="0"/>
                          <a:cs typeface="Arial" pitchFamily="34" charset="0"/>
                        </a:rPr>
                        <a:t>V remove(Object key)</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Loại bỏ key và value của nó. Phương thức này trả về value được kết hợp với key</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4"/>
                  </a:ext>
                </a:extLst>
              </a:tr>
              <a:tr h="95715">
                <a:tc>
                  <a:txBody>
                    <a:bodyPr/>
                    <a:lstStyle/>
                    <a:p>
                      <a:pPr>
                        <a:lnSpc>
                          <a:spcPct val="115000"/>
                        </a:lnSpc>
                        <a:spcAft>
                          <a:spcPts val="0"/>
                        </a:spcAft>
                      </a:pPr>
                      <a:r>
                        <a:rPr lang="en-US" sz="2200">
                          <a:effectLst/>
                          <a:latin typeface="Arial" pitchFamily="34" charset="0"/>
                          <a:cs typeface="Arial" pitchFamily="34" charset="0"/>
                        </a:rPr>
                        <a:t>int size()</a:t>
                      </a:r>
                      <a:endParaRPr lang="en-US" sz="2200">
                        <a:solidFill>
                          <a:srgbClr val="000000"/>
                        </a:solidFill>
                        <a:effectLst/>
                        <a:latin typeface="Arial" pitchFamily="34" charset="0"/>
                        <a:ea typeface="Calibri"/>
                        <a:cs typeface="Arial" pitchFamily="34" charset="0"/>
                      </a:endParaRPr>
                    </a:p>
                  </a:txBody>
                  <a:tcPr marL="20108" marR="20108" marT="20108" marB="20108"/>
                </a:tc>
                <a:tc>
                  <a:txBody>
                    <a:bodyPr/>
                    <a:lstStyle/>
                    <a:p>
                      <a:pPr>
                        <a:lnSpc>
                          <a:spcPct val="115000"/>
                        </a:lnSpc>
                        <a:spcAft>
                          <a:spcPts val="0"/>
                        </a:spcAft>
                      </a:pPr>
                      <a:r>
                        <a:rPr lang="en-US" sz="2200">
                          <a:effectLst/>
                          <a:latin typeface="Arial" pitchFamily="34" charset="0"/>
                          <a:cs typeface="Arial" pitchFamily="34" charset="0"/>
                        </a:rPr>
                        <a:t>Trả về số lượng entry trong hashtable</a:t>
                      </a:r>
                      <a:endParaRPr lang="en-US" sz="2200">
                        <a:solidFill>
                          <a:srgbClr val="000000"/>
                        </a:solidFill>
                        <a:effectLst/>
                        <a:latin typeface="Arial" pitchFamily="34" charset="0"/>
                        <a:ea typeface="Calibri"/>
                        <a:cs typeface="Arial" pitchFamily="34" charset="0"/>
                      </a:endParaRPr>
                    </a:p>
                  </a:txBody>
                  <a:tcPr marL="20108" marR="20108" marT="20108" marB="20108"/>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8110019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229600" cy="1143000"/>
          </a:xfrm>
        </p:spPr>
        <p:txBody>
          <a:bodyPr/>
          <a:lstStyle/>
          <a:p>
            <a:r>
              <a:rPr lang="en-US"/>
              <a:t>Ví dụ 1</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119313"/>
            <a:ext cx="8828433" cy="374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4897052"/>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229600" cy="1143000"/>
          </a:xfrm>
        </p:spPr>
        <p:txBody>
          <a:bodyPr/>
          <a:lstStyle/>
          <a:p>
            <a:r>
              <a:rPr lang="en-US"/>
              <a:t>Ví dụ 2</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497674"/>
            <a:ext cx="8852092" cy="3217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846784"/>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3</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975" y="1990725"/>
            <a:ext cx="8903825"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767036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Nội dung chương 4</a:t>
            </a:r>
          </a:p>
        </p:txBody>
      </p:sp>
      <p:sp>
        <p:nvSpPr>
          <p:cNvPr id="4" name="Freeform 3"/>
          <p:cNvSpPr/>
          <p:nvPr/>
        </p:nvSpPr>
        <p:spPr>
          <a:xfrm>
            <a:off x="459185"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0" bIns="905193" numCol="1" spcCol="1270" anchor="ctr" anchorCtr="0">
            <a:noAutofit/>
          </a:bodyPr>
          <a:lstStyle/>
          <a:p>
            <a:pPr lvl="0" algn="ctr" defTabSz="2133600">
              <a:lnSpc>
                <a:spcPct val="90000"/>
              </a:lnSpc>
              <a:spcBef>
                <a:spcPct val="0"/>
              </a:spcBef>
              <a:spcAft>
                <a:spcPct val="35000"/>
              </a:spcAft>
            </a:pPr>
            <a:r>
              <a:rPr lang="en-US" sz="4800" kern="1200"/>
              <a:t>4.1. LIST</a:t>
            </a:r>
          </a:p>
        </p:txBody>
      </p:sp>
      <p:sp>
        <p:nvSpPr>
          <p:cNvPr id="5" name="Freeform 4"/>
          <p:cNvSpPr/>
          <p:nvPr/>
        </p:nvSpPr>
        <p:spPr>
          <a:xfrm>
            <a:off x="2552096" y="1600199"/>
            <a:ext cx="1946896"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1" bIns="905193" numCol="1" spcCol="1270" anchor="ctr" anchorCtr="0">
            <a:noAutofit/>
          </a:bodyPr>
          <a:lstStyle/>
          <a:p>
            <a:pPr lvl="0" algn="ctr" defTabSz="2133600">
              <a:lnSpc>
                <a:spcPct val="90000"/>
              </a:lnSpc>
              <a:spcBef>
                <a:spcPct val="0"/>
              </a:spcBef>
              <a:spcAft>
                <a:spcPct val="35000"/>
              </a:spcAft>
            </a:pPr>
            <a:r>
              <a:rPr lang="en-US" sz="4800" kern="1200"/>
              <a:t>4.2. SET</a:t>
            </a:r>
          </a:p>
        </p:txBody>
      </p:sp>
      <p:sp>
        <p:nvSpPr>
          <p:cNvPr id="6" name="Freeform 5"/>
          <p:cNvSpPr/>
          <p:nvPr/>
        </p:nvSpPr>
        <p:spPr>
          <a:xfrm>
            <a:off x="4645008"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4800" bIns="905193" numCol="1" spcCol="1270" anchor="ctr" anchorCtr="0">
            <a:noAutofit/>
          </a:bodyPr>
          <a:lstStyle/>
          <a:p>
            <a:pPr lvl="0" algn="ctr" defTabSz="2133600">
              <a:lnSpc>
                <a:spcPct val="90000"/>
              </a:lnSpc>
              <a:spcBef>
                <a:spcPct val="0"/>
              </a:spcBef>
              <a:spcAft>
                <a:spcPct val="35000"/>
              </a:spcAft>
            </a:pPr>
            <a:r>
              <a:rPr lang="en-US" sz="4800" kern="1200"/>
              <a:t>4.3. MAP</a:t>
            </a:r>
          </a:p>
        </p:txBody>
      </p:sp>
      <p:sp>
        <p:nvSpPr>
          <p:cNvPr id="8" name="Freeform 7"/>
          <p:cNvSpPr/>
          <p:nvPr/>
        </p:nvSpPr>
        <p:spPr>
          <a:xfrm>
            <a:off x="6737920" y="1600199"/>
            <a:ext cx="1946895" cy="452596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4800" tIns="905193" rIns="305594" bIns="905193" numCol="1" spcCol="1270" anchor="ctr" anchorCtr="0">
            <a:noAutofit/>
          </a:bodyPr>
          <a:lstStyle/>
          <a:p>
            <a:pPr lvl="0" algn="ctr" defTabSz="2133600">
              <a:lnSpc>
                <a:spcPct val="90000"/>
              </a:lnSpc>
              <a:spcBef>
                <a:spcPct val="0"/>
              </a:spcBef>
              <a:spcAft>
                <a:spcPct val="35000"/>
              </a:spcAft>
            </a:pPr>
            <a:r>
              <a:rPr lang="en-US" sz="4800" kern="1200"/>
              <a:t>4.4. Lớp tổng quát</a:t>
            </a:r>
          </a:p>
        </p:txBody>
      </p:sp>
    </p:spTree>
    <p:extLst>
      <p:ext uri="{BB962C8B-B14F-4D97-AF65-F5344CB8AC3E}">
        <p14:creationId xmlns:p14="http://schemas.microsoft.com/office/powerpoint/2010/main" val="3804431426"/>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4.4. Lớp tổng quát</a:t>
            </a:r>
          </a:p>
        </p:txBody>
      </p:sp>
      <p:sp>
        <p:nvSpPr>
          <p:cNvPr id="3" name="Content Placeholder 2"/>
          <p:cNvSpPr>
            <a:spLocks noGrp="1"/>
          </p:cNvSpPr>
          <p:nvPr>
            <p:ph idx="1"/>
          </p:nvPr>
        </p:nvSpPr>
        <p:spPr/>
        <p:txBody>
          <a:bodyPr/>
          <a:lstStyle/>
          <a:p>
            <a:pPr marL="0" indent="0">
              <a:buNone/>
            </a:pPr>
            <a:r>
              <a:rPr lang="en-US" sz="2400"/>
              <a:t>class Class_Name&lt;T</a:t>
            </a:r>
            <a:r>
              <a:rPr lang="en-US" sz="2400" baseline="-25000"/>
              <a:t>1</a:t>
            </a:r>
            <a:r>
              <a:rPr lang="en-US" sz="2400"/>
              <a:t>, T</a:t>
            </a:r>
            <a:r>
              <a:rPr lang="en-US" sz="2400" baseline="-25000"/>
              <a:t>2</a:t>
            </a:r>
            <a:r>
              <a:rPr lang="en-US" sz="2400"/>
              <a:t>, T</a:t>
            </a:r>
            <a:r>
              <a:rPr lang="en-US" sz="2400" baseline="-25000"/>
              <a:t>3</a:t>
            </a:r>
            <a:r>
              <a:rPr lang="en-US" sz="2400"/>
              <a:t>, ... T</a:t>
            </a:r>
            <a:r>
              <a:rPr lang="en-US" sz="2400" baseline="-25000"/>
              <a:t>n</a:t>
            </a:r>
            <a:r>
              <a:rPr lang="en-US" sz="2400"/>
              <a:t>&gt;</a:t>
            </a:r>
          </a:p>
          <a:p>
            <a:pPr marL="0" indent="0">
              <a:buNone/>
            </a:pPr>
            <a:r>
              <a:rPr lang="en-US" sz="2400"/>
              <a:t>{</a:t>
            </a:r>
          </a:p>
          <a:p>
            <a:pPr marL="0" indent="0">
              <a:buNone/>
            </a:pPr>
            <a:r>
              <a:rPr lang="en-US" sz="2400"/>
              <a:t>    …..</a:t>
            </a:r>
          </a:p>
          <a:p>
            <a:pPr marL="0" indent="0">
              <a:buNone/>
            </a:pPr>
            <a:r>
              <a:rPr lang="en-US" sz="2400"/>
              <a:t>}</a:t>
            </a:r>
          </a:p>
          <a:p>
            <a:pPr lvl="2"/>
            <a:r>
              <a:rPr lang="en-US"/>
              <a:t>Với T</a:t>
            </a:r>
            <a:r>
              <a:rPr lang="en-US" baseline="-25000"/>
              <a:t>1</a:t>
            </a:r>
            <a:r>
              <a:rPr lang="en-US"/>
              <a:t>, T</a:t>
            </a:r>
            <a:r>
              <a:rPr lang="en-US" baseline="-25000"/>
              <a:t>2</a:t>
            </a:r>
            <a:r>
              <a:rPr lang="en-US"/>
              <a:t>, T</a:t>
            </a:r>
            <a:r>
              <a:rPr lang="en-US" baseline="-25000"/>
              <a:t>3</a:t>
            </a:r>
            <a:r>
              <a:rPr lang="en-US"/>
              <a:t>, ... T</a:t>
            </a:r>
            <a:r>
              <a:rPr lang="en-US" baseline="-25000"/>
              <a:t>n  </a:t>
            </a:r>
            <a:r>
              <a:rPr lang="en-US"/>
              <a:t>là các tham số Kiểu</a:t>
            </a:r>
          </a:p>
          <a:p>
            <a:pPr lvl="2"/>
            <a:r>
              <a:rPr lang="en-US"/>
              <a:t>Lớp ‘Class_Name‘ được gọi là lớp tổng quát</a:t>
            </a:r>
          </a:p>
          <a:p>
            <a:endParaRPr lang="en-US"/>
          </a:p>
        </p:txBody>
      </p:sp>
    </p:spTree>
    <p:extLst>
      <p:ext uri="{BB962C8B-B14F-4D97-AF65-F5344CB8AC3E}">
        <p14:creationId xmlns:p14="http://schemas.microsoft.com/office/powerpoint/2010/main" val="310983632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tổng quát - Ví dụ 1</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24000"/>
            <a:ext cx="7608861"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2243868"/>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tổng quát - Ví dụ 2</a:t>
            </a:r>
          </a:p>
        </p:txBody>
      </p:sp>
      <p:sp>
        <p:nvSpPr>
          <p:cNvPr id="5" name="Content Placeholder 4"/>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534400" cy="4879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2192485"/>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725C36023882DE4FB137522A70E4931E" ma:contentTypeVersion="5" ma:contentTypeDescription="Tạo tài liệu mới." ma:contentTypeScope="" ma:versionID="37206308218167f1bcab7ccacbc55a34">
  <xsd:schema xmlns:xsd="http://www.w3.org/2001/XMLSchema" xmlns:xs="http://www.w3.org/2001/XMLSchema" xmlns:p="http://schemas.microsoft.com/office/2006/metadata/properties" xmlns:ns2="786e6eaa-1619-4404-b353-bdcbc5319744" targetNamespace="http://schemas.microsoft.com/office/2006/metadata/properties" ma:root="true" ma:fieldsID="0d24929628809535d89936c78e4ba2a1" ns2:_="">
    <xsd:import namespace="786e6eaa-1619-4404-b353-bdcbc531974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6e6eaa-1619-4404-b353-bdcbc53197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3D1CD66-DF81-4572-8382-EDF226B701DD}"/>
</file>

<file path=customXml/itemProps2.xml><?xml version="1.0" encoding="utf-8"?>
<ds:datastoreItem xmlns:ds="http://schemas.openxmlformats.org/officeDocument/2006/customXml" ds:itemID="{BEAC44B9-3238-4F3E-8192-13C90F35EF87}"/>
</file>

<file path=customXml/itemProps3.xml><?xml version="1.0" encoding="utf-8"?>
<ds:datastoreItem xmlns:ds="http://schemas.openxmlformats.org/officeDocument/2006/customXml" ds:itemID="{8F5C6A53-9B62-47B4-90E2-6A5A721CA391}"/>
</file>

<file path=docProps/app.xml><?xml version="1.0" encoding="utf-8"?>
<Properties xmlns="http://schemas.openxmlformats.org/officeDocument/2006/extended-properties" xmlns:vt="http://schemas.openxmlformats.org/officeDocument/2006/docPropsVTypes">
  <TotalTime>5151</TotalTime>
  <Words>8767</Words>
  <Application>Microsoft Macintosh PowerPoint</Application>
  <PresentationFormat>On-screen Show (4:3)</PresentationFormat>
  <Paragraphs>967</Paragraphs>
  <Slides>115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115</vt:i4>
      </vt:variant>
    </vt:vector>
  </HeadingPairs>
  <TitlesOfParts>
    <vt:vector size="119" baseType="lpstr">
      <vt:lpstr>Arial</vt:lpstr>
      <vt:lpstr>Calibri</vt:lpstr>
      <vt:lpstr>Times New Roman</vt:lpstr>
      <vt:lpstr>Office Theme</vt:lpstr>
      <vt:lpstr>CHƯƠNG 4 CÁC KIỂU DỮ LIỆU TẬP HỢP</vt:lpstr>
      <vt:lpstr>Nội dung chương 4</vt:lpstr>
      <vt:lpstr>PowerPoint Presentation</vt:lpstr>
      <vt:lpstr>4.1. LIST</vt:lpstr>
      <vt:lpstr>Các phương thức của giao diện List</vt:lpstr>
      <vt:lpstr>4.1.1. Lớp ArrayList</vt:lpstr>
      <vt:lpstr>Các hàm tạo</vt:lpstr>
      <vt:lpstr>Các phương thức (1)</vt:lpstr>
      <vt:lpstr>Các phương thức (2)</vt:lpstr>
      <vt:lpstr>Các phương thức (3)</vt:lpstr>
      <vt:lpstr>Các phương thức (4)</vt:lpstr>
      <vt:lpstr>Các phương thức (5)</vt:lpstr>
      <vt:lpstr>Lớp ArrayList - Ví dụ 1</vt:lpstr>
      <vt:lpstr>Lớp ArrayList - Ví dụ 2</vt:lpstr>
      <vt:lpstr>Lớp ArrayList - Ví dụ 3</vt:lpstr>
      <vt:lpstr>4.1.2. Lớp LinkedList</vt:lpstr>
      <vt:lpstr>Các hàm tạo</vt:lpstr>
      <vt:lpstr>LinkedList - Chèn</vt:lpstr>
      <vt:lpstr>LinkedList - Xóa</vt:lpstr>
      <vt:lpstr>LinkedList - Lấy ra</vt:lpstr>
      <vt:lpstr>Tổng hợp các phương thức của LinkedList (1)</vt:lpstr>
      <vt:lpstr>Tổng hợp các phương thức của LinkedList (2)</vt:lpstr>
      <vt:lpstr>Tổng hợp các phương thức của LinkedList (3)</vt:lpstr>
      <vt:lpstr>Tổng hợp các phương thức của LinkedList (4)</vt:lpstr>
      <vt:lpstr>Tổng hợp các phương thức của LinkedList (5)</vt:lpstr>
      <vt:lpstr>Tổng hợp các phương thức của LinkedList (6)</vt:lpstr>
      <vt:lpstr>Tổng hợp các phương thức của LinkedList (7)</vt:lpstr>
      <vt:lpstr>LinkedList - Ví dụ 1</vt:lpstr>
      <vt:lpstr>LinkedList - Ví dụ 2</vt:lpstr>
      <vt:lpstr>LinkedList - Ví dụ 3</vt:lpstr>
      <vt:lpstr>LinkedList - Ví dụ 4</vt:lpstr>
      <vt:lpstr>LinkedList - Ví dụ 5</vt:lpstr>
      <vt:lpstr>Nội dung chương 4</vt:lpstr>
      <vt:lpstr>4.2. Giao diện SET</vt:lpstr>
      <vt:lpstr>PowerPoint Presentation</vt:lpstr>
      <vt:lpstr>4.2.1. Lớp HashSet</vt:lpstr>
      <vt:lpstr>Hàm tạo</vt:lpstr>
      <vt:lpstr>Phương thức</vt:lpstr>
      <vt:lpstr>Phương thức</vt:lpstr>
      <vt:lpstr>Lớp HashSet - Ví dụ 1</vt:lpstr>
      <vt:lpstr>Lớp HashSet - Ví dụ 2</vt:lpstr>
      <vt:lpstr>Lớp HashSet - Ví dụ 3</vt:lpstr>
      <vt:lpstr>Lớp HashSet - Ví dụ 4</vt:lpstr>
      <vt:lpstr>Lớp HashSet - Ví dụ 5 (1)</vt:lpstr>
      <vt:lpstr>Lớp HashSet - Ví dụ 5 (2)</vt:lpstr>
      <vt:lpstr>4.2.2. Lớp LinkedHashset</vt:lpstr>
      <vt:lpstr>Các hàm tạo</vt:lpstr>
      <vt:lpstr>LinkedHashset - Ví dụ 1</vt:lpstr>
      <vt:lpstr>LinkedHashset - Ví dụ 2</vt:lpstr>
      <vt:lpstr>LinkedHashSet - Ví dụ 3 (1)</vt:lpstr>
      <vt:lpstr>LinkedHashSet - Ví dụ 3(2)</vt:lpstr>
      <vt:lpstr>4.2.3. Lớp TreeSet</vt:lpstr>
      <vt:lpstr>4.2.3. Lớp TreeSet (tiếp)</vt:lpstr>
      <vt:lpstr>Hàm tạo</vt:lpstr>
      <vt:lpstr>Phương thức (1)</vt:lpstr>
      <vt:lpstr>Phương thức (2)</vt:lpstr>
      <vt:lpstr>Phương thức (3)</vt:lpstr>
      <vt:lpstr>Phương thức (4)</vt:lpstr>
      <vt:lpstr>Phương thức (5)</vt:lpstr>
      <vt:lpstr>TreeSet - Ví dụ 1</vt:lpstr>
      <vt:lpstr>TreeSet - Ví dụ 2</vt:lpstr>
      <vt:lpstr>TreeSet - Ví dụ 3 (1)</vt:lpstr>
      <vt:lpstr>TreeSet - Ví dụ 3 (2)</vt:lpstr>
      <vt:lpstr>TreeSet - Ví dụ 3 (3)</vt:lpstr>
      <vt:lpstr>Nội dung chương 4</vt:lpstr>
      <vt:lpstr>4.3. MAP</vt:lpstr>
      <vt:lpstr>4.3. MAP (tiếp)</vt:lpstr>
      <vt:lpstr>Các phương thức giao diện Map</vt:lpstr>
      <vt:lpstr>PowerPoint Presentation</vt:lpstr>
      <vt:lpstr>PowerPoint Presentation</vt:lpstr>
      <vt:lpstr>4.3.1. Lớp HashMap</vt:lpstr>
      <vt:lpstr>Các hàm tạo</vt:lpstr>
      <vt:lpstr>Phương thức (1)</vt:lpstr>
      <vt:lpstr>Phương thức (2)</vt:lpstr>
      <vt:lpstr>Phương thức (3)</vt:lpstr>
      <vt:lpstr>Phương thức (4)</vt:lpstr>
      <vt:lpstr>Phương thức (5)</vt:lpstr>
      <vt:lpstr>Phương thức (6)</vt:lpstr>
      <vt:lpstr>HashMap - Ví dụ 1</vt:lpstr>
      <vt:lpstr>HashMap - Ví dụ 2 (1)</vt:lpstr>
      <vt:lpstr>HashMap - Ví dụ 2 (2)</vt:lpstr>
      <vt:lpstr>4.3.2. Lớp LinkedHashMap</vt:lpstr>
      <vt:lpstr>Các hàm tạo</vt:lpstr>
      <vt:lpstr>Các phương thức (1)</vt:lpstr>
      <vt:lpstr>Các phương thức (2)</vt:lpstr>
      <vt:lpstr>LinkedHashMap - Ví dụ 1</vt:lpstr>
      <vt:lpstr>LinkedHashMap - Ví dụ 2</vt:lpstr>
      <vt:lpstr>LinkedHashMap - Ví dụ 3</vt:lpstr>
      <vt:lpstr>4.3.3. Lớp TreeMap</vt:lpstr>
      <vt:lpstr>Các hàm tạo</vt:lpstr>
      <vt:lpstr>Các phương thức (1)</vt:lpstr>
      <vt:lpstr>Các phương thức (2)</vt:lpstr>
      <vt:lpstr>Các phương thức (3)</vt:lpstr>
      <vt:lpstr>Các phương thức (4)</vt:lpstr>
      <vt:lpstr>Các phương thức (5)</vt:lpstr>
      <vt:lpstr>Các phương thức (6)</vt:lpstr>
      <vt:lpstr>TreeMap - Ví dụ 1</vt:lpstr>
      <vt:lpstr>TreeMap - Ví dụ 2</vt:lpstr>
      <vt:lpstr>TreeMap - Ví dụ 3 (1)</vt:lpstr>
      <vt:lpstr>TreeMap - Ví dụ 3(2)</vt:lpstr>
      <vt:lpstr>4.3.4. Lớp HashTable</vt:lpstr>
      <vt:lpstr>Hàm tạo</vt:lpstr>
      <vt:lpstr>Phương thức (1)</vt:lpstr>
      <vt:lpstr>Phương thức (2)</vt:lpstr>
      <vt:lpstr>Phương thức (3)</vt:lpstr>
      <vt:lpstr>Phương thức (4)</vt:lpstr>
      <vt:lpstr>Phương thức (5)</vt:lpstr>
      <vt:lpstr>Phương thức (6)</vt:lpstr>
      <vt:lpstr>Ví dụ 1</vt:lpstr>
      <vt:lpstr>Ví dụ 2</vt:lpstr>
      <vt:lpstr>Ví dụ 3</vt:lpstr>
      <vt:lpstr>Nội dung chương 4</vt:lpstr>
      <vt:lpstr>4.4. Lớp tổng quát</vt:lpstr>
      <vt:lpstr>Lớp tổng quát - Ví dụ 1</vt:lpstr>
      <vt:lpstr>Lớp tổng quát - Ví dụ 2</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CÁC KIỂU DỮ LIỆU TẬP HỢP</dc:title>
  <dc:creator>AutoBVT</dc:creator>
  <cp:lastModifiedBy>Pham Quang Hien</cp:lastModifiedBy>
  <cp:revision>160</cp:revision>
  <dcterms:created xsi:type="dcterms:W3CDTF">2019-11-24T22:54:45Z</dcterms:created>
  <dcterms:modified xsi:type="dcterms:W3CDTF">2021-01-13T15:17:05Z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0x010100725C36023882DE4FB137522A70E4931E</vt:lpwstr>
  </property>
</Properties>
</file>