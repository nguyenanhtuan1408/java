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37" r:id="rId4"/>
    <p:sldId id="258" r:id="rId5"/>
    <p:sldId id="259" r:id="rId6"/>
    <p:sldId id="260" r:id="rId7"/>
    <p:sldId id="261" r:id="rId8"/>
    <p:sldId id="262" r:id="rId9"/>
    <p:sldId id="338"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84" r:id="rId24"/>
    <p:sldId id="285" r:id="rId25"/>
    <p:sldId id="287" r:id="rId26"/>
    <p:sldId id="288" r:id="rId27"/>
    <p:sldId id="289" r:id="rId28"/>
    <p:sldId id="290" r:id="rId29"/>
    <p:sldId id="291" r:id="rId30"/>
    <p:sldId id="292" r:id="rId31"/>
    <p:sldId id="293" r:id="rId32"/>
    <p:sldId id="339" r:id="rId33"/>
    <p:sldId id="294" r:id="rId34"/>
    <p:sldId id="295" r:id="rId35"/>
    <p:sldId id="296" r:id="rId36"/>
    <p:sldId id="297" r:id="rId37"/>
    <p:sldId id="298" r:id="rId38"/>
    <p:sldId id="299" r:id="rId39"/>
    <p:sldId id="300" r:id="rId40"/>
    <p:sldId id="301" r:id="rId41"/>
    <p:sldId id="302" r:id="rId42"/>
    <p:sldId id="276" r:id="rId43"/>
    <p:sldId id="277" r:id="rId44"/>
    <p:sldId id="278" r:id="rId45"/>
    <p:sldId id="279" r:id="rId46"/>
    <p:sldId id="280" r:id="rId47"/>
    <p:sldId id="281" r:id="rId48"/>
    <p:sldId id="282" r:id="rId49"/>
    <p:sldId id="283" r:id="rId50"/>
    <p:sldId id="340"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42"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41" r:id="rId87"/>
    <p:sldId id="343" r:id="rId88"/>
    <p:sldId id="344" r:id="rId89"/>
    <p:sldId id="345" r:id="rId90"/>
    <p:sldId id="346"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5" autoAdjust="0"/>
    <p:restoredTop sz="96312"/>
  </p:normalViewPr>
  <p:slideViewPr>
    <p:cSldViewPr snapToGrid="0">
      <p:cViewPr varScale="1">
        <p:scale>
          <a:sx n="155" d="100"/>
          <a:sy n="155" d="100"/>
        </p:scale>
        <p:origin x="21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 Id="rId98"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388285-0EC7-4AFC-8DB3-8C463D237938}" type="datetimeFigureOut">
              <a:rPr lang="en-US" smtClean="0"/>
              <a:t>4/28/21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70973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88285-0EC7-4AFC-8DB3-8C463D237938}" type="datetimeFigureOut">
              <a:rPr lang="en-US" smtClean="0"/>
              <a:t>4/28/21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57664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388285-0EC7-4AFC-8DB3-8C463D237938}" type="datetimeFigureOut">
              <a:rPr lang="en-US" smtClean="0"/>
              <a:t>4/28/21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321938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352398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388285-0EC7-4AFC-8DB3-8C463D237938}" type="datetimeFigureOut">
              <a:rPr lang="en-US" smtClean="0"/>
              <a:t>4/28/21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062793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388285-0EC7-4AFC-8DB3-8C463D237938}" type="datetimeFigureOut">
              <a:rPr lang="en-US" smtClean="0"/>
              <a:t>4/28/21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1935967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388285-0EC7-4AFC-8DB3-8C463D237938}" type="datetimeFigureOut">
              <a:rPr lang="en-US" smtClean="0"/>
              <a:t>4/28/21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254909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895597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136557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513455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3511403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21856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88285-0EC7-4AFC-8DB3-8C463D237938}" type="datetimeFigureOut">
              <a:rPr lang="en-US" smtClean="0"/>
              <a:t>4/28/21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783272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388285-0EC7-4AFC-8DB3-8C463D237938}" type="datetimeFigureOut">
              <a:rPr lang="en-US" smtClean="0"/>
              <a:t>4/28/21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594599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388285-0EC7-4AFC-8DB3-8C463D237938}" type="datetimeFigureOut">
              <a:rPr lang="en-US" smtClean="0"/>
              <a:t>4/28/21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2098234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88285-0EC7-4AFC-8DB3-8C463D237938}" type="datetimeFigureOut">
              <a:rPr lang="en-US" smtClean="0"/>
              <a:t>4/28/21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1556330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88285-0EC7-4AFC-8DB3-8C463D237938}" type="datetimeFigureOut">
              <a:rPr lang="en-US" smtClean="0"/>
              <a:t>4/28/21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7F15C-FFE6-4555-81DC-D821DB9C64D3}" type="slidenum">
              <a:rPr lang="en-US" smtClean="0"/>
              <a:t>‹#›</a:t>
            </a:fld>
            <a:endParaRPr lang="en-US"/>
          </a:p>
        </p:txBody>
      </p:sp>
    </p:spTree>
    <p:extLst>
      <p:ext uri="{BB962C8B-B14F-4D97-AF65-F5344CB8AC3E}">
        <p14:creationId xmlns:p14="http://schemas.microsoft.com/office/powerpoint/2010/main" val="3335498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5388285-0EC7-4AFC-8DB3-8C463D237938}" type="datetimeFigureOut">
              <a:rPr lang="en-US" smtClean="0"/>
              <a:t>4/28/21</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67F15C-FFE6-4555-81DC-D821DB9C64D3}" type="slidenum">
              <a:rPr lang="en-US" smtClean="0"/>
              <a:t>‹#›</a:t>
            </a:fld>
            <a:endParaRPr lang="en-US"/>
          </a:p>
        </p:txBody>
      </p:sp>
    </p:spTree>
    <p:extLst>
      <p:ext uri="{BB962C8B-B14F-4D97-AF65-F5344CB8AC3E}">
        <p14:creationId xmlns:p14="http://schemas.microsoft.com/office/powerpoint/2010/main" val="40210475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yellowcodebooks.com/2017/03/22/java-bai-16-doi-tuong-object-lop-class/#Vi_Du_3_Lam_Phan_Mem_Quan_Ly_Sinh_Vien" TargetMode="External"/><Relationship Id="rId3" Type="http://schemas.openxmlformats.org/officeDocument/2006/relationships/hyperlink" Target="https://yellowcodebooks.com/2017/03/22/java-bai-16-doi-tuong-object-lop-class/#Trang_Thai_Cua_Doi_Tuong" TargetMode="External"/><Relationship Id="rId7" Type="http://schemas.openxmlformats.org/officeDocument/2006/relationships/hyperlink" Target="https://yellowcodebooks.com/2017/03/22/java-bai-16-doi-tuong-object-lop-class/#Vi_Du_2Thiet_Ke_Cac_Mau_Xe_Hoi" TargetMode="External"/><Relationship Id="rId12" Type="http://schemas.openxmlformats.org/officeDocument/2006/relationships/hyperlink" Target="https://yellowcodebooks.com/2017/03/22/java-bai-16-doi-tuong-object-lop-class/#Khai_Bao_Va_Khoi_Tao_Doi_Tuong" TargetMode="External"/><Relationship Id="rId2" Type="http://schemas.openxmlformats.org/officeDocument/2006/relationships/hyperlink" Target="https://yellowcodebooks.com/2017/03/22/java-bai-16-doi-tuong-object-lop-class/#Khai_Niem_Doi_Tuong_Object" TargetMode="External"/><Relationship Id="rId1" Type="http://schemas.openxmlformats.org/officeDocument/2006/relationships/slideLayout" Target="../slideLayouts/slideLayout2.xml"/><Relationship Id="rId6" Type="http://schemas.openxmlformats.org/officeDocument/2006/relationships/hyperlink" Target="https://yellowcodebooks.com/2017/03/22/java-bai-16-doi-tuong-object-lop-class/#Vi_Du_1_Lam_Banh" TargetMode="External"/><Relationship Id="rId11" Type="http://schemas.openxmlformats.org/officeDocument/2006/relationships/hyperlink" Target="https://yellowcodebooks.com/2017/03/22/java-bai-16-doi-tuong-object-lop-class/#Cu_Phap_Khai_Bao_Lop" TargetMode="External"/><Relationship Id="rId5" Type="http://schemas.openxmlformats.org/officeDocument/2006/relationships/hyperlink" Target="https://yellowcodebooks.com/2017/03/22/java-bai-16-doi-tuong-object-lop-class/#Khai_Niem_Lop_Class" TargetMode="External"/><Relationship Id="rId10" Type="http://schemas.openxmlformats.org/officeDocument/2006/relationships/hyperlink" Target="https://yellowcodebooks.com/2017/03/22/java-bai-16-doi-tuong-object-lop-class/#Hinh_Dung_Ve_Lop" TargetMode="External"/><Relationship Id="rId4" Type="http://schemas.openxmlformats.org/officeDocument/2006/relationships/hyperlink" Target="https://yellowcodebooks.com/2017/03/22/java-bai-16-doi-tuong-object-lop-class/#Hanh_Vi_Cua_Doi_Tuong" TargetMode="External"/><Relationship Id="rId9" Type="http://schemas.openxmlformats.org/officeDocument/2006/relationships/hyperlink" Target="https://yellowcodebooks.com/2017/03/22/java-bai-16-doi-tuong-object-lop-class/#Khai_Bao_Lo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yellowcodebooks.com/2017/05/05/java-bai-18-phuong-thuc-cua-lop/#Cac_Tham_So_Truyen_Vao_Cua_Phuong_Thuc" TargetMode="External"/><Relationship Id="rId3" Type="http://schemas.openxmlformats.org/officeDocument/2006/relationships/hyperlink" Target="https://yellowcodebooks.com/2017/05/05/java-bai-18-phuong-thuc-cua-lop/#Thuc_Hanh_Tao_Cac_Phuong_Thuc" TargetMode="External"/><Relationship Id="rId7" Type="http://schemas.openxmlformats.org/officeDocument/2006/relationships/hyperlink" Target="https://yellowcodebooks.com/2017/05/05/java-bai-18-phuong-thuc-cua-lop/#Vi_Du_Kieu_Tra_Ve_La_void" TargetMode="External"/><Relationship Id="rId2" Type="http://schemas.openxmlformats.org/officeDocument/2006/relationships/hyperlink" Target="https://yellowcodebooks.com/2017/05/05/java-bai-18-phuong-thuc-cua-lop/#Phuong_Thuc_Cua_Lop" TargetMode="External"/><Relationship Id="rId1" Type="http://schemas.openxmlformats.org/officeDocument/2006/relationships/slideLayout" Target="../slideLayouts/slideLayout2.xml"/><Relationship Id="rId6" Type="http://schemas.openxmlformats.org/officeDocument/2006/relationships/hyperlink" Target="https://yellowcodebooks.com/2017/05/05/java-bai-18-phuong-thuc-cua-lop/#Vi_Du_Kieu_Tra_Ve_La_Mot_Doi_Tuong" TargetMode="External"/><Relationship Id="rId5" Type="http://schemas.openxmlformats.org/officeDocument/2006/relationships/hyperlink" Target="https://yellowcodebooks.com/2017/05/05/java-bai-18-phuong-thuc-cua-lop/#Vi_Du_Kieu_Tra_Ve_La_Mot_Kieu_Nguyen_Thuy" TargetMode="External"/><Relationship Id="rId4" Type="http://schemas.openxmlformats.org/officeDocument/2006/relationships/hyperlink" Target="https://yellowcodebooks.com/2017/05/05/java-bai-18-phuong-thuc-cua-lop/#Kieu_Tra_Ve_Cua_Phuong_Thuc" TargetMode="External"/><Relationship Id="rId9" Type="http://schemas.openxmlformats.org/officeDocument/2006/relationships/hyperlink" Target="https://yellowcodebooks.com/2017/05/05/java-bai-18-phuong-thuc-cua-lop/#Truy_Xuat_Den_Phuong_Thuc_Cua_Lop_Tu_Ben_Ngoai"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yellowcodebooks.com/2017/05/23/java-bai-19-package/#Tao_MainClassjava_Nam_TrongPackage_main" TargetMode="External"/><Relationship Id="rId3" Type="http://schemas.openxmlformats.org/officeDocument/2006/relationships/hyperlink" Target="https://yellowcodebooks.com/2017/05/23/java-bai-19-package/#Package_Va_Viec_To_Chuc_Source_Code_Theo_Thu_Muc" TargetMode="External"/><Relationship Id="rId7" Type="http://schemas.openxmlformats.org/officeDocument/2006/relationships/hyperlink" Target="https://yellowcodebooks.com/2017/05/23/java-bai-19-package/#Tao_Moi_Project_PackageLearning" TargetMode="External"/><Relationship Id="rId2" Type="http://schemas.openxmlformats.org/officeDocument/2006/relationships/hyperlink" Target="https://yellowcodebooks.com/2017/05/23/java-bai-19-package/#Package" TargetMode="External"/><Relationship Id="rId1" Type="http://schemas.openxmlformats.org/officeDocument/2006/relationships/slideLayout" Target="../slideLayouts/slideLayout2.xml"/><Relationship Id="rId6" Type="http://schemas.openxmlformats.org/officeDocument/2006/relationships/hyperlink" Target="https://yellowcodebooks.com/2017/05/23/java-bai-19-package/#Dong_Project_OOPLearning_Lai" TargetMode="External"/><Relationship Id="rId11" Type="http://schemas.openxmlformats.org/officeDocument/2006/relationships/hyperlink" Target="https://yellowcodebooks.com/2017/05/23/java-bai-19-package/#Su_Dung_CacLop_HinhTron_Va_HinhChuNhat_Tu_MainClass" TargetMode="External"/><Relationship Id="rId5" Type="http://schemas.openxmlformats.org/officeDocument/2006/relationships/hyperlink" Target="https://yellowcodebooks.com/2017/05/23/java-bai-19-package/#Thuc_Hanh_Tao_Moi_Project_Voi_Package" TargetMode="External"/><Relationship Id="rId10" Type="http://schemas.openxmlformats.org/officeDocument/2006/relationships/hyperlink" Target="https://yellowcodebooks.com/2017/05/23/java-bai-19-package/#Tao_Cac_Lop_Hinh_Hoc_Ben_Trong_Package_shapes" TargetMode="External"/><Relationship Id="rId4" Type="http://schemas.openxmlformats.org/officeDocument/2006/relationships/hyperlink" Target="https://yellowcodebooks.com/2017/05/23/java-bai-19-package/#Tao_Package_Voi_Eclipse" TargetMode="External"/><Relationship Id="rId9" Type="http://schemas.openxmlformats.org/officeDocument/2006/relationships/hyperlink" Target="https://yellowcodebooks.com/2017/05/23/java-bai-19-package/#Tao_Mot_Package_Moi_Voi_Ten_shape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tmp"/></Relationships>
</file>

<file path=ppt/slides/_rels/slide39.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image" Target="../media/image37.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image" Target="../media/image39.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9.tmp"/><Relationship Id="rId2" Type="http://schemas.openxmlformats.org/officeDocument/2006/relationships/image" Target="../media/image48.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image" Target="../media/image50.tmp"/><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9.tmp"/><Relationship Id="rId2" Type="http://schemas.openxmlformats.org/officeDocument/2006/relationships/image" Target="../media/image58.tmp"/><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3" Type="http://schemas.openxmlformats.org/officeDocument/2006/relationships/image" Target="../media/image62.tmp"/><Relationship Id="rId2" Type="http://schemas.openxmlformats.org/officeDocument/2006/relationships/image" Target="../media/image61.tmp"/><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tmp"/><Relationship Id="rId2" Type="http://schemas.openxmlformats.org/officeDocument/2006/relationships/image" Target="../media/image64.tmp"/><Relationship Id="rId1" Type="http://schemas.openxmlformats.org/officeDocument/2006/relationships/slideLayout" Target="../slideLayouts/slideLayout2.xml"/><Relationship Id="rId4" Type="http://schemas.openxmlformats.org/officeDocument/2006/relationships/image" Target="../media/image66.tmp"/></Relationships>
</file>

<file path=ppt/slides/_rels/slide72.xml.rels><?xml version="1.0" encoding="UTF-8" standalone="yes"?>
<Relationships xmlns="http://schemas.openxmlformats.org/package/2006/relationships"><Relationship Id="rId3" Type="http://schemas.openxmlformats.org/officeDocument/2006/relationships/image" Target="../media/image68.tmp"/><Relationship Id="rId2" Type="http://schemas.openxmlformats.org/officeDocument/2006/relationships/image" Target="../media/image67.tmp"/><Relationship Id="rId1" Type="http://schemas.openxmlformats.org/officeDocument/2006/relationships/slideLayout" Target="../slideLayouts/slideLayout2.xml"/><Relationship Id="rId4" Type="http://schemas.openxmlformats.org/officeDocument/2006/relationships/image" Target="../media/image69.tmp"/></Relationships>
</file>

<file path=ppt/slides/_rels/slide73.xml.rels><?xml version="1.0" encoding="UTF-8" standalone="yes"?>
<Relationships xmlns="http://schemas.openxmlformats.org/package/2006/relationships"><Relationship Id="rId3" Type="http://schemas.openxmlformats.org/officeDocument/2006/relationships/image" Target="../media/image71.tmp"/><Relationship Id="rId2" Type="http://schemas.openxmlformats.org/officeDocument/2006/relationships/image" Target="../media/image70.tmp"/><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tmp"/><Relationship Id="rId2" Type="http://schemas.openxmlformats.org/officeDocument/2006/relationships/image" Target="../media/image72.tmp"/><Relationship Id="rId1" Type="http://schemas.openxmlformats.org/officeDocument/2006/relationships/slideLayout" Target="../slideLayouts/slideLayout2.xml"/><Relationship Id="rId4" Type="http://schemas.openxmlformats.org/officeDocument/2006/relationships/image" Target="../media/image74.tmp"/></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6.tmp"/><Relationship Id="rId2" Type="http://schemas.openxmlformats.org/officeDocument/2006/relationships/image" Target="../media/image75.tmp"/><Relationship Id="rId1" Type="http://schemas.openxmlformats.org/officeDocument/2006/relationships/slideLayout" Target="../slideLayouts/slideLayout2.xml"/><Relationship Id="rId4" Type="http://schemas.openxmlformats.org/officeDocument/2006/relationships/image" Target="../media/image77.tmp"/></Relationships>
</file>

<file path=ppt/slides/_rels/slide78.xml.rels><?xml version="1.0" encoding="UTF-8" standalone="yes"?>
<Relationships xmlns="http://schemas.openxmlformats.org/package/2006/relationships"><Relationship Id="rId2" Type="http://schemas.openxmlformats.org/officeDocument/2006/relationships/image" Target="../media/image78.tmp"/><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0.tmp"/><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1.tmp"/><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40984-0CEE-4DDD-A290-55E8CE0F77C3}"/>
              </a:ext>
            </a:extLst>
          </p:cNvPr>
          <p:cNvSpPr>
            <a:spLocks noGrp="1"/>
          </p:cNvSpPr>
          <p:nvPr>
            <p:ph type="ctrTitle"/>
          </p:nvPr>
        </p:nvSpPr>
        <p:spPr/>
        <p:txBody>
          <a:bodyPr/>
          <a:lstStyle/>
          <a:p>
            <a:r>
              <a:rPr lang="en-US" dirty="0"/>
              <a:t>Ch</a:t>
            </a:r>
            <a:r>
              <a:rPr lang="vi-VN" dirty="0"/>
              <a:t>ư</a:t>
            </a:r>
            <a:r>
              <a:rPr lang="en-US" dirty="0" err="1"/>
              <a:t>ơng</a:t>
            </a:r>
            <a:r>
              <a:rPr lang="en-US" dirty="0"/>
              <a:t> 3: </a:t>
            </a:r>
            <a:r>
              <a:rPr lang="vi-VN" dirty="0"/>
              <a:t>Lập Trình Hướng Đối Tượng</a:t>
            </a:r>
            <a:r>
              <a:rPr lang="en-US" dirty="0"/>
              <a:t> </a:t>
            </a:r>
            <a:r>
              <a:rPr lang="en-US" dirty="0" err="1">
                <a:effectLst>
                  <a:outerShdw blurRad="38100" dist="38100" dir="2700000" algn="tl">
                    <a:srgbClr val="000000">
                      <a:alpha val="43137"/>
                    </a:srgbClr>
                  </a:outerShdw>
                </a:effectLst>
              </a:rPr>
              <a:t>trong</a:t>
            </a:r>
            <a:r>
              <a:rPr lang="en-US" dirty="0">
                <a:effectLst>
                  <a:outerShdw blurRad="38100" dist="38100" dir="2700000" algn="tl">
                    <a:srgbClr val="000000">
                      <a:alpha val="43137"/>
                    </a:srgbClr>
                  </a:outerShdw>
                </a:effectLst>
              </a:rPr>
              <a:t> java</a:t>
            </a:r>
          </a:p>
        </p:txBody>
      </p:sp>
      <p:sp>
        <p:nvSpPr>
          <p:cNvPr id="3" name="Subtitle 2">
            <a:extLst>
              <a:ext uri="{FF2B5EF4-FFF2-40B4-BE49-F238E27FC236}">
                <a16:creationId xmlns:a16="http://schemas.microsoft.com/office/drawing/2014/main" id="{454F0E98-4BE9-4DFA-AE7E-8604DC3C0C2B}"/>
              </a:ext>
            </a:extLst>
          </p:cNvPr>
          <p:cNvSpPr>
            <a:spLocks noGrp="1"/>
          </p:cNvSpPr>
          <p:nvPr>
            <p:ph type="subTitle" idx="1"/>
          </p:nvPr>
        </p:nvSpPr>
        <p:spPr/>
        <p:txBody>
          <a:bodyPr/>
          <a:lstStyle/>
          <a:p>
            <a:r>
              <a:rPr lang="en-US" dirty="0" err="1"/>
              <a:t>Giảng</a:t>
            </a:r>
            <a:r>
              <a:rPr lang="en-US" dirty="0"/>
              <a:t> </a:t>
            </a:r>
            <a:r>
              <a:rPr lang="en-US" dirty="0" err="1"/>
              <a:t>viên</a:t>
            </a:r>
            <a:r>
              <a:rPr lang="en-US" dirty="0"/>
              <a:t>: </a:t>
            </a:r>
            <a:r>
              <a:rPr lang="en-US" dirty="0" err="1"/>
              <a:t>Phạm</a:t>
            </a:r>
            <a:r>
              <a:rPr lang="en-US" dirty="0"/>
              <a:t> Quang </a:t>
            </a:r>
            <a:r>
              <a:rPr lang="en-US" dirty="0" err="1"/>
              <a:t>Hiển</a:t>
            </a:r>
            <a:endParaRPr lang="en-US" dirty="0"/>
          </a:p>
          <a:p>
            <a:r>
              <a:rPr lang="en-US" dirty="0"/>
              <a:t>Email: </a:t>
            </a:r>
            <a:r>
              <a:rPr lang="en-US" dirty="0" err="1"/>
              <a:t>phamquanghien@humg.edu.vn</a:t>
            </a:r>
            <a:endParaRPr lang="en-US" dirty="0"/>
          </a:p>
        </p:txBody>
      </p:sp>
    </p:spTree>
    <p:extLst>
      <p:ext uri="{BB962C8B-B14F-4D97-AF65-F5344CB8AC3E}">
        <p14:creationId xmlns:p14="http://schemas.microsoft.com/office/powerpoint/2010/main" val="4233434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Lớp</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Package</a:t>
            </a: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latin typeface="Times New Roman" panose="02020603050405020304" pitchFamily="18" charset="0"/>
                <a:cs typeface="Times New Roman" panose="02020603050405020304" pitchFamily="18" charset="0"/>
              </a:rPr>
              <a:t>Tính</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Phủ</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Quyết</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Overriding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Trong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Kế</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Lớp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613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540327" y="609600"/>
            <a:ext cx="11294918" cy="1326321"/>
          </a:xfrm>
        </p:spPr>
        <p:txBody>
          <a:bodyPr/>
          <a:lstStyle/>
          <a:p>
            <a:r>
              <a:rPr lang="en-US" dirty="0"/>
              <a:t>1. </a:t>
            </a:r>
            <a:r>
              <a:rPr lang="en-US" dirty="0" err="1"/>
              <a:t>Tổng</a:t>
            </a:r>
            <a:r>
              <a:rPr lang="en-US" dirty="0"/>
              <a:t> </a:t>
            </a:r>
            <a:r>
              <a:rPr lang="en-US" dirty="0" err="1"/>
              <a:t>quan</a:t>
            </a:r>
            <a:r>
              <a:rPr lang="en-US" dirty="0"/>
              <a:t> </a:t>
            </a:r>
            <a:r>
              <a:rPr lang="en-US" dirty="0" err="1"/>
              <a:t>lập</a:t>
            </a:r>
            <a:r>
              <a:rPr lang="en-US" dirty="0"/>
              <a:t> </a:t>
            </a:r>
            <a:r>
              <a:rPr lang="en-US" dirty="0" err="1"/>
              <a:t>trình</a:t>
            </a:r>
            <a:r>
              <a:rPr lang="en-US" dirty="0"/>
              <a:t> h</a:t>
            </a:r>
            <a:r>
              <a:rPr lang="vi-VN" dirty="0"/>
              <a:t>ư</a:t>
            </a:r>
            <a:r>
              <a:rPr lang="en-US" dirty="0" err="1"/>
              <a:t>ớng</a:t>
            </a:r>
            <a:r>
              <a:rPr lang="en-US" dirty="0"/>
              <a:t> </a:t>
            </a:r>
            <a:r>
              <a:rPr lang="en-US" dirty="0" err="1"/>
              <a:t>đối</a:t>
            </a:r>
            <a:r>
              <a:rPr lang="en-US" dirty="0"/>
              <a:t> t</a:t>
            </a:r>
            <a:r>
              <a:rPr lang="vi-VN" dirty="0"/>
              <a:t>ư</a:t>
            </a:r>
            <a:r>
              <a:rPr lang="en-US" dirty="0" err="1"/>
              <a:t>ợng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p:txBody>
          <a:bodyPr>
            <a:normAutofit/>
          </a:bodyPr>
          <a:lstStyle/>
          <a:p>
            <a:pPr>
              <a:lnSpc>
                <a:spcPct val="200000"/>
              </a:lnSpc>
            </a:pPr>
            <a:r>
              <a:rPr lang="vi-VN" sz="2400" dirty="0"/>
              <a:t>Các Hướng Tư Duy Trong Lập Trình</a:t>
            </a:r>
          </a:p>
          <a:p>
            <a:pPr>
              <a:lnSpc>
                <a:spcPct val="200000"/>
              </a:lnSpc>
            </a:pPr>
            <a:r>
              <a:rPr lang="vi-VN" sz="2400" dirty="0"/>
              <a:t>Xây Dựng Ứng Dụng Theo Hướng “Cũ”</a:t>
            </a:r>
          </a:p>
          <a:p>
            <a:pPr>
              <a:lnSpc>
                <a:spcPct val="200000"/>
              </a:lnSpc>
            </a:pPr>
            <a:r>
              <a:rPr lang="vi-VN" sz="2400" dirty="0"/>
              <a:t>Xây Dựng Ứng Dụng Theo Hướng Đối Tượng</a:t>
            </a:r>
            <a:endParaRPr lang="en-US" sz="2400" dirty="0"/>
          </a:p>
        </p:txBody>
      </p:sp>
    </p:spTree>
    <p:extLst>
      <p:ext uri="{BB962C8B-B14F-4D97-AF65-F5344CB8AC3E}">
        <p14:creationId xmlns:p14="http://schemas.microsoft.com/office/powerpoint/2010/main" val="263455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F551F-9E6A-40C1-A877-FADEBF4F4A90}"/>
              </a:ext>
            </a:extLst>
          </p:cNvPr>
          <p:cNvSpPr>
            <a:spLocks noGrp="1"/>
          </p:cNvSpPr>
          <p:nvPr>
            <p:ph type="title"/>
          </p:nvPr>
        </p:nvSpPr>
        <p:spPr/>
        <p:txBody>
          <a:bodyPr/>
          <a:lstStyle/>
          <a:p>
            <a:r>
              <a:rPr lang="vi-VN" dirty="0"/>
              <a:t>Các Hướng Tư Duy Trong Lập Trình</a:t>
            </a:r>
            <a:endParaRPr lang="en-US" dirty="0"/>
          </a:p>
        </p:txBody>
      </p:sp>
      <p:sp>
        <p:nvSpPr>
          <p:cNvPr id="3" name="Content Placeholder 2">
            <a:extLst>
              <a:ext uri="{FF2B5EF4-FFF2-40B4-BE49-F238E27FC236}">
                <a16:creationId xmlns:a16="http://schemas.microsoft.com/office/drawing/2014/main" id="{38CE1829-AC36-4677-97E9-46BA6D07B70B}"/>
              </a:ext>
            </a:extLst>
          </p:cNvPr>
          <p:cNvSpPr>
            <a:spLocks noGrp="1"/>
          </p:cNvSpPr>
          <p:nvPr>
            <p:ph idx="1"/>
          </p:nvPr>
        </p:nvSpPr>
        <p:spPr/>
        <p:txBody>
          <a:bodyPr/>
          <a:lstStyle/>
          <a:p>
            <a:r>
              <a:rPr lang="en-US" dirty="0" err="1"/>
              <a:t>Lập</a:t>
            </a:r>
            <a:r>
              <a:rPr lang="en-US" dirty="0"/>
              <a:t> </a:t>
            </a:r>
            <a:r>
              <a:rPr lang="en-US" dirty="0" err="1"/>
              <a:t>trình</a:t>
            </a:r>
            <a:r>
              <a:rPr lang="en-US" dirty="0"/>
              <a:t> h</a:t>
            </a:r>
            <a:r>
              <a:rPr lang="vi-VN" dirty="0"/>
              <a:t>ư</a:t>
            </a:r>
            <a:r>
              <a:rPr lang="en-US" dirty="0" err="1"/>
              <a:t>ớng</a:t>
            </a:r>
            <a:r>
              <a:rPr lang="en-US" dirty="0"/>
              <a:t> </a:t>
            </a:r>
            <a:r>
              <a:rPr lang="en-US" dirty="0" err="1"/>
              <a:t>đối</a:t>
            </a:r>
            <a:r>
              <a:rPr lang="en-US" dirty="0"/>
              <a:t> t</a:t>
            </a:r>
            <a:r>
              <a:rPr lang="vi-VN" dirty="0"/>
              <a:t>ư</a:t>
            </a:r>
            <a:r>
              <a:rPr lang="en-US" dirty="0" err="1"/>
              <a:t>ợng</a:t>
            </a:r>
            <a:r>
              <a:rPr lang="en-US" dirty="0"/>
              <a:t> </a:t>
            </a:r>
            <a:r>
              <a:rPr lang="en-US" dirty="0" err="1"/>
              <a:t>không</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endParaRPr lang="en-US" dirty="0"/>
          </a:p>
          <a:p>
            <a:r>
              <a:rPr lang="en-US" dirty="0" err="1"/>
              <a:t>Lập</a:t>
            </a:r>
            <a:r>
              <a:rPr lang="en-US" dirty="0"/>
              <a:t> </a:t>
            </a:r>
            <a:r>
              <a:rPr lang="en-US" dirty="0" err="1"/>
              <a:t>trình</a:t>
            </a:r>
            <a:r>
              <a:rPr lang="en-US" dirty="0"/>
              <a:t> h</a:t>
            </a:r>
            <a:r>
              <a:rPr lang="vi-VN" dirty="0"/>
              <a:t>ư</a:t>
            </a:r>
            <a:r>
              <a:rPr lang="en-US" dirty="0" err="1"/>
              <a:t>ớng</a:t>
            </a:r>
            <a:r>
              <a:rPr lang="en-US" dirty="0"/>
              <a:t> </a:t>
            </a:r>
            <a:r>
              <a:rPr lang="en-US" dirty="0" err="1"/>
              <a:t>đối</a:t>
            </a:r>
            <a:r>
              <a:rPr lang="en-US" dirty="0"/>
              <a:t> t</a:t>
            </a:r>
            <a:r>
              <a:rPr lang="vi-VN" dirty="0"/>
              <a:t>ư</a:t>
            </a:r>
            <a:r>
              <a:rPr lang="en-US" dirty="0" err="1"/>
              <a:t>ợng</a:t>
            </a:r>
            <a:r>
              <a:rPr lang="en-US" dirty="0"/>
              <a:t> </a:t>
            </a:r>
            <a:r>
              <a:rPr lang="en-US" dirty="0" err="1"/>
              <a:t>là</a:t>
            </a:r>
            <a:r>
              <a:rPr lang="vi-VN" dirty="0"/>
              <a:t> phương pháp và nguyên tắc để giúp suy nghĩ và tổ chức vấn đề, từ đó giúp làm ra một chương trình phức tạp và to lớn một cách dễ dàng hơn.</a:t>
            </a:r>
            <a:endParaRPr lang="en-US" dirty="0"/>
          </a:p>
        </p:txBody>
      </p:sp>
    </p:spTree>
    <p:extLst>
      <p:ext uri="{BB962C8B-B14F-4D97-AF65-F5344CB8AC3E}">
        <p14:creationId xmlns:p14="http://schemas.microsoft.com/office/powerpoint/2010/main" val="160987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3472-E62A-40FB-B6A2-E98645D14F64}"/>
              </a:ext>
            </a:extLst>
          </p:cNvPr>
          <p:cNvSpPr>
            <a:spLocks noGrp="1"/>
          </p:cNvSpPr>
          <p:nvPr>
            <p:ph type="title"/>
          </p:nvPr>
        </p:nvSpPr>
        <p:spPr>
          <a:xfrm>
            <a:off x="913795" y="609600"/>
            <a:ext cx="10353761" cy="1326321"/>
          </a:xfrm>
        </p:spPr>
        <p:txBody>
          <a:bodyPr/>
          <a:lstStyle/>
          <a:p>
            <a:r>
              <a:rPr lang="vi-VN" dirty="0"/>
              <a:t>Xây Dựng Ứng Dụng Theo Hướng “Cũ”</a:t>
            </a:r>
            <a:endParaRPr lang="en-US" dirty="0"/>
          </a:p>
        </p:txBody>
      </p:sp>
      <p:sp>
        <p:nvSpPr>
          <p:cNvPr id="3" name="Content Placeholder 2">
            <a:extLst>
              <a:ext uri="{FF2B5EF4-FFF2-40B4-BE49-F238E27FC236}">
                <a16:creationId xmlns:a16="http://schemas.microsoft.com/office/drawing/2014/main" id="{ABA56A56-15C9-464B-B944-0CEC4B4638B5}"/>
              </a:ext>
            </a:extLst>
          </p:cNvPr>
          <p:cNvSpPr>
            <a:spLocks noGrp="1"/>
          </p:cNvSpPr>
          <p:nvPr>
            <p:ph idx="1"/>
          </p:nvPr>
        </p:nvSpPr>
        <p:spPr>
          <a:xfrm>
            <a:off x="913795" y="2096064"/>
            <a:ext cx="10353762" cy="3695136"/>
          </a:xfrm>
        </p:spPr>
        <p:txBody>
          <a:bodyPr/>
          <a:lstStyle/>
          <a:p>
            <a:r>
              <a:rPr lang="vi-VN"/>
              <a:t>Giả sử có yêu cầu rằng hãy viết một chương trình kêu người dùng nhập vào Bán kính của một Hình tròn, sau đó chương trình sẽ in ra console Chu vi và Diện tích của Hình tròn đó.</a:t>
            </a:r>
            <a:endParaRPr lang="en-US"/>
          </a:p>
          <a:p>
            <a:pPr marL="0" indent="0">
              <a:buNone/>
            </a:pPr>
            <a:endParaRPr lang="en-US" dirty="0"/>
          </a:p>
        </p:txBody>
      </p:sp>
      <p:pic>
        <p:nvPicPr>
          <p:cNvPr id="5" name="Picture 4">
            <a:extLst>
              <a:ext uri="{FF2B5EF4-FFF2-40B4-BE49-F238E27FC236}">
                <a16:creationId xmlns:a16="http://schemas.microsoft.com/office/drawing/2014/main" id="{48F77E61-B420-4449-A8A0-F5D96EE1E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664" y="3429000"/>
            <a:ext cx="5070311" cy="2857748"/>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61B7AAE6-0B9B-4784-8BE4-D362B6AA2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4426" y="3390651"/>
            <a:ext cx="4652281" cy="2857749"/>
          </a:xfrm>
          <a:prstGeom prst="rect">
            <a:avLst/>
          </a:prstGeom>
        </p:spPr>
      </p:pic>
    </p:spTree>
    <p:extLst>
      <p:ext uri="{BB962C8B-B14F-4D97-AF65-F5344CB8AC3E}">
        <p14:creationId xmlns:p14="http://schemas.microsoft.com/office/powerpoint/2010/main" val="1361097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0BB2-D7C4-492D-89C8-26F16724BDAB}"/>
              </a:ext>
            </a:extLst>
          </p:cNvPr>
          <p:cNvSpPr>
            <a:spLocks noGrp="1"/>
          </p:cNvSpPr>
          <p:nvPr>
            <p:ph type="title"/>
          </p:nvPr>
        </p:nvSpPr>
        <p:spPr/>
        <p:txBody>
          <a:bodyPr/>
          <a:lstStyle/>
          <a:p>
            <a:r>
              <a:rPr lang="vi-VN" dirty="0"/>
              <a:t>Xây Dựng Ứng Dụng Theo Hướng “Cũ”</a:t>
            </a:r>
            <a:endParaRPr lang="en-US" dirty="0"/>
          </a:p>
        </p:txBody>
      </p:sp>
      <p:sp>
        <p:nvSpPr>
          <p:cNvPr id="3" name="Content Placeholder 2">
            <a:extLst>
              <a:ext uri="{FF2B5EF4-FFF2-40B4-BE49-F238E27FC236}">
                <a16:creationId xmlns:a16="http://schemas.microsoft.com/office/drawing/2014/main" id="{0E48CD59-372C-44B8-94AA-EFE5D6A22FBE}"/>
              </a:ext>
            </a:extLst>
          </p:cNvPr>
          <p:cNvSpPr>
            <a:spLocks noGrp="1"/>
          </p:cNvSpPr>
          <p:nvPr>
            <p:ph idx="1"/>
          </p:nvPr>
        </p:nvSpPr>
        <p:spPr/>
        <p:txBody>
          <a:bodyPr/>
          <a:lstStyle/>
          <a:p>
            <a:r>
              <a:rPr lang="vi-VN" dirty="0"/>
              <a:t>Hướng thủ tục (POP – Procedure Oriented Programming), hay có thể gọi là Hướng cấu trúc</a:t>
            </a:r>
            <a:r>
              <a:rPr lang="en-US" dirty="0"/>
              <a:t>.</a:t>
            </a:r>
          </a:p>
          <a:p>
            <a:r>
              <a:rPr lang="vi-VN" dirty="0"/>
              <a:t>Bởi vì </a:t>
            </a:r>
            <a:r>
              <a:rPr lang="en-US" dirty="0" err="1"/>
              <a:t>nhà</a:t>
            </a:r>
            <a:r>
              <a:rPr lang="en-US" dirty="0"/>
              <a:t> </a:t>
            </a:r>
            <a:r>
              <a:rPr lang="en-US" dirty="0" err="1"/>
              <a:t>lập</a:t>
            </a:r>
            <a:r>
              <a:rPr lang="en-US" dirty="0"/>
              <a:t> </a:t>
            </a:r>
            <a:r>
              <a:rPr lang="en-US" dirty="0" err="1"/>
              <a:t>trình</a:t>
            </a:r>
            <a:r>
              <a:rPr lang="vi-VN" dirty="0"/>
              <a:t> tư duy theo kiểu chia nhỏ yêu cầu ra thành các “thủ tục”, các thủ tục ở đây là các hành động có thể có của một chương trình. Chẳng hạn như với ví dụ trên chúng ta có các thủ tục tính Chu vi Hình tròn, tính Diện tích Hình tròn. Bạn cũng có thể tách từng thủ tục này thành các Hàm (chúng ta sẽ học đến hàm sau) cho chương trình dễ nhìn hơn.</a:t>
            </a:r>
            <a:endParaRPr lang="en-US" dirty="0"/>
          </a:p>
        </p:txBody>
      </p:sp>
    </p:spTree>
    <p:extLst>
      <p:ext uri="{BB962C8B-B14F-4D97-AF65-F5344CB8AC3E}">
        <p14:creationId xmlns:p14="http://schemas.microsoft.com/office/powerpoint/2010/main" val="157173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3262-EE16-4883-8DB7-E680FBAE8487}"/>
              </a:ext>
            </a:extLst>
          </p:cNvPr>
          <p:cNvSpPr>
            <a:spLocks noGrp="1"/>
          </p:cNvSpPr>
          <p:nvPr>
            <p:ph type="title"/>
          </p:nvPr>
        </p:nvSpPr>
        <p:spPr/>
        <p:txBody>
          <a:bodyPr/>
          <a:lstStyle/>
          <a:p>
            <a:r>
              <a:rPr lang="vi-VN" dirty="0"/>
              <a:t>Xây Dựng Ứng Dụng Theo Hướng “Cũ”</a:t>
            </a:r>
            <a:endParaRPr lang="en-US" dirty="0"/>
          </a:p>
        </p:txBody>
      </p:sp>
      <p:sp>
        <p:nvSpPr>
          <p:cNvPr id="3" name="Content Placeholder 2">
            <a:extLst>
              <a:ext uri="{FF2B5EF4-FFF2-40B4-BE49-F238E27FC236}">
                <a16:creationId xmlns:a16="http://schemas.microsoft.com/office/drawing/2014/main" id="{B7C39FDD-8271-4301-A99E-BAEFF0E98F99}"/>
              </a:ext>
            </a:extLst>
          </p:cNvPr>
          <p:cNvSpPr>
            <a:spLocks noGrp="1"/>
          </p:cNvSpPr>
          <p:nvPr>
            <p:ph idx="1"/>
          </p:nvPr>
        </p:nvSpPr>
        <p:spPr/>
        <p:txBody>
          <a:bodyPr/>
          <a:lstStyle/>
          <a:p>
            <a:r>
              <a:rPr lang="vi-VN" dirty="0"/>
              <a:t>Giả sử yêu cầu được nâng tầm lên. Đòi hỏi chương trình in ra thêm Thể tích Hình trụ (Hình trụ này có Bán kính mặt tròn bằng với Bán kính Hình tròn).</a:t>
            </a:r>
            <a:endParaRPr lang="en-US" dirty="0"/>
          </a:p>
        </p:txBody>
      </p:sp>
      <p:pic>
        <p:nvPicPr>
          <p:cNvPr id="5" name="Picture 4" descr="A screenshot of a cell phone&#10;&#10;Description automatically generated">
            <a:extLst>
              <a:ext uri="{FF2B5EF4-FFF2-40B4-BE49-F238E27FC236}">
                <a16:creationId xmlns:a16="http://schemas.microsoft.com/office/drawing/2014/main" id="{0F31FA86-7FE9-467B-9321-3B5DAB96A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525" y="2967136"/>
            <a:ext cx="6121098" cy="3700565"/>
          </a:xfrm>
          <a:prstGeom prst="rect">
            <a:avLst/>
          </a:prstGeom>
        </p:spPr>
      </p:pic>
    </p:spTree>
    <p:extLst>
      <p:ext uri="{BB962C8B-B14F-4D97-AF65-F5344CB8AC3E}">
        <p14:creationId xmlns:p14="http://schemas.microsoft.com/office/powerpoint/2010/main" val="2550427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433A-DD7B-4152-8C3C-AC2CA55DDA18}"/>
              </a:ext>
            </a:extLst>
          </p:cNvPr>
          <p:cNvSpPr>
            <a:spLocks noGrp="1"/>
          </p:cNvSpPr>
          <p:nvPr>
            <p:ph type="title"/>
          </p:nvPr>
        </p:nvSpPr>
        <p:spPr/>
        <p:txBody>
          <a:bodyPr/>
          <a:lstStyle/>
          <a:p>
            <a:r>
              <a:rPr lang="vi-VN" dirty="0"/>
              <a:t>Xây Dựng Ứng Dụng Theo Hướng Đối Tượng</a:t>
            </a:r>
            <a:endParaRPr lang="en-US" dirty="0"/>
          </a:p>
        </p:txBody>
      </p:sp>
      <p:sp>
        <p:nvSpPr>
          <p:cNvPr id="3" name="Content Placeholder 2">
            <a:extLst>
              <a:ext uri="{FF2B5EF4-FFF2-40B4-BE49-F238E27FC236}">
                <a16:creationId xmlns:a16="http://schemas.microsoft.com/office/drawing/2014/main" id="{0B5FE090-16F3-4724-8C8D-7EDDFF95D556}"/>
              </a:ext>
            </a:extLst>
          </p:cNvPr>
          <p:cNvSpPr>
            <a:spLocks noGrp="1"/>
          </p:cNvSpPr>
          <p:nvPr>
            <p:ph idx="1"/>
          </p:nvPr>
        </p:nvSpPr>
        <p:spPr/>
        <p:txBody>
          <a:bodyPr/>
          <a:lstStyle/>
          <a:p>
            <a:r>
              <a:rPr lang="vi-VN" dirty="0"/>
              <a:t>Hướng đối tượng (OOP – Object Oriented Programming). Cách tư duy mới này sẽ không hướng đến các thủ tục nữa, mà là hướng đến các đối tượng</a:t>
            </a:r>
            <a:endParaRPr lang="en-US" dirty="0"/>
          </a:p>
          <a:p>
            <a:endParaRPr lang="en-US" dirty="0"/>
          </a:p>
        </p:txBody>
      </p:sp>
      <p:pic>
        <p:nvPicPr>
          <p:cNvPr id="5" name="Picture 4" descr="A screenshot of a cell phone&#10;&#10;Description automatically generated">
            <a:extLst>
              <a:ext uri="{FF2B5EF4-FFF2-40B4-BE49-F238E27FC236}">
                <a16:creationId xmlns:a16="http://schemas.microsoft.com/office/drawing/2014/main" id="{49F7117A-E410-4679-BD74-904AEA5D0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9915" y="3026762"/>
            <a:ext cx="7734970" cy="3269263"/>
          </a:xfrm>
          <a:prstGeom prst="rect">
            <a:avLst/>
          </a:prstGeom>
        </p:spPr>
      </p:pic>
    </p:spTree>
    <p:extLst>
      <p:ext uri="{BB962C8B-B14F-4D97-AF65-F5344CB8AC3E}">
        <p14:creationId xmlns:p14="http://schemas.microsoft.com/office/powerpoint/2010/main" val="1096159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solidFill>
                  <a:srgbClr val="FF0000"/>
                </a:solidFill>
                <a:latin typeface="Times New Roman" panose="02020603050405020304" pitchFamily="18" charset="0"/>
                <a:cs typeface="Times New Roman" panose="02020603050405020304" pitchFamily="18" charset="0"/>
              </a:rPr>
              <a:t>Đối</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tượng</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và</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Lớp</a:t>
            </a:r>
            <a:endParaRPr lang="en-US" sz="2400" b="1" dirty="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Package</a:t>
            </a: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latin typeface="Times New Roman" panose="02020603050405020304" pitchFamily="18" charset="0"/>
                <a:cs typeface="Times New Roman" panose="02020603050405020304" pitchFamily="18" charset="0"/>
              </a:rPr>
              <a:t>Tính</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Phủ</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Quyết</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Overriding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Trong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Kế</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Thừa</a:t>
            </a:r>
            <a:r>
              <a:rPr lang="nl-NL"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Lớp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56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CD2B-EE8F-49AD-83AB-36049A2E149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r>
              <a:rPr lang="en-US" dirty="0">
                <a:latin typeface="Times New Roman" panose="02020603050405020304" pitchFamily="18" charset="0"/>
                <a:cs typeface="Times New Roman" panose="02020603050405020304" pitchFamily="18" charset="0"/>
              </a:rPr>
              <a:t> (Object) &amp;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(Class)</a:t>
            </a:r>
          </a:p>
        </p:txBody>
      </p:sp>
      <p:sp>
        <p:nvSpPr>
          <p:cNvPr id="3" name="Content Placeholder 2">
            <a:extLst>
              <a:ext uri="{FF2B5EF4-FFF2-40B4-BE49-F238E27FC236}">
                <a16:creationId xmlns:a16="http://schemas.microsoft.com/office/drawing/2014/main" id="{521D27DA-E155-4995-A5EA-18DD964E23BF}"/>
              </a:ext>
            </a:extLst>
          </p:cNvPr>
          <p:cNvSpPr>
            <a:spLocks noGrp="1"/>
          </p:cNvSpPr>
          <p:nvPr>
            <p:ph idx="1"/>
          </p:nvPr>
        </p:nvSpPr>
        <p:spPr/>
        <p:txBody>
          <a:bodyPr>
            <a:normAutofit fontScale="85000" lnSpcReduction="20000"/>
          </a:bodyPr>
          <a:lstStyle/>
          <a:p>
            <a:r>
              <a:rPr lang="vi-VN" dirty="0">
                <a:effectLst/>
                <a:hlinkClick r:id="rId2">
                  <a:extLst>
                    <a:ext uri="{A12FA001-AC4F-418D-AE19-62706E023703}">
                      <ahyp:hlinkClr xmlns:ahyp="http://schemas.microsoft.com/office/drawing/2018/hyperlinkcolor" val="tx"/>
                    </a:ext>
                  </a:extLst>
                </a:hlinkClick>
              </a:rPr>
              <a:t>Khái Niệm Đối Tượng (Object)</a:t>
            </a:r>
            <a:endParaRPr lang="vi-VN" dirty="0">
              <a:effectLst/>
            </a:endParaRPr>
          </a:p>
          <a:p>
            <a:pPr lvl="1"/>
            <a:r>
              <a:rPr lang="vi-VN" dirty="0">
                <a:effectLst/>
                <a:hlinkClick r:id="rId3">
                  <a:extLst>
                    <a:ext uri="{A12FA001-AC4F-418D-AE19-62706E023703}">
                      <ahyp:hlinkClr xmlns:ahyp="http://schemas.microsoft.com/office/drawing/2018/hyperlinkcolor" val="tx"/>
                    </a:ext>
                  </a:extLst>
                </a:hlinkClick>
              </a:rPr>
              <a:t>Trạng Thái Của Đối Tượng</a:t>
            </a:r>
            <a:endParaRPr lang="vi-VN" dirty="0">
              <a:effectLst/>
            </a:endParaRPr>
          </a:p>
          <a:p>
            <a:pPr lvl="1"/>
            <a:r>
              <a:rPr lang="vi-VN" dirty="0">
                <a:effectLst/>
                <a:hlinkClick r:id="rId4">
                  <a:extLst>
                    <a:ext uri="{A12FA001-AC4F-418D-AE19-62706E023703}">
                      <ahyp:hlinkClr xmlns:ahyp="http://schemas.microsoft.com/office/drawing/2018/hyperlinkcolor" val="tx"/>
                    </a:ext>
                  </a:extLst>
                </a:hlinkClick>
              </a:rPr>
              <a:t>Hành Vi Của Đối Tượng</a:t>
            </a:r>
            <a:endParaRPr lang="vi-VN" dirty="0">
              <a:effectLst/>
            </a:endParaRPr>
          </a:p>
          <a:p>
            <a:r>
              <a:rPr lang="vi-VN" dirty="0">
                <a:effectLst/>
                <a:hlinkClick r:id="rId5">
                  <a:extLst>
                    <a:ext uri="{A12FA001-AC4F-418D-AE19-62706E023703}">
                      <ahyp:hlinkClr xmlns:ahyp="http://schemas.microsoft.com/office/drawing/2018/hyperlinkcolor" val="tx"/>
                    </a:ext>
                  </a:extLst>
                </a:hlinkClick>
              </a:rPr>
              <a:t>Khái Niệm Lớp (Class)</a:t>
            </a:r>
            <a:endParaRPr lang="vi-VN" dirty="0">
              <a:effectLst/>
            </a:endParaRPr>
          </a:p>
          <a:p>
            <a:pPr lvl="1"/>
            <a:r>
              <a:rPr lang="vi-VN" dirty="0">
                <a:effectLst/>
                <a:hlinkClick r:id="rId6">
                  <a:extLst>
                    <a:ext uri="{A12FA001-AC4F-418D-AE19-62706E023703}">
                      <ahyp:hlinkClr xmlns:ahyp="http://schemas.microsoft.com/office/drawing/2018/hyperlinkcolor" val="tx"/>
                    </a:ext>
                  </a:extLst>
                </a:hlinkClick>
              </a:rPr>
              <a:t>Ví Dụ 1: Làm Bánh</a:t>
            </a:r>
            <a:endParaRPr lang="vi-VN" dirty="0">
              <a:effectLst/>
            </a:endParaRPr>
          </a:p>
          <a:p>
            <a:pPr lvl="1"/>
            <a:r>
              <a:rPr lang="vi-VN" dirty="0">
                <a:effectLst/>
                <a:hlinkClick r:id="rId7">
                  <a:extLst>
                    <a:ext uri="{A12FA001-AC4F-418D-AE19-62706E023703}">
                      <ahyp:hlinkClr xmlns:ahyp="http://schemas.microsoft.com/office/drawing/2018/hyperlinkcolor" val="tx"/>
                    </a:ext>
                  </a:extLst>
                </a:hlinkClick>
              </a:rPr>
              <a:t>Ví Dụ 2: Thiết Kế Các Mẫu Xe Hơi</a:t>
            </a:r>
            <a:endParaRPr lang="vi-VN" dirty="0">
              <a:effectLst/>
            </a:endParaRPr>
          </a:p>
          <a:p>
            <a:pPr lvl="1"/>
            <a:r>
              <a:rPr lang="vi-VN" dirty="0">
                <a:effectLst/>
                <a:hlinkClick r:id="rId8">
                  <a:extLst>
                    <a:ext uri="{A12FA001-AC4F-418D-AE19-62706E023703}">
                      <ahyp:hlinkClr xmlns:ahyp="http://schemas.microsoft.com/office/drawing/2018/hyperlinkcolor" val="tx"/>
                    </a:ext>
                  </a:extLst>
                </a:hlinkClick>
              </a:rPr>
              <a:t>Ví Dụ 3: Làm Phần Mềm Quản Lý Sinh Viên</a:t>
            </a:r>
            <a:endParaRPr lang="vi-VN" dirty="0">
              <a:effectLst/>
            </a:endParaRPr>
          </a:p>
          <a:p>
            <a:r>
              <a:rPr lang="vi-VN" dirty="0">
                <a:effectLst/>
                <a:hlinkClick r:id="rId9">
                  <a:extLst>
                    <a:ext uri="{A12FA001-AC4F-418D-AE19-62706E023703}">
                      <ahyp:hlinkClr xmlns:ahyp="http://schemas.microsoft.com/office/drawing/2018/hyperlinkcolor" val="tx"/>
                    </a:ext>
                  </a:extLst>
                </a:hlinkClick>
              </a:rPr>
              <a:t>Khai Báo Lớp</a:t>
            </a:r>
            <a:endParaRPr lang="vi-VN" dirty="0">
              <a:effectLst/>
            </a:endParaRPr>
          </a:p>
          <a:p>
            <a:pPr lvl="1"/>
            <a:r>
              <a:rPr lang="vi-VN" dirty="0">
                <a:effectLst/>
                <a:hlinkClick r:id="rId10">
                  <a:extLst>
                    <a:ext uri="{A12FA001-AC4F-418D-AE19-62706E023703}">
                      <ahyp:hlinkClr xmlns:ahyp="http://schemas.microsoft.com/office/drawing/2018/hyperlinkcolor" val="tx"/>
                    </a:ext>
                  </a:extLst>
                </a:hlinkClick>
              </a:rPr>
              <a:t>Hình Dung Về Lớp</a:t>
            </a:r>
            <a:endParaRPr lang="vi-VN" dirty="0">
              <a:effectLst/>
            </a:endParaRPr>
          </a:p>
          <a:p>
            <a:pPr lvl="1"/>
            <a:r>
              <a:rPr lang="vi-VN" dirty="0">
                <a:effectLst/>
                <a:hlinkClick r:id="rId11">
                  <a:extLst>
                    <a:ext uri="{A12FA001-AC4F-418D-AE19-62706E023703}">
                      <ahyp:hlinkClr xmlns:ahyp="http://schemas.microsoft.com/office/drawing/2018/hyperlinkcolor" val="tx"/>
                    </a:ext>
                  </a:extLst>
                </a:hlinkClick>
              </a:rPr>
              <a:t>Cú Pháp Khai Báo Lớp</a:t>
            </a:r>
            <a:endParaRPr lang="vi-VN" dirty="0">
              <a:effectLst/>
            </a:endParaRPr>
          </a:p>
          <a:p>
            <a:r>
              <a:rPr lang="vi-VN" dirty="0">
                <a:effectLst/>
                <a:hlinkClick r:id="rId12">
                  <a:extLst>
                    <a:ext uri="{A12FA001-AC4F-418D-AE19-62706E023703}">
                      <ahyp:hlinkClr xmlns:ahyp="http://schemas.microsoft.com/office/drawing/2018/hyperlinkcolor" val="tx"/>
                    </a:ext>
                  </a:extLst>
                </a:hlinkClick>
              </a:rPr>
              <a:t>Khai Báo Và Khởi Tạo Đối Tượng</a:t>
            </a:r>
            <a:endParaRPr lang="vi-VN" dirty="0">
              <a:effectLst/>
            </a:endParaRPr>
          </a:p>
        </p:txBody>
      </p:sp>
    </p:spTree>
    <p:extLst>
      <p:ext uri="{BB962C8B-B14F-4D97-AF65-F5344CB8AC3E}">
        <p14:creationId xmlns:p14="http://schemas.microsoft.com/office/powerpoint/2010/main" val="262048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34FDF-1616-49C3-86D2-1DF81EE7D59A}"/>
              </a:ext>
            </a:extLst>
          </p:cNvPr>
          <p:cNvSpPr>
            <a:spLocks noGrp="1"/>
          </p:cNvSpPr>
          <p:nvPr>
            <p:ph type="title"/>
          </p:nvPr>
        </p:nvSpPr>
        <p:spPr/>
        <p:txBody>
          <a:bodyPr/>
          <a:lstStyle/>
          <a:p>
            <a:r>
              <a:rPr lang="vi-VN" dirty="0"/>
              <a:t>Khái Niệm Đối Tượng (Object)</a:t>
            </a:r>
            <a:endParaRPr lang="en-US" dirty="0"/>
          </a:p>
        </p:txBody>
      </p:sp>
      <p:sp>
        <p:nvSpPr>
          <p:cNvPr id="3" name="Content Placeholder 2">
            <a:extLst>
              <a:ext uri="{FF2B5EF4-FFF2-40B4-BE49-F238E27FC236}">
                <a16:creationId xmlns:a16="http://schemas.microsoft.com/office/drawing/2014/main" id="{7FF2E12F-F95D-419D-B4AE-045F88446BA4}"/>
              </a:ext>
            </a:extLst>
          </p:cNvPr>
          <p:cNvSpPr>
            <a:spLocks noGrp="1"/>
          </p:cNvSpPr>
          <p:nvPr>
            <p:ph idx="1"/>
          </p:nvPr>
        </p:nvSpPr>
        <p:spPr>
          <a:xfrm>
            <a:off x="913795" y="2096064"/>
            <a:ext cx="10353762" cy="3695136"/>
          </a:xfrm>
        </p:spPr>
        <p:txBody>
          <a:bodyPr>
            <a:normAutofit/>
          </a:bodyPr>
          <a:lstStyle/>
          <a:p>
            <a:pPr>
              <a:lnSpc>
                <a:spcPct val="150000"/>
              </a:lnSpc>
            </a:pPr>
            <a:r>
              <a:rPr lang="vi-VN" sz="2200" dirty="0"/>
              <a:t>Đối tượng là các thực thể hay sự vật mà chúng ta có thể cầm nắm, hoặc có thể gọi tên được</a:t>
            </a:r>
            <a:r>
              <a:rPr lang="en-US" sz="2200" dirty="0"/>
              <a:t>.</a:t>
            </a:r>
          </a:p>
          <a:p>
            <a:pPr>
              <a:lnSpc>
                <a:spcPct val="150000"/>
              </a:lnSpc>
            </a:pPr>
            <a:r>
              <a:rPr lang="vi-VN" sz="2200" dirty="0"/>
              <a:t>Ví dụ như với phần mềm quản lý việc kinh doanh xe hơi</a:t>
            </a:r>
            <a:r>
              <a:rPr lang="en-US" sz="2200" dirty="0"/>
              <a:t> </a:t>
            </a:r>
            <a:r>
              <a:rPr lang="en-US" sz="2200" dirty="0" err="1"/>
              <a:t>thì</a:t>
            </a:r>
            <a:r>
              <a:rPr lang="vi-VN" sz="2200" dirty="0"/>
              <a:t> </a:t>
            </a:r>
            <a:r>
              <a:rPr lang="vi-VN" sz="2200" b="1" i="1" dirty="0">
                <a:solidFill>
                  <a:srgbClr val="FFFF00"/>
                </a:solidFill>
              </a:rPr>
              <a:t>Xe hơi </a:t>
            </a:r>
            <a:r>
              <a:rPr lang="vi-VN" sz="2200" dirty="0"/>
              <a:t>là một đối tượng để quản lý</a:t>
            </a:r>
            <a:r>
              <a:rPr lang="en-US" sz="2200" dirty="0"/>
              <a:t> </a:t>
            </a:r>
            <a:r>
              <a:rPr lang="en-US" sz="2200" dirty="0" err="1"/>
              <a:t>và</a:t>
            </a:r>
            <a:r>
              <a:rPr lang="en-US" sz="2200" dirty="0"/>
              <a:t> </a:t>
            </a:r>
            <a:r>
              <a:rPr lang="vi-VN" sz="2200" b="1" i="1" dirty="0">
                <a:solidFill>
                  <a:srgbClr val="FFFF00"/>
                </a:solidFill>
              </a:rPr>
              <a:t>Khách hàng </a:t>
            </a:r>
            <a:r>
              <a:rPr lang="vi-VN" sz="2200" dirty="0"/>
              <a:t>cũng là một đối tượng</a:t>
            </a:r>
            <a:r>
              <a:rPr lang="en-US" sz="2200" dirty="0"/>
              <a:t>.</a:t>
            </a:r>
          </a:p>
          <a:p>
            <a:pPr>
              <a:lnSpc>
                <a:spcPct val="150000"/>
              </a:lnSpc>
            </a:pPr>
            <a:r>
              <a:rPr lang="vi-VN" sz="2200" dirty="0"/>
              <a:t>Ngoài ra thực thể nào đó là đối tượng, thì đối tượng đó phải có các </a:t>
            </a:r>
            <a:r>
              <a:rPr lang="vi-VN" sz="2200" b="1" i="1" dirty="0">
                <a:solidFill>
                  <a:srgbClr val="FFFF00"/>
                </a:solidFill>
              </a:rPr>
              <a:t>Trạng thái </a:t>
            </a:r>
            <a:r>
              <a:rPr lang="vi-VN" sz="2200" dirty="0"/>
              <a:t>và </a:t>
            </a:r>
            <a:r>
              <a:rPr lang="vi-VN" sz="2200" b="1" i="1" dirty="0">
                <a:solidFill>
                  <a:srgbClr val="FFFF00"/>
                </a:solidFill>
              </a:rPr>
              <a:t>Hành vi.</a:t>
            </a:r>
            <a:endParaRPr lang="en-US" sz="2200" b="1" i="1" dirty="0">
              <a:solidFill>
                <a:srgbClr val="FFFF00"/>
              </a:solidFill>
            </a:endParaRPr>
          </a:p>
        </p:txBody>
      </p:sp>
    </p:spTree>
    <p:extLst>
      <p:ext uri="{BB962C8B-B14F-4D97-AF65-F5344CB8AC3E}">
        <p14:creationId xmlns:p14="http://schemas.microsoft.com/office/powerpoint/2010/main" val="224769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AFE1-18A6-48A3-B90C-6731570E8B78}"/>
              </a:ext>
            </a:extLst>
          </p:cNvPr>
          <p:cNvSpPr>
            <a:spLocks noGrp="1"/>
          </p:cNvSpPr>
          <p:nvPr>
            <p:ph type="title"/>
          </p:nvPr>
        </p:nvSpPr>
        <p:spPr/>
        <p:txBody>
          <a:bodyPr/>
          <a:lstStyle/>
          <a:p>
            <a:r>
              <a:rPr lang="en-US" dirty="0" err="1"/>
              <a:t>Đối</a:t>
            </a:r>
            <a:r>
              <a:rPr lang="en-US" dirty="0"/>
              <a:t> t</a:t>
            </a:r>
            <a:r>
              <a:rPr lang="vi-VN" dirty="0"/>
              <a:t>ư</a:t>
            </a:r>
            <a:r>
              <a:rPr lang="en-US" dirty="0" err="1"/>
              <a:t>ợng</a:t>
            </a:r>
            <a:endParaRPr lang="en-US" dirty="0"/>
          </a:p>
        </p:txBody>
      </p:sp>
      <p:sp>
        <p:nvSpPr>
          <p:cNvPr id="3" name="Content Placeholder 2">
            <a:extLst>
              <a:ext uri="{FF2B5EF4-FFF2-40B4-BE49-F238E27FC236}">
                <a16:creationId xmlns:a16="http://schemas.microsoft.com/office/drawing/2014/main" id="{B41FB301-083C-4B9C-B8D6-BDA90749F5BF}"/>
              </a:ext>
            </a:extLst>
          </p:cNvPr>
          <p:cNvSpPr>
            <a:spLocks noGrp="1"/>
          </p:cNvSpPr>
          <p:nvPr>
            <p:ph idx="1"/>
          </p:nvPr>
        </p:nvSpPr>
        <p:spPr>
          <a:xfrm>
            <a:off x="913795" y="2096064"/>
            <a:ext cx="10353762" cy="3985140"/>
          </a:xfrm>
        </p:spPr>
        <p:txBody>
          <a:bodyPr>
            <a:normAutofit/>
          </a:bodyPr>
          <a:lstStyle/>
          <a:p>
            <a:r>
              <a:rPr lang="vi-VN" dirty="0"/>
              <a:t>Trạng Thái</a:t>
            </a:r>
            <a:r>
              <a:rPr lang="en-US" dirty="0"/>
              <a:t> (</a:t>
            </a:r>
            <a:r>
              <a:rPr lang="en-US" dirty="0" err="1"/>
              <a:t>thuộc</a:t>
            </a:r>
            <a:r>
              <a:rPr lang="en-US" dirty="0"/>
              <a:t> </a:t>
            </a:r>
            <a:r>
              <a:rPr lang="en-US" dirty="0" err="1"/>
              <a:t>tính</a:t>
            </a:r>
            <a:r>
              <a:rPr lang="en-US" dirty="0"/>
              <a:t>)</a:t>
            </a:r>
            <a:r>
              <a:rPr lang="vi-VN" dirty="0"/>
              <a:t> Của Đối Tượng</a:t>
            </a:r>
            <a:r>
              <a:rPr lang="en-US" dirty="0"/>
              <a:t>: </a:t>
            </a:r>
            <a:r>
              <a:rPr lang="vi-VN" dirty="0"/>
              <a:t>Trạng thái của đối tượng nói lên các đặc thù, hay đặc trưng của đối tượng đó.</a:t>
            </a:r>
            <a:endParaRPr lang="en-US" dirty="0"/>
          </a:p>
          <a:p>
            <a:pPr marL="457200" lvl="1" indent="0">
              <a:buNone/>
            </a:pPr>
            <a:r>
              <a:rPr lang="en-US" dirty="0"/>
              <a:t>	</a:t>
            </a:r>
            <a:r>
              <a:rPr lang="vi-VN" dirty="0"/>
              <a:t>Ví dụ, khi lấy một đối tượng Xe hơi trong ứng dụng quản lý xe hơi trên đây để xem, thì sẽ thấy các trạng thái của đối tượng này như: xe này màu xanh, thuộc hãng Ford, 7 chỗ ngồi. Nhưng nếu lấy một chiếc xe khác, sẽ thấy các trạng thái khác, như: xe này màu trắng, thuộc hãng Toyota, 4 chỗ ngồi.</a:t>
            </a:r>
            <a:endParaRPr lang="en-US" dirty="0"/>
          </a:p>
          <a:p>
            <a:r>
              <a:rPr lang="vi-VN" dirty="0"/>
              <a:t>Hành Vi Của Đối Tượng</a:t>
            </a:r>
            <a:r>
              <a:rPr lang="en-US" dirty="0"/>
              <a:t>: </a:t>
            </a:r>
            <a:r>
              <a:rPr lang="vi-VN" dirty="0"/>
              <a:t>Khác với trạng thái là các đặc điểm của đối tượng. Thì Hành vi chính là các hành động của Đối tượng đó, hay có thể hiểu đó là các hoạt động mà đối tượng đó có trách nhiệm phải thực hiện.</a:t>
            </a:r>
            <a:endParaRPr lang="en-US" dirty="0"/>
          </a:p>
          <a:p>
            <a:pPr marL="0" indent="0">
              <a:buNone/>
            </a:pPr>
            <a:r>
              <a:rPr lang="en-US" dirty="0"/>
              <a:t>	</a:t>
            </a:r>
          </a:p>
        </p:txBody>
      </p:sp>
    </p:spTree>
    <p:extLst>
      <p:ext uri="{BB962C8B-B14F-4D97-AF65-F5344CB8AC3E}">
        <p14:creationId xmlns:p14="http://schemas.microsoft.com/office/powerpoint/2010/main" val="783065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7233-3464-46FD-9876-7FA1185960E2}"/>
              </a:ext>
            </a:extLst>
          </p:cNvPr>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Lớp</a:t>
            </a:r>
            <a:r>
              <a:rPr lang="en-US" dirty="0"/>
              <a:t> (Class)</a:t>
            </a:r>
          </a:p>
        </p:txBody>
      </p:sp>
      <p:sp>
        <p:nvSpPr>
          <p:cNvPr id="3" name="Content Placeholder 2">
            <a:extLst>
              <a:ext uri="{FF2B5EF4-FFF2-40B4-BE49-F238E27FC236}">
                <a16:creationId xmlns:a16="http://schemas.microsoft.com/office/drawing/2014/main" id="{4FDDD3F0-C4E6-4411-8393-C6AC4123FE9C}"/>
              </a:ext>
            </a:extLst>
          </p:cNvPr>
          <p:cNvSpPr>
            <a:spLocks noGrp="1"/>
          </p:cNvSpPr>
          <p:nvPr>
            <p:ph idx="1"/>
          </p:nvPr>
        </p:nvSpPr>
        <p:spPr/>
        <p:txBody>
          <a:bodyPr/>
          <a:lstStyle/>
          <a:p>
            <a:r>
              <a:rPr lang="vi-VN" dirty="0"/>
              <a:t>Lớp được xem là một khuôn mẫu để tạo ra các Đối tượng</a:t>
            </a:r>
            <a:endParaRPr lang="en-US" dirty="0"/>
          </a:p>
          <a:p>
            <a:r>
              <a:rPr lang="en-US" dirty="0" err="1"/>
              <a:t>Ví</a:t>
            </a:r>
            <a:r>
              <a:rPr lang="en-US" dirty="0"/>
              <a:t> </a:t>
            </a:r>
            <a:r>
              <a:rPr lang="en-US" dirty="0" err="1"/>
              <a:t>Dụ</a:t>
            </a:r>
            <a:r>
              <a:rPr lang="en-US" dirty="0"/>
              <a:t> 1: </a:t>
            </a:r>
            <a:r>
              <a:rPr lang="en-US" dirty="0" err="1"/>
              <a:t>Làm</a:t>
            </a:r>
            <a:r>
              <a:rPr lang="en-US" dirty="0"/>
              <a:t> </a:t>
            </a:r>
            <a:r>
              <a:rPr lang="en-US" dirty="0" err="1"/>
              <a:t>Bánh</a:t>
            </a:r>
            <a:endParaRPr lang="en-US" dirty="0"/>
          </a:p>
          <a:p>
            <a:endParaRPr lang="en-US" dirty="0"/>
          </a:p>
          <a:p>
            <a:endParaRPr lang="en-US" dirty="0"/>
          </a:p>
          <a:p>
            <a:endParaRPr lang="en-US" dirty="0"/>
          </a:p>
          <a:p>
            <a:r>
              <a:rPr lang="vi-VN" dirty="0"/>
              <a:t>Ví Dụ 2: Thiết Kế Các Mẫu Xe Hơi</a:t>
            </a:r>
            <a:endParaRPr lang="en-US" dirty="0"/>
          </a:p>
          <a:p>
            <a:pPr marL="0" indent="0">
              <a:buNone/>
            </a:pPr>
            <a:r>
              <a:rPr lang="en-US" dirty="0"/>
              <a:t>	</a:t>
            </a:r>
          </a:p>
          <a:p>
            <a:endParaRPr lang="en-US" dirty="0"/>
          </a:p>
        </p:txBody>
      </p:sp>
      <p:pic>
        <p:nvPicPr>
          <p:cNvPr id="1026" name="Picture 2" descr="123rf_70720569_mega">
            <a:extLst>
              <a:ext uri="{FF2B5EF4-FFF2-40B4-BE49-F238E27FC236}">
                <a16:creationId xmlns:a16="http://schemas.microsoft.com/office/drawing/2014/main" id="{4FB39F43-667B-4CAE-B625-FA316017A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399" y="2702719"/>
            <a:ext cx="3333750" cy="18192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23rf_17560196_mega">
            <a:extLst>
              <a:ext uri="{FF2B5EF4-FFF2-40B4-BE49-F238E27FC236}">
                <a16:creationId xmlns:a16="http://schemas.microsoft.com/office/drawing/2014/main" id="{A7338C86-E227-4EC2-A1DC-4FA92AF11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7853" y="2964656"/>
            <a:ext cx="190500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23rf_28589274_mega">
            <a:extLst>
              <a:ext uri="{FF2B5EF4-FFF2-40B4-BE49-F238E27FC236}">
                <a16:creationId xmlns:a16="http://schemas.microsoft.com/office/drawing/2014/main" id="{25A417CA-ECA5-42BC-8DCC-55C74ECBB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0" y="5128649"/>
            <a:ext cx="552450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123rf_11911548_mega">
            <a:extLst>
              <a:ext uri="{FF2B5EF4-FFF2-40B4-BE49-F238E27FC236}">
                <a16:creationId xmlns:a16="http://schemas.microsoft.com/office/drawing/2014/main" id="{391ABB18-1B48-406B-A3B6-F9F81B77B7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0120" y="4647636"/>
            <a:ext cx="2867025" cy="216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474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44A4-757D-4E7E-BEEF-D40771C37DB7}"/>
              </a:ext>
            </a:extLst>
          </p:cNvPr>
          <p:cNvSpPr>
            <a:spLocks noGrp="1"/>
          </p:cNvSpPr>
          <p:nvPr>
            <p:ph type="title"/>
          </p:nvPr>
        </p:nvSpPr>
        <p:spPr>
          <a:xfrm>
            <a:off x="4927472" y="609600"/>
            <a:ext cx="6340084" cy="1326321"/>
          </a:xfrm>
        </p:spPr>
        <p:txBody>
          <a:bodyPr>
            <a:normAutofit/>
          </a:bodyPr>
          <a:lstStyle/>
          <a:p>
            <a:r>
              <a:rPr lang="en-US"/>
              <a:t>Khái Niệm Lớp (Class)</a:t>
            </a:r>
            <a:endParaRPr lang="en-US" dirty="0"/>
          </a:p>
        </p:txBody>
      </p:sp>
      <p:sp>
        <p:nvSpPr>
          <p:cNvPr id="2052" name="Rectangle 70">
            <a:extLst>
              <a:ext uri="{FF2B5EF4-FFF2-40B4-BE49-F238E27FC236}">
                <a16:creationId xmlns:a16="http://schemas.microsoft.com/office/drawing/2014/main" id="{9D374119-2129-4781-ACAB-9C3618BD4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37433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uman">
            <a:extLst>
              <a:ext uri="{FF2B5EF4-FFF2-40B4-BE49-F238E27FC236}">
                <a16:creationId xmlns:a16="http://schemas.microsoft.com/office/drawing/2014/main" id="{06442C76-9CAF-44CB-AE91-BAC6636AC6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8" r="11799"/>
          <a:stretch/>
        </p:blipFill>
        <p:spPr bwMode="auto">
          <a:xfrm>
            <a:off x="1141857" y="1114868"/>
            <a:ext cx="2964561" cy="4628265"/>
          </a:xfrm>
          <a:prstGeom prst="rect">
            <a:avLst/>
          </a:prstGeom>
          <a:noFill/>
          <a:extLst>
            <a:ext uri="{909E8E84-426E-40DD-AFC4-6F175D3DCCD1}">
              <a14:hiddenFill xmlns:a14="http://schemas.microsoft.com/office/drawing/2010/main">
                <a:solidFill>
                  <a:srgbClr val="FFFFFF"/>
                </a:solidFill>
              </a14:hiddenFill>
            </a:ext>
          </a:extLst>
        </p:spPr>
      </p:pic>
      <p:sp>
        <p:nvSpPr>
          <p:cNvPr id="2053" name="Rectangle 72">
            <a:extLst>
              <a:ext uri="{FF2B5EF4-FFF2-40B4-BE49-F238E27FC236}">
                <a16:creationId xmlns:a16="http://schemas.microsoft.com/office/drawing/2014/main" id="{CD49B4B0-3C14-40B1-82E0-072A4678F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340" y="804806"/>
            <a:ext cx="3625595" cy="5248389"/>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18F7E2-A773-4366-99D2-BFC4F96A301C}"/>
              </a:ext>
            </a:extLst>
          </p:cNvPr>
          <p:cNvSpPr>
            <a:spLocks noGrp="1"/>
          </p:cNvSpPr>
          <p:nvPr>
            <p:ph idx="1"/>
          </p:nvPr>
        </p:nvSpPr>
        <p:spPr>
          <a:xfrm>
            <a:off x="4927471" y="2096064"/>
            <a:ext cx="6340085" cy="3695136"/>
          </a:xfrm>
        </p:spPr>
        <p:txBody>
          <a:bodyPr>
            <a:normAutofit/>
          </a:bodyPr>
          <a:lstStyle/>
          <a:p>
            <a:r>
              <a:rPr lang="en-US" dirty="0" err="1"/>
              <a:t>Ví</a:t>
            </a:r>
            <a:r>
              <a:rPr lang="en-US" dirty="0"/>
              <a:t> </a:t>
            </a:r>
            <a:r>
              <a:rPr lang="en-US" dirty="0" err="1"/>
              <a:t>Dụ</a:t>
            </a:r>
            <a:r>
              <a:rPr lang="en-US" dirty="0"/>
              <a:t> 3: </a:t>
            </a:r>
            <a:r>
              <a:rPr lang="en-US" dirty="0" err="1"/>
              <a:t>Làm</a:t>
            </a:r>
            <a:r>
              <a:rPr lang="en-US" dirty="0"/>
              <a:t> </a:t>
            </a:r>
            <a:r>
              <a:rPr lang="en-US" dirty="0" err="1"/>
              <a:t>Phần</a:t>
            </a:r>
            <a:r>
              <a:rPr lang="en-US" dirty="0"/>
              <a:t> </a:t>
            </a:r>
            <a:r>
              <a:rPr lang="en-US" dirty="0" err="1"/>
              <a:t>Mềm</a:t>
            </a:r>
            <a:r>
              <a:rPr lang="en-US" dirty="0"/>
              <a:t> </a:t>
            </a:r>
            <a:r>
              <a:rPr lang="en-US" dirty="0" err="1"/>
              <a:t>Quản</a:t>
            </a:r>
            <a:r>
              <a:rPr lang="en-US" dirty="0"/>
              <a:t> </a:t>
            </a:r>
            <a:r>
              <a:rPr lang="en-US" dirty="0" err="1"/>
              <a:t>Lý</a:t>
            </a:r>
            <a:r>
              <a:rPr lang="en-US" dirty="0"/>
              <a:t> </a:t>
            </a:r>
            <a:r>
              <a:rPr lang="en-US" dirty="0" err="1"/>
              <a:t>Sinh</a:t>
            </a:r>
            <a:r>
              <a:rPr lang="en-US" dirty="0"/>
              <a:t> </a:t>
            </a:r>
            <a:r>
              <a:rPr lang="en-US" dirty="0" err="1"/>
              <a:t>Viên</a:t>
            </a:r>
            <a:r>
              <a:rPr lang="en-US" dirty="0"/>
              <a:t>.</a:t>
            </a:r>
          </a:p>
          <a:p>
            <a:r>
              <a:rPr lang="vi-VN" dirty="0"/>
              <a:t>Áp dụng từ các ví dụ 1 và 2 đi nào. Sinh viên chắc chắn là đối tượng cần quản lý. Vậy đâu sẽ là khuôn mẫu cho các đối tượng Sinh viên này</a:t>
            </a:r>
            <a:endParaRPr lang="en-US" dirty="0"/>
          </a:p>
          <a:p>
            <a:endParaRPr lang="en-US" dirty="0"/>
          </a:p>
        </p:txBody>
      </p:sp>
    </p:spTree>
    <p:extLst>
      <p:ext uri="{BB962C8B-B14F-4D97-AF65-F5344CB8AC3E}">
        <p14:creationId xmlns:p14="http://schemas.microsoft.com/office/powerpoint/2010/main" val="68853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50CD-C881-466E-AD48-7DB87236DB87}"/>
              </a:ext>
            </a:extLst>
          </p:cNvPr>
          <p:cNvSpPr>
            <a:spLocks noGrp="1"/>
          </p:cNvSpPr>
          <p:nvPr>
            <p:ph type="title"/>
          </p:nvPr>
        </p:nvSpPr>
        <p:spPr/>
        <p:txBody>
          <a:bodyPr/>
          <a:lstStyle/>
          <a:p>
            <a:r>
              <a:rPr lang="en-US" dirty="0" err="1"/>
              <a:t>Khai</a:t>
            </a:r>
            <a:r>
              <a:rPr lang="en-US" dirty="0"/>
              <a:t> </a:t>
            </a:r>
            <a:r>
              <a:rPr lang="en-US" dirty="0" err="1"/>
              <a:t>Báo</a:t>
            </a:r>
            <a:r>
              <a:rPr lang="en-US" dirty="0"/>
              <a:t> </a:t>
            </a:r>
            <a:r>
              <a:rPr lang="en-US" dirty="0" err="1"/>
              <a:t>Lớp</a:t>
            </a:r>
            <a:endParaRPr lang="en-US" dirty="0"/>
          </a:p>
        </p:txBody>
      </p:sp>
      <p:sp>
        <p:nvSpPr>
          <p:cNvPr id="3" name="Content Placeholder 2">
            <a:extLst>
              <a:ext uri="{FF2B5EF4-FFF2-40B4-BE49-F238E27FC236}">
                <a16:creationId xmlns:a16="http://schemas.microsoft.com/office/drawing/2014/main" id="{C3EA672C-D073-4E0F-A592-3179C430EEF3}"/>
              </a:ext>
            </a:extLst>
          </p:cNvPr>
          <p:cNvSpPr>
            <a:spLocks noGrp="1"/>
          </p:cNvSpPr>
          <p:nvPr>
            <p:ph idx="1"/>
          </p:nvPr>
        </p:nvSpPr>
        <p:spPr>
          <a:xfrm>
            <a:off x="913795" y="2096064"/>
            <a:ext cx="10353762" cy="4380936"/>
          </a:xfrm>
        </p:spPr>
        <p:txBody>
          <a:bodyPr>
            <a:normAutofit lnSpcReduction="10000"/>
          </a:bodyPr>
          <a:lstStyle/>
          <a:p>
            <a:r>
              <a:rPr lang="en-US" dirty="0" err="1"/>
              <a:t>Cú</a:t>
            </a:r>
            <a:r>
              <a:rPr lang="en-US" dirty="0"/>
              <a:t> </a:t>
            </a:r>
            <a:r>
              <a:rPr lang="en-US" dirty="0" err="1"/>
              <a:t>Pháp</a:t>
            </a:r>
            <a:r>
              <a:rPr lang="en-US" dirty="0"/>
              <a:t> </a:t>
            </a:r>
            <a:r>
              <a:rPr lang="en-US" dirty="0" err="1"/>
              <a:t>Khai</a:t>
            </a:r>
            <a:r>
              <a:rPr lang="en-US" dirty="0"/>
              <a:t> </a:t>
            </a:r>
            <a:r>
              <a:rPr lang="en-US" dirty="0" err="1"/>
              <a:t>Báo</a:t>
            </a:r>
            <a:r>
              <a:rPr lang="en-US" dirty="0"/>
              <a:t> </a:t>
            </a:r>
            <a:r>
              <a:rPr lang="en-US" dirty="0" err="1"/>
              <a:t>Lớp</a:t>
            </a:r>
            <a:endParaRPr lang="en-US" dirty="0"/>
          </a:p>
          <a:p>
            <a:endParaRPr lang="en-US" dirty="0"/>
          </a:p>
          <a:p>
            <a:endParaRPr lang="en-US" dirty="0"/>
          </a:p>
          <a:p>
            <a:r>
              <a:rPr lang="en-US" dirty="0"/>
              <a:t>T</a:t>
            </a:r>
            <a:r>
              <a:rPr lang="vi-VN" dirty="0"/>
              <a:t>rong đó:</a:t>
            </a:r>
          </a:p>
          <a:p>
            <a:pPr marL="0" indent="0">
              <a:buNone/>
            </a:pPr>
            <a:r>
              <a:rPr lang="en-US" dirty="0"/>
              <a:t>	+ </a:t>
            </a:r>
            <a:r>
              <a:rPr lang="vi-VN" dirty="0"/>
              <a:t>class chỉ là một keyword cho biết đang khai báo một Lớp.</a:t>
            </a:r>
          </a:p>
          <a:p>
            <a:pPr marL="0" indent="0">
              <a:buNone/>
            </a:pPr>
            <a:r>
              <a:rPr lang="en-US" dirty="0"/>
              <a:t>	+ </a:t>
            </a:r>
            <a:r>
              <a:rPr lang="vi-VN" dirty="0"/>
              <a:t> tên_lớp là tên định danh cho Lớp đó, quy luật đặt tên cho Lớp cũng giống như quy luật đặt tên cho Biến. Nhưng lưu ý</a:t>
            </a:r>
            <a:r>
              <a:rPr lang="en-US" dirty="0"/>
              <a:t> </a:t>
            </a:r>
            <a:r>
              <a:rPr lang="vi-VN" dirty="0"/>
              <a:t>là tên_lớp này nên viết in hoa hết từng chữ đầu của mỗi từ, ví dụ như HinhTron, SinhVien, HoaDon,… để phân biệt với tên khi khai báo một đối tượng</a:t>
            </a:r>
          </a:p>
          <a:p>
            <a:pPr marL="0" indent="0">
              <a:buNone/>
            </a:pPr>
            <a:r>
              <a:rPr lang="en-US" dirty="0"/>
              <a:t>	+ </a:t>
            </a:r>
            <a:r>
              <a:rPr lang="vi-VN" dirty="0"/>
              <a:t>các_thuộc_tính và các_phương_thức sẽ được mình nói rõ hơn ở bài sau.</a:t>
            </a:r>
            <a:endParaRPr lang="en-US" dirty="0"/>
          </a:p>
          <a:p>
            <a:pPr marL="0" indent="0">
              <a:buNone/>
            </a:pPr>
            <a:endParaRPr lang="en-US" dirty="0"/>
          </a:p>
        </p:txBody>
      </p:sp>
      <p:pic>
        <p:nvPicPr>
          <p:cNvPr id="5" name="Picture 4" descr="A screenshot of a cell phone&#10;&#10;Description automatically generated">
            <a:extLst>
              <a:ext uri="{FF2B5EF4-FFF2-40B4-BE49-F238E27FC236}">
                <a16:creationId xmlns:a16="http://schemas.microsoft.com/office/drawing/2014/main" id="{352AF20B-9301-4E4C-B0AC-9065D05316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4718" y="2301178"/>
            <a:ext cx="2918713" cy="1417443"/>
          </a:xfrm>
          <a:prstGeom prst="rect">
            <a:avLst/>
          </a:prstGeom>
        </p:spPr>
      </p:pic>
    </p:spTree>
    <p:extLst>
      <p:ext uri="{BB962C8B-B14F-4D97-AF65-F5344CB8AC3E}">
        <p14:creationId xmlns:p14="http://schemas.microsoft.com/office/powerpoint/2010/main" val="387262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EFAC6-9510-4619-BA76-64F6E0B6422A}"/>
              </a:ext>
            </a:extLst>
          </p:cNvPr>
          <p:cNvSpPr>
            <a:spLocks noGrp="1"/>
          </p:cNvSpPr>
          <p:nvPr>
            <p:ph type="title"/>
          </p:nvPr>
        </p:nvSpPr>
        <p:spPr>
          <a:xfrm>
            <a:off x="989995" y="152400"/>
            <a:ext cx="10353761" cy="1326321"/>
          </a:xfrm>
        </p:spPr>
        <p:txBody>
          <a:bodyPr/>
          <a:lstStyle/>
          <a:p>
            <a:r>
              <a:rPr lang="en-US" dirty="0" err="1"/>
              <a:t>Ví</a:t>
            </a:r>
            <a:r>
              <a:rPr lang="en-US" dirty="0"/>
              <a:t> </a:t>
            </a:r>
            <a:r>
              <a:rPr lang="en-US" dirty="0" err="1"/>
              <a:t>dụ</a:t>
            </a:r>
            <a:r>
              <a:rPr lang="en-US" dirty="0"/>
              <a:t> </a:t>
            </a:r>
            <a:r>
              <a:rPr lang="en-US" dirty="0" err="1"/>
              <a:t>về</a:t>
            </a:r>
            <a:r>
              <a:rPr lang="en-US" dirty="0"/>
              <a:t> </a:t>
            </a:r>
            <a:r>
              <a:rPr lang="en-US" dirty="0" err="1"/>
              <a:t>khai</a:t>
            </a:r>
            <a:r>
              <a:rPr lang="en-US" dirty="0"/>
              <a:t> </a:t>
            </a:r>
            <a:r>
              <a:rPr lang="en-US" dirty="0" err="1"/>
              <a:t>báo</a:t>
            </a:r>
            <a:r>
              <a:rPr lang="en-US" dirty="0"/>
              <a:t> </a:t>
            </a:r>
            <a:r>
              <a:rPr lang="en-US" dirty="0" err="1"/>
              <a:t>lớp</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1FF12343-C5CB-4194-A73D-845E062A50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7956" y="1143000"/>
            <a:ext cx="5937837" cy="5429415"/>
          </a:xfrm>
        </p:spPr>
      </p:pic>
    </p:spTree>
    <p:extLst>
      <p:ext uri="{BB962C8B-B14F-4D97-AF65-F5344CB8AC3E}">
        <p14:creationId xmlns:p14="http://schemas.microsoft.com/office/powerpoint/2010/main" val="573420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7B81-CA59-4875-9CFB-8EBFAC3BDD17}"/>
              </a:ext>
            </a:extLst>
          </p:cNvPr>
          <p:cNvSpPr>
            <a:spLocks noGrp="1"/>
          </p:cNvSpPr>
          <p:nvPr>
            <p:ph type="title"/>
          </p:nvPr>
        </p:nvSpPr>
        <p:spPr/>
        <p:txBody>
          <a:bodyPr/>
          <a:lstStyle/>
          <a:p>
            <a:r>
              <a:rPr lang="vi-VN" dirty="0"/>
              <a:t>Khai Báo Và Khởi Tạo Đối Tượng</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D574037A-93EF-4864-BF54-8402C302A6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207" y="2167734"/>
            <a:ext cx="6348010" cy="3589331"/>
          </a:xfrm>
        </p:spPr>
      </p:pic>
      <p:pic>
        <p:nvPicPr>
          <p:cNvPr id="7" name="Picture 6" descr="A picture containing black, computer, laptop, white&#10;&#10;Description automatically generated">
            <a:extLst>
              <a:ext uri="{FF2B5EF4-FFF2-40B4-BE49-F238E27FC236}">
                <a16:creationId xmlns:a16="http://schemas.microsoft.com/office/drawing/2014/main" id="{42FC398C-EB82-4411-9731-AB0DA6F6F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0707" y="3207971"/>
            <a:ext cx="4458086" cy="1127858"/>
          </a:xfrm>
          <a:prstGeom prst="rect">
            <a:avLst/>
          </a:prstGeom>
        </p:spPr>
      </p:pic>
    </p:spTree>
    <p:extLst>
      <p:ext uri="{BB962C8B-B14F-4D97-AF65-F5344CB8AC3E}">
        <p14:creationId xmlns:p14="http://schemas.microsoft.com/office/powerpoint/2010/main" val="1990070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8BD0-5E2C-4C98-AD5C-E04372C2434E}"/>
              </a:ext>
            </a:extLst>
          </p:cNvPr>
          <p:cNvSpPr>
            <a:spLocks noGrp="1"/>
          </p:cNvSpPr>
          <p:nvPr>
            <p:ph type="title"/>
          </p:nvPr>
        </p:nvSpPr>
        <p:spPr>
          <a:xfrm>
            <a:off x="913795" y="609600"/>
            <a:ext cx="10353761" cy="1326321"/>
          </a:xfrm>
        </p:spPr>
        <p:txBody>
          <a:bodyPr/>
          <a:lstStyle/>
          <a:p>
            <a:r>
              <a:rPr lang="en-US"/>
              <a:t>Thuộc Tính Của Lớp</a:t>
            </a:r>
            <a:endParaRPr lang="en-US" dirty="0"/>
          </a:p>
        </p:txBody>
      </p:sp>
      <p:pic>
        <p:nvPicPr>
          <p:cNvPr id="1026" name="Picture 2">
            <a:extLst>
              <a:ext uri="{FF2B5EF4-FFF2-40B4-BE49-F238E27FC236}">
                <a16:creationId xmlns:a16="http://schemas.microsoft.com/office/drawing/2014/main" id="{023D6C99-1079-4E18-8750-5D70023D70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10619" y="2095500"/>
            <a:ext cx="5161236"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905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E0680-C5FE-4B4F-824B-B7C20AF4F2BE}"/>
              </a:ext>
            </a:extLst>
          </p:cNvPr>
          <p:cNvSpPr>
            <a:spLocks noGrp="1"/>
          </p:cNvSpPr>
          <p:nvPr>
            <p:ph type="title"/>
          </p:nvPr>
        </p:nvSpPr>
        <p:spPr/>
        <p:txBody>
          <a:bodyPr/>
          <a:lstStyle/>
          <a:p>
            <a:r>
              <a:rPr lang="en-US" dirty="0" err="1"/>
              <a:t>Thuộc</a:t>
            </a:r>
            <a:r>
              <a:rPr lang="en-US" dirty="0"/>
              <a:t> </a:t>
            </a:r>
            <a:r>
              <a:rPr lang="en-US" dirty="0" err="1"/>
              <a:t>Tính</a:t>
            </a:r>
            <a:r>
              <a:rPr lang="en-US" dirty="0"/>
              <a:t> </a:t>
            </a:r>
            <a:r>
              <a:rPr lang="en-US" dirty="0" err="1"/>
              <a:t>Của</a:t>
            </a:r>
            <a:r>
              <a:rPr lang="en-US" dirty="0"/>
              <a:t> </a:t>
            </a:r>
            <a:r>
              <a:rPr lang="en-US" dirty="0" err="1"/>
              <a:t>Lớp</a:t>
            </a:r>
            <a:endParaRPr lang="en-US" dirty="0"/>
          </a:p>
        </p:txBody>
      </p:sp>
      <p:sp>
        <p:nvSpPr>
          <p:cNvPr id="3" name="Content Placeholder 2">
            <a:extLst>
              <a:ext uri="{FF2B5EF4-FFF2-40B4-BE49-F238E27FC236}">
                <a16:creationId xmlns:a16="http://schemas.microsoft.com/office/drawing/2014/main" id="{4F6F7813-2654-4305-9B0A-4CD8CD564CC0}"/>
              </a:ext>
            </a:extLst>
          </p:cNvPr>
          <p:cNvSpPr>
            <a:spLocks noGrp="1"/>
          </p:cNvSpPr>
          <p:nvPr>
            <p:ph idx="1"/>
          </p:nvPr>
        </p:nvSpPr>
        <p:spPr/>
        <p:txBody>
          <a:bodyPr/>
          <a:lstStyle/>
          <a:p>
            <a:r>
              <a:rPr lang="vi-VN" dirty="0"/>
              <a:t>Thuộc tính, hay còn gọi là Field</a:t>
            </a:r>
            <a:r>
              <a:rPr lang="en-US" dirty="0"/>
              <a:t>. T</a:t>
            </a:r>
            <a:r>
              <a:rPr lang="vi-VN" dirty="0"/>
              <a:t>huộc tính chính là các giá trị của lớp. Sau này khi các đối tượng được tạo ra từ lớp, thì các thuộc tính của lớp lúc này sẽ trở thành các đặc điểm của đối tượng đó.</a:t>
            </a:r>
            <a:endParaRPr lang="en-US" dirty="0"/>
          </a:p>
          <a:p>
            <a:r>
              <a:rPr lang="en-US" dirty="0" err="1"/>
              <a:t>Để</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thuộc</a:t>
            </a:r>
            <a:r>
              <a:rPr lang="en-US" dirty="0"/>
              <a:t> </a:t>
            </a:r>
            <a:r>
              <a:rPr lang="en-US" dirty="0" err="1"/>
              <a:t>tính</a:t>
            </a:r>
            <a:r>
              <a:rPr lang="en-US" dirty="0"/>
              <a:t> </a:t>
            </a:r>
            <a:r>
              <a:rPr lang="en-US" dirty="0" err="1"/>
              <a:t>có</a:t>
            </a:r>
            <a:r>
              <a:rPr lang="en-US" dirty="0"/>
              <a:t> </a:t>
            </a:r>
            <a:r>
              <a:rPr lang="en-US" dirty="0" err="1"/>
              <a:t>cú</a:t>
            </a:r>
            <a:r>
              <a:rPr lang="en-US" dirty="0"/>
              <a:t> </a:t>
            </a:r>
            <a:r>
              <a:rPr lang="en-US" dirty="0" err="1"/>
              <a:t>pháp</a:t>
            </a:r>
            <a:r>
              <a:rPr lang="en-US" dirty="0"/>
              <a:t> </a:t>
            </a:r>
            <a:r>
              <a:rPr lang="en-US" dirty="0" err="1"/>
              <a:t>sau</a:t>
            </a:r>
            <a:r>
              <a:rPr lang="en-US" dirty="0"/>
              <a:t>:</a:t>
            </a:r>
          </a:p>
          <a:p>
            <a:pPr marL="0" indent="0">
              <a:buNone/>
            </a:pPr>
            <a:endParaRPr lang="en-US" dirty="0"/>
          </a:p>
        </p:txBody>
      </p:sp>
      <p:pic>
        <p:nvPicPr>
          <p:cNvPr id="5" name="Picture 4">
            <a:extLst>
              <a:ext uri="{FF2B5EF4-FFF2-40B4-BE49-F238E27FC236}">
                <a16:creationId xmlns:a16="http://schemas.microsoft.com/office/drawing/2014/main" id="{EA9E8D9A-18AC-4F29-AB40-61A8F9780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706" y="4425289"/>
            <a:ext cx="7412644" cy="822985"/>
          </a:xfrm>
          <a:prstGeom prst="rect">
            <a:avLst/>
          </a:prstGeom>
        </p:spPr>
      </p:pic>
    </p:spTree>
    <p:extLst>
      <p:ext uri="{BB962C8B-B14F-4D97-AF65-F5344CB8AC3E}">
        <p14:creationId xmlns:p14="http://schemas.microsoft.com/office/powerpoint/2010/main" val="3997798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9D68-E417-4AEE-9DDF-D81231BDEDC3}"/>
              </a:ext>
            </a:extLst>
          </p:cNvPr>
          <p:cNvSpPr>
            <a:spLocks noGrp="1"/>
          </p:cNvSpPr>
          <p:nvPr>
            <p:ph type="title"/>
          </p:nvPr>
        </p:nvSpPr>
        <p:spPr>
          <a:xfrm>
            <a:off x="913795" y="208940"/>
            <a:ext cx="10353761" cy="1326321"/>
          </a:xfrm>
        </p:spPr>
        <p:txBody>
          <a:bodyPr/>
          <a:lstStyle/>
          <a:p>
            <a:r>
              <a:rPr lang="en-US" dirty="0" err="1"/>
              <a:t>Thực</a:t>
            </a:r>
            <a:r>
              <a:rPr lang="en-US" dirty="0"/>
              <a:t> </a:t>
            </a:r>
            <a:r>
              <a:rPr lang="en-US" dirty="0" err="1"/>
              <a:t>Hành</a:t>
            </a:r>
            <a:r>
              <a:rPr lang="en-US" dirty="0"/>
              <a:t> </a:t>
            </a:r>
            <a:r>
              <a:rPr lang="en-US" dirty="0" err="1"/>
              <a:t>Tạo</a:t>
            </a:r>
            <a:r>
              <a:rPr lang="en-US" dirty="0"/>
              <a:t> </a:t>
            </a:r>
            <a:r>
              <a:rPr lang="en-US" dirty="0" err="1"/>
              <a:t>Các</a:t>
            </a:r>
            <a:r>
              <a:rPr lang="en-US" dirty="0"/>
              <a:t> </a:t>
            </a:r>
            <a:r>
              <a:rPr lang="en-US" dirty="0" err="1"/>
              <a:t>Thuộc</a:t>
            </a:r>
            <a:r>
              <a:rPr lang="en-US" dirty="0"/>
              <a:t> </a:t>
            </a:r>
            <a:r>
              <a:rPr lang="en-US" dirty="0" err="1"/>
              <a:t>Tính</a:t>
            </a:r>
            <a:endParaRPr lang="en-US" dirty="0"/>
          </a:p>
        </p:txBody>
      </p:sp>
      <p:sp>
        <p:nvSpPr>
          <p:cNvPr id="3" name="Content Placeholder 2">
            <a:extLst>
              <a:ext uri="{FF2B5EF4-FFF2-40B4-BE49-F238E27FC236}">
                <a16:creationId xmlns:a16="http://schemas.microsoft.com/office/drawing/2014/main" id="{42F71E66-407E-4D03-AB0B-082E128DBB9C}"/>
              </a:ext>
            </a:extLst>
          </p:cNvPr>
          <p:cNvSpPr>
            <a:spLocks noGrp="1"/>
          </p:cNvSpPr>
          <p:nvPr>
            <p:ph idx="1"/>
          </p:nvPr>
        </p:nvSpPr>
        <p:spPr>
          <a:xfrm>
            <a:off x="913795" y="1395694"/>
            <a:ext cx="10353762" cy="3695136"/>
          </a:xfrm>
        </p:spPr>
        <p:txBody>
          <a:bodyPr/>
          <a:lstStyle/>
          <a:p>
            <a:r>
              <a:rPr lang="en-US" dirty="0" err="1"/>
              <a:t>Tạo</a:t>
            </a:r>
            <a:r>
              <a:rPr lang="en-US" dirty="0"/>
              <a:t> </a:t>
            </a:r>
            <a:r>
              <a:rPr lang="vi-VN" dirty="0"/>
              <a:t>mới lớp HinhTron như ở bài thực hành trước. Tuy nhiên ở bài này hãy thực hành việc tạo một lớp tách biệt ra với lớp MainClass. Chi tiết lớp HinhTron này khi tạo xong sẽ như hình bên dưới đây (</a:t>
            </a:r>
            <a:r>
              <a:rPr lang="en-US" dirty="0" err="1"/>
              <a:t>Trong</a:t>
            </a:r>
            <a:r>
              <a:rPr lang="en-US" dirty="0"/>
              <a:t> </a:t>
            </a:r>
            <a:r>
              <a:rPr lang="vi-VN" dirty="0"/>
              <a:t>quá trình tạo lớp HinhTron, </a:t>
            </a:r>
            <a:r>
              <a:rPr lang="en-US" dirty="0" err="1"/>
              <a:t>không</a:t>
            </a:r>
            <a:r>
              <a:rPr lang="en-US" dirty="0"/>
              <a:t> </a:t>
            </a:r>
            <a:r>
              <a:rPr lang="vi-VN" dirty="0"/>
              <a:t>check vào public static void main(String[] args) như khi tạo với MainClass, vì không cần thêm một hàm main() nào khác). </a:t>
            </a:r>
            <a:endParaRPr lang="en-US" dirty="0"/>
          </a:p>
        </p:txBody>
      </p:sp>
      <p:pic>
        <p:nvPicPr>
          <p:cNvPr id="2052" name="Picture 4" descr="Screen Shot 2017-04-25 at 10.46.31">
            <a:extLst>
              <a:ext uri="{FF2B5EF4-FFF2-40B4-BE49-F238E27FC236}">
                <a16:creationId xmlns:a16="http://schemas.microsoft.com/office/drawing/2014/main" id="{D1096E10-A4C8-422C-B24F-2E3D4787E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7743" y="2722015"/>
            <a:ext cx="7510462" cy="4463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21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FB69-2B35-4F42-AAC8-C304DE1008F9}"/>
              </a:ext>
            </a:extLst>
          </p:cNvPr>
          <p:cNvSpPr>
            <a:spLocks noGrp="1"/>
          </p:cNvSpPr>
          <p:nvPr>
            <p:ph type="title"/>
          </p:nvPr>
        </p:nvSpPr>
        <p:spPr/>
        <p:txBody>
          <a:bodyPr/>
          <a:lstStyle/>
          <a:p>
            <a:r>
              <a:rPr lang="en-US" dirty="0" err="1"/>
              <a:t>Mối</a:t>
            </a:r>
            <a:r>
              <a:rPr lang="en-US" dirty="0"/>
              <a:t> </a:t>
            </a:r>
            <a:r>
              <a:rPr lang="en-US" dirty="0" err="1"/>
              <a:t>Liên</a:t>
            </a:r>
            <a:r>
              <a:rPr lang="en-US" dirty="0"/>
              <a:t> </a:t>
            </a:r>
            <a:r>
              <a:rPr lang="en-US" dirty="0" err="1"/>
              <a:t>Hệ</a:t>
            </a:r>
            <a:r>
              <a:rPr lang="en-US" dirty="0"/>
              <a:t> </a:t>
            </a:r>
            <a:r>
              <a:rPr lang="en-US" dirty="0" err="1"/>
              <a:t>Giữa</a:t>
            </a:r>
            <a:r>
              <a:rPr lang="en-US" dirty="0"/>
              <a:t> </a:t>
            </a:r>
            <a:r>
              <a:rPr lang="en-US" dirty="0" err="1"/>
              <a:t>Thuộc</a:t>
            </a:r>
            <a:r>
              <a:rPr lang="en-US" dirty="0"/>
              <a:t> </a:t>
            </a:r>
            <a:r>
              <a:rPr lang="en-US" dirty="0" err="1"/>
              <a:t>Tính</a:t>
            </a:r>
            <a:r>
              <a:rPr lang="en-US" dirty="0"/>
              <a:t> </a:t>
            </a:r>
            <a:r>
              <a:rPr lang="en-US" dirty="0" err="1"/>
              <a:t>Và</a:t>
            </a:r>
            <a:r>
              <a:rPr lang="en-US" dirty="0"/>
              <a:t> </a:t>
            </a:r>
            <a:r>
              <a:rPr lang="en-US" dirty="0" err="1"/>
              <a:t>Biến</a:t>
            </a:r>
            <a:endParaRPr lang="en-US" dirty="0"/>
          </a:p>
        </p:txBody>
      </p:sp>
      <p:sp>
        <p:nvSpPr>
          <p:cNvPr id="3" name="Content Placeholder 2">
            <a:extLst>
              <a:ext uri="{FF2B5EF4-FFF2-40B4-BE49-F238E27FC236}">
                <a16:creationId xmlns:a16="http://schemas.microsoft.com/office/drawing/2014/main" id="{65AEE94D-DD11-436D-AC6F-E0337A3609A9}"/>
              </a:ext>
            </a:extLst>
          </p:cNvPr>
          <p:cNvSpPr>
            <a:spLocks noGrp="1"/>
          </p:cNvSpPr>
          <p:nvPr>
            <p:ph idx="1"/>
          </p:nvPr>
        </p:nvSpPr>
        <p:spPr>
          <a:xfrm>
            <a:off x="913795" y="2096064"/>
            <a:ext cx="4820255" cy="3695136"/>
          </a:xfrm>
        </p:spPr>
        <p:txBody>
          <a:bodyPr/>
          <a:lstStyle/>
          <a:p>
            <a:r>
              <a:rPr lang="en-US" dirty="0" err="1"/>
              <a:t>Cách</a:t>
            </a:r>
            <a:r>
              <a:rPr lang="en-US" dirty="0"/>
              <a:t> </a:t>
            </a:r>
            <a:r>
              <a:rPr lang="en-US" dirty="0" err="1"/>
              <a:t>khai</a:t>
            </a:r>
            <a:r>
              <a:rPr lang="en-US" dirty="0"/>
              <a:t> </a:t>
            </a:r>
            <a:r>
              <a:rPr lang="en-US" dirty="0" err="1"/>
              <a:t>báo</a:t>
            </a:r>
            <a:r>
              <a:rPr lang="en-US" dirty="0"/>
              <a:t> </a:t>
            </a:r>
            <a:r>
              <a:rPr lang="en-US" dirty="0" err="1"/>
              <a:t>giống</a:t>
            </a:r>
            <a:r>
              <a:rPr lang="en-US" dirty="0"/>
              <a:t> </a:t>
            </a:r>
            <a:r>
              <a:rPr lang="en-US" dirty="0" err="1"/>
              <a:t>biến</a:t>
            </a:r>
            <a:endParaRPr lang="en-US" dirty="0"/>
          </a:p>
          <a:p>
            <a:r>
              <a:rPr lang="en-US" dirty="0" err="1"/>
              <a:t>Biến</a:t>
            </a:r>
            <a:r>
              <a:rPr lang="en-US" dirty="0"/>
              <a:t> </a:t>
            </a:r>
            <a:r>
              <a:rPr lang="en-US" dirty="0" err="1"/>
              <a:t>chỉ</a:t>
            </a:r>
            <a:r>
              <a:rPr lang="en-US" dirty="0"/>
              <a:t> đ</a:t>
            </a:r>
            <a:r>
              <a:rPr lang="vi-VN" dirty="0"/>
              <a:t>ư</a:t>
            </a:r>
            <a:r>
              <a:rPr lang="en-US" dirty="0" err="1"/>
              <a:t>ợc</a:t>
            </a:r>
            <a:r>
              <a:rPr lang="en-US" dirty="0"/>
              <a:t> </a:t>
            </a:r>
            <a:r>
              <a:rPr lang="en-US" dirty="0" err="1"/>
              <a:t>sử</a:t>
            </a:r>
            <a:r>
              <a:rPr lang="en-US" dirty="0"/>
              <a:t> </a:t>
            </a:r>
            <a:r>
              <a:rPr lang="en-US" dirty="0" err="1"/>
              <a:t>dụng</a:t>
            </a:r>
            <a:r>
              <a:rPr lang="en-US" dirty="0"/>
              <a:t> </a:t>
            </a:r>
            <a:r>
              <a:rPr lang="en-US" dirty="0" err="1"/>
              <a:t>cục</a:t>
            </a:r>
            <a:r>
              <a:rPr lang="en-US" dirty="0"/>
              <a:t> </a:t>
            </a:r>
            <a:r>
              <a:rPr lang="en-US" dirty="0" err="1"/>
              <a:t>bộ</a:t>
            </a:r>
            <a:r>
              <a:rPr lang="en-US" dirty="0"/>
              <a:t> </a:t>
            </a:r>
            <a:r>
              <a:rPr lang="en-US" dirty="0" err="1"/>
              <a:t>trong</a:t>
            </a:r>
            <a:r>
              <a:rPr lang="en-US" dirty="0"/>
              <a:t> </a:t>
            </a:r>
            <a:r>
              <a:rPr lang="en-US" dirty="0" err="1"/>
              <a:t>hàm</a:t>
            </a:r>
            <a:r>
              <a:rPr lang="en-US" dirty="0"/>
              <a:t> </a:t>
            </a:r>
            <a:r>
              <a:rPr lang="en-US" dirty="0" err="1"/>
              <a:t>còn</a:t>
            </a:r>
            <a:r>
              <a:rPr lang="en-US" dirty="0"/>
              <a:t> </a:t>
            </a:r>
            <a:r>
              <a:rPr lang="en-US" dirty="0" err="1"/>
              <a:t>thuộc</a:t>
            </a:r>
            <a:r>
              <a:rPr lang="en-US" dirty="0"/>
              <a:t> </a:t>
            </a:r>
            <a:r>
              <a:rPr lang="en-US" dirty="0" err="1"/>
              <a:t>tính</a:t>
            </a:r>
            <a:r>
              <a:rPr lang="en-US" dirty="0"/>
              <a:t> </a:t>
            </a:r>
            <a:r>
              <a:rPr lang="en-US" dirty="0" err="1"/>
              <a:t>sử</a:t>
            </a:r>
            <a:r>
              <a:rPr lang="en-US" dirty="0"/>
              <a:t> </a:t>
            </a:r>
            <a:r>
              <a:rPr lang="en-US" dirty="0" err="1"/>
              <a:t>dụng</a:t>
            </a:r>
            <a:r>
              <a:rPr lang="en-US" dirty="0"/>
              <a:t> </a:t>
            </a:r>
            <a:r>
              <a:rPr lang="en-US" dirty="0" err="1"/>
              <a:t>toàn</a:t>
            </a:r>
            <a:r>
              <a:rPr lang="en-US" dirty="0"/>
              <a:t> </a:t>
            </a:r>
            <a:r>
              <a:rPr lang="en-US" dirty="0" err="1"/>
              <a:t>cục</a:t>
            </a:r>
            <a:r>
              <a:rPr lang="en-US" dirty="0"/>
              <a:t> .</a:t>
            </a:r>
          </a:p>
          <a:p>
            <a:r>
              <a:rPr lang="en-US" dirty="0" err="1"/>
              <a:t>Chuyện</a:t>
            </a:r>
            <a:r>
              <a:rPr lang="en-US" dirty="0"/>
              <a:t> </a:t>
            </a:r>
            <a:r>
              <a:rPr lang="en-US" dirty="0" err="1"/>
              <a:t>xảy</a:t>
            </a:r>
            <a:r>
              <a:rPr lang="en-US" dirty="0"/>
              <a:t> ra </a:t>
            </a:r>
            <a:r>
              <a:rPr lang="en-US" dirty="0" err="1"/>
              <a:t>khi</a:t>
            </a:r>
            <a:r>
              <a:rPr lang="en-US" dirty="0"/>
              <a:t> </a:t>
            </a:r>
            <a:r>
              <a:rPr lang="en-US" dirty="0" err="1"/>
              <a:t>tên</a:t>
            </a:r>
            <a:r>
              <a:rPr lang="en-US" dirty="0"/>
              <a:t> </a:t>
            </a:r>
            <a:r>
              <a:rPr lang="en-US" dirty="0" err="1"/>
              <a:t>biến</a:t>
            </a:r>
            <a:r>
              <a:rPr lang="en-US" dirty="0"/>
              <a:t> </a:t>
            </a:r>
            <a:r>
              <a:rPr lang="en-US" dirty="0" err="1"/>
              <a:t>trùng</a:t>
            </a:r>
            <a:r>
              <a:rPr lang="en-US" dirty="0"/>
              <a:t> </a:t>
            </a:r>
            <a:r>
              <a:rPr lang="en-US" dirty="0" err="1"/>
              <a:t>với</a:t>
            </a:r>
            <a:r>
              <a:rPr lang="en-US" dirty="0"/>
              <a:t> </a:t>
            </a:r>
            <a:r>
              <a:rPr lang="en-US" dirty="0" err="1"/>
              <a:t>tên</a:t>
            </a:r>
            <a:r>
              <a:rPr lang="en-US" dirty="0"/>
              <a:t> </a:t>
            </a:r>
            <a:r>
              <a:rPr lang="en-US" dirty="0" err="1"/>
              <a:t>thuộc</a:t>
            </a:r>
            <a:r>
              <a:rPr lang="en-US" dirty="0"/>
              <a:t> </a:t>
            </a:r>
            <a:r>
              <a:rPr lang="en-US" dirty="0" err="1"/>
              <a:t>tính</a:t>
            </a:r>
            <a:endParaRPr lang="en-US" dirty="0"/>
          </a:p>
          <a:p>
            <a:pPr marL="0" indent="0">
              <a:buNone/>
            </a:pPr>
            <a:endParaRPr lang="en-US" dirty="0"/>
          </a:p>
        </p:txBody>
      </p:sp>
      <p:pic>
        <p:nvPicPr>
          <p:cNvPr id="5" name="Picture 4" descr="A picture containing screenshot&#10;&#10;Description automatically generated">
            <a:extLst>
              <a:ext uri="{FF2B5EF4-FFF2-40B4-BE49-F238E27FC236}">
                <a16:creationId xmlns:a16="http://schemas.microsoft.com/office/drawing/2014/main" id="{E67307CD-C9E6-43BD-BA29-B78542014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4025" y="2096064"/>
            <a:ext cx="5564819" cy="3918147"/>
          </a:xfrm>
          <a:prstGeom prst="rect">
            <a:avLst/>
          </a:prstGeom>
        </p:spPr>
      </p:pic>
    </p:spTree>
    <p:extLst>
      <p:ext uri="{BB962C8B-B14F-4D97-AF65-F5344CB8AC3E}">
        <p14:creationId xmlns:p14="http://schemas.microsoft.com/office/powerpoint/2010/main" val="2979913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FA64-91A4-4B84-ABEF-2EA58D2ACA50}"/>
              </a:ext>
            </a:extLst>
          </p:cNvPr>
          <p:cNvSpPr>
            <a:spLocks noGrp="1"/>
          </p:cNvSpPr>
          <p:nvPr>
            <p:ph type="title"/>
          </p:nvPr>
        </p:nvSpPr>
        <p:spPr/>
        <p:txBody>
          <a:bodyPr/>
          <a:lstStyle/>
          <a:p>
            <a:r>
              <a:rPr lang="en-US" dirty="0" err="1"/>
              <a:t>Truy</a:t>
            </a:r>
            <a:r>
              <a:rPr lang="en-US" dirty="0"/>
              <a:t> </a:t>
            </a:r>
            <a:r>
              <a:rPr lang="en-US" dirty="0" err="1"/>
              <a:t>Xuất</a:t>
            </a:r>
            <a:r>
              <a:rPr lang="en-US" dirty="0"/>
              <a:t> </a:t>
            </a:r>
            <a:r>
              <a:rPr lang="en-US" dirty="0" err="1"/>
              <a:t>Đến</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Lớp</a:t>
            </a:r>
            <a:r>
              <a:rPr lang="en-US" dirty="0"/>
              <a:t> </a:t>
            </a:r>
            <a:r>
              <a:rPr lang="en-US" dirty="0" err="1"/>
              <a:t>Từ</a:t>
            </a:r>
            <a:r>
              <a:rPr lang="en-US" dirty="0"/>
              <a:t> </a:t>
            </a:r>
            <a:r>
              <a:rPr lang="en-US" dirty="0" err="1"/>
              <a:t>Bên</a:t>
            </a:r>
            <a:r>
              <a:rPr lang="en-US" dirty="0"/>
              <a:t> </a:t>
            </a:r>
            <a:r>
              <a:rPr lang="en-US" dirty="0" err="1"/>
              <a:t>Ngoài</a:t>
            </a:r>
            <a:endParaRPr lang="en-US" dirty="0"/>
          </a:p>
        </p:txBody>
      </p:sp>
      <p:sp>
        <p:nvSpPr>
          <p:cNvPr id="6" name="Content Placeholder 5">
            <a:extLst>
              <a:ext uri="{FF2B5EF4-FFF2-40B4-BE49-F238E27FC236}">
                <a16:creationId xmlns:a16="http://schemas.microsoft.com/office/drawing/2014/main" id="{5DC8E050-4BE4-4DB8-BB35-6156AFE0FC0F}"/>
              </a:ext>
            </a:extLst>
          </p:cNvPr>
          <p:cNvSpPr>
            <a:spLocks noGrp="1"/>
          </p:cNvSpPr>
          <p:nvPr>
            <p:ph idx="1"/>
          </p:nvPr>
        </p:nvSpPr>
        <p:spPr/>
        <p:txBody>
          <a:bodyPr/>
          <a:lstStyle/>
          <a:p>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a:t>
            </a:r>
            <a:r>
              <a:rPr lang="en-US" dirty="0" err="1"/>
              <a:t>đến</a:t>
            </a:r>
            <a:r>
              <a:rPr lang="en-US" dirty="0"/>
              <a:t> </a:t>
            </a:r>
            <a:r>
              <a:rPr lang="en-US" dirty="0" err="1"/>
              <a:t>thuộc</a:t>
            </a:r>
            <a:r>
              <a:rPr lang="en-US" dirty="0"/>
              <a:t> </a:t>
            </a:r>
            <a:r>
              <a:rPr lang="en-US" dirty="0" err="1"/>
              <a:t>tính</a:t>
            </a:r>
            <a:r>
              <a:rPr lang="en-US" dirty="0"/>
              <a:t> </a:t>
            </a:r>
            <a:r>
              <a:rPr lang="en-US" dirty="0" err="1"/>
              <a:t>bên</a:t>
            </a:r>
            <a:r>
              <a:rPr lang="en-US" dirty="0"/>
              <a:t> </a:t>
            </a:r>
            <a:r>
              <a:rPr lang="en-US" dirty="0" err="1"/>
              <a:t>ngoài</a:t>
            </a:r>
            <a:r>
              <a:rPr lang="en-US" dirty="0"/>
              <a:t> </a:t>
            </a:r>
            <a:r>
              <a:rPr lang="en-US" dirty="0" err="1"/>
              <a:t>lớp</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a:t>
            </a:r>
            <a:r>
              <a:rPr lang="en-US" dirty="0" err="1"/>
              <a:t>lúc</a:t>
            </a:r>
            <a:r>
              <a:rPr lang="en-US" dirty="0"/>
              <a:t> </a:t>
            </a:r>
            <a:r>
              <a:rPr lang="en-US" dirty="0" err="1"/>
              <a:t>khai</a:t>
            </a:r>
            <a:r>
              <a:rPr lang="en-US" dirty="0"/>
              <a:t> </a:t>
            </a:r>
            <a:r>
              <a:rPr lang="en-US" dirty="0" err="1"/>
              <a:t>báo</a:t>
            </a:r>
            <a:r>
              <a:rPr lang="en-US" dirty="0"/>
              <a:t> </a:t>
            </a:r>
            <a:r>
              <a:rPr lang="en-US" dirty="0" err="1"/>
              <a:t>thuộc</a:t>
            </a:r>
            <a:r>
              <a:rPr lang="en-US" dirty="0"/>
              <a:t> </a:t>
            </a:r>
            <a:r>
              <a:rPr lang="en-US" dirty="0" err="1"/>
              <a:t>tính</a:t>
            </a:r>
            <a:endParaRPr lang="en-US" dirty="0"/>
          </a:p>
        </p:txBody>
      </p:sp>
      <p:pic>
        <p:nvPicPr>
          <p:cNvPr id="7" name="Content Placeholder 4" descr="A screenshot of a cell phone&#10;&#10;Description automatically generated">
            <a:extLst>
              <a:ext uri="{FF2B5EF4-FFF2-40B4-BE49-F238E27FC236}">
                <a16:creationId xmlns:a16="http://schemas.microsoft.com/office/drawing/2014/main" id="{598B6243-B879-4B0A-9B3C-1AAD9AB22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633" y="3086007"/>
            <a:ext cx="5342083" cy="2133785"/>
          </a:xfrm>
          <a:prstGeom prst="rect">
            <a:avLst/>
          </a:prstGeom>
        </p:spPr>
      </p:pic>
    </p:spTree>
    <p:extLst>
      <p:ext uri="{BB962C8B-B14F-4D97-AF65-F5344CB8AC3E}">
        <p14:creationId xmlns:p14="http://schemas.microsoft.com/office/powerpoint/2010/main" val="1911820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7AF8-D0F3-4DA3-9814-4D9381322FD6}"/>
              </a:ext>
            </a:extLst>
          </p:cNvPr>
          <p:cNvSpPr>
            <a:spLocks noGrp="1"/>
          </p:cNvSpPr>
          <p:nvPr>
            <p:ph type="title"/>
          </p:nvPr>
        </p:nvSpPr>
        <p:spPr/>
        <p:txBody>
          <a:bodyPr/>
          <a:lstStyle/>
          <a:p>
            <a:r>
              <a:rPr lang="vi-VN" dirty="0"/>
              <a:t>Phương Thức Của Lớp</a:t>
            </a:r>
            <a:endParaRPr lang="en-US" dirty="0"/>
          </a:p>
        </p:txBody>
      </p:sp>
      <p:sp>
        <p:nvSpPr>
          <p:cNvPr id="3" name="Content Placeholder 2">
            <a:extLst>
              <a:ext uri="{FF2B5EF4-FFF2-40B4-BE49-F238E27FC236}">
                <a16:creationId xmlns:a16="http://schemas.microsoft.com/office/drawing/2014/main" id="{2872B756-8E8A-41F9-8437-EF9405D22681}"/>
              </a:ext>
            </a:extLst>
          </p:cNvPr>
          <p:cNvSpPr>
            <a:spLocks noGrp="1"/>
          </p:cNvSpPr>
          <p:nvPr>
            <p:ph idx="1"/>
          </p:nvPr>
        </p:nvSpPr>
        <p:spPr/>
        <p:txBody>
          <a:bodyPr/>
          <a:lstStyle/>
          <a:p>
            <a:r>
              <a:rPr lang="vi-VN" dirty="0">
                <a:effectLst/>
                <a:hlinkClick r:id="rId2">
                  <a:extLst>
                    <a:ext uri="{A12FA001-AC4F-418D-AE19-62706E023703}">
                      <ahyp:hlinkClr xmlns:ahyp="http://schemas.microsoft.com/office/drawing/2018/hyperlinkcolor" val="tx"/>
                    </a:ext>
                  </a:extLst>
                </a:hlinkClick>
              </a:rPr>
              <a:t>Phương Thức Của Lớp</a:t>
            </a:r>
            <a:endParaRPr lang="vi-VN" dirty="0">
              <a:effectLst/>
            </a:endParaRPr>
          </a:p>
          <a:p>
            <a:pPr lvl="1"/>
            <a:r>
              <a:rPr lang="vi-VN" dirty="0">
                <a:effectLst/>
                <a:hlinkClick r:id="rId3">
                  <a:extLst>
                    <a:ext uri="{A12FA001-AC4F-418D-AE19-62706E023703}">
                      <ahyp:hlinkClr xmlns:ahyp="http://schemas.microsoft.com/office/drawing/2018/hyperlinkcolor" val="tx"/>
                    </a:ext>
                  </a:extLst>
                </a:hlinkClick>
              </a:rPr>
              <a:t>Thực Hành Tạo Các Phương Thức</a:t>
            </a:r>
            <a:endParaRPr lang="vi-VN" dirty="0">
              <a:effectLst/>
            </a:endParaRPr>
          </a:p>
          <a:p>
            <a:r>
              <a:rPr lang="vi-VN" dirty="0">
                <a:effectLst/>
                <a:hlinkClick r:id="rId4">
                  <a:extLst>
                    <a:ext uri="{A12FA001-AC4F-418D-AE19-62706E023703}">
                      <ahyp:hlinkClr xmlns:ahyp="http://schemas.microsoft.com/office/drawing/2018/hyperlinkcolor" val="tx"/>
                    </a:ext>
                  </a:extLst>
                </a:hlinkClick>
              </a:rPr>
              <a:t>Kiểu Trả Về Của Phương Thức</a:t>
            </a:r>
            <a:endParaRPr lang="vi-VN" dirty="0">
              <a:effectLst/>
            </a:endParaRPr>
          </a:p>
          <a:p>
            <a:pPr lvl="1"/>
            <a:r>
              <a:rPr lang="vi-VN" dirty="0">
                <a:effectLst/>
                <a:hlinkClick r:id="rId5">
                  <a:extLst>
                    <a:ext uri="{A12FA001-AC4F-418D-AE19-62706E023703}">
                      <ahyp:hlinkClr xmlns:ahyp="http://schemas.microsoft.com/office/drawing/2018/hyperlinkcolor" val="tx"/>
                    </a:ext>
                  </a:extLst>
                </a:hlinkClick>
              </a:rPr>
              <a:t>Ví Dụ Kiểu Trả Về Là Một Kiểu Nguyên Thủy</a:t>
            </a:r>
            <a:endParaRPr lang="vi-VN" dirty="0">
              <a:effectLst/>
            </a:endParaRPr>
          </a:p>
          <a:p>
            <a:pPr lvl="1"/>
            <a:r>
              <a:rPr lang="vi-VN" dirty="0">
                <a:effectLst/>
                <a:hlinkClick r:id="rId6">
                  <a:extLst>
                    <a:ext uri="{A12FA001-AC4F-418D-AE19-62706E023703}">
                      <ahyp:hlinkClr xmlns:ahyp="http://schemas.microsoft.com/office/drawing/2018/hyperlinkcolor" val="tx"/>
                    </a:ext>
                  </a:extLst>
                </a:hlinkClick>
              </a:rPr>
              <a:t>Ví Dụ Kiểu Trả Về Là Một Đối Tượng</a:t>
            </a:r>
            <a:endParaRPr lang="vi-VN" dirty="0">
              <a:effectLst/>
            </a:endParaRPr>
          </a:p>
          <a:p>
            <a:pPr lvl="1"/>
            <a:r>
              <a:rPr lang="vi-VN" dirty="0">
                <a:effectLst/>
                <a:hlinkClick r:id="rId7">
                  <a:extLst>
                    <a:ext uri="{A12FA001-AC4F-418D-AE19-62706E023703}">
                      <ahyp:hlinkClr xmlns:ahyp="http://schemas.microsoft.com/office/drawing/2018/hyperlinkcolor" val="tx"/>
                    </a:ext>
                  </a:extLst>
                </a:hlinkClick>
              </a:rPr>
              <a:t>Ví Dụ Kiểu Trả Về Là void</a:t>
            </a:r>
            <a:endParaRPr lang="vi-VN" dirty="0">
              <a:effectLst/>
            </a:endParaRPr>
          </a:p>
          <a:p>
            <a:r>
              <a:rPr lang="vi-VN" dirty="0">
                <a:effectLst/>
                <a:hlinkClick r:id="rId8">
                  <a:extLst>
                    <a:ext uri="{A12FA001-AC4F-418D-AE19-62706E023703}">
                      <ahyp:hlinkClr xmlns:ahyp="http://schemas.microsoft.com/office/drawing/2018/hyperlinkcolor" val="tx"/>
                    </a:ext>
                  </a:extLst>
                </a:hlinkClick>
              </a:rPr>
              <a:t>Các Tham Số Truyền Vào Của Phương Thức</a:t>
            </a:r>
            <a:endParaRPr lang="vi-VN" dirty="0">
              <a:effectLst/>
            </a:endParaRPr>
          </a:p>
          <a:p>
            <a:r>
              <a:rPr lang="vi-VN" dirty="0">
                <a:effectLst/>
                <a:hlinkClick r:id="rId9">
                  <a:extLst>
                    <a:ext uri="{A12FA001-AC4F-418D-AE19-62706E023703}">
                      <ahyp:hlinkClr xmlns:ahyp="http://schemas.microsoft.com/office/drawing/2018/hyperlinkcolor" val="tx"/>
                    </a:ext>
                  </a:extLst>
                </a:hlinkClick>
              </a:rPr>
              <a:t>Truy Xuất Đến Phương Thức Của Lớp Từ Bên Ngoài</a:t>
            </a:r>
            <a:endParaRPr lang="vi-VN" dirty="0">
              <a:effectLst/>
            </a:endParaRPr>
          </a:p>
          <a:p>
            <a:endParaRPr lang="en-US" dirty="0"/>
          </a:p>
        </p:txBody>
      </p:sp>
    </p:spTree>
    <p:extLst>
      <p:ext uri="{BB962C8B-B14F-4D97-AF65-F5344CB8AC3E}">
        <p14:creationId xmlns:p14="http://schemas.microsoft.com/office/powerpoint/2010/main" val="1691872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AD755-7969-4BCF-90A1-7B16294AE75E}"/>
              </a:ext>
            </a:extLst>
          </p:cNvPr>
          <p:cNvSpPr>
            <a:spLocks noGrp="1"/>
          </p:cNvSpPr>
          <p:nvPr>
            <p:ph type="title"/>
          </p:nvPr>
        </p:nvSpPr>
        <p:spPr/>
        <p:txBody>
          <a:bodyPr/>
          <a:lstStyle/>
          <a:p>
            <a:r>
              <a:rPr lang="en-US" dirty="0"/>
              <a:t>Ph</a:t>
            </a:r>
            <a:r>
              <a:rPr lang="vi-VN" dirty="0"/>
              <a:t>ư</a:t>
            </a:r>
            <a:r>
              <a:rPr lang="en-US" dirty="0" err="1"/>
              <a:t>ơng</a:t>
            </a:r>
            <a:r>
              <a:rPr lang="en-US" dirty="0"/>
              <a:t> </a:t>
            </a:r>
            <a:r>
              <a:rPr lang="en-US" dirty="0" err="1"/>
              <a:t>thức</a:t>
            </a:r>
            <a:r>
              <a:rPr lang="en-US" dirty="0"/>
              <a:t> </a:t>
            </a:r>
            <a:r>
              <a:rPr lang="en-US" dirty="0" err="1"/>
              <a:t>của</a:t>
            </a:r>
            <a:r>
              <a:rPr lang="en-US" dirty="0"/>
              <a:t> </a:t>
            </a:r>
            <a:r>
              <a:rPr lang="en-US" dirty="0" err="1"/>
              <a:t>lớp</a:t>
            </a:r>
            <a:endParaRPr lang="en-US" dirty="0"/>
          </a:p>
        </p:txBody>
      </p:sp>
      <p:sp>
        <p:nvSpPr>
          <p:cNvPr id="3" name="Content Placeholder 2">
            <a:extLst>
              <a:ext uri="{FF2B5EF4-FFF2-40B4-BE49-F238E27FC236}">
                <a16:creationId xmlns:a16="http://schemas.microsoft.com/office/drawing/2014/main" id="{A5F5863A-56E3-4E37-AFF5-FBEA526AD5A8}"/>
              </a:ext>
            </a:extLst>
          </p:cNvPr>
          <p:cNvSpPr>
            <a:spLocks noGrp="1"/>
          </p:cNvSpPr>
          <p:nvPr>
            <p:ph idx="1"/>
          </p:nvPr>
        </p:nvSpPr>
        <p:spPr/>
        <p:txBody>
          <a:bodyPr/>
          <a:lstStyle/>
          <a:p>
            <a:r>
              <a:rPr lang="vi-VN" dirty="0"/>
              <a:t>Phương thức, hay còn gọi là Method. Một số ngôn ngữ lập trình khác gọi là Hàm, nhưng trong bài học Java này </a:t>
            </a:r>
            <a:r>
              <a:rPr lang="en-US" dirty="0" err="1"/>
              <a:t>sẽ</a:t>
            </a:r>
            <a:r>
              <a:rPr lang="en-US" dirty="0"/>
              <a:t> </a:t>
            </a:r>
            <a:r>
              <a:rPr lang="en-US" dirty="0" err="1"/>
              <a:t>sử</a:t>
            </a:r>
            <a:r>
              <a:rPr lang="en-US" dirty="0"/>
              <a:t> </a:t>
            </a:r>
            <a:r>
              <a:rPr lang="en-US" dirty="0" err="1"/>
              <a:t>dụng</a:t>
            </a:r>
            <a:r>
              <a:rPr lang="en-US" dirty="0"/>
              <a:t> </a:t>
            </a:r>
            <a:r>
              <a:rPr lang="en-US" dirty="0" err="1"/>
              <a:t>thuật</a:t>
            </a:r>
            <a:r>
              <a:rPr lang="en-US" dirty="0"/>
              <a:t> </a:t>
            </a:r>
            <a:r>
              <a:rPr lang="en-US" dirty="0" err="1"/>
              <a:t>ngữ</a:t>
            </a:r>
            <a:r>
              <a:rPr lang="en-US" dirty="0"/>
              <a:t> </a:t>
            </a:r>
            <a:r>
              <a:rPr lang="vi-VN" dirty="0"/>
              <a:t>Phương thức nhiều hơn. Các phương thức này là các hành động của một lớp. Sau này khi các đối tượng được tạo ra từ lớp, thì các hành động này cũng chính là các hành động hay các hành vi của đối tượng đó.</a:t>
            </a:r>
            <a:endParaRPr lang="en-US" dirty="0"/>
          </a:p>
          <a:p>
            <a:r>
              <a:rPr lang="vi-VN" dirty="0"/>
              <a:t>Cú pháp của một phương thức như sau.</a:t>
            </a:r>
            <a:endParaRPr lang="en-US" dirty="0"/>
          </a:p>
        </p:txBody>
      </p:sp>
      <p:pic>
        <p:nvPicPr>
          <p:cNvPr id="5" name="Picture 4" descr="A screenshot of a cell phone&#10;&#10;Description automatically generated">
            <a:extLst>
              <a:ext uri="{FF2B5EF4-FFF2-40B4-BE49-F238E27FC236}">
                <a16:creationId xmlns:a16="http://schemas.microsoft.com/office/drawing/2014/main" id="{C86E716F-18B3-4ABD-B731-FAE5A2C56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0839" y="4593782"/>
            <a:ext cx="5326842" cy="990686"/>
          </a:xfrm>
          <a:prstGeom prst="rect">
            <a:avLst/>
          </a:prstGeom>
        </p:spPr>
      </p:pic>
    </p:spTree>
    <p:extLst>
      <p:ext uri="{BB962C8B-B14F-4D97-AF65-F5344CB8AC3E}">
        <p14:creationId xmlns:p14="http://schemas.microsoft.com/office/powerpoint/2010/main" val="1314066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E85B-FE8D-439E-92C8-FBA9761371CC}"/>
              </a:ext>
            </a:extLst>
          </p:cNvPr>
          <p:cNvSpPr>
            <a:spLocks noGrp="1"/>
          </p:cNvSpPr>
          <p:nvPr>
            <p:ph type="title"/>
          </p:nvPr>
        </p:nvSpPr>
        <p:spPr>
          <a:xfrm>
            <a:off x="919118" y="139083"/>
            <a:ext cx="10353761" cy="1326321"/>
          </a:xfrm>
        </p:spPr>
        <p:txBody>
          <a:bodyPr/>
          <a:lstStyle/>
          <a:p>
            <a:r>
              <a:rPr lang="en-US" dirty="0" err="1"/>
              <a:t>Ví</a:t>
            </a:r>
            <a:r>
              <a:rPr lang="en-US" dirty="0"/>
              <a:t> </a:t>
            </a:r>
            <a:r>
              <a:rPr lang="en-US" dirty="0" err="1"/>
              <a:t>dụ</a:t>
            </a:r>
            <a:r>
              <a:rPr lang="en-US" dirty="0"/>
              <a:t> </a:t>
            </a:r>
            <a:r>
              <a:rPr lang="en-US" dirty="0" err="1"/>
              <a:t>ph</a:t>
            </a:r>
            <a:r>
              <a:rPr lang="vi-VN" dirty="0"/>
              <a:t>ư</a:t>
            </a:r>
            <a:r>
              <a:rPr lang="en-US" dirty="0" err="1"/>
              <a:t>ơng</a:t>
            </a:r>
            <a:r>
              <a:rPr lang="en-US" dirty="0"/>
              <a:t> </a:t>
            </a:r>
            <a:r>
              <a:rPr lang="en-US" dirty="0" err="1"/>
              <a:t>thức</a:t>
            </a:r>
            <a:r>
              <a:rPr lang="en-US" dirty="0"/>
              <a:t> </a:t>
            </a:r>
            <a:r>
              <a:rPr lang="en-US" dirty="0" err="1"/>
              <a:t>của</a:t>
            </a:r>
            <a:r>
              <a:rPr lang="en-US" dirty="0"/>
              <a:t> </a:t>
            </a:r>
            <a:r>
              <a:rPr lang="en-US" dirty="0" err="1"/>
              <a:t>lớp</a:t>
            </a:r>
            <a:endParaRPr lang="en-US" dirty="0"/>
          </a:p>
        </p:txBody>
      </p:sp>
      <p:pic>
        <p:nvPicPr>
          <p:cNvPr id="4098" name="Picture 2" descr="Screen Shot 2017-05-04 at 14.00.58">
            <a:extLst>
              <a:ext uri="{FF2B5EF4-FFF2-40B4-BE49-F238E27FC236}">
                <a16:creationId xmlns:a16="http://schemas.microsoft.com/office/drawing/2014/main" id="{027C6AEF-A89D-458E-8BA4-8C6D5EE59C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765" y="1119572"/>
            <a:ext cx="7368465" cy="6029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030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3FF0-5902-4B13-97B9-272D1D057667}"/>
              </a:ext>
            </a:extLst>
          </p:cNvPr>
          <p:cNvSpPr>
            <a:spLocks noGrp="1"/>
          </p:cNvSpPr>
          <p:nvPr>
            <p:ph type="title"/>
          </p:nvPr>
        </p:nvSpPr>
        <p:spPr/>
        <p:txBody>
          <a:bodyPr/>
          <a:lstStyle/>
          <a:p>
            <a:r>
              <a:rPr lang="vi-VN" dirty="0"/>
              <a:t>Kiểu Trả Về Của Phương Thức</a:t>
            </a:r>
            <a:endParaRPr lang="en-US" dirty="0"/>
          </a:p>
        </p:txBody>
      </p:sp>
      <p:sp>
        <p:nvSpPr>
          <p:cNvPr id="3" name="Content Placeholder 2">
            <a:extLst>
              <a:ext uri="{FF2B5EF4-FFF2-40B4-BE49-F238E27FC236}">
                <a16:creationId xmlns:a16="http://schemas.microsoft.com/office/drawing/2014/main" id="{EF4AED99-C944-417F-88D1-01CF14FC2535}"/>
              </a:ext>
            </a:extLst>
          </p:cNvPr>
          <p:cNvSpPr>
            <a:spLocks noGrp="1"/>
          </p:cNvSpPr>
          <p:nvPr>
            <p:ph idx="1"/>
          </p:nvPr>
        </p:nvSpPr>
        <p:spPr/>
        <p:txBody>
          <a:bodyPr/>
          <a:lstStyle/>
          <a:p>
            <a:r>
              <a:rPr lang="en-US" dirty="0" err="1"/>
              <a:t>Bắt</a:t>
            </a:r>
            <a:r>
              <a:rPr lang="vi-VN" dirty="0"/>
              <a:t> buộc phải chỉ định một kiểu trả về nào đó với phương thức được khai báo. Kiểu trả về thường là kết quả cuối cùng mà phương thức đó thực hiện, nó có thể là một kiểu dữ liệu nguyên thủy, nó có thể là một giá trị boolean, nó có thể là một mảng, hoặc thậm chí nó có thể là một đối tượng. </a:t>
            </a:r>
            <a:endParaRPr lang="en-US" dirty="0"/>
          </a:p>
          <a:p>
            <a:r>
              <a:rPr lang="vi-VN" dirty="0"/>
              <a:t>Mục đích của việc trả về này, là giúp cho các đối tượng nào đó bên ngoài lớp, hoặc các phương thức khác bên trong lớp, có thể nhận được kết quả đó để thực hiện một mục đích nào đó</a:t>
            </a:r>
            <a:endParaRPr lang="en-US" dirty="0"/>
          </a:p>
        </p:txBody>
      </p:sp>
    </p:spTree>
    <p:extLst>
      <p:ext uri="{BB962C8B-B14F-4D97-AF65-F5344CB8AC3E}">
        <p14:creationId xmlns:p14="http://schemas.microsoft.com/office/powerpoint/2010/main" val="4272776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DA36-9BDF-4D69-A0CC-E6D7B517319B}"/>
              </a:ext>
            </a:extLst>
          </p:cNvPr>
          <p:cNvSpPr>
            <a:spLocks noGrp="1"/>
          </p:cNvSpPr>
          <p:nvPr>
            <p:ph type="title"/>
          </p:nvPr>
        </p:nvSpPr>
        <p:spPr>
          <a:xfrm>
            <a:off x="851651" y="147962"/>
            <a:ext cx="10353761" cy="997258"/>
          </a:xfrm>
        </p:spPr>
        <p:txBody>
          <a:bodyPr>
            <a:normAutofit/>
          </a:bodyPr>
          <a:lstStyle/>
          <a:p>
            <a:r>
              <a:rPr lang="en-US" sz="3000" dirty="0" err="1"/>
              <a:t>Ví</a:t>
            </a:r>
            <a:r>
              <a:rPr lang="en-US" sz="3000" dirty="0"/>
              <a:t> </a:t>
            </a:r>
            <a:r>
              <a:rPr lang="en-US" sz="3000" dirty="0" err="1"/>
              <a:t>dụ</a:t>
            </a:r>
            <a:r>
              <a:rPr lang="en-US" sz="3000" dirty="0"/>
              <a:t> </a:t>
            </a:r>
            <a:r>
              <a:rPr lang="en-US" sz="3000" dirty="0" err="1"/>
              <a:t>kiểu</a:t>
            </a:r>
            <a:r>
              <a:rPr lang="en-US" sz="3000" dirty="0"/>
              <a:t> </a:t>
            </a:r>
            <a:r>
              <a:rPr lang="en-US" sz="3000" dirty="0" err="1"/>
              <a:t>dữ</a:t>
            </a:r>
            <a:r>
              <a:rPr lang="en-US" sz="3000" dirty="0"/>
              <a:t> </a:t>
            </a:r>
            <a:r>
              <a:rPr lang="en-US" sz="3000" dirty="0" err="1"/>
              <a:t>liệu</a:t>
            </a:r>
            <a:r>
              <a:rPr lang="en-US" sz="3000" dirty="0"/>
              <a:t> </a:t>
            </a:r>
            <a:r>
              <a:rPr lang="en-US" sz="3000" dirty="0" err="1"/>
              <a:t>trả</a:t>
            </a:r>
            <a:r>
              <a:rPr lang="en-US" sz="3000" dirty="0"/>
              <a:t> </a:t>
            </a:r>
            <a:r>
              <a:rPr lang="en-US" sz="3000" dirty="0" err="1"/>
              <a:t>về</a:t>
            </a:r>
            <a:r>
              <a:rPr lang="en-US" sz="3000" dirty="0"/>
              <a:t> </a:t>
            </a:r>
            <a:r>
              <a:rPr lang="en-US" sz="3000" dirty="0" err="1"/>
              <a:t>của</a:t>
            </a:r>
            <a:r>
              <a:rPr lang="en-US" sz="3000" dirty="0"/>
              <a:t> </a:t>
            </a:r>
            <a:r>
              <a:rPr lang="en-US" sz="3000" dirty="0" err="1"/>
              <a:t>ph</a:t>
            </a:r>
            <a:r>
              <a:rPr lang="vi-VN" sz="3000" dirty="0"/>
              <a:t>ư</a:t>
            </a:r>
            <a:r>
              <a:rPr lang="en-US" sz="3000" dirty="0" err="1"/>
              <a:t>ơng</a:t>
            </a:r>
            <a:r>
              <a:rPr lang="en-US" sz="3000" dirty="0"/>
              <a:t> </a:t>
            </a:r>
            <a:r>
              <a:rPr lang="en-US" sz="3000" dirty="0" err="1"/>
              <a:t>thức</a:t>
            </a:r>
            <a:endParaRPr lang="en-US" sz="3000" dirty="0"/>
          </a:p>
        </p:txBody>
      </p:sp>
      <p:pic>
        <p:nvPicPr>
          <p:cNvPr id="5" name="Content Placeholder 4" descr="A screenshot of a social media post&#10;&#10;Description automatically generated">
            <a:extLst>
              <a:ext uri="{FF2B5EF4-FFF2-40B4-BE49-F238E27FC236}">
                <a16:creationId xmlns:a16="http://schemas.microsoft.com/office/drawing/2014/main" id="{1CC2D1ED-7FDB-4368-A2A0-F9A346A9B5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204" y="899603"/>
            <a:ext cx="6476868" cy="5810435"/>
          </a:xfrm>
        </p:spPr>
      </p:pic>
      <p:pic>
        <p:nvPicPr>
          <p:cNvPr id="7" name="Picture 6" descr="A screenshot of a cell phone&#10;&#10;Description automatically generated">
            <a:extLst>
              <a:ext uri="{FF2B5EF4-FFF2-40B4-BE49-F238E27FC236}">
                <a16:creationId xmlns:a16="http://schemas.microsoft.com/office/drawing/2014/main" id="{8E225BB0-58BF-443F-B0C2-0B34B43EA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5605" y="2455474"/>
            <a:ext cx="5098168" cy="2944310"/>
          </a:xfrm>
          <a:prstGeom prst="rect">
            <a:avLst/>
          </a:prstGeom>
        </p:spPr>
      </p:pic>
    </p:spTree>
    <p:extLst>
      <p:ext uri="{BB962C8B-B14F-4D97-AF65-F5344CB8AC3E}">
        <p14:creationId xmlns:p14="http://schemas.microsoft.com/office/powerpoint/2010/main" val="3571439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48E8-993D-4CDB-84AD-48D5EC24C854}"/>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Kiểu</a:t>
            </a:r>
            <a:r>
              <a:rPr lang="en-US" dirty="0"/>
              <a:t> </a:t>
            </a:r>
            <a:r>
              <a:rPr lang="en-US" dirty="0" err="1"/>
              <a:t>Trả</a:t>
            </a:r>
            <a:r>
              <a:rPr lang="en-US" dirty="0"/>
              <a:t> </a:t>
            </a:r>
            <a:r>
              <a:rPr lang="en-US" dirty="0" err="1"/>
              <a:t>Về</a:t>
            </a:r>
            <a:r>
              <a:rPr lang="en-US" dirty="0"/>
              <a:t> </a:t>
            </a:r>
            <a:r>
              <a:rPr lang="en-US" dirty="0" err="1"/>
              <a:t>Là</a:t>
            </a:r>
            <a:r>
              <a:rPr lang="en-US" dirty="0"/>
              <a:t> void</a:t>
            </a:r>
          </a:p>
        </p:txBody>
      </p:sp>
      <p:sp>
        <p:nvSpPr>
          <p:cNvPr id="3" name="Content Placeholder 2">
            <a:extLst>
              <a:ext uri="{FF2B5EF4-FFF2-40B4-BE49-F238E27FC236}">
                <a16:creationId xmlns:a16="http://schemas.microsoft.com/office/drawing/2014/main" id="{5FC71CD5-6C50-4EE5-AB29-9B8771686738}"/>
              </a:ext>
            </a:extLst>
          </p:cNvPr>
          <p:cNvSpPr>
            <a:spLocks noGrp="1"/>
          </p:cNvSpPr>
          <p:nvPr>
            <p:ph idx="1"/>
          </p:nvPr>
        </p:nvSpPr>
        <p:spPr/>
        <p:txBody>
          <a:bodyPr/>
          <a:lstStyle/>
          <a:p>
            <a:r>
              <a:rPr lang="vi-VN" dirty="0"/>
              <a:t>Vậy để giải quyết vấn đề không cần kiểu trả về, Java (hay C/C++ cũng thế) đã định nghĩa cho chúng ta một kiểu dữ liệu void. Kiểu dữ liệu này thực chất là kiểu rỗng, nó không là gì cả, nó không chứa bất kỳ dữ liệu nào. </a:t>
            </a:r>
            <a:endParaRPr lang="en-US" dirty="0"/>
          </a:p>
          <a:p>
            <a:r>
              <a:rPr lang="vi-VN" dirty="0"/>
              <a:t>Do đó chúng ta cứ hiểu rằng nếu một phương thức có kiểu_trả_về là void, thì có nghĩa là nó không có kiểu trả về. Và vì là một phương thức không có kiểu trả về, nên cũng không cần câu lệnh return bên trong phương thức này.</a:t>
            </a:r>
            <a:endParaRPr lang="en-US" dirty="0"/>
          </a:p>
        </p:txBody>
      </p:sp>
    </p:spTree>
    <p:extLst>
      <p:ext uri="{BB962C8B-B14F-4D97-AF65-F5344CB8AC3E}">
        <p14:creationId xmlns:p14="http://schemas.microsoft.com/office/powerpoint/2010/main" val="1248257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0F940-B318-48A9-9BC4-E31AACB6B313}"/>
              </a:ext>
            </a:extLst>
          </p:cNvPr>
          <p:cNvSpPr>
            <a:spLocks noGrp="1"/>
          </p:cNvSpPr>
          <p:nvPr>
            <p:ph type="title"/>
          </p:nvPr>
        </p:nvSpPr>
        <p:spPr>
          <a:xfrm>
            <a:off x="919119" y="51786"/>
            <a:ext cx="10353761" cy="880369"/>
          </a:xfrm>
        </p:spPr>
        <p:txBody>
          <a:bodyPr>
            <a:normAutofit/>
          </a:bodyPr>
          <a:lstStyle/>
          <a:p>
            <a:r>
              <a:rPr lang="vi-VN" sz="3200" dirty="0"/>
              <a:t>Các Tham Số Truyền Vào Của Phương Thứ</a:t>
            </a:r>
            <a:r>
              <a:rPr lang="en-US" sz="3200" dirty="0"/>
              <a:t>c</a:t>
            </a:r>
          </a:p>
        </p:txBody>
      </p:sp>
      <p:pic>
        <p:nvPicPr>
          <p:cNvPr id="5" name="Content Placeholder 4" descr="A screenshot of a social media post&#10;&#10;Description automatically generated">
            <a:extLst>
              <a:ext uri="{FF2B5EF4-FFF2-40B4-BE49-F238E27FC236}">
                <a16:creationId xmlns:a16="http://schemas.microsoft.com/office/drawing/2014/main" id="{85FB3FF2-8209-43AF-99C2-760370BB4E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8638" y="870011"/>
            <a:ext cx="5619333" cy="5788241"/>
          </a:xfrm>
        </p:spPr>
      </p:pic>
    </p:spTree>
    <p:extLst>
      <p:ext uri="{BB962C8B-B14F-4D97-AF65-F5344CB8AC3E}">
        <p14:creationId xmlns:p14="http://schemas.microsoft.com/office/powerpoint/2010/main" val="1791818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7EBB-B0B1-4571-9C4C-417860255E3D}"/>
              </a:ext>
            </a:extLst>
          </p:cNvPr>
          <p:cNvSpPr>
            <a:spLocks noGrp="1"/>
          </p:cNvSpPr>
          <p:nvPr>
            <p:ph type="title"/>
          </p:nvPr>
        </p:nvSpPr>
        <p:spPr/>
        <p:txBody>
          <a:bodyPr/>
          <a:lstStyle/>
          <a:p>
            <a:r>
              <a:rPr lang="vi-VN" dirty="0"/>
              <a:t>Truy Xuất Đến Phương Thức Của Lớp Từ Bên Ngoài</a:t>
            </a:r>
            <a:endParaRPr lang="en-US" dirty="0"/>
          </a:p>
        </p:txBody>
      </p:sp>
      <p:sp>
        <p:nvSpPr>
          <p:cNvPr id="3" name="Content Placeholder 2">
            <a:extLst>
              <a:ext uri="{FF2B5EF4-FFF2-40B4-BE49-F238E27FC236}">
                <a16:creationId xmlns:a16="http://schemas.microsoft.com/office/drawing/2014/main" id="{9C4EBFC1-2756-4289-82E9-3F5433492A2B}"/>
              </a:ext>
            </a:extLst>
          </p:cNvPr>
          <p:cNvSpPr>
            <a:spLocks noGrp="1"/>
          </p:cNvSpPr>
          <p:nvPr>
            <p:ph idx="1"/>
          </p:nvPr>
        </p:nvSpPr>
        <p:spPr/>
        <p:txBody>
          <a:bodyPr/>
          <a:lstStyle/>
          <a:p>
            <a:r>
              <a:rPr lang="vi-VN" dirty="0"/>
              <a:t>Cũng tương tự như bên thuộc tính. Đó là:</a:t>
            </a:r>
          </a:p>
          <a:p>
            <a:pPr marL="0" indent="0">
              <a:buNone/>
            </a:pPr>
            <a:r>
              <a:rPr lang="en-US" dirty="0"/>
              <a:t>	</a:t>
            </a:r>
            <a:r>
              <a:rPr lang="vi-VN" dirty="0"/>
              <a:t>– Khi bạn ở đâu đó bên ngoài một lớp, và muốn truy xuất đến các phương thức của lớp đó, bạn vẫn sẽ sử dụng toán tử “.”.</a:t>
            </a:r>
          </a:p>
          <a:p>
            <a:pPr marL="0" indent="0">
              <a:buNone/>
            </a:pPr>
            <a:r>
              <a:rPr lang="en-US" dirty="0"/>
              <a:t>	</a:t>
            </a:r>
            <a:r>
              <a:rPr lang="vi-VN" dirty="0"/>
              <a:t>– Tuy nhiên không phải lúc nào một lớp cũng cho phép bạn truy xuất đến các phương thức của nó đâu. Nó tùy thuộc vào khả_năng_truy_cập</a:t>
            </a:r>
            <a:endParaRPr lang="en-US" dirty="0"/>
          </a:p>
        </p:txBody>
      </p:sp>
    </p:spTree>
    <p:extLst>
      <p:ext uri="{BB962C8B-B14F-4D97-AF65-F5344CB8AC3E}">
        <p14:creationId xmlns:p14="http://schemas.microsoft.com/office/powerpoint/2010/main" val="1163319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7F25-EFB8-4713-97DE-6A18BBE72520}"/>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vi-VN" dirty="0"/>
              <a:t>Truy Xuất Đến Phương Thức Của Lớp Từ Bên Ngoài</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9555E6E4-1ECE-464E-BD76-2EC9644A05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63935" y="1935921"/>
            <a:ext cx="6453480" cy="4318289"/>
          </a:xfrm>
        </p:spPr>
      </p:pic>
    </p:spTree>
    <p:extLst>
      <p:ext uri="{BB962C8B-B14F-4D97-AF65-F5344CB8AC3E}">
        <p14:creationId xmlns:p14="http://schemas.microsoft.com/office/powerpoint/2010/main" val="2718082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Lớp</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solidFill>
                  <a:srgbClr val="FF0000"/>
                </a:solidFill>
                <a:latin typeface="Times New Roman" panose="02020603050405020304" pitchFamily="18" charset="0"/>
                <a:cs typeface="Times New Roman" panose="02020603050405020304" pitchFamily="18" charset="0"/>
              </a:rPr>
              <a:t>Package</a:t>
            </a: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latin typeface="Times New Roman" panose="02020603050405020304" pitchFamily="18" charset="0"/>
                <a:cs typeface="Times New Roman" panose="02020603050405020304" pitchFamily="18" charset="0"/>
              </a:rPr>
              <a:t>Tính</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Phủ</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Quyết</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Overriding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Trong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Kế</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Lớp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2477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542D-9FE9-400E-9853-9133B3A8BEFD}"/>
              </a:ext>
            </a:extLst>
          </p:cNvPr>
          <p:cNvSpPr>
            <a:spLocks noGrp="1"/>
          </p:cNvSpPr>
          <p:nvPr>
            <p:ph type="title"/>
          </p:nvPr>
        </p:nvSpPr>
        <p:spPr/>
        <p:txBody>
          <a:bodyPr/>
          <a:lstStyle/>
          <a:p>
            <a:r>
              <a:rPr lang="en-US" dirty="0"/>
              <a:t>3. Package</a:t>
            </a:r>
          </a:p>
        </p:txBody>
      </p:sp>
      <p:sp>
        <p:nvSpPr>
          <p:cNvPr id="3" name="Content Placeholder 2">
            <a:extLst>
              <a:ext uri="{FF2B5EF4-FFF2-40B4-BE49-F238E27FC236}">
                <a16:creationId xmlns:a16="http://schemas.microsoft.com/office/drawing/2014/main" id="{A7EB3DAD-1274-493A-821F-66D5AB495189}"/>
              </a:ext>
            </a:extLst>
          </p:cNvPr>
          <p:cNvSpPr>
            <a:spLocks noGrp="1"/>
          </p:cNvSpPr>
          <p:nvPr>
            <p:ph idx="1"/>
          </p:nvPr>
        </p:nvSpPr>
        <p:spPr>
          <a:xfrm>
            <a:off x="913795" y="2096063"/>
            <a:ext cx="10353762" cy="4384635"/>
          </a:xfrm>
        </p:spPr>
        <p:txBody>
          <a:bodyPr>
            <a:normAutofit/>
          </a:bodyPr>
          <a:lstStyle/>
          <a:p>
            <a:r>
              <a:rPr lang="vi-VN" dirty="0">
                <a:effectLst/>
                <a:hlinkClick r:id="rId2">
                  <a:extLst>
                    <a:ext uri="{A12FA001-AC4F-418D-AE19-62706E023703}">
                      <ahyp:hlinkClr xmlns:ahyp="http://schemas.microsoft.com/office/drawing/2018/hyperlinkcolor" val="tx"/>
                    </a:ext>
                  </a:extLst>
                </a:hlinkClick>
              </a:rPr>
              <a:t>Package</a:t>
            </a:r>
            <a:endParaRPr lang="vi-VN" dirty="0">
              <a:effectLst/>
            </a:endParaRPr>
          </a:p>
          <a:p>
            <a:r>
              <a:rPr lang="vi-VN" dirty="0">
                <a:effectLst/>
                <a:hlinkClick r:id="rId3">
                  <a:extLst>
                    <a:ext uri="{A12FA001-AC4F-418D-AE19-62706E023703}">
                      <ahyp:hlinkClr xmlns:ahyp="http://schemas.microsoft.com/office/drawing/2018/hyperlinkcolor" val="tx"/>
                    </a:ext>
                  </a:extLst>
                </a:hlinkClick>
              </a:rPr>
              <a:t>Package Và Việc Tổ Chức Source Code Theo Thư Mục</a:t>
            </a:r>
            <a:endParaRPr lang="vi-VN" dirty="0">
              <a:effectLst/>
            </a:endParaRPr>
          </a:p>
          <a:p>
            <a:r>
              <a:rPr lang="vi-VN" dirty="0">
                <a:effectLst/>
                <a:hlinkClick r:id="rId4">
                  <a:extLst>
                    <a:ext uri="{A12FA001-AC4F-418D-AE19-62706E023703}">
                      <ahyp:hlinkClr xmlns:ahyp="http://schemas.microsoft.com/office/drawing/2018/hyperlinkcolor" val="tx"/>
                    </a:ext>
                  </a:extLst>
                </a:hlinkClick>
              </a:rPr>
              <a:t>Tạo Package Với Eclipse</a:t>
            </a:r>
            <a:endParaRPr lang="vi-VN" dirty="0">
              <a:effectLst/>
            </a:endParaRPr>
          </a:p>
          <a:p>
            <a:pPr lvl="1"/>
            <a:r>
              <a:rPr lang="vi-VN" dirty="0">
                <a:effectLst/>
                <a:hlinkClick r:id="rId5">
                  <a:extLst>
                    <a:ext uri="{A12FA001-AC4F-418D-AE19-62706E023703}">
                      <ahyp:hlinkClr xmlns:ahyp="http://schemas.microsoft.com/office/drawing/2018/hyperlinkcolor" val="tx"/>
                    </a:ext>
                  </a:extLst>
                </a:hlinkClick>
              </a:rPr>
              <a:t>Thực Hành Tạo Mới Project Với Package</a:t>
            </a:r>
            <a:endParaRPr lang="vi-VN" dirty="0">
              <a:effectLst/>
            </a:endParaRPr>
          </a:p>
          <a:p>
            <a:pPr lvl="2"/>
            <a:r>
              <a:rPr lang="vi-VN" dirty="0">
                <a:effectLst/>
                <a:hlinkClick r:id="rId6">
                  <a:extLst>
                    <a:ext uri="{A12FA001-AC4F-418D-AE19-62706E023703}">
                      <ahyp:hlinkClr xmlns:ahyp="http://schemas.microsoft.com/office/drawing/2018/hyperlinkcolor" val="tx"/>
                    </a:ext>
                  </a:extLst>
                </a:hlinkClick>
              </a:rPr>
              <a:t>Đóng Project OOPLearning Lại</a:t>
            </a:r>
            <a:endParaRPr lang="vi-VN" dirty="0">
              <a:effectLst/>
            </a:endParaRPr>
          </a:p>
          <a:p>
            <a:pPr lvl="2"/>
            <a:r>
              <a:rPr lang="vi-VN" dirty="0">
                <a:effectLst/>
                <a:hlinkClick r:id="rId7">
                  <a:extLst>
                    <a:ext uri="{A12FA001-AC4F-418D-AE19-62706E023703}">
                      <ahyp:hlinkClr xmlns:ahyp="http://schemas.microsoft.com/office/drawing/2018/hyperlinkcolor" val="tx"/>
                    </a:ext>
                  </a:extLst>
                </a:hlinkClick>
              </a:rPr>
              <a:t>Tạo Mới Project PackageLearning</a:t>
            </a:r>
            <a:endParaRPr lang="vi-VN" dirty="0">
              <a:effectLst/>
            </a:endParaRPr>
          </a:p>
          <a:p>
            <a:pPr lvl="2"/>
            <a:r>
              <a:rPr lang="vi-VN" dirty="0">
                <a:effectLst/>
                <a:hlinkClick r:id="rId8">
                  <a:extLst>
                    <a:ext uri="{A12FA001-AC4F-418D-AE19-62706E023703}">
                      <ahyp:hlinkClr xmlns:ahyp="http://schemas.microsoft.com/office/drawing/2018/hyperlinkcolor" val="tx"/>
                    </a:ext>
                  </a:extLst>
                </a:hlinkClick>
              </a:rPr>
              <a:t>Tạo MainClass.java Nằm Trong Package main</a:t>
            </a:r>
            <a:endParaRPr lang="vi-VN" dirty="0">
              <a:effectLst/>
            </a:endParaRPr>
          </a:p>
          <a:p>
            <a:pPr lvl="2"/>
            <a:r>
              <a:rPr lang="vi-VN" dirty="0">
                <a:effectLst/>
                <a:hlinkClick r:id="rId9">
                  <a:extLst>
                    <a:ext uri="{A12FA001-AC4F-418D-AE19-62706E023703}">
                      <ahyp:hlinkClr xmlns:ahyp="http://schemas.microsoft.com/office/drawing/2018/hyperlinkcolor" val="tx"/>
                    </a:ext>
                  </a:extLst>
                </a:hlinkClick>
              </a:rPr>
              <a:t>Tạo Một Package Mới Với Tên shapes</a:t>
            </a:r>
            <a:endParaRPr lang="vi-VN" dirty="0">
              <a:effectLst/>
            </a:endParaRPr>
          </a:p>
          <a:p>
            <a:pPr lvl="2"/>
            <a:r>
              <a:rPr lang="vi-VN" dirty="0">
                <a:effectLst/>
                <a:hlinkClick r:id="rId10">
                  <a:extLst>
                    <a:ext uri="{A12FA001-AC4F-418D-AE19-62706E023703}">
                      <ahyp:hlinkClr xmlns:ahyp="http://schemas.microsoft.com/office/drawing/2018/hyperlinkcolor" val="tx"/>
                    </a:ext>
                  </a:extLst>
                </a:hlinkClick>
              </a:rPr>
              <a:t>Tạo Các Lớp Hình Học Bên Trong Package shapes</a:t>
            </a:r>
            <a:endParaRPr lang="vi-VN" dirty="0">
              <a:effectLst/>
            </a:endParaRPr>
          </a:p>
          <a:p>
            <a:pPr lvl="2"/>
            <a:r>
              <a:rPr lang="vi-VN" dirty="0">
                <a:effectLst/>
                <a:hlinkClick r:id="rId11">
                  <a:extLst>
                    <a:ext uri="{A12FA001-AC4F-418D-AE19-62706E023703}">
                      <ahyp:hlinkClr xmlns:ahyp="http://schemas.microsoft.com/office/drawing/2018/hyperlinkcolor" val="tx"/>
                    </a:ext>
                  </a:extLst>
                </a:hlinkClick>
              </a:rPr>
              <a:t>Sử Dụng Các Lớp HinhTron Và HinhChuNhat Từ MainClass</a:t>
            </a:r>
            <a:endParaRPr lang="vi-VN" dirty="0">
              <a:effectLst/>
            </a:endParaRPr>
          </a:p>
          <a:p>
            <a:endParaRPr lang="en-US" dirty="0"/>
          </a:p>
        </p:txBody>
      </p:sp>
    </p:spTree>
    <p:extLst>
      <p:ext uri="{BB962C8B-B14F-4D97-AF65-F5344CB8AC3E}">
        <p14:creationId xmlns:p14="http://schemas.microsoft.com/office/powerpoint/2010/main" val="2431634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F43A-1EAE-4F77-89DC-1670A3241ABE}"/>
              </a:ext>
            </a:extLst>
          </p:cNvPr>
          <p:cNvSpPr>
            <a:spLocks noGrp="1"/>
          </p:cNvSpPr>
          <p:nvPr>
            <p:ph type="title"/>
          </p:nvPr>
        </p:nvSpPr>
        <p:spPr/>
        <p:txBody>
          <a:bodyPr/>
          <a:lstStyle/>
          <a:p>
            <a:r>
              <a:rPr lang="en-US" dirty="0"/>
              <a:t>Package</a:t>
            </a:r>
          </a:p>
        </p:txBody>
      </p:sp>
      <p:sp>
        <p:nvSpPr>
          <p:cNvPr id="3" name="Content Placeholder 2">
            <a:extLst>
              <a:ext uri="{FF2B5EF4-FFF2-40B4-BE49-F238E27FC236}">
                <a16:creationId xmlns:a16="http://schemas.microsoft.com/office/drawing/2014/main" id="{FA52D479-BF78-40E9-B313-B2F24AB4DF22}"/>
              </a:ext>
            </a:extLst>
          </p:cNvPr>
          <p:cNvSpPr>
            <a:spLocks noGrp="1"/>
          </p:cNvSpPr>
          <p:nvPr>
            <p:ph idx="1"/>
          </p:nvPr>
        </p:nvSpPr>
        <p:spPr/>
        <p:txBody>
          <a:bodyPr>
            <a:normAutofit/>
          </a:bodyPr>
          <a:lstStyle/>
          <a:p>
            <a:r>
              <a:rPr lang="en-US" dirty="0"/>
              <a:t>Package</a:t>
            </a:r>
            <a:r>
              <a:rPr lang="vi-VN" dirty="0"/>
              <a:t> có thể nói công dụng này là gom các Java class đã tạo ra làm thành các nhóm. Mỗi nhóm như vậy bao gồm các class có chung một công năng nào đó. Mục đích chính là giúp tổ chức nên những kiến trúc rõ ràng hơn cho source code của ứng dụng.</a:t>
            </a:r>
          </a:p>
          <a:p>
            <a:r>
              <a:rPr lang="en-US" dirty="0"/>
              <a:t>Package</a:t>
            </a:r>
            <a:r>
              <a:rPr lang="vi-VN" dirty="0"/>
              <a:t> Có thể hiểu rằng đây là công dụng đóng gói. Nó giúp xuất bản các thư viện đến cho người dùng theo dạng các gói</a:t>
            </a:r>
            <a:r>
              <a:rPr lang="en-US" dirty="0"/>
              <a:t>.</a:t>
            </a:r>
            <a:r>
              <a:rPr lang="vi-VN" dirty="0"/>
              <a:t> </a:t>
            </a:r>
            <a:r>
              <a:rPr lang="en-US" dirty="0" err="1"/>
              <a:t>Ví</a:t>
            </a:r>
            <a:r>
              <a:rPr lang="en-US" dirty="0"/>
              <a:t> </a:t>
            </a:r>
            <a:r>
              <a:rPr lang="en-US" dirty="0" err="1"/>
              <a:t>dụ</a:t>
            </a:r>
            <a:r>
              <a:rPr lang="vi-VN" dirty="0"/>
              <a:t> khi dùng đến lớp Scanner để đọc dữ liệu nhập vào từ console, nhưng nếu không có dòng import java.util.Scanner ở trên cùng của file class thì sẽ không thể nào dùng được Scanner. </a:t>
            </a:r>
            <a:r>
              <a:rPr lang="en-US" dirty="0" err="1"/>
              <a:t>Lúc</a:t>
            </a:r>
            <a:r>
              <a:rPr lang="en-US" dirty="0"/>
              <a:t> </a:t>
            </a:r>
            <a:r>
              <a:rPr lang="en-US" dirty="0" err="1"/>
              <a:t>đó</a:t>
            </a:r>
            <a:r>
              <a:rPr lang="en-US" dirty="0"/>
              <a:t> </a:t>
            </a:r>
            <a:r>
              <a:rPr lang="vi-VN" dirty="0"/>
              <a:t>java.util chính là package, package này đã giúp gói lớp Scanner vào</a:t>
            </a:r>
            <a:r>
              <a:rPr lang="en-US" dirty="0"/>
              <a:t>.</a:t>
            </a:r>
          </a:p>
        </p:txBody>
      </p:sp>
    </p:spTree>
    <p:extLst>
      <p:ext uri="{BB962C8B-B14F-4D97-AF65-F5344CB8AC3E}">
        <p14:creationId xmlns:p14="http://schemas.microsoft.com/office/powerpoint/2010/main" val="742835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F0291-598D-46F8-B134-7AFFB9308EA7}"/>
              </a:ext>
            </a:extLst>
          </p:cNvPr>
          <p:cNvSpPr>
            <a:spLocks noGrp="1"/>
          </p:cNvSpPr>
          <p:nvPr>
            <p:ph type="title"/>
          </p:nvPr>
        </p:nvSpPr>
        <p:spPr/>
        <p:txBody>
          <a:bodyPr/>
          <a:lstStyle/>
          <a:p>
            <a:r>
              <a:rPr lang="en-US" dirty="0" err="1"/>
              <a:t>Tạo</a:t>
            </a:r>
            <a:r>
              <a:rPr lang="en-US" dirty="0"/>
              <a:t> Package </a:t>
            </a:r>
            <a:r>
              <a:rPr lang="en-US" dirty="0" err="1"/>
              <a:t>Với</a:t>
            </a:r>
            <a:r>
              <a:rPr lang="en-US" dirty="0"/>
              <a:t> Eclipse</a:t>
            </a:r>
          </a:p>
        </p:txBody>
      </p:sp>
      <p:sp>
        <p:nvSpPr>
          <p:cNvPr id="3" name="Content Placeholder 2">
            <a:extLst>
              <a:ext uri="{FF2B5EF4-FFF2-40B4-BE49-F238E27FC236}">
                <a16:creationId xmlns:a16="http://schemas.microsoft.com/office/drawing/2014/main" id="{EC84B8A4-B28D-40D3-9FD4-B2D58AEA8978}"/>
              </a:ext>
            </a:extLst>
          </p:cNvPr>
          <p:cNvSpPr>
            <a:spLocks noGrp="1"/>
          </p:cNvSpPr>
          <p:nvPr>
            <p:ph idx="1"/>
          </p:nvPr>
        </p:nvSpPr>
        <p:spPr/>
        <p:txBody>
          <a:bodyPr/>
          <a:lstStyle/>
          <a:p>
            <a:r>
              <a:rPr lang="en-US" dirty="0" err="1"/>
              <a:t>Tạo</a:t>
            </a:r>
            <a:r>
              <a:rPr lang="en-US" dirty="0"/>
              <a:t> </a:t>
            </a:r>
            <a:r>
              <a:rPr lang="en-US" dirty="0" err="1"/>
              <a:t>Mới</a:t>
            </a:r>
            <a:r>
              <a:rPr lang="en-US" dirty="0"/>
              <a:t> Project </a:t>
            </a:r>
            <a:r>
              <a:rPr lang="en-US" dirty="0" err="1"/>
              <a:t>PackageLearning</a:t>
            </a:r>
            <a:endParaRPr lang="en-US" dirty="0"/>
          </a:p>
          <a:p>
            <a:endParaRPr lang="en-US" dirty="0"/>
          </a:p>
          <a:p>
            <a:endParaRPr lang="en-US" dirty="0"/>
          </a:p>
          <a:p>
            <a:endParaRPr lang="en-US" dirty="0"/>
          </a:p>
          <a:p>
            <a:r>
              <a:rPr lang="en-US" dirty="0" err="1"/>
              <a:t>Tạo</a:t>
            </a:r>
            <a:r>
              <a:rPr lang="en-US" dirty="0"/>
              <a:t> MainClass.java </a:t>
            </a:r>
            <a:r>
              <a:rPr lang="en-US" dirty="0" err="1"/>
              <a:t>Nằm</a:t>
            </a:r>
            <a:r>
              <a:rPr lang="en-US" dirty="0"/>
              <a:t> </a:t>
            </a:r>
            <a:r>
              <a:rPr lang="en-US" dirty="0" err="1"/>
              <a:t>Trong</a:t>
            </a:r>
            <a:r>
              <a:rPr lang="en-US" dirty="0"/>
              <a:t> Package main</a:t>
            </a:r>
          </a:p>
        </p:txBody>
      </p:sp>
      <p:pic>
        <p:nvPicPr>
          <p:cNvPr id="5124" name="Picture 4" descr="Screen Shot 2017-05-22 at 11.16.15">
            <a:extLst>
              <a:ext uri="{FF2B5EF4-FFF2-40B4-BE49-F238E27FC236}">
                <a16:creationId xmlns:a16="http://schemas.microsoft.com/office/drawing/2014/main" id="{0EF9191E-C49D-4864-994F-4294AA445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5" y="2686050"/>
            <a:ext cx="2857500" cy="14859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creen Shot 2017-05-22 at 18.23.15">
            <a:extLst>
              <a:ext uri="{FF2B5EF4-FFF2-40B4-BE49-F238E27FC236}">
                <a16:creationId xmlns:a16="http://schemas.microsoft.com/office/drawing/2014/main" id="{BFD3C139-D029-4DF8-A891-ED342E40D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4213" y="1272760"/>
            <a:ext cx="5229225" cy="610552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Screen Shot 2017-05-22 at 18.27.47">
            <a:extLst>
              <a:ext uri="{FF2B5EF4-FFF2-40B4-BE49-F238E27FC236}">
                <a16:creationId xmlns:a16="http://schemas.microsoft.com/office/drawing/2014/main" id="{6A54497E-1F42-4911-846A-C312354E6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4761936"/>
            <a:ext cx="2867025"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288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8FE3E-1276-4EDB-9D92-7DB8AF13716A}"/>
              </a:ext>
            </a:extLst>
          </p:cNvPr>
          <p:cNvSpPr>
            <a:spLocks noGrp="1"/>
          </p:cNvSpPr>
          <p:nvPr>
            <p:ph type="title"/>
          </p:nvPr>
        </p:nvSpPr>
        <p:spPr/>
        <p:txBody>
          <a:bodyPr/>
          <a:lstStyle/>
          <a:p>
            <a:r>
              <a:rPr lang="en-US" dirty="0" err="1"/>
              <a:t>Tạo</a:t>
            </a:r>
            <a:r>
              <a:rPr lang="en-US" dirty="0"/>
              <a:t> Package </a:t>
            </a:r>
            <a:r>
              <a:rPr lang="en-US" dirty="0" err="1"/>
              <a:t>Với</a:t>
            </a:r>
            <a:r>
              <a:rPr lang="en-US" dirty="0"/>
              <a:t> Eclipse</a:t>
            </a:r>
          </a:p>
        </p:txBody>
      </p:sp>
      <p:sp>
        <p:nvSpPr>
          <p:cNvPr id="3" name="Content Placeholder 2">
            <a:extLst>
              <a:ext uri="{FF2B5EF4-FFF2-40B4-BE49-F238E27FC236}">
                <a16:creationId xmlns:a16="http://schemas.microsoft.com/office/drawing/2014/main" id="{CFD577CF-8ABF-4063-B2E0-E1967BC9956C}"/>
              </a:ext>
            </a:extLst>
          </p:cNvPr>
          <p:cNvSpPr>
            <a:spLocks noGrp="1"/>
          </p:cNvSpPr>
          <p:nvPr>
            <p:ph idx="1"/>
          </p:nvPr>
        </p:nvSpPr>
        <p:spPr/>
        <p:txBody>
          <a:bodyPr/>
          <a:lstStyle/>
          <a:p>
            <a:r>
              <a:rPr lang="en-US" dirty="0" err="1"/>
              <a:t>Tạo</a:t>
            </a:r>
            <a:r>
              <a:rPr lang="en-US" dirty="0"/>
              <a:t> </a:t>
            </a:r>
            <a:r>
              <a:rPr lang="en-US" dirty="0" err="1"/>
              <a:t>Một</a:t>
            </a:r>
            <a:r>
              <a:rPr lang="en-US" dirty="0"/>
              <a:t> Package </a:t>
            </a:r>
            <a:r>
              <a:rPr lang="en-US" dirty="0" err="1"/>
              <a:t>Mới</a:t>
            </a:r>
            <a:r>
              <a:rPr lang="en-US" dirty="0"/>
              <a:t> </a:t>
            </a:r>
            <a:r>
              <a:rPr lang="en-US" dirty="0" err="1"/>
              <a:t>Với</a:t>
            </a:r>
            <a:r>
              <a:rPr lang="en-US" dirty="0"/>
              <a:t> </a:t>
            </a:r>
            <a:r>
              <a:rPr lang="en-US" dirty="0" err="1"/>
              <a:t>Tên</a:t>
            </a:r>
            <a:r>
              <a:rPr lang="en-US" dirty="0"/>
              <a:t> shapes</a:t>
            </a:r>
          </a:p>
        </p:txBody>
      </p:sp>
      <p:pic>
        <p:nvPicPr>
          <p:cNvPr id="6146" name="Picture 2" descr="Screen Shot 2017-05-22 at 19.04.40">
            <a:extLst>
              <a:ext uri="{FF2B5EF4-FFF2-40B4-BE49-F238E27FC236}">
                <a16:creationId xmlns:a16="http://schemas.microsoft.com/office/drawing/2014/main" id="{9A6A1649-B4F3-4B95-9358-CB0EF0E0EA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1163" y="2096064"/>
            <a:ext cx="6357937" cy="435443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creen Shot 2017-05-22 at 19.08.31">
            <a:extLst>
              <a:ext uri="{FF2B5EF4-FFF2-40B4-BE49-F238E27FC236}">
                <a16:creationId xmlns:a16="http://schemas.microsoft.com/office/drawing/2014/main" id="{B669ED4D-B2D8-4218-8388-C9F5984D1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 y="2407480"/>
            <a:ext cx="5229225"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904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5EC3-7B7D-45CE-82D8-0883183E6DD7}"/>
              </a:ext>
            </a:extLst>
          </p:cNvPr>
          <p:cNvSpPr>
            <a:spLocks noGrp="1"/>
          </p:cNvSpPr>
          <p:nvPr>
            <p:ph type="title"/>
          </p:nvPr>
        </p:nvSpPr>
        <p:spPr/>
        <p:txBody>
          <a:bodyPr/>
          <a:lstStyle/>
          <a:p>
            <a:r>
              <a:rPr lang="en-US" dirty="0" err="1"/>
              <a:t>Tạo</a:t>
            </a:r>
            <a:r>
              <a:rPr lang="en-US" dirty="0"/>
              <a:t> Package </a:t>
            </a:r>
            <a:r>
              <a:rPr lang="en-US" dirty="0" err="1"/>
              <a:t>Với</a:t>
            </a:r>
            <a:r>
              <a:rPr lang="en-US" dirty="0"/>
              <a:t> Eclipse</a:t>
            </a:r>
          </a:p>
        </p:txBody>
      </p:sp>
      <p:sp>
        <p:nvSpPr>
          <p:cNvPr id="3" name="Content Placeholder 2">
            <a:extLst>
              <a:ext uri="{FF2B5EF4-FFF2-40B4-BE49-F238E27FC236}">
                <a16:creationId xmlns:a16="http://schemas.microsoft.com/office/drawing/2014/main" id="{7BBDE931-30B2-444E-89CF-A0F2E3EABA74}"/>
              </a:ext>
            </a:extLst>
          </p:cNvPr>
          <p:cNvSpPr>
            <a:spLocks noGrp="1"/>
          </p:cNvSpPr>
          <p:nvPr>
            <p:ph idx="1"/>
          </p:nvPr>
        </p:nvSpPr>
        <p:spPr>
          <a:xfrm>
            <a:off x="913795" y="1715064"/>
            <a:ext cx="10353762" cy="3695136"/>
          </a:xfrm>
        </p:spPr>
        <p:txBody>
          <a:bodyPr/>
          <a:lstStyle/>
          <a:p>
            <a:r>
              <a:rPr lang="en-US" dirty="0" err="1"/>
              <a:t>Chú</a:t>
            </a:r>
            <a:r>
              <a:rPr lang="en-US" dirty="0"/>
              <a:t> ý: </a:t>
            </a:r>
            <a:r>
              <a:rPr lang="vi-VN" dirty="0"/>
              <a:t>nếu muốn tạo package là con của một package khác, thì ở mục Name này gõ theo kiểu package_cha.package_con, trong đó package_cha</a:t>
            </a:r>
            <a:r>
              <a:rPr lang="en-US" dirty="0"/>
              <a:t> </a:t>
            </a:r>
            <a:r>
              <a:rPr lang="vi-VN" dirty="0"/>
              <a:t>đã tồn tại, là được.</a:t>
            </a:r>
            <a:endParaRPr lang="en-US" dirty="0"/>
          </a:p>
        </p:txBody>
      </p:sp>
      <p:pic>
        <p:nvPicPr>
          <p:cNvPr id="7170" name="Picture 2" descr="Screen Shot 2017-05-22 at 19.08.31">
            <a:extLst>
              <a:ext uri="{FF2B5EF4-FFF2-40B4-BE49-F238E27FC236}">
                <a16:creationId xmlns:a16="http://schemas.microsoft.com/office/drawing/2014/main" id="{2C923144-C335-4B14-8B68-6B8308772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9950" y="2286000"/>
            <a:ext cx="5229225"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610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C6B2-6396-4612-A251-5D5BC5CB2658}"/>
              </a:ext>
            </a:extLst>
          </p:cNvPr>
          <p:cNvSpPr>
            <a:spLocks noGrp="1"/>
          </p:cNvSpPr>
          <p:nvPr>
            <p:ph type="title"/>
          </p:nvPr>
        </p:nvSpPr>
        <p:spPr>
          <a:xfrm>
            <a:off x="919119" y="201227"/>
            <a:ext cx="10353761" cy="1326321"/>
          </a:xfrm>
        </p:spPr>
        <p:txBody>
          <a:bodyPr>
            <a:normAutofit/>
          </a:bodyPr>
          <a:lstStyle/>
          <a:p>
            <a:r>
              <a:rPr lang="en-US" b="0" dirty="0" err="1">
                <a:effectLst/>
              </a:rPr>
              <a:t>Tạo</a:t>
            </a:r>
            <a:r>
              <a:rPr lang="en-US" b="0" dirty="0">
                <a:effectLst/>
              </a:rPr>
              <a:t> </a:t>
            </a:r>
            <a:r>
              <a:rPr lang="en-US" b="0" dirty="0" err="1">
                <a:effectLst/>
              </a:rPr>
              <a:t>Các</a:t>
            </a:r>
            <a:r>
              <a:rPr lang="en-US" b="0" dirty="0">
                <a:effectLst/>
              </a:rPr>
              <a:t> </a:t>
            </a:r>
            <a:r>
              <a:rPr lang="en-US" b="0" dirty="0" err="1">
                <a:effectLst/>
              </a:rPr>
              <a:t>Lớp</a:t>
            </a:r>
            <a:r>
              <a:rPr lang="en-US" b="0" dirty="0">
                <a:effectLst/>
              </a:rPr>
              <a:t> </a:t>
            </a:r>
            <a:r>
              <a:rPr lang="en-US" b="0" dirty="0" err="1">
                <a:effectLst/>
              </a:rPr>
              <a:t>Hình</a:t>
            </a:r>
            <a:r>
              <a:rPr lang="en-US" b="0" dirty="0">
                <a:effectLst/>
              </a:rPr>
              <a:t> </a:t>
            </a:r>
            <a:r>
              <a:rPr lang="en-US" b="0" dirty="0" err="1">
                <a:effectLst/>
              </a:rPr>
              <a:t>Học</a:t>
            </a:r>
            <a:r>
              <a:rPr lang="en-US" b="0" dirty="0">
                <a:effectLst/>
              </a:rPr>
              <a:t> </a:t>
            </a:r>
            <a:r>
              <a:rPr lang="en-US" b="0" dirty="0" err="1">
                <a:effectLst/>
              </a:rPr>
              <a:t>Bên</a:t>
            </a:r>
            <a:r>
              <a:rPr lang="en-US" b="0" dirty="0">
                <a:effectLst/>
              </a:rPr>
              <a:t> </a:t>
            </a:r>
            <a:r>
              <a:rPr lang="en-US" b="0" dirty="0" err="1">
                <a:effectLst/>
              </a:rPr>
              <a:t>Trong</a:t>
            </a:r>
            <a:r>
              <a:rPr lang="en-US" b="0" dirty="0">
                <a:effectLst/>
              </a:rPr>
              <a:t> Package shapes</a:t>
            </a:r>
            <a:endParaRPr lang="en-US" dirty="0"/>
          </a:p>
        </p:txBody>
      </p:sp>
      <p:pic>
        <p:nvPicPr>
          <p:cNvPr id="8194" name="Picture 2" descr="Screen Shot 2017-05-22 at 19.33.13">
            <a:extLst>
              <a:ext uri="{FF2B5EF4-FFF2-40B4-BE49-F238E27FC236}">
                <a16:creationId xmlns:a16="http://schemas.microsoft.com/office/drawing/2014/main" id="{B042923E-3DB0-43F2-AB1C-0C7494A468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144" y="1605609"/>
            <a:ext cx="2857500" cy="22764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cell phone&#10;&#10;Description automatically generated">
            <a:extLst>
              <a:ext uri="{FF2B5EF4-FFF2-40B4-BE49-F238E27FC236}">
                <a16:creationId xmlns:a16="http://schemas.microsoft.com/office/drawing/2014/main" id="{75D911EF-E6EB-4375-A6D1-C5438D6E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2356" y="1694787"/>
            <a:ext cx="4752056" cy="4961986"/>
          </a:xfrm>
          <a:prstGeom prst="rect">
            <a:avLst/>
          </a:prstGeom>
        </p:spPr>
      </p:pic>
      <p:pic>
        <p:nvPicPr>
          <p:cNvPr id="7" name="Picture 6" descr="A screenshot of a social media post&#10;&#10;Description automatically generated">
            <a:extLst>
              <a:ext uri="{FF2B5EF4-FFF2-40B4-BE49-F238E27FC236}">
                <a16:creationId xmlns:a16="http://schemas.microsoft.com/office/drawing/2014/main" id="{345AB371-5E0F-46AA-B139-463C2553D1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0512" y="1694787"/>
            <a:ext cx="4519088" cy="4961986"/>
          </a:xfrm>
          <a:prstGeom prst="rect">
            <a:avLst/>
          </a:prstGeom>
        </p:spPr>
      </p:pic>
    </p:spTree>
    <p:extLst>
      <p:ext uri="{BB962C8B-B14F-4D97-AF65-F5344CB8AC3E}">
        <p14:creationId xmlns:p14="http://schemas.microsoft.com/office/powerpoint/2010/main" val="24369345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2933-67A6-4541-9C46-117B3817DBF9}"/>
              </a:ext>
            </a:extLst>
          </p:cNvPr>
          <p:cNvSpPr>
            <a:spLocks noGrp="1"/>
          </p:cNvSpPr>
          <p:nvPr>
            <p:ph type="title"/>
          </p:nvPr>
        </p:nvSpPr>
        <p:spPr>
          <a:xfrm>
            <a:off x="919119" y="254829"/>
            <a:ext cx="10353761" cy="1326321"/>
          </a:xfrm>
        </p:spPr>
        <p:txBody>
          <a:bodyPr/>
          <a:lstStyle/>
          <a:p>
            <a:r>
              <a:rPr lang="en-US" dirty="0" err="1"/>
              <a:t>Sử</a:t>
            </a:r>
            <a:r>
              <a:rPr lang="en-US" dirty="0"/>
              <a:t> </a:t>
            </a:r>
            <a:r>
              <a:rPr lang="en-US" dirty="0" err="1"/>
              <a:t>Dụng</a:t>
            </a:r>
            <a:r>
              <a:rPr lang="en-US" dirty="0"/>
              <a:t> </a:t>
            </a:r>
            <a:r>
              <a:rPr lang="en-US" dirty="0" err="1"/>
              <a:t>Các</a:t>
            </a:r>
            <a:r>
              <a:rPr lang="en-US" dirty="0"/>
              <a:t> </a:t>
            </a:r>
            <a:r>
              <a:rPr lang="en-US" dirty="0" err="1"/>
              <a:t>Lớp</a:t>
            </a:r>
            <a:r>
              <a:rPr lang="en-US" dirty="0"/>
              <a:t> </a:t>
            </a:r>
            <a:r>
              <a:rPr lang="en-US" dirty="0" err="1"/>
              <a:t>HinhTron</a:t>
            </a:r>
            <a:r>
              <a:rPr lang="en-US" dirty="0"/>
              <a:t> </a:t>
            </a:r>
            <a:r>
              <a:rPr lang="en-US" dirty="0" err="1"/>
              <a:t>Và</a:t>
            </a:r>
            <a:r>
              <a:rPr lang="en-US" dirty="0"/>
              <a:t> </a:t>
            </a:r>
            <a:r>
              <a:rPr lang="en-US" dirty="0" err="1"/>
              <a:t>HinhChuNhat</a:t>
            </a:r>
            <a:r>
              <a:rPr lang="en-US" dirty="0"/>
              <a:t> </a:t>
            </a:r>
            <a:r>
              <a:rPr lang="en-US" dirty="0" err="1"/>
              <a:t>Từ</a:t>
            </a:r>
            <a:r>
              <a:rPr lang="en-US" dirty="0"/>
              <a:t> </a:t>
            </a:r>
            <a:r>
              <a:rPr lang="en-US" dirty="0" err="1"/>
              <a:t>MainClass</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F5232B7F-A1A7-461F-A607-DCFBDA8D41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6253" y="1488111"/>
            <a:ext cx="5599494" cy="5115060"/>
          </a:xfrm>
        </p:spPr>
      </p:pic>
    </p:spTree>
    <p:extLst>
      <p:ext uri="{BB962C8B-B14F-4D97-AF65-F5344CB8AC3E}">
        <p14:creationId xmlns:p14="http://schemas.microsoft.com/office/powerpoint/2010/main" val="3142499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2F95-F769-4F4B-BF25-46384821F677}"/>
              </a:ext>
            </a:extLst>
          </p:cNvPr>
          <p:cNvSpPr>
            <a:spLocks noGrp="1"/>
          </p:cNvSpPr>
          <p:nvPr>
            <p:ph type="title"/>
          </p:nvPr>
        </p:nvSpPr>
        <p:spPr/>
        <p:txBody>
          <a:bodyPr/>
          <a:lstStyle/>
          <a:p>
            <a:r>
              <a:rPr lang="vi-VN" dirty="0"/>
              <a:t>Phương Thức Khởi Tạo – Constructor</a:t>
            </a:r>
            <a:endParaRPr lang="en-US" dirty="0"/>
          </a:p>
        </p:txBody>
      </p:sp>
      <p:sp>
        <p:nvSpPr>
          <p:cNvPr id="3" name="Content Placeholder 2">
            <a:extLst>
              <a:ext uri="{FF2B5EF4-FFF2-40B4-BE49-F238E27FC236}">
                <a16:creationId xmlns:a16="http://schemas.microsoft.com/office/drawing/2014/main" id="{034B11D4-D70E-42B6-B9C0-F95C4D31D002}"/>
              </a:ext>
            </a:extLst>
          </p:cNvPr>
          <p:cNvSpPr>
            <a:spLocks noGrp="1"/>
          </p:cNvSpPr>
          <p:nvPr>
            <p:ph idx="1"/>
          </p:nvPr>
        </p:nvSpPr>
        <p:spPr/>
        <p:txBody>
          <a:bodyPr/>
          <a:lstStyle/>
          <a:p>
            <a:r>
              <a:rPr lang="vi-VN" dirty="0"/>
              <a:t>Thực chất thì constructor này cũng là một phương thức, nhưng nó đặc biệt ở chỗ là, ngay khi mà khởi tạo một đối tượng bằng từ khóa new, thì constructor của đối tượng đó sẽ lập tức được gọi đến một cách tự động. Có nghĩa là nếu với phương thức bình thường</a:t>
            </a:r>
            <a:r>
              <a:rPr lang="en-US" dirty="0"/>
              <a:t> </a:t>
            </a:r>
            <a:r>
              <a:rPr lang="vi-VN" dirty="0"/>
              <a:t>phải gọi đến nó thông qua toán tử chấm (“.”) thì phương thức đó mới được thực thi, còn với constructor, ngay khi biên dịch đến từ khóa new, hệ thống sẽ thực thi một constructor tương ứng của đối tượng, tùy vào constructor nào mà bạn chỉ định.</a:t>
            </a:r>
            <a:endParaRPr lang="en-US" dirty="0"/>
          </a:p>
          <a:p>
            <a:r>
              <a:rPr lang="en-US" dirty="0" err="1"/>
              <a:t>Khai</a:t>
            </a:r>
            <a:r>
              <a:rPr lang="en-US" dirty="0"/>
              <a:t> </a:t>
            </a:r>
            <a:r>
              <a:rPr lang="en-US" dirty="0" err="1"/>
              <a:t>báo</a:t>
            </a:r>
            <a:r>
              <a:rPr lang="en-US" dirty="0"/>
              <a:t>:</a:t>
            </a:r>
          </a:p>
          <a:p>
            <a:pPr marL="0" indent="0">
              <a:buNone/>
            </a:pPr>
            <a:r>
              <a:rPr lang="en-US" dirty="0"/>
              <a:t>	</a:t>
            </a:r>
          </a:p>
        </p:txBody>
      </p:sp>
      <p:pic>
        <p:nvPicPr>
          <p:cNvPr id="5" name="Picture 4" descr="A picture containing bird&#10;&#10;Description automatically generated">
            <a:extLst>
              <a:ext uri="{FF2B5EF4-FFF2-40B4-BE49-F238E27FC236}">
                <a16:creationId xmlns:a16="http://schemas.microsoft.com/office/drawing/2014/main" id="{3762B0AA-8BF3-40C8-A195-65E1352F3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9835" y="4937794"/>
            <a:ext cx="4759565" cy="1310605"/>
          </a:xfrm>
          <a:prstGeom prst="rect">
            <a:avLst/>
          </a:prstGeom>
        </p:spPr>
      </p:pic>
    </p:spTree>
    <p:extLst>
      <p:ext uri="{BB962C8B-B14F-4D97-AF65-F5344CB8AC3E}">
        <p14:creationId xmlns:p14="http://schemas.microsoft.com/office/powerpoint/2010/main" val="3745285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2CC8D-07C8-49AF-A43B-D42A15714709}"/>
              </a:ext>
            </a:extLst>
          </p:cNvPr>
          <p:cNvSpPr>
            <a:spLocks noGrp="1"/>
          </p:cNvSpPr>
          <p:nvPr>
            <p:ph type="title"/>
          </p:nvPr>
        </p:nvSpPr>
        <p:spPr>
          <a:xfrm>
            <a:off x="919119" y="104775"/>
            <a:ext cx="10353761" cy="1326321"/>
          </a:xfrm>
        </p:spPr>
        <p:txBody>
          <a:bodyPr>
            <a:normAutofit/>
          </a:bodyPr>
          <a:lstStyle/>
          <a:p>
            <a:r>
              <a:rPr lang="en-US" sz="3000" dirty="0" err="1"/>
              <a:t>Thực</a:t>
            </a:r>
            <a:r>
              <a:rPr lang="en-US" sz="3000" dirty="0"/>
              <a:t> </a:t>
            </a:r>
            <a:r>
              <a:rPr lang="en-US" sz="3000" dirty="0" err="1"/>
              <a:t>Hành</a:t>
            </a:r>
            <a:r>
              <a:rPr lang="en-US" sz="3000" dirty="0"/>
              <a:t> </a:t>
            </a:r>
            <a:r>
              <a:rPr lang="en-US" sz="3000" dirty="0" err="1"/>
              <a:t>Khai</a:t>
            </a:r>
            <a:r>
              <a:rPr lang="en-US" sz="3000" dirty="0"/>
              <a:t> </a:t>
            </a:r>
            <a:r>
              <a:rPr lang="en-US" sz="3000" dirty="0" err="1"/>
              <a:t>Báo</a:t>
            </a:r>
            <a:r>
              <a:rPr lang="en-US" sz="3000" dirty="0"/>
              <a:t> </a:t>
            </a:r>
            <a:r>
              <a:rPr lang="en-US" sz="3000" dirty="0" err="1"/>
              <a:t>Các</a:t>
            </a:r>
            <a:r>
              <a:rPr lang="en-US" sz="3000" dirty="0"/>
              <a:t> Constructor Cho </a:t>
            </a:r>
            <a:r>
              <a:rPr lang="en-US" sz="3000" dirty="0" err="1"/>
              <a:t>Lớp</a:t>
            </a:r>
            <a:r>
              <a:rPr lang="en-US" sz="3000" dirty="0"/>
              <a:t> </a:t>
            </a:r>
            <a:r>
              <a:rPr lang="en-US" sz="3000" dirty="0" err="1"/>
              <a:t>HinhTron</a:t>
            </a:r>
            <a:endParaRPr lang="en-US" sz="3000" dirty="0"/>
          </a:p>
        </p:txBody>
      </p:sp>
      <p:pic>
        <p:nvPicPr>
          <p:cNvPr id="5" name="Content Placeholder 4" descr="A screenshot of a social media post&#10;&#10;Description automatically generated">
            <a:extLst>
              <a:ext uri="{FF2B5EF4-FFF2-40B4-BE49-F238E27FC236}">
                <a16:creationId xmlns:a16="http://schemas.microsoft.com/office/drawing/2014/main" id="{A16B9887-015B-4A44-9806-16CEE8FE44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7146" y="1240604"/>
            <a:ext cx="5357705" cy="5512621"/>
          </a:xfrm>
        </p:spPr>
      </p:pic>
    </p:spTree>
    <p:extLst>
      <p:ext uri="{BB962C8B-B14F-4D97-AF65-F5344CB8AC3E}">
        <p14:creationId xmlns:p14="http://schemas.microsoft.com/office/powerpoint/2010/main" val="1380709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2A517-2534-448A-8D5A-535777E9C3DD}"/>
              </a:ext>
            </a:extLst>
          </p:cNvPr>
          <p:cNvSpPr>
            <a:spLocks noGrp="1"/>
          </p:cNvSpPr>
          <p:nvPr>
            <p:ph type="title"/>
          </p:nvPr>
        </p:nvSpPr>
        <p:spPr/>
        <p:txBody>
          <a:bodyPr/>
          <a:lstStyle/>
          <a:p>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a:t>
            </a:r>
            <a:r>
              <a:rPr lang="en-US" dirty="0" err="1"/>
              <a:t>của</a:t>
            </a:r>
            <a:r>
              <a:rPr lang="en-US" dirty="0"/>
              <a:t> </a:t>
            </a:r>
            <a:r>
              <a:rPr lang="en-US" dirty="0" err="1"/>
              <a:t>thuộc</a:t>
            </a:r>
            <a:r>
              <a:rPr lang="en-US" dirty="0"/>
              <a:t> </a:t>
            </a:r>
            <a:r>
              <a:rPr lang="en-US" dirty="0" err="1"/>
              <a:t>tính</a:t>
            </a:r>
            <a:r>
              <a:rPr lang="en-US" dirty="0"/>
              <a:t> </a:t>
            </a:r>
            <a:r>
              <a:rPr lang="en-US" dirty="0" err="1"/>
              <a:t>và</a:t>
            </a:r>
            <a:r>
              <a:rPr lang="en-US" dirty="0"/>
              <a:t> </a:t>
            </a:r>
            <a:r>
              <a:rPr lang="en-US" dirty="0" err="1"/>
              <a:t>ph</a:t>
            </a:r>
            <a:r>
              <a:rPr lang="vi-VN" dirty="0"/>
              <a:t>ư</a:t>
            </a:r>
            <a:r>
              <a:rPr lang="en-US" dirty="0" err="1"/>
              <a:t>ơng</a:t>
            </a:r>
            <a:r>
              <a:rPr lang="en-US" dirty="0"/>
              <a:t> </a:t>
            </a:r>
            <a:r>
              <a:rPr lang="en-US" dirty="0" err="1"/>
              <a:t>thức</a:t>
            </a:r>
            <a:endParaRPr lang="en-US" dirty="0"/>
          </a:p>
        </p:txBody>
      </p:sp>
      <p:graphicFrame>
        <p:nvGraphicFramePr>
          <p:cNvPr id="4" name="Content Placeholder 3">
            <a:extLst>
              <a:ext uri="{FF2B5EF4-FFF2-40B4-BE49-F238E27FC236}">
                <a16:creationId xmlns:a16="http://schemas.microsoft.com/office/drawing/2014/main" id="{A9363395-A756-41EF-9DA1-E97E021FEC8E}"/>
              </a:ext>
            </a:extLst>
          </p:cNvPr>
          <p:cNvGraphicFramePr>
            <a:graphicFrameLocks noGrp="1"/>
          </p:cNvGraphicFramePr>
          <p:nvPr>
            <p:ph idx="1"/>
            <p:extLst>
              <p:ext uri="{D42A27DB-BD31-4B8C-83A1-F6EECF244321}">
                <p14:modId xmlns:p14="http://schemas.microsoft.com/office/powerpoint/2010/main" val="3263503436"/>
              </p:ext>
            </p:extLst>
          </p:nvPr>
        </p:nvGraphicFramePr>
        <p:xfrm>
          <a:off x="1393189" y="2142794"/>
          <a:ext cx="9117970" cy="4346782"/>
        </p:xfrm>
        <a:graphic>
          <a:graphicData uri="http://schemas.openxmlformats.org/drawingml/2006/table">
            <a:tbl>
              <a:tblPr/>
              <a:tblGrid>
                <a:gridCol w="1823594">
                  <a:extLst>
                    <a:ext uri="{9D8B030D-6E8A-4147-A177-3AD203B41FA5}">
                      <a16:colId xmlns:a16="http://schemas.microsoft.com/office/drawing/2014/main" val="2151090935"/>
                    </a:ext>
                  </a:extLst>
                </a:gridCol>
                <a:gridCol w="1823594">
                  <a:extLst>
                    <a:ext uri="{9D8B030D-6E8A-4147-A177-3AD203B41FA5}">
                      <a16:colId xmlns:a16="http://schemas.microsoft.com/office/drawing/2014/main" val="2084227251"/>
                    </a:ext>
                  </a:extLst>
                </a:gridCol>
                <a:gridCol w="1823594">
                  <a:extLst>
                    <a:ext uri="{9D8B030D-6E8A-4147-A177-3AD203B41FA5}">
                      <a16:colId xmlns:a16="http://schemas.microsoft.com/office/drawing/2014/main" val="1683257063"/>
                    </a:ext>
                  </a:extLst>
                </a:gridCol>
                <a:gridCol w="1823594">
                  <a:extLst>
                    <a:ext uri="{9D8B030D-6E8A-4147-A177-3AD203B41FA5}">
                      <a16:colId xmlns:a16="http://schemas.microsoft.com/office/drawing/2014/main" val="3294945739"/>
                    </a:ext>
                  </a:extLst>
                </a:gridCol>
                <a:gridCol w="1823594">
                  <a:extLst>
                    <a:ext uri="{9D8B030D-6E8A-4147-A177-3AD203B41FA5}">
                      <a16:colId xmlns:a16="http://schemas.microsoft.com/office/drawing/2014/main" val="460359123"/>
                    </a:ext>
                  </a:extLst>
                </a:gridCol>
              </a:tblGrid>
              <a:tr h="405700">
                <a:tc>
                  <a:txBody>
                    <a:bodyPr/>
                    <a:lstStyle/>
                    <a:p>
                      <a:pPr algn="ctr"/>
                      <a:r>
                        <a:rPr lang="en-US" sz="1400" b="1" dirty="0" err="1">
                          <a:solidFill>
                            <a:schemeClr val="tx1"/>
                          </a:solidFill>
                          <a:effectLst/>
                        </a:rPr>
                        <a:t>hạm</a:t>
                      </a:r>
                      <a:r>
                        <a:rPr lang="en-US" sz="1400" b="1" dirty="0">
                          <a:solidFill>
                            <a:schemeClr val="tx1"/>
                          </a:solidFill>
                          <a:effectLst/>
                        </a:rPr>
                        <a:t> vi </a:t>
                      </a:r>
                      <a:r>
                        <a:rPr lang="en-US" sz="1400" b="1" dirty="0" err="1">
                          <a:solidFill>
                            <a:schemeClr val="tx1"/>
                          </a:solidFill>
                          <a:effectLst/>
                        </a:rPr>
                        <a:t>truy</a:t>
                      </a:r>
                      <a:r>
                        <a:rPr lang="en-US" sz="1400" b="1" dirty="0">
                          <a:solidFill>
                            <a:schemeClr val="tx1"/>
                          </a:solidFill>
                          <a:effectLst/>
                        </a:rPr>
                        <a:t> </a:t>
                      </a:r>
                      <a:r>
                        <a:rPr lang="en-US" sz="1400" b="1" dirty="0" err="1">
                          <a:solidFill>
                            <a:schemeClr val="tx1"/>
                          </a:solidFill>
                          <a:effectLst/>
                        </a:rPr>
                        <a:t>cập</a:t>
                      </a:r>
                      <a:endParaRPr lang="en-US" sz="1400" dirty="0">
                        <a:solidFill>
                          <a:schemeClr val="tx1"/>
                        </a:solidFill>
                        <a:effectLst/>
                      </a:endParaRPr>
                    </a:p>
                  </a:txBody>
                  <a:tcPr marL="49276" marR="49276" marT="24638" marB="24638" anchor="ctr">
                    <a:lnL>
                      <a:noFill/>
                    </a:lnL>
                    <a:lnR>
                      <a:noFill/>
                    </a:lnR>
                    <a:lnT>
                      <a:noFill/>
                    </a:lnT>
                    <a:lnB>
                      <a:noFill/>
                    </a:lnB>
                    <a:solidFill>
                      <a:srgbClr val="003573"/>
                    </a:solidFill>
                  </a:tcPr>
                </a:tc>
                <a:tc>
                  <a:txBody>
                    <a:bodyPr/>
                    <a:lstStyle/>
                    <a:p>
                      <a:pPr algn="ctr"/>
                      <a:r>
                        <a:rPr lang="en-US" sz="1400" b="1" dirty="0">
                          <a:solidFill>
                            <a:schemeClr val="tx1"/>
                          </a:solidFill>
                          <a:effectLst/>
                        </a:rPr>
                        <a:t>private</a:t>
                      </a:r>
                      <a:endParaRPr lang="en-US" sz="1400" dirty="0">
                        <a:solidFill>
                          <a:schemeClr val="tx1"/>
                        </a:solidFill>
                        <a:effectLst/>
                      </a:endParaRPr>
                    </a:p>
                  </a:txBody>
                  <a:tcPr marL="49276" marR="49276" marT="24638" marB="24638" anchor="ctr">
                    <a:lnL>
                      <a:noFill/>
                    </a:lnL>
                    <a:lnR>
                      <a:noFill/>
                    </a:lnR>
                    <a:lnT>
                      <a:noFill/>
                    </a:lnT>
                    <a:lnB>
                      <a:noFill/>
                    </a:lnB>
                    <a:solidFill>
                      <a:srgbClr val="003573"/>
                    </a:solidFill>
                  </a:tcPr>
                </a:tc>
                <a:tc>
                  <a:txBody>
                    <a:bodyPr/>
                    <a:lstStyle/>
                    <a:p>
                      <a:pPr algn="ctr"/>
                      <a:r>
                        <a:rPr lang="en-US" sz="1400" b="1" dirty="0">
                          <a:solidFill>
                            <a:schemeClr val="tx1"/>
                          </a:solidFill>
                          <a:effectLst/>
                        </a:rPr>
                        <a:t>default</a:t>
                      </a:r>
                      <a:endParaRPr lang="en-US" sz="1400" dirty="0">
                        <a:solidFill>
                          <a:schemeClr val="tx1"/>
                        </a:solidFill>
                        <a:effectLst/>
                      </a:endParaRPr>
                    </a:p>
                  </a:txBody>
                  <a:tcPr marL="49276" marR="49276" marT="24638" marB="24638" anchor="ctr">
                    <a:lnL>
                      <a:noFill/>
                    </a:lnL>
                    <a:lnR>
                      <a:noFill/>
                    </a:lnR>
                    <a:lnT>
                      <a:noFill/>
                    </a:lnT>
                    <a:lnB>
                      <a:noFill/>
                    </a:lnB>
                    <a:solidFill>
                      <a:srgbClr val="003573"/>
                    </a:solidFill>
                  </a:tcPr>
                </a:tc>
                <a:tc>
                  <a:txBody>
                    <a:bodyPr/>
                    <a:lstStyle/>
                    <a:p>
                      <a:pPr algn="ctr"/>
                      <a:r>
                        <a:rPr lang="en-US" sz="1400" b="1" dirty="0">
                          <a:solidFill>
                            <a:schemeClr val="tx1"/>
                          </a:solidFill>
                          <a:effectLst/>
                        </a:rPr>
                        <a:t>protected</a:t>
                      </a:r>
                      <a:endParaRPr lang="en-US" sz="1400" dirty="0">
                        <a:solidFill>
                          <a:schemeClr val="tx1"/>
                        </a:solidFill>
                        <a:effectLst/>
                      </a:endParaRPr>
                    </a:p>
                  </a:txBody>
                  <a:tcPr marL="49276" marR="49276" marT="24638" marB="24638" anchor="ctr">
                    <a:lnL>
                      <a:noFill/>
                    </a:lnL>
                    <a:lnR>
                      <a:noFill/>
                    </a:lnR>
                    <a:lnT>
                      <a:noFill/>
                    </a:lnT>
                    <a:lnB>
                      <a:noFill/>
                    </a:lnB>
                    <a:solidFill>
                      <a:srgbClr val="003573"/>
                    </a:solidFill>
                  </a:tcPr>
                </a:tc>
                <a:tc>
                  <a:txBody>
                    <a:bodyPr/>
                    <a:lstStyle/>
                    <a:p>
                      <a:pPr algn="ctr"/>
                      <a:r>
                        <a:rPr lang="en-US" sz="1400" b="1" dirty="0">
                          <a:solidFill>
                            <a:schemeClr val="tx1"/>
                          </a:solidFill>
                          <a:effectLst/>
                        </a:rPr>
                        <a:t>public</a:t>
                      </a:r>
                      <a:endParaRPr lang="en-US" sz="1400" dirty="0">
                        <a:solidFill>
                          <a:schemeClr val="tx1"/>
                        </a:solidFill>
                        <a:effectLst/>
                      </a:endParaRPr>
                    </a:p>
                  </a:txBody>
                  <a:tcPr marL="49276" marR="49276" marT="24638" marB="24638" anchor="ctr">
                    <a:lnL>
                      <a:noFill/>
                    </a:lnL>
                    <a:lnR>
                      <a:noFill/>
                    </a:lnR>
                    <a:lnT>
                      <a:noFill/>
                    </a:lnT>
                    <a:lnB>
                      <a:noFill/>
                    </a:lnB>
                    <a:solidFill>
                      <a:srgbClr val="003573"/>
                    </a:solidFill>
                  </a:tcPr>
                </a:tc>
                <a:extLst>
                  <a:ext uri="{0D108BD9-81ED-4DB2-BD59-A6C34878D82A}">
                    <a16:rowId xmlns:a16="http://schemas.microsoft.com/office/drawing/2014/main" val="1105612550"/>
                  </a:ext>
                </a:extLst>
              </a:tr>
              <a:tr h="405700">
                <a:tc>
                  <a:txBody>
                    <a:bodyPr/>
                    <a:lstStyle/>
                    <a:p>
                      <a:r>
                        <a:rPr lang="en-US" sz="1300">
                          <a:solidFill>
                            <a:schemeClr val="bg1"/>
                          </a:solidFill>
                          <a:effectLst/>
                        </a:rPr>
                        <a:t>Bên trong lớp</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extLst>
                  <a:ext uri="{0D108BD9-81ED-4DB2-BD59-A6C34878D82A}">
                    <a16:rowId xmlns:a16="http://schemas.microsoft.com/office/drawing/2014/main" val="3499136660"/>
                  </a:ext>
                </a:extLst>
              </a:tr>
              <a:tr h="927313">
                <a:tc>
                  <a:txBody>
                    <a:bodyPr/>
                    <a:lstStyle/>
                    <a:p>
                      <a:r>
                        <a:rPr lang="vi-VN" sz="1300">
                          <a:solidFill>
                            <a:schemeClr val="bg1"/>
                          </a:solidFill>
                          <a:effectLst/>
                        </a:rPr>
                        <a:t>Ở lớp khác, nhưng trong cùng package</a:t>
                      </a: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Không</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extLst>
                  <a:ext uri="{0D108BD9-81ED-4DB2-BD59-A6C34878D82A}">
                    <a16:rowId xmlns:a16="http://schemas.microsoft.com/office/drawing/2014/main" val="344365801"/>
                  </a:ext>
                </a:extLst>
              </a:tr>
              <a:tr h="753442">
                <a:tc>
                  <a:txBody>
                    <a:bodyPr/>
                    <a:lstStyle/>
                    <a:p>
                      <a:r>
                        <a:rPr lang="en-US" sz="1300">
                          <a:solidFill>
                            <a:schemeClr val="bg1"/>
                          </a:solidFill>
                          <a:effectLst/>
                        </a:rPr>
                        <a:t>Ở lớp con, trong cùng package</a:t>
                      </a: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Không</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Có</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extLst>
                  <a:ext uri="{0D108BD9-81ED-4DB2-BD59-A6C34878D82A}">
                    <a16:rowId xmlns:a16="http://schemas.microsoft.com/office/drawing/2014/main" val="1371551378"/>
                  </a:ext>
                </a:extLst>
              </a:tr>
              <a:tr h="579571">
                <a:tc>
                  <a:txBody>
                    <a:bodyPr/>
                    <a:lstStyle/>
                    <a:p>
                      <a:r>
                        <a:rPr lang="en-US" sz="1300">
                          <a:solidFill>
                            <a:schemeClr val="bg1"/>
                          </a:solidFill>
                          <a:effectLst/>
                        </a:rPr>
                        <a:t>Ở lớp con, khác package</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Không</a:t>
                      </a: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Không</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Có</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Có</a:t>
                      </a:r>
                    </a:p>
                  </a:txBody>
                  <a:tcPr marL="49276" marR="49276" marT="24638" marB="24638" anchor="ctr">
                    <a:lnL>
                      <a:noFill/>
                    </a:lnL>
                    <a:lnR>
                      <a:noFill/>
                    </a:lnR>
                    <a:lnT>
                      <a:noFill/>
                    </a:lnT>
                    <a:lnB>
                      <a:noFill/>
                    </a:lnB>
                    <a:solidFill>
                      <a:srgbClr val="FFFFFF"/>
                    </a:solidFill>
                  </a:tcPr>
                </a:tc>
                <a:extLst>
                  <a:ext uri="{0D108BD9-81ED-4DB2-BD59-A6C34878D82A}">
                    <a16:rowId xmlns:a16="http://schemas.microsoft.com/office/drawing/2014/main" val="1715311377"/>
                  </a:ext>
                </a:extLst>
              </a:tr>
              <a:tr h="1275056">
                <a:tc>
                  <a:txBody>
                    <a:bodyPr/>
                    <a:lstStyle/>
                    <a:p>
                      <a:r>
                        <a:rPr lang="en-US" sz="1300">
                          <a:solidFill>
                            <a:schemeClr val="bg1"/>
                          </a:solidFill>
                          <a:effectLst/>
                        </a:rPr>
                        <a:t>Ở bất cứ lớp nào khác (không phải lớp con), khác package</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Không</a:t>
                      </a:r>
                    </a:p>
                  </a:txBody>
                  <a:tcPr marL="49276" marR="49276" marT="24638" marB="24638" anchor="ctr">
                    <a:lnL>
                      <a:noFill/>
                    </a:lnL>
                    <a:lnR>
                      <a:noFill/>
                    </a:lnR>
                    <a:lnT>
                      <a:noFill/>
                    </a:lnT>
                    <a:lnB>
                      <a:noFill/>
                    </a:lnB>
                    <a:solidFill>
                      <a:srgbClr val="FFFFFF"/>
                    </a:solidFill>
                  </a:tcPr>
                </a:tc>
                <a:tc>
                  <a:txBody>
                    <a:bodyPr/>
                    <a:lstStyle/>
                    <a:p>
                      <a:r>
                        <a:rPr lang="en-US" sz="1300">
                          <a:solidFill>
                            <a:schemeClr val="bg1"/>
                          </a:solidFill>
                          <a:effectLst/>
                        </a:rPr>
                        <a:t>Không</a:t>
                      </a: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Không</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tc>
                  <a:txBody>
                    <a:bodyPr/>
                    <a:lstStyle/>
                    <a:p>
                      <a:r>
                        <a:rPr lang="en-US" sz="1300" dirty="0" err="1">
                          <a:solidFill>
                            <a:schemeClr val="bg1"/>
                          </a:solidFill>
                          <a:effectLst/>
                        </a:rPr>
                        <a:t>Có</a:t>
                      </a:r>
                      <a:endParaRPr lang="en-US" sz="1300" dirty="0">
                        <a:solidFill>
                          <a:schemeClr val="bg1"/>
                        </a:solidFill>
                        <a:effectLst/>
                      </a:endParaRPr>
                    </a:p>
                  </a:txBody>
                  <a:tcPr marL="49276" marR="49276" marT="24638" marB="24638" anchor="ctr">
                    <a:lnL>
                      <a:noFill/>
                    </a:lnL>
                    <a:lnR>
                      <a:noFill/>
                    </a:lnR>
                    <a:lnT>
                      <a:noFill/>
                    </a:lnT>
                    <a:lnB>
                      <a:noFill/>
                    </a:lnB>
                    <a:solidFill>
                      <a:srgbClr val="FFFFFF"/>
                    </a:solidFill>
                  </a:tcPr>
                </a:tc>
                <a:extLst>
                  <a:ext uri="{0D108BD9-81ED-4DB2-BD59-A6C34878D82A}">
                    <a16:rowId xmlns:a16="http://schemas.microsoft.com/office/drawing/2014/main" val="947531850"/>
                  </a:ext>
                </a:extLst>
              </a:tr>
            </a:tbl>
          </a:graphicData>
        </a:graphic>
      </p:graphicFrame>
    </p:spTree>
    <p:extLst>
      <p:ext uri="{BB962C8B-B14F-4D97-AF65-F5344CB8AC3E}">
        <p14:creationId xmlns:p14="http://schemas.microsoft.com/office/powerpoint/2010/main" val="3349507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A8C8-B1B7-4F08-91C4-E92ED19F9705}"/>
              </a:ext>
            </a:extLst>
          </p:cNvPr>
          <p:cNvSpPr>
            <a:spLocks noGrp="1"/>
          </p:cNvSpPr>
          <p:nvPr>
            <p:ph type="title"/>
          </p:nvPr>
        </p:nvSpPr>
        <p:spPr/>
        <p:txBody>
          <a:bodyPr/>
          <a:lstStyle/>
          <a:p>
            <a:r>
              <a:rPr lang="nb-NO" dirty="0"/>
              <a:t>Khả Năng Truy Cập private</a:t>
            </a:r>
            <a:endParaRPr lang="en-US" dirty="0"/>
          </a:p>
        </p:txBody>
      </p:sp>
      <p:sp>
        <p:nvSpPr>
          <p:cNvPr id="3" name="Content Placeholder 2">
            <a:extLst>
              <a:ext uri="{FF2B5EF4-FFF2-40B4-BE49-F238E27FC236}">
                <a16:creationId xmlns:a16="http://schemas.microsoft.com/office/drawing/2014/main" id="{FEE120AB-8923-45F7-B1A5-F1A17D35E0E0}"/>
              </a:ext>
            </a:extLst>
          </p:cNvPr>
          <p:cNvSpPr>
            <a:spLocks noGrp="1"/>
          </p:cNvSpPr>
          <p:nvPr>
            <p:ph idx="1"/>
          </p:nvPr>
        </p:nvSpPr>
        <p:spPr/>
        <p:txBody>
          <a:bodyPr>
            <a:normAutofit lnSpcReduction="10000"/>
          </a:bodyPr>
          <a:lstStyle/>
          <a:p>
            <a:pPr marL="0" indent="0">
              <a:buNone/>
            </a:pPr>
            <a:r>
              <a:rPr lang="vi-VN" dirty="0"/>
              <a:t>Khả năng private này mang ý nghĩa bảo vệ các giá trị bên trong lớp, không cho các lớp bên ngoài có thể “nhìn thấy” (đọc và chỉnh sửa) được.</a:t>
            </a:r>
            <a:endParaRPr lang="en-US" dirty="0"/>
          </a:p>
          <a:p>
            <a:pPr marL="0" indent="0">
              <a:buNone/>
            </a:pPr>
            <a:r>
              <a:rPr lang="en-US" dirty="0"/>
              <a:t>	</a:t>
            </a:r>
            <a:r>
              <a:rPr lang="vi-VN" dirty="0"/>
              <a:t>– Nếu private được chỉ định cho một thuộc tính, thuộc tính đó sẽ không được phép truy cập, hay chỉnh sửa từ các lớp khác, trừ khi bạn xây dựng các phương thức getter và setter cho thuộc tính đó mà mình sẽ nói sau.</a:t>
            </a:r>
          </a:p>
          <a:p>
            <a:pPr marL="0" indent="0">
              <a:buNone/>
            </a:pPr>
            <a:r>
              <a:rPr lang="en-US" dirty="0"/>
              <a:t>	</a:t>
            </a:r>
            <a:r>
              <a:rPr lang="vi-VN" dirty="0"/>
              <a:t>– Còn nếu private được chỉ định cho một phương thức, phương thức đó sẽ không được truy cập hay kế thừa từ lớp khác.</a:t>
            </a:r>
          </a:p>
          <a:p>
            <a:pPr marL="0" indent="0">
              <a:buNone/>
            </a:pPr>
            <a:r>
              <a:rPr lang="en-US" dirty="0"/>
              <a:t>	</a:t>
            </a:r>
            <a:r>
              <a:rPr lang="vi-VN" dirty="0"/>
              <a:t>– Và nếu private được chỉ định cho constructor, constructor này sẽ không dùng được để khởi tạo đối tượng cho lớp đó.</a:t>
            </a:r>
            <a:endParaRPr lang="en-US" dirty="0"/>
          </a:p>
        </p:txBody>
      </p:sp>
    </p:spTree>
    <p:extLst>
      <p:ext uri="{BB962C8B-B14F-4D97-AF65-F5344CB8AC3E}">
        <p14:creationId xmlns:p14="http://schemas.microsoft.com/office/powerpoint/2010/main" val="3020416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8ED74-D5BC-4476-B9E6-9CB42ACD3A83}"/>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private  </a:t>
            </a:r>
          </a:p>
        </p:txBody>
      </p:sp>
      <p:pic>
        <p:nvPicPr>
          <p:cNvPr id="5" name="Content Placeholder 4" descr="A screenshot of a cell phone&#10;&#10;Description automatically generated">
            <a:extLst>
              <a:ext uri="{FF2B5EF4-FFF2-40B4-BE49-F238E27FC236}">
                <a16:creationId xmlns:a16="http://schemas.microsoft.com/office/drawing/2014/main" id="{4F50AD08-41B2-4348-AAB6-7B48F57501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902" y="2213459"/>
            <a:ext cx="5518045" cy="3902169"/>
          </a:xfrm>
        </p:spPr>
      </p:pic>
      <p:pic>
        <p:nvPicPr>
          <p:cNvPr id="7" name="Picture 6" descr="A screenshot of a cell phone&#10;&#10;Description automatically generated">
            <a:extLst>
              <a:ext uri="{FF2B5EF4-FFF2-40B4-BE49-F238E27FC236}">
                <a16:creationId xmlns:a16="http://schemas.microsoft.com/office/drawing/2014/main" id="{D31768FD-1BFE-4DAA-94D4-709B2DF3B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055" y="3075979"/>
            <a:ext cx="5592243" cy="1943696"/>
          </a:xfrm>
          <a:prstGeom prst="rect">
            <a:avLst/>
          </a:prstGeom>
        </p:spPr>
      </p:pic>
    </p:spTree>
    <p:extLst>
      <p:ext uri="{BB962C8B-B14F-4D97-AF65-F5344CB8AC3E}">
        <p14:creationId xmlns:p14="http://schemas.microsoft.com/office/powerpoint/2010/main" val="3166330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796B6-4CAB-4325-8538-C16D3CF036AC}"/>
              </a:ext>
            </a:extLst>
          </p:cNvPr>
          <p:cNvSpPr>
            <a:spLocks noGrp="1"/>
          </p:cNvSpPr>
          <p:nvPr>
            <p:ph type="title"/>
          </p:nvPr>
        </p:nvSpPr>
        <p:spPr/>
        <p:txBody>
          <a:bodyPr/>
          <a:lstStyle/>
          <a:p>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default</a:t>
            </a:r>
          </a:p>
        </p:txBody>
      </p:sp>
      <p:sp>
        <p:nvSpPr>
          <p:cNvPr id="3" name="Content Placeholder 2">
            <a:extLst>
              <a:ext uri="{FF2B5EF4-FFF2-40B4-BE49-F238E27FC236}">
                <a16:creationId xmlns:a16="http://schemas.microsoft.com/office/drawing/2014/main" id="{BAFFCFB4-A202-4C4D-A389-326338934555}"/>
              </a:ext>
            </a:extLst>
          </p:cNvPr>
          <p:cNvSpPr>
            <a:spLocks noGrp="1"/>
          </p:cNvSpPr>
          <p:nvPr>
            <p:ph idx="1"/>
          </p:nvPr>
        </p:nvSpPr>
        <p:spPr/>
        <p:txBody>
          <a:bodyPr>
            <a:normAutofit/>
          </a:bodyPr>
          <a:lstStyle/>
          <a:p>
            <a:pPr>
              <a:lnSpc>
                <a:spcPct val="200000"/>
              </a:lnSpc>
            </a:pPr>
            <a:r>
              <a:rPr lang="en-US" sz="2200" dirty="0" err="1"/>
              <a:t>Với</a:t>
            </a:r>
            <a:r>
              <a:rPr lang="en-US" sz="2200" dirty="0"/>
              <a:t> </a:t>
            </a:r>
            <a:r>
              <a:rPr lang="en-US" sz="2200" dirty="0" err="1"/>
              <a:t>việc</a:t>
            </a:r>
            <a:r>
              <a:rPr lang="en-US" sz="2200" dirty="0"/>
              <a:t> </a:t>
            </a:r>
            <a:r>
              <a:rPr lang="en-US" sz="2200" dirty="0" err="1"/>
              <a:t>để</a:t>
            </a:r>
            <a:r>
              <a:rPr lang="en-US" sz="2200" dirty="0"/>
              <a:t> </a:t>
            </a:r>
            <a:r>
              <a:rPr lang="en-US" sz="2200" dirty="0" err="1"/>
              <a:t>trống</a:t>
            </a:r>
            <a:r>
              <a:rPr lang="en-US" sz="2200" dirty="0"/>
              <a:t> </a:t>
            </a:r>
            <a:r>
              <a:rPr lang="en-US" sz="2200" dirty="0" err="1"/>
              <a:t>Khả</a:t>
            </a:r>
            <a:r>
              <a:rPr lang="en-US" sz="2200" dirty="0"/>
              <a:t> </a:t>
            </a:r>
            <a:r>
              <a:rPr lang="en-US" sz="2200" dirty="0" err="1"/>
              <a:t>năng</a:t>
            </a:r>
            <a:r>
              <a:rPr lang="en-US" sz="2200" dirty="0"/>
              <a:t> </a:t>
            </a:r>
            <a:r>
              <a:rPr lang="en-US" sz="2200" dirty="0" err="1"/>
              <a:t>truy</a:t>
            </a:r>
            <a:r>
              <a:rPr lang="en-US" sz="2200" dirty="0"/>
              <a:t> </a:t>
            </a:r>
            <a:r>
              <a:rPr lang="en-US" sz="2200" dirty="0" err="1"/>
              <a:t>cập</a:t>
            </a:r>
            <a:r>
              <a:rPr lang="en-US" sz="2200" dirty="0"/>
              <a:t> </a:t>
            </a:r>
            <a:r>
              <a:rPr lang="en-US" sz="2200" dirty="0" err="1"/>
              <a:t>cho</a:t>
            </a:r>
            <a:r>
              <a:rPr lang="en-US" sz="2200" dirty="0"/>
              <a:t> </a:t>
            </a:r>
            <a:r>
              <a:rPr lang="en-US" sz="2200" dirty="0" err="1"/>
              <a:t>các</a:t>
            </a:r>
            <a:r>
              <a:rPr lang="en-US" sz="2200" dirty="0"/>
              <a:t> </a:t>
            </a:r>
            <a:r>
              <a:rPr lang="en-US" sz="2200" dirty="0" err="1"/>
              <a:t>giá</a:t>
            </a:r>
            <a:r>
              <a:rPr lang="en-US" sz="2200" dirty="0"/>
              <a:t> </a:t>
            </a:r>
            <a:r>
              <a:rPr lang="en-US" sz="2200" dirty="0" err="1"/>
              <a:t>trị</a:t>
            </a:r>
            <a:r>
              <a:rPr lang="en-US" sz="2200" dirty="0"/>
              <a:t> </a:t>
            </a:r>
            <a:r>
              <a:rPr lang="en-US" sz="2200" dirty="0" err="1"/>
              <a:t>của</a:t>
            </a:r>
            <a:r>
              <a:rPr lang="en-US" sz="2200" dirty="0"/>
              <a:t> </a:t>
            </a:r>
            <a:r>
              <a:rPr lang="en-US" sz="2200" dirty="0" err="1"/>
              <a:t>lớp</a:t>
            </a:r>
            <a:r>
              <a:rPr lang="en-US" sz="2200" dirty="0"/>
              <a:t>, </a:t>
            </a:r>
            <a:r>
              <a:rPr lang="en-US" sz="2200" dirty="0" err="1"/>
              <a:t>thì</a:t>
            </a:r>
            <a:r>
              <a:rPr lang="en-US" sz="2200" dirty="0"/>
              <a:t> </a:t>
            </a:r>
            <a:r>
              <a:rPr lang="en-US" sz="2200" dirty="0" err="1"/>
              <a:t>có</a:t>
            </a:r>
            <a:r>
              <a:rPr lang="en-US" sz="2200" dirty="0"/>
              <a:t> </a:t>
            </a:r>
            <a:r>
              <a:rPr lang="en-US" sz="2200" dirty="0" err="1"/>
              <a:t>thể</a:t>
            </a:r>
            <a:r>
              <a:rPr lang="en-US" sz="2200" dirty="0"/>
              <a:t> </a:t>
            </a:r>
            <a:r>
              <a:rPr lang="en-US" sz="2200" dirty="0" err="1"/>
              <a:t>thấy</a:t>
            </a:r>
            <a:r>
              <a:rPr lang="en-US" sz="2200" dirty="0"/>
              <a:t> </a:t>
            </a:r>
            <a:r>
              <a:rPr lang="en-US" sz="2200" dirty="0" err="1"/>
              <a:t>rằng</a:t>
            </a:r>
            <a:r>
              <a:rPr lang="en-US" sz="2200" dirty="0"/>
              <a:t>, </a:t>
            </a:r>
            <a:r>
              <a:rPr lang="en-US" sz="2200" dirty="0" err="1"/>
              <a:t>nếu</a:t>
            </a:r>
            <a:r>
              <a:rPr lang="en-US" sz="2200" dirty="0"/>
              <a:t> </a:t>
            </a:r>
            <a:r>
              <a:rPr lang="en-US" sz="2200" dirty="0" err="1"/>
              <a:t>bên</a:t>
            </a:r>
            <a:r>
              <a:rPr lang="en-US" sz="2200" dirty="0"/>
              <a:t> </a:t>
            </a:r>
            <a:r>
              <a:rPr lang="en-US" sz="2200" dirty="0" err="1"/>
              <a:t>trong</a:t>
            </a:r>
            <a:r>
              <a:rPr lang="en-US" sz="2200" dirty="0"/>
              <a:t> </a:t>
            </a:r>
            <a:r>
              <a:rPr lang="en-US" sz="2200" dirty="0" err="1"/>
              <a:t>lớp</a:t>
            </a:r>
            <a:r>
              <a:rPr lang="en-US" sz="2200" dirty="0"/>
              <a:t> </a:t>
            </a:r>
            <a:r>
              <a:rPr lang="en-US" sz="2200" dirty="0" err="1"/>
              <a:t>đó</a:t>
            </a:r>
            <a:r>
              <a:rPr lang="en-US" sz="2200" dirty="0"/>
              <a:t> </a:t>
            </a:r>
            <a:r>
              <a:rPr lang="en-US" sz="2200" dirty="0" err="1"/>
              <a:t>hoặc</a:t>
            </a:r>
            <a:r>
              <a:rPr lang="en-US" sz="2200" dirty="0"/>
              <a:t> </a:t>
            </a:r>
            <a:r>
              <a:rPr lang="en-US" sz="2200" dirty="0" err="1"/>
              <a:t>các</a:t>
            </a:r>
            <a:r>
              <a:rPr lang="en-US" sz="2200" dirty="0"/>
              <a:t> </a:t>
            </a:r>
            <a:r>
              <a:rPr lang="en-US" sz="2200" dirty="0" err="1"/>
              <a:t>lớp</a:t>
            </a:r>
            <a:r>
              <a:rPr lang="en-US" sz="2200" dirty="0"/>
              <a:t> </a:t>
            </a:r>
            <a:r>
              <a:rPr lang="en-US" sz="2200" dirty="0" err="1"/>
              <a:t>khác</a:t>
            </a:r>
            <a:r>
              <a:rPr lang="en-US" sz="2200" dirty="0"/>
              <a:t> </a:t>
            </a:r>
            <a:r>
              <a:rPr lang="en-US" sz="2200" dirty="0" err="1"/>
              <a:t>trong</a:t>
            </a:r>
            <a:r>
              <a:rPr lang="en-US" sz="2200" dirty="0"/>
              <a:t> </a:t>
            </a:r>
            <a:r>
              <a:rPr lang="en-US" sz="2200" dirty="0" err="1"/>
              <a:t>cùng</a:t>
            </a:r>
            <a:r>
              <a:rPr lang="en-US" sz="2200" dirty="0"/>
              <a:t> package, </a:t>
            </a:r>
            <a:r>
              <a:rPr lang="en-US" sz="2200" dirty="0" err="1"/>
              <a:t>sẽ</a:t>
            </a:r>
            <a:r>
              <a:rPr lang="en-US" sz="2200" dirty="0"/>
              <a:t> </a:t>
            </a:r>
            <a:r>
              <a:rPr lang="en-US" sz="2200" dirty="0" err="1"/>
              <a:t>có</a:t>
            </a:r>
            <a:r>
              <a:rPr lang="en-US" sz="2200" dirty="0"/>
              <a:t> </a:t>
            </a:r>
            <a:r>
              <a:rPr lang="en-US" sz="2200" dirty="0" err="1"/>
              <a:t>thể</a:t>
            </a:r>
            <a:r>
              <a:rPr lang="en-US" sz="2200" dirty="0"/>
              <a:t> </a:t>
            </a:r>
            <a:r>
              <a:rPr lang="en-US" sz="2200" dirty="0" err="1"/>
              <a:t>nhìn</a:t>
            </a:r>
            <a:r>
              <a:rPr lang="en-US" sz="2200" dirty="0"/>
              <a:t> </a:t>
            </a:r>
            <a:r>
              <a:rPr lang="en-US" sz="2200" dirty="0" err="1"/>
              <a:t>thấy</a:t>
            </a:r>
            <a:r>
              <a:rPr lang="en-US" sz="2200" dirty="0"/>
              <a:t> </a:t>
            </a:r>
            <a:r>
              <a:rPr lang="en-US" sz="2200" dirty="0" err="1"/>
              <a:t>và</a:t>
            </a:r>
            <a:r>
              <a:rPr lang="en-US" sz="2200" dirty="0"/>
              <a:t> </a:t>
            </a:r>
            <a:r>
              <a:rPr lang="en-US" sz="2200" dirty="0" err="1"/>
              <a:t>truy</a:t>
            </a:r>
            <a:r>
              <a:rPr lang="en-US" sz="2200" dirty="0"/>
              <a:t> </a:t>
            </a:r>
            <a:r>
              <a:rPr lang="en-US" sz="2200" dirty="0" err="1"/>
              <a:t>xuất</a:t>
            </a:r>
            <a:r>
              <a:rPr lang="en-US" sz="2200" dirty="0"/>
              <a:t> </a:t>
            </a:r>
            <a:r>
              <a:rPr lang="en-US" sz="2200" dirty="0" err="1"/>
              <a:t>đến</a:t>
            </a:r>
            <a:r>
              <a:rPr lang="en-US" sz="2200" dirty="0"/>
              <a:t> </a:t>
            </a:r>
            <a:r>
              <a:rPr lang="en-US" sz="2200" dirty="0" err="1"/>
              <a:t>các</a:t>
            </a:r>
            <a:r>
              <a:rPr lang="en-US" sz="2200" dirty="0"/>
              <a:t> </a:t>
            </a:r>
            <a:r>
              <a:rPr lang="en-US" sz="2200" dirty="0" err="1"/>
              <a:t>giá</a:t>
            </a:r>
            <a:r>
              <a:rPr lang="en-US" sz="2200" dirty="0"/>
              <a:t> </a:t>
            </a:r>
            <a:r>
              <a:rPr lang="en-US" sz="2200" dirty="0" err="1"/>
              <a:t>trị</a:t>
            </a:r>
            <a:r>
              <a:rPr lang="en-US" sz="2200" dirty="0"/>
              <a:t> </a:t>
            </a:r>
            <a:r>
              <a:rPr lang="en-US" sz="2200" dirty="0" err="1"/>
              <a:t>đó</a:t>
            </a:r>
            <a:r>
              <a:rPr lang="en-US" sz="2200" dirty="0"/>
              <a:t>. </a:t>
            </a:r>
            <a:r>
              <a:rPr lang="en-US" sz="2200" dirty="0" err="1"/>
              <a:t>Khả</a:t>
            </a:r>
            <a:r>
              <a:rPr lang="en-US" sz="2200" dirty="0"/>
              <a:t> </a:t>
            </a:r>
            <a:r>
              <a:rPr lang="en-US" sz="2200" dirty="0" err="1"/>
              <a:t>năng</a:t>
            </a:r>
            <a:r>
              <a:rPr lang="en-US" sz="2200" dirty="0"/>
              <a:t> </a:t>
            </a:r>
            <a:r>
              <a:rPr lang="en-US" sz="2200" dirty="0" err="1"/>
              <a:t>nhìn</a:t>
            </a:r>
            <a:r>
              <a:rPr lang="en-US" sz="2200" dirty="0"/>
              <a:t> </a:t>
            </a:r>
            <a:r>
              <a:rPr lang="en-US" sz="2200" dirty="0" err="1"/>
              <a:t>thấy</a:t>
            </a:r>
            <a:r>
              <a:rPr lang="en-US" sz="2200" dirty="0"/>
              <a:t> </a:t>
            </a:r>
            <a:r>
              <a:rPr lang="en-US" sz="2200" dirty="0" err="1"/>
              <a:t>và</a:t>
            </a:r>
            <a:r>
              <a:rPr lang="en-US" sz="2200" dirty="0"/>
              <a:t> </a:t>
            </a:r>
            <a:r>
              <a:rPr lang="en-US" sz="2200" dirty="0" err="1"/>
              <a:t>truy</a:t>
            </a:r>
            <a:r>
              <a:rPr lang="en-US" sz="2200" dirty="0"/>
              <a:t> </a:t>
            </a:r>
            <a:r>
              <a:rPr lang="en-US" sz="2200" dirty="0" err="1"/>
              <a:t>xuất</a:t>
            </a:r>
            <a:r>
              <a:rPr lang="en-US" sz="2200" dirty="0"/>
              <a:t> </a:t>
            </a:r>
            <a:r>
              <a:rPr lang="en-US" sz="2200" dirty="0" err="1"/>
              <a:t>chỉ</a:t>
            </a:r>
            <a:r>
              <a:rPr lang="en-US" sz="2200" dirty="0"/>
              <a:t> </a:t>
            </a:r>
            <a:r>
              <a:rPr lang="en-US" sz="2200" dirty="0" err="1"/>
              <a:t>bị</a:t>
            </a:r>
            <a:r>
              <a:rPr lang="en-US" sz="2200" dirty="0"/>
              <a:t> </a:t>
            </a:r>
            <a:r>
              <a:rPr lang="en-US" sz="2200" dirty="0" err="1"/>
              <a:t>chặn</a:t>
            </a:r>
            <a:r>
              <a:rPr lang="en-US" sz="2200" dirty="0"/>
              <a:t> </a:t>
            </a:r>
            <a:r>
              <a:rPr lang="en-US" sz="2200" dirty="0" err="1"/>
              <a:t>khi</a:t>
            </a:r>
            <a:r>
              <a:rPr lang="en-US" sz="2200" dirty="0"/>
              <a:t> </a:t>
            </a:r>
            <a:r>
              <a:rPr lang="en-US" sz="2200" dirty="0" err="1"/>
              <a:t>gọi</a:t>
            </a:r>
            <a:r>
              <a:rPr lang="en-US" sz="2200" dirty="0"/>
              <a:t> </a:t>
            </a:r>
            <a:r>
              <a:rPr lang="en-US" sz="2200" dirty="0" err="1"/>
              <a:t>đến</a:t>
            </a:r>
            <a:r>
              <a:rPr lang="en-US" sz="2200" dirty="0"/>
              <a:t> </a:t>
            </a:r>
            <a:r>
              <a:rPr lang="en-US" sz="2200" dirty="0" err="1"/>
              <a:t>các</a:t>
            </a:r>
            <a:r>
              <a:rPr lang="en-US" sz="2200" dirty="0"/>
              <a:t> </a:t>
            </a:r>
            <a:r>
              <a:rPr lang="en-US" sz="2200" dirty="0" err="1"/>
              <a:t>giá</a:t>
            </a:r>
            <a:r>
              <a:rPr lang="en-US" sz="2200" dirty="0"/>
              <a:t> </a:t>
            </a:r>
            <a:r>
              <a:rPr lang="en-US" sz="2200" dirty="0" err="1"/>
              <a:t>trị</a:t>
            </a:r>
            <a:r>
              <a:rPr lang="en-US" sz="2200" dirty="0"/>
              <a:t> </a:t>
            </a:r>
            <a:r>
              <a:rPr lang="en-US" sz="2200" dirty="0" err="1"/>
              <a:t>này</a:t>
            </a:r>
            <a:r>
              <a:rPr lang="en-US" sz="2200" dirty="0"/>
              <a:t> </a:t>
            </a:r>
            <a:r>
              <a:rPr lang="en-US" sz="2200" dirty="0" err="1"/>
              <a:t>từ</a:t>
            </a:r>
            <a:r>
              <a:rPr lang="en-US" sz="2200" dirty="0"/>
              <a:t> </a:t>
            </a:r>
            <a:r>
              <a:rPr lang="en-US" sz="2200" dirty="0" err="1"/>
              <a:t>một</a:t>
            </a:r>
            <a:r>
              <a:rPr lang="en-US" sz="2200" dirty="0"/>
              <a:t> </a:t>
            </a:r>
            <a:r>
              <a:rPr lang="en-US" sz="2200" dirty="0" err="1"/>
              <a:t>lớp</a:t>
            </a:r>
            <a:r>
              <a:rPr lang="en-US" sz="2200" dirty="0"/>
              <a:t> </a:t>
            </a:r>
            <a:r>
              <a:rPr lang="en-US" sz="2200" dirty="0" err="1"/>
              <a:t>nằm</a:t>
            </a:r>
            <a:r>
              <a:rPr lang="en-US" sz="2200" dirty="0"/>
              <a:t> </a:t>
            </a:r>
            <a:r>
              <a:rPr lang="en-US" sz="2200" dirty="0" err="1"/>
              <a:t>ngoài</a:t>
            </a:r>
            <a:r>
              <a:rPr lang="en-US" sz="2200" dirty="0"/>
              <a:t> package.</a:t>
            </a:r>
          </a:p>
        </p:txBody>
      </p:sp>
    </p:spTree>
    <p:extLst>
      <p:ext uri="{BB962C8B-B14F-4D97-AF65-F5344CB8AC3E}">
        <p14:creationId xmlns:p14="http://schemas.microsoft.com/office/powerpoint/2010/main" val="3228614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5B26-FB68-4367-884F-0F393F0B97D6}"/>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default</a:t>
            </a:r>
          </a:p>
        </p:txBody>
      </p:sp>
      <p:pic>
        <p:nvPicPr>
          <p:cNvPr id="5" name="Content Placeholder 4" descr="A screenshot of a cell phone&#10;&#10;Description automatically generated">
            <a:extLst>
              <a:ext uri="{FF2B5EF4-FFF2-40B4-BE49-F238E27FC236}">
                <a16:creationId xmlns:a16="http://schemas.microsoft.com/office/drawing/2014/main" id="{3A6B0263-A564-498A-AF10-89D9B843A6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637" y="2290808"/>
            <a:ext cx="5645163" cy="3695700"/>
          </a:xfrm>
        </p:spPr>
      </p:pic>
      <p:pic>
        <p:nvPicPr>
          <p:cNvPr id="7" name="Picture 6" descr="A screenshot of a cell phone&#10;&#10;Description automatically generated">
            <a:extLst>
              <a:ext uri="{FF2B5EF4-FFF2-40B4-BE49-F238E27FC236}">
                <a16:creationId xmlns:a16="http://schemas.microsoft.com/office/drawing/2014/main" id="{AFC28DA4-DD54-416B-89C7-CE4C799DEE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202" y="2910912"/>
            <a:ext cx="5464013" cy="2598645"/>
          </a:xfrm>
          <a:prstGeom prst="rect">
            <a:avLst/>
          </a:prstGeom>
        </p:spPr>
      </p:pic>
    </p:spTree>
    <p:extLst>
      <p:ext uri="{BB962C8B-B14F-4D97-AF65-F5344CB8AC3E}">
        <p14:creationId xmlns:p14="http://schemas.microsoft.com/office/powerpoint/2010/main" val="2628585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0D83C-8F2F-4FFA-B1A3-565906129541}"/>
              </a:ext>
            </a:extLst>
          </p:cNvPr>
          <p:cNvSpPr>
            <a:spLocks noGrp="1"/>
          </p:cNvSpPr>
          <p:nvPr>
            <p:ph type="title"/>
          </p:nvPr>
        </p:nvSpPr>
        <p:spPr/>
        <p:txBody>
          <a:bodyPr/>
          <a:lstStyle/>
          <a:p>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protected</a:t>
            </a:r>
          </a:p>
        </p:txBody>
      </p:sp>
      <p:sp>
        <p:nvSpPr>
          <p:cNvPr id="3" name="Content Placeholder 2">
            <a:extLst>
              <a:ext uri="{FF2B5EF4-FFF2-40B4-BE49-F238E27FC236}">
                <a16:creationId xmlns:a16="http://schemas.microsoft.com/office/drawing/2014/main" id="{FA471EEB-649E-4115-A0A1-FC9DDD628A7A}"/>
              </a:ext>
            </a:extLst>
          </p:cNvPr>
          <p:cNvSpPr>
            <a:spLocks noGrp="1"/>
          </p:cNvSpPr>
          <p:nvPr>
            <p:ph idx="1"/>
          </p:nvPr>
        </p:nvSpPr>
        <p:spPr/>
        <p:txBody>
          <a:bodyPr>
            <a:normAutofit/>
          </a:bodyPr>
          <a:lstStyle/>
          <a:p>
            <a:pPr marL="0" indent="0">
              <a:lnSpc>
                <a:spcPct val="200000"/>
              </a:lnSpc>
              <a:buNone/>
            </a:pPr>
            <a:r>
              <a:rPr lang="en-US" sz="2200" dirty="0"/>
              <a:t>	</a:t>
            </a:r>
            <a:r>
              <a:rPr lang="en-US" sz="2200" dirty="0" err="1"/>
              <a:t>Khả</a:t>
            </a:r>
            <a:r>
              <a:rPr lang="en-US" sz="2200" dirty="0"/>
              <a:t> </a:t>
            </a:r>
            <a:r>
              <a:rPr lang="en-US" sz="2200" dirty="0" err="1"/>
              <a:t>năng</a:t>
            </a:r>
            <a:r>
              <a:rPr lang="en-US" sz="2200" dirty="0"/>
              <a:t> </a:t>
            </a:r>
            <a:r>
              <a:rPr lang="en-US" sz="2200" dirty="0" err="1"/>
              <a:t>này</a:t>
            </a:r>
            <a:r>
              <a:rPr lang="en-US" sz="2200" dirty="0"/>
              <a:t> </a:t>
            </a:r>
            <a:r>
              <a:rPr lang="en-US" sz="2200" dirty="0" err="1"/>
              <a:t>mang</a:t>
            </a:r>
            <a:r>
              <a:rPr lang="en-US" sz="2200" dirty="0"/>
              <a:t> ý </a:t>
            </a:r>
            <a:r>
              <a:rPr lang="en-US" sz="2200" dirty="0" err="1"/>
              <a:t>nghĩa</a:t>
            </a:r>
            <a:r>
              <a:rPr lang="en-US" sz="2200" dirty="0"/>
              <a:t> </a:t>
            </a:r>
            <a:r>
              <a:rPr lang="en-US" sz="2200" dirty="0" err="1"/>
              <a:t>bảo</a:t>
            </a:r>
            <a:r>
              <a:rPr lang="en-US" sz="2200" dirty="0"/>
              <a:t> </a:t>
            </a:r>
            <a:r>
              <a:rPr lang="en-US" sz="2200" dirty="0" err="1"/>
              <a:t>vệ</a:t>
            </a:r>
            <a:r>
              <a:rPr lang="en-US" sz="2200" dirty="0"/>
              <a:t> </a:t>
            </a:r>
            <a:r>
              <a:rPr lang="en-US" sz="2200" dirty="0" err="1"/>
              <a:t>các</a:t>
            </a:r>
            <a:r>
              <a:rPr lang="en-US" sz="2200" dirty="0"/>
              <a:t> </a:t>
            </a:r>
            <a:r>
              <a:rPr lang="en-US" sz="2200" dirty="0" err="1"/>
              <a:t>giá</a:t>
            </a:r>
            <a:r>
              <a:rPr lang="en-US" sz="2200" dirty="0"/>
              <a:t> </a:t>
            </a:r>
            <a:r>
              <a:rPr lang="en-US" sz="2200" dirty="0" err="1"/>
              <a:t>trị</a:t>
            </a:r>
            <a:r>
              <a:rPr lang="en-US" sz="2200" dirty="0"/>
              <a:t> </a:t>
            </a:r>
            <a:r>
              <a:rPr lang="en-US" sz="2200" dirty="0" err="1"/>
              <a:t>của</a:t>
            </a:r>
            <a:r>
              <a:rPr lang="en-US" sz="2200" dirty="0"/>
              <a:t> </a:t>
            </a:r>
            <a:r>
              <a:rPr lang="en-US" sz="2200" dirty="0" err="1"/>
              <a:t>lớp</a:t>
            </a:r>
            <a:r>
              <a:rPr lang="en-US" sz="2200" dirty="0"/>
              <a:t> </a:t>
            </a:r>
            <a:r>
              <a:rPr lang="en-US" sz="2200" dirty="0" err="1"/>
              <a:t>cho</a:t>
            </a:r>
            <a:r>
              <a:rPr lang="en-US" sz="2200" dirty="0"/>
              <a:t> </a:t>
            </a:r>
            <a:r>
              <a:rPr lang="en-US" sz="2200" dirty="0" err="1"/>
              <a:t>các</a:t>
            </a:r>
            <a:r>
              <a:rPr lang="en-US" sz="2200" dirty="0"/>
              <a:t> </a:t>
            </a:r>
            <a:r>
              <a:rPr lang="en-US" sz="2200" dirty="0" err="1"/>
              <a:t>lớp</a:t>
            </a:r>
            <a:r>
              <a:rPr lang="en-US" sz="2200" dirty="0"/>
              <a:t> con </a:t>
            </a:r>
            <a:r>
              <a:rPr lang="en-US" sz="2200" dirty="0" err="1"/>
              <a:t>của</a:t>
            </a:r>
            <a:r>
              <a:rPr lang="en-US" sz="2200" dirty="0"/>
              <a:t> </a:t>
            </a:r>
            <a:r>
              <a:rPr lang="en-US" sz="2200" dirty="0" err="1"/>
              <a:t>nó</a:t>
            </a:r>
            <a:r>
              <a:rPr lang="en-US" sz="2200" dirty="0"/>
              <a:t> </a:t>
            </a:r>
            <a:r>
              <a:rPr lang="en-US" sz="2200" dirty="0" err="1"/>
              <a:t>dùng</a:t>
            </a:r>
            <a:r>
              <a:rPr lang="en-US" sz="2200" dirty="0"/>
              <a:t> </a:t>
            </a:r>
            <a:r>
              <a:rPr lang="en-US" sz="2200" dirty="0" err="1"/>
              <a:t>lại</a:t>
            </a:r>
            <a:r>
              <a:rPr lang="en-US" sz="2200" dirty="0"/>
              <a:t> </a:t>
            </a:r>
            <a:r>
              <a:rPr lang="en-US" sz="2200" dirty="0" err="1"/>
              <a:t>hoặc</a:t>
            </a:r>
            <a:r>
              <a:rPr lang="en-US" sz="2200" dirty="0"/>
              <a:t> </a:t>
            </a:r>
            <a:r>
              <a:rPr lang="en-US" sz="2200" dirty="0" err="1"/>
              <a:t>ghi</a:t>
            </a:r>
            <a:r>
              <a:rPr lang="en-US" sz="2200" dirty="0"/>
              <a:t> </a:t>
            </a:r>
            <a:r>
              <a:rPr lang="en-US" sz="2200" dirty="0" err="1"/>
              <a:t>đè</a:t>
            </a:r>
            <a:r>
              <a:rPr lang="en-US" sz="2200" dirty="0"/>
              <a:t>. Do </a:t>
            </a:r>
            <a:r>
              <a:rPr lang="en-US" sz="2200" dirty="0" err="1"/>
              <a:t>đó</a:t>
            </a:r>
            <a:r>
              <a:rPr lang="en-US" sz="2200" dirty="0"/>
              <a:t> </a:t>
            </a:r>
            <a:r>
              <a:rPr lang="en-US" sz="2200" dirty="0" err="1"/>
              <a:t>có</a:t>
            </a:r>
            <a:r>
              <a:rPr lang="en-US" sz="2200" dirty="0"/>
              <a:t> </a:t>
            </a:r>
            <a:r>
              <a:rPr lang="en-US" sz="2200" dirty="0" err="1"/>
              <a:t>thể</a:t>
            </a:r>
            <a:r>
              <a:rPr lang="en-US" sz="2200" dirty="0"/>
              <a:t> </a:t>
            </a:r>
            <a:r>
              <a:rPr lang="en-US" sz="2200" dirty="0" err="1"/>
              <a:t>hiểu</a:t>
            </a:r>
            <a:r>
              <a:rPr lang="en-US" sz="2200" dirty="0"/>
              <a:t>, </a:t>
            </a:r>
            <a:r>
              <a:rPr lang="en-US" sz="2200" dirty="0" err="1"/>
              <a:t>khả</a:t>
            </a:r>
            <a:r>
              <a:rPr lang="en-US" sz="2200" dirty="0"/>
              <a:t> </a:t>
            </a:r>
            <a:r>
              <a:rPr lang="en-US" sz="2200" dirty="0" err="1"/>
              <a:t>năng</a:t>
            </a:r>
            <a:r>
              <a:rPr lang="en-US" sz="2200" dirty="0"/>
              <a:t> protected </a:t>
            </a:r>
            <a:r>
              <a:rPr lang="en-US" sz="2200" dirty="0" err="1"/>
              <a:t>sẽ</a:t>
            </a:r>
            <a:r>
              <a:rPr lang="en-US" sz="2200" dirty="0"/>
              <a:t> </a:t>
            </a:r>
            <a:r>
              <a:rPr lang="en-US" sz="2200" dirty="0" err="1"/>
              <a:t>trao</a:t>
            </a:r>
            <a:r>
              <a:rPr lang="en-US" sz="2200" dirty="0"/>
              <a:t> </a:t>
            </a:r>
            <a:r>
              <a:rPr lang="en-US" sz="2200" dirty="0" err="1"/>
              <a:t>quyền</a:t>
            </a:r>
            <a:r>
              <a:rPr lang="en-US" sz="2200" dirty="0"/>
              <a:t> </a:t>
            </a:r>
            <a:r>
              <a:rPr lang="en-US" sz="2200" dirty="0" err="1"/>
              <a:t>sử</a:t>
            </a:r>
            <a:r>
              <a:rPr lang="en-US" sz="2200" dirty="0"/>
              <a:t> </a:t>
            </a:r>
            <a:r>
              <a:rPr lang="en-US" sz="2200" dirty="0" err="1"/>
              <a:t>dụng</a:t>
            </a:r>
            <a:r>
              <a:rPr lang="en-US" sz="2200" dirty="0"/>
              <a:t> </a:t>
            </a:r>
            <a:r>
              <a:rPr lang="en-US" sz="2200" dirty="0" err="1"/>
              <a:t>hoàn</a:t>
            </a:r>
            <a:r>
              <a:rPr lang="en-US" sz="2200" dirty="0"/>
              <a:t> </a:t>
            </a:r>
            <a:r>
              <a:rPr lang="en-US" sz="2200" dirty="0" err="1"/>
              <a:t>toàn</a:t>
            </a:r>
            <a:r>
              <a:rPr lang="en-US" sz="2200" dirty="0"/>
              <a:t> </a:t>
            </a:r>
            <a:r>
              <a:rPr lang="en-US" sz="2200" dirty="0" err="1"/>
              <a:t>tự</a:t>
            </a:r>
            <a:r>
              <a:rPr lang="en-US" sz="2200" dirty="0"/>
              <a:t> do </a:t>
            </a:r>
            <a:r>
              <a:rPr lang="en-US" sz="2200" dirty="0" err="1"/>
              <a:t>cho</a:t>
            </a:r>
            <a:r>
              <a:rPr lang="en-US" sz="2200" dirty="0"/>
              <a:t> </a:t>
            </a:r>
            <a:r>
              <a:rPr lang="en-US" sz="2200" dirty="0" err="1"/>
              <a:t>các</a:t>
            </a:r>
            <a:r>
              <a:rPr lang="en-US" sz="2200" dirty="0"/>
              <a:t> </a:t>
            </a:r>
            <a:r>
              <a:rPr lang="en-US" sz="2200" dirty="0" err="1"/>
              <a:t>lớp</a:t>
            </a:r>
            <a:r>
              <a:rPr lang="en-US" sz="2200" dirty="0"/>
              <a:t> con, </a:t>
            </a:r>
            <a:r>
              <a:rPr lang="en-US" sz="2200" dirty="0" err="1"/>
              <a:t>dù</a:t>
            </a:r>
            <a:r>
              <a:rPr lang="en-US" sz="2200" dirty="0"/>
              <a:t> </a:t>
            </a:r>
            <a:r>
              <a:rPr lang="en-US" sz="2200" dirty="0" err="1"/>
              <a:t>có</a:t>
            </a:r>
            <a:r>
              <a:rPr lang="en-US" sz="2200" dirty="0"/>
              <a:t> ở </a:t>
            </a:r>
            <a:r>
              <a:rPr lang="en-US" sz="2200" dirty="0" err="1"/>
              <a:t>cùng</a:t>
            </a:r>
            <a:r>
              <a:rPr lang="en-US" sz="2200" dirty="0"/>
              <a:t> hay </a:t>
            </a:r>
            <a:r>
              <a:rPr lang="en-US" sz="2200" dirty="0" err="1"/>
              <a:t>khác</a:t>
            </a:r>
            <a:r>
              <a:rPr lang="en-US" sz="2200" dirty="0"/>
              <a:t> package. </a:t>
            </a:r>
            <a:r>
              <a:rPr lang="en-US" sz="2200" dirty="0" err="1"/>
              <a:t>Khả</a:t>
            </a:r>
            <a:r>
              <a:rPr lang="en-US" sz="2200" dirty="0"/>
              <a:t> </a:t>
            </a:r>
            <a:r>
              <a:rPr lang="en-US" sz="2200" dirty="0" err="1"/>
              <a:t>năng</a:t>
            </a:r>
            <a:r>
              <a:rPr lang="en-US" sz="2200" dirty="0"/>
              <a:t> </a:t>
            </a:r>
            <a:r>
              <a:rPr lang="en-US" sz="2200" dirty="0" err="1"/>
              <a:t>này</a:t>
            </a:r>
            <a:r>
              <a:rPr lang="en-US" sz="2200" dirty="0"/>
              <a:t> </a:t>
            </a:r>
            <a:r>
              <a:rPr lang="en-US" sz="2200" dirty="0" err="1"/>
              <a:t>chỉ</a:t>
            </a:r>
            <a:r>
              <a:rPr lang="en-US" sz="2200" dirty="0"/>
              <a:t> </a:t>
            </a:r>
            <a:r>
              <a:rPr lang="en-US" sz="2200" dirty="0" err="1"/>
              <a:t>giới</a:t>
            </a:r>
            <a:r>
              <a:rPr lang="en-US" sz="2200" dirty="0"/>
              <a:t> </a:t>
            </a:r>
            <a:r>
              <a:rPr lang="en-US" sz="2200" dirty="0" err="1"/>
              <a:t>hạn</a:t>
            </a:r>
            <a:r>
              <a:rPr lang="en-US" sz="2200" dirty="0"/>
              <a:t> </a:t>
            </a:r>
            <a:r>
              <a:rPr lang="en-US" sz="2200" dirty="0" err="1"/>
              <a:t>với</a:t>
            </a:r>
            <a:r>
              <a:rPr lang="en-US" sz="2200" dirty="0"/>
              <a:t> </a:t>
            </a:r>
            <a:r>
              <a:rPr lang="en-US" sz="2200" dirty="0" err="1"/>
              <a:t>các</a:t>
            </a:r>
            <a:r>
              <a:rPr lang="en-US" sz="2200" dirty="0"/>
              <a:t> </a:t>
            </a:r>
            <a:r>
              <a:rPr lang="en-US" sz="2200" dirty="0" err="1"/>
              <a:t>lớp</a:t>
            </a:r>
            <a:r>
              <a:rPr lang="en-US" sz="2200" dirty="0"/>
              <a:t> </a:t>
            </a:r>
            <a:r>
              <a:rPr lang="en-US" sz="2200" dirty="0" err="1"/>
              <a:t>không</a:t>
            </a:r>
            <a:r>
              <a:rPr lang="en-US" sz="2200" dirty="0"/>
              <a:t> </a:t>
            </a:r>
            <a:r>
              <a:rPr lang="en-US" sz="2200" dirty="0" err="1"/>
              <a:t>phải</a:t>
            </a:r>
            <a:r>
              <a:rPr lang="en-US" sz="2200" dirty="0"/>
              <a:t> </a:t>
            </a:r>
            <a:r>
              <a:rPr lang="en-US" sz="2200" dirty="0" err="1"/>
              <a:t>lớp</a:t>
            </a:r>
            <a:r>
              <a:rPr lang="en-US" sz="2200" dirty="0"/>
              <a:t> con </a:t>
            </a:r>
            <a:r>
              <a:rPr lang="en-US" sz="2200" dirty="0" err="1"/>
              <a:t>của</a:t>
            </a:r>
            <a:r>
              <a:rPr lang="en-US" sz="2200" dirty="0"/>
              <a:t> </a:t>
            </a:r>
            <a:r>
              <a:rPr lang="en-US" sz="2200" dirty="0" err="1"/>
              <a:t>nó</a:t>
            </a:r>
            <a:r>
              <a:rPr lang="en-US" sz="2200" dirty="0"/>
              <a:t> </a:t>
            </a:r>
            <a:r>
              <a:rPr lang="en-US" sz="2200" dirty="0" err="1"/>
              <a:t>và</a:t>
            </a:r>
            <a:r>
              <a:rPr lang="en-US" sz="2200" dirty="0"/>
              <a:t> </a:t>
            </a:r>
            <a:r>
              <a:rPr lang="en-US" sz="2200" dirty="0" err="1"/>
              <a:t>nằm</a:t>
            </a:r>
            <a:r>
              <a:rPr lang="en-US" sz="2200" dirty="0"/>
              <a:t> </a:t>
            </a:r>
            <a:r>
              <a:rPr lang="en-US" sz="2200" dirty="0" err="1"/>
              <a:t>ngoài</a:t>
            </a:r>
            <a:r>
              <a:rPr lang="en-US" sz="2200" dirty="0"/>
              <a:t> package.</a:t>
            </a:r>
          </a:p>
        </p:txBody>
      </p:sp>
    </p:spTree>
    <p:extLst>
      <p:ext uri="{BB962C8B-B14F-4D97-AF65-F5344CB8AC3E}">
        <p14:creationId xmlns:p14="http://schemas.microsoft.com/office/powerpoint/2010/main" val="39671394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9FAD5-E5A7-454E-814C-5948BB91BBAD}"/>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protected</a:t>
            </a:r>
          </a:p>
        </p:txBody>
      </p:sp>
      <p:pic>
        <p:nvPicPr>
          <p:cNvPr id="5" name="Content Placeholder 4" descr="A screenshot of a cell phone&#10;&#10;Description automatically generated">
            <a:extLst>
              <a:ext uri="{FF2B5EF4-FFF2-40B4-BE49-F238E27FC236}">
                <a16:creationId xmlns:a16="http://schemas.microsoft.com/office/drawing/2014/main" id="{4354B849-2558-4B41-963E-150CC72FFD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3795" y="2059988"/>
            <a:ext cx="4653788" cy="4188411"/>
          </a:xfrm>
        </p:spPr>
      </p:pic>
      <p:pic>
        <p:nvPicPr>
          <p:cNvPr id="7" name="Picture 6" descr="A screenshot of a cell phone&#10;&#10;Description automatically generated">
            <a:extLst>
              <a:ext uri="{FF2B5EF4-FFF2-40B4-BE49-F238E27FC236}">
                <a16:creationId xmlns:a16="http://schemas.microsoft.com/office/drawing/2014/main" id="{C7DF22DC-46EB-47CB-8D30-67C22E0F7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817" y="2776686"/>
            <a:ext cx="5067739" cy="2316681"/>
          </a:xfrm>
          <a:prstGeom prst="rect">
            <a:avLst/>
          </a:prstGeom>
        </p:spPr>
      </p:pic>
    </p:spTree>
    <p:extLst>
      <p:ext uri="{BB962C8B-B14F-4D97-AF65-F5344CB8AC3E}">
        <p14:creationId xmlns:p14="http://schemas.microsoft.com/office/powerpoint/2010/main" val="3158648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7DB8D-D082-4AA6-80E2-0D105E71F8F3}"/>
              </a:ext>
            </a:extLst>
          </p:cNvPr>
          <p:cNvSpPr>
            <a:spLocks noGrp="1"/>
          </p:cNvSpPr>
          <p:nvPr>
            <p:ph type="title"/>
          </p:nvPr>
        </p:nvSpPr>
        <p:spPr/>
        <p:txBody>
          <a:bodyPr/>
          <a:lstStyle/>
          <a:p>
            <a:r>
              <a:rPr lang="en-US" dirty="0" err="1"/>
              <a:t>Khả</a:t>
            </a:r>
            <a:r>
              <a:rPr lang="en-US" dirty="0"/>
              <a:t> </a:t>
            </a:r>
            <a:r>
              <a:rPr lang="en-US" dirty="0" err="1"/>
              <a:t>Năng</a:t>
            </a:r>
            <a:r>
              <a:rPr lang="en-US" dirty="0"/>
              <a:t> </a:t>
            </a:r>
            <a:r>
              <a:rPr lang="en-US" dirty="0" err="1"/>
              <a:t>Truy</a:t>
            </a:r>
            <a:r>
              <a:rPr lang="en-US" dirty="0"/>
              <a:t> </a:t>
            </a:r>
            <a:r>
              <a:rPr lang="en-US" dirty="0" err="1"/>
              <a:t>Cập</a:t>
            </a:r>
            <a:r>
              <a:rPr lang="en-US" dirty="0"/>
              <a:t> public</a:t>
            </a:r>
          </a:p>
        </p:txBody>
      </p:sp>
      <p:sp>
        <p:nvSpPr>
          <p:cNvPr id="3" name="Content Placeholder 2">
            <a:extLst>
              <a:ext uri="{FF2B5EF4-FFF2-40B4-BE49-F238E27FC236}">
                <a16:creationId xmlns:a16="http://schemas.microsoft.com/office/drawing/2014/main" id="{E0F554CC-645C-4F12-90B0-62071CD1FFCC}"/>
              </a:ext>
            </a:extLst>
          </p:cNvPr>
          <p:cNvSpPr>
            <a:spLocks noGrp="1"/>
          </p:cNvSpPr>
          <p:nvPr>
            <p:ph idx="1"/>
          </p:nvPr>
        </p:nvSpPr>
        <p:spPr/>
        <p:txBody>
          <a:bodyPr/>
          <a:lstStyle/>
          <a:p>
            <a:r>
              <a:rPr lang="vi-VN" dirty="0"/>
              <a:t>Nếu chỉ định một giá trị trong lớp là public, thì coi như tất cả các lớp nào khác đều có thể truy xuất đến các giá trị này.</a:t>
            </a:r>
            <a:endParaRPr lang="en-US" dirty="0"/>
          </a:p>
        </p:txBody>
      </p:sp>
    </p:spTree>
    <p:extLst>
      <p:ext uri="{BB962C8B-B14F-4D97-AF65-F5344CB8AC3E}">
        <p14:creationId xmlns:p14="http://schemas.microsoft.com/office/powerpoint/2010/main" val="41031109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Lớp</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Gói</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solidFill>
                  <a:srgbClr val="FF0000"/>
                </a:solidFill>
                <a:latin typeface="Times New Roman" panose="02020603050405020304" pitchFamily="18" charset="0"/>
                <a:cs typeface="Times New Roman" panose="02020603050405020304" pitchFamily="18" charset="0"/>
              </a:rPr>
              <a:t>Kế</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thừa</a:t>
            </a:r>
            <a:endParaRPr lang="en-US" sz="2400" b="1" dirty="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latin typeface="Times New Roman" panose="02020603050405020304" pitchFamily="18" charset="0"/>
                <a:cs typeface="Times New Roman" panose="02020603050405020304" pitchFamily="18" charset="0"/>
              </a:rPr>
              <a:t>Tính</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Phủ</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Quyết</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Overriding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Trong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Kế</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Lớp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6360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BFC78-857E-45CB-A593-8EC0928153D5}"/>
              </a:ext>
            </a:extLst>
          </p:cNvPr>
          <p:cNvSpPr>
            <a:spLocks noGrp="1"/>
          </p:cNvSpPr>
          <p:nvPr>
            <p:ph type="title"/>
          </p:nvPr>
        </p:nvSpPr>
        <p:spPr>
          <a:xfrm>
            <a:off x="1" y="609600"/>
            <a:ext cx="12192000" cy="1326321"/>
          </a:xfrm>
        </p:spPr>
        <p:txBody>
          <a:bodyPr/>
          <a:lstStyle/>
          <a:p>
            <a:r>
              <a:rPr lang="en-US" dirty="0">
                <a:latin typeface="Times New Roman" panose="02020603050405020304" pitchFamily="18" charset="0"/>
                <a:cs typeface="Times New Roman" panose="02020603050405020304" pitchFamily="18" charset="0"/>
              </a:rPr>
              <a:t>4.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thừa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h</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ớng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t</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25223B-5095-41A2-A983-128C4D504F44}"/>
              </a:ext>
            </a:extLst>
          </p:cNvPr>
          <p:cNvSpPr>
            <a:spLocks noGrp="1"/>
          </p:cNvSpPr>
          <p:nvPr>
            <p:ph idx="1"/>
          </p:nvPr>
        </p:nvSpPr>
        <p:spPr/>
        <p:txBody>
          <a:bodyPr/>
          <a:lstStyle/>
          <a:p>
            <a:r>
              <a:rPr lang="vi-VN" dirty="0"/>
              <a:t>Kế thừa trong lập trình hướng đối tượng ám chỉ đến một mối quan hệ giữa các đối tượng, có người thì nói mối quan hệ này là Cha-Con, có người thì nói là quan hệ Mở rộng. Người ta có vẻ thích cái khái niệm Cha-Con hơn, </a:t>
            </a:r>
            <a:r>
              <a:rPr lang="en-US" dirty="0" err="1"/>
              <a:t>nh</a:t>
            </a:r>
            <a:r>
              <a:rPr lang="vi-VN" dirty="0"/>
              <a:t>ư</a:t>
            </a:r>
            <a:r>
              <a:rPr lang="en-US" dirty="0"/>
              <a:t>ng </a:t>
            </a:r>
            <a:r>
              <a:rPr lang="vi-VN" dirty="0"/>
              <a:t>Mở rộng</a:t>
            </a:r>
            <a:r>
              <a:rPr lang="en-US" dirty="0"/>
              <a:t> </a:t>
            </a:r>
            <a:r>
              <a:rPr lang="en-US" dirty="0" err="1"/>
              <a:t>là</a:t>
            </a:r>
            <a:r>
              <a:rPr lang="en-US" dirty="0"/>
              <a:t> </a:t>
            </a:r>
            <a:r>
              <a:rPr lang="vi-VN" dirty="0"/>
              <a:t>sát nhất nên hiểu là Kế thừa luôn. Bởi vì nó thực chất là một sự dùng lại, một số trường hợp là mở rộng hơn các đặc tính, của một đối tượng từ một đối tượng nào đó khác.</a:t>
            </a:r>
            <a:endParaRPr lang="en-US" dirty="0"/>
          </a:p>
          <a:p>
            <a:r>
              <a:rPr lang="vi-VN" dirty="0"/>
              <a:t>mục đích chính mà kế thừa mang lại, đó là việc tận dụng lại, và mở rộng hơn các thuộc tính và phương thức có sẵn từ một đối tượng nào đó.</a:t>
            </a:r>
            <a:endParaRPr lang="en-US" dirty="0"/>
          </a:p>
        </p:txBody>
      </p:sp>
    </p:spTree>
    <p:extLst>
      <p:ext uri="{BB962C8B-B14F-4D97-AF65-F5344CB8AC3E}">
        <p14:creationId xmlns:p14="http://schemas.microsoft.com/office/powerpoint/2010/main" val="14390444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4F2A-FDD6-4504-ACB7-8DD54C7A7CE9}"/>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kế</a:t>
            </a:r>
            <a:r>
              <a:rPr lang="en-US" dirty="0"/>
              <a:t> </a:t>
            </a:r>
            <a:r>
              <a:rPr lang="en-US" dirty="0" err="1"/>
              <a:t>thừa</a:t>
            </a:r>
            <a:r>
              <a:rPr lang="en-US" dirty="0"/>
              <a:t> </a:t>
            </a:r>
            <a:r>
              <a:rPr lang="en-US" dirty="0" err="1"/>
              <a:t>trong</a:t>
            </a:r>
            <a:r>
              <a:rPr lang="en-US" dirty="0"/>
              <a:t> java</a:t>
            </a:r>
          </a:p>
        </p:txBody>
      </p:sp>
      <p:sp>
        <p:nvSpPr>
          <p:cNvPr id="7" name="Content Placeholder 6">
            <a:extLst>
              <a:ext uri="{FF2B5EF4-FFF2-40B4-BE49-F238E27FC236}">
                <a16:creationId xmlns:a16="http://schemas.microsoft.com/office/drawing/2014/main" id="{7111E128-AAA9-433B-8C0B-646D3563BB5C}"/>
              </a:ext>
            </a:extLst>
          </p:cNvPr>
          <p:cNvSpPr>
            <a:spLocks noGrp="1"/>
          </p:cNvSpPr>
          <p:nvPr>
            <p:ph idx="1"/>
          </p:nvPr>
        </p:nvSpPr>
        <p:spPr/>
        <p:txBody>
          <a:bodyPr/>
          <a:lstStyle/>
          <a:p>
            <a:pPr algn="just"/>
            <a:r>
              <a:rPr lang="vi-VN" dirty="0"/>
              <a:t>Code trên đây là thể hiện rõ ràng cho sự kế thừa, trong đó lớp HinhTru kế thừa HinhTron bằng từ khóa extends. Và theo quy luật kế thừa, thì HinhTru có thể sẽ thừa hưởng các giá trị (thuộc tính và phương thức) mà HinhTron đã khai báo. Qua mối quan hệ kế thừa như vậy, người ta có thể gọi lớp HinhTron là lớp Cơ sở (Base Class), hay lớp Cha (Parent Class). Còn lớp HinhTru được gọi là lớp Dẫn xuất (Derived Class) hay lớp Con (Subclass, Child Class).</a:t>
            </a:r>
            <a:endParaRPr lang="en-US" dirty="0"/>
          </a:p>
        </p:txBody>
      </p:sp>
      <p:pic>
        <p:nvPicPr>
          <p:cNvPr id="9" name="Picture 8" descr="A picture containing bird&#10;&#10;Description automatically generated">
            <a:extLst>
              <a:ext uri="{FF2B5EF4-FFF2-40B4-BE49-F238E27FC236}">
                <a16:creationId xmlns:a16="http://schemas.microsoft.com/office/drawing/2014/main" id="{743FF5D1-29FD-4027-AAEC-031FB832C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6406" y="4326176"/>
            <a:ext cx="3863469" cy="2353836"/>
          </a:xfrm>
          <a:prstGeom prst="rect">
            <a:avLst/>
          </a:prstGeom>
        </p:spPr>
      </p:pic>
    </p:spTree>
    <p:extLst>
      <p:ext uri="{BB962C8B-B14F-4D97-AF65-F5344CB8AC3E}">
        <p14:creationId xmlns:p14="http://schemas.microsoft.com/office/powerpoint/2010/main" val="882788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26241-51E5-4C37-AC7F-4E68C810EB16}"/>
              </a:ext>
            </a:extLst>
          </p:cNvPr>
          <p:cNvSpPr>
            <a:spLocks noGrp="1"/>
          </p:cNvSpPr>
          <p:nvPr>
            <p:ph type="title"/>
          </p:nvPr>
        </p:nvSpPr>
        <p:spPr/>
        <p:txBody>
          <a:bodyPr/>
          <a:lstStyle/>
          <a:p>
            <a:r>
              <a:rPr lang="en-US" dirty="0" err="1"/>
              <a:t>Đặc</a:t>
            </a:r>
            <a:r>
              <a:rPr lang="en-US" dirty="0"/>
              <a:t> </a:t>
            </a:r>
            <a:r>
              <a:rPr lang="en-US" dirty="0" err="1"/>
              <a:t>điểm</a:t>
            </a:r>
            <a:r>
              <a:rPr lang="en-US" dirty="0"/>
              <a:t> </a:t>
            </a:r>
            <a:r>
              <a:rPr lang="en-US" dirty="0" err="1"/>
              <a:t>chú</a:t>
            </a:r>
            <a:r>
              <a:rPr lang="en-US" dirty="0"/>
              <a:t> ý </a:t>
            </a:r>
            <a:r>
              <a:rPr lang="en-US" dirty="0" err="1"/>
              <a:t>trong</a:t>
            </a:r>
            <a:r>
              <a:rPr lang="en-US" dirty="0"/>
              <a:t> </a:t>
            </a:r>
            <a:r>
              <a:rPr lang="en-US" dirty="0" err="1"/>
              <a:t>kế</a:t>
            </a:r>
            <a:r>
              <a:rPr lang="en-US" dirty="0"/>
              <a:t> </a:t>
            </a:r>
            <a:r>
              <a:rPr lang="en-US" dirty="0" err="1"/>
              <a:t>thừa</a:t>
            </a:r>
            <a:endParaRPr lang="en-US" dirty="0"/>
          </a:p>
        </p:txBody>
      </p:sp>
      <p:sp>
        <p:nvSpPr>
          <p:cNvPr id="3" name="Content Placeholder 2">
            <a:extLst>
              <a:ext uri="{FF2B5EF4-FFF2-40B4-BE49-F238E27FC236}">
                <a16:creationId xmlns:a16="http://schemas.microsoft.com/office/drawing/2014/main" id="{67FDF16D-AA88-43FE-B99B-295DC72D133B}"/>
              </a:ext>
            </a:extLst>
          </p:cNvPr>
          <p:cNvSpPr>
            <a:spLocks noGrp="1"/>
          </p:cNvSpPr>
          <p:nvPr>
            <p:ph idx="1"/>
          </p:nvPr>
        </p:nvSpPr>
        <p:spPr/>
        <p:txBody>
          <a:bodyPr>
            <a:normAutofit/>
          </a:bodyPr>
          <a:lstStyle/>
          <a:p>
            <a:pPr marL="0" indent="0">
              <a:lnSpc>
                <a:spcPct val="150000"/>
              </a:lnSpc>
              <a:buNone/>
            </a:pPr>
            <a:r>
              <a:rPr lang="en-US" dirty="0"/>
              <a:t>	</a:t>
            </a:r>
            <a:r>
              <a:rPr lang="vi-VN" dirty="0"/>
              <a:t>– Một lớp chỉ được phép kế thừa từ một và chỉ một lớp cha mà thôi.</a:t>
            </a:r>
          </a:p>
          <a:p>
            <a:pPr marL="0" indent="0">
              <a:lnSpc>
                <a:spcPct val="150000"/>
              </a:lnSpc>
              <a:buNone/>
            </a:pPr>
            <a:r>
              <a:rPr lang="en-US" dirty="0"/>
              <a:t>	</a:t>
            </a:r>
            <a:r>
              <a:rPr lang="vi-VN" dirty="0"/>
              <a:t>– Tuy không được kế thừa từ nhiều lớp cha, nhưng lớp cha mà đối tượng đang kế thừa này có thể kế thừa từ một lớp cha khác</a:t>
            </a:r>
            <a:r>
              <a:rPr lang="en-US" dirty="0"/>
              <a:t>.</a:t>
            </a:r>
            <a:endParaRPr lang="vi-VN" dirty="0"/>
          </a:p>
          <a:p>
            <a:pPr marL="0" indent="0">
              <a:lnSpc>
                <a:spcPct val="150000"/>
              </a:lnSpc>
              <a:buNone/>
            </a:pPr>
            <a:r>
              <a:rPr lang="en-US" dirty="0"/>
              <a:t>	</a:t>
            </a:r>
            <a:r>
              <a:rPr lang="vi-VN" dirty="0"/>
              <a:t>– Nếu một lớp không khai báo kế thừa gì, thì khi này hệ thống sẽ mặc định xem là nó đang kế thừa từ lớp Object</a:t>
            </a:r>
            <a:r>
              <a:rPr lang="en-US" dirty="0"/>
              <a:t> (</a:t>
            </a:r>
            <a:r>
              <a:rPr lang="en-US" dirty="0" err="1"/>
              <a:t>sẽ</a:t>
            </a:r>
            <a:r>
              <a:rPr lang="en-US" dirty="0"/>
              <a:t> đ</a:t>
            </a:r>
            <a:r>
              <a:rPr lang="vi-VN" dirty="0"/>
              <a:t>ư</a:t>
            </a:r>
            <a:r>
              <a:rPr lang="en-US" dirty="0" err="1"/>
              <a:t>ợc</a:t>
            </a:r>
            <a:r>
              <a:rPr lang="en-US" dirty="0"/>
              <a:t> </a:t>
            </a:r>
            <a:r>
              <a:rPr lang="en-US" dirty="0" err="1"/>
              <a:t>giới</a:t>
            </a:r>
            <a:r>
              <a:rPr lang="en-US" dirty="0"/>
              <a:t> </a:t>
            </a:r>
            <a:r>
              <a:rPr lang="en-US" dirty="0" err="1"/>
              <a:t>thiệu</a:t>
            </a:r>
            <a:r>
              <a:rPr lang="en-US" dirty="0"/>
              <a:t> </a:t>
            </a:r>
            <a:r>
              <a:rPr lang="en-US" dirty="0" err="1"/>
              <a:t>trong</a:t>
            </a:r>
            <a:r>
              <a:rPr lang="en-US" dirty="0"/>
              <a:t> </a:t>
            </a:r>
            <a:r>
              <a:rPr lang="en-US" dirty="0" err="1"/>
              <a:t>các</a:t>
            </a:r>
            <a:r>
              <a:rPr lang="en-US" dirty="0"/>
              <a:t> </a:t>
            </a:r>
            <a:r>
              <a:rPr lang="en-US" dirty="0" err="1"/>
              <a:t>phần</a:t>
            </a:r>
            <a:r>
              <a:rPr lang="en-US" dirty="0"/>
              <a:t> </a:t>
            </a:r>
            <a:r>
              <a:rPr lang="en-US" dirty="0" err="1"/>
              <a:t>sau</a:t>
            </a:r>
            <a:r>
              <a:rPr lang="en-US" dirty="0"/>
              <a:t>)</a:t>
            </a:r>
          </a:p>
        </p:txBody>
      </p:sp>
    </p:spTree>
    <p:extLst>
      <p:ext uri="{BB962C8B-B14F-4D97-AF65-F5344CB8AC3E}">
        <p14:creationId xmlns:p14="http://schemas.microsoft.com/office/powerpoint/2010/main" val="26086999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39586-28CF-4F08-9C52-716721D91328}"/>
              </a:ext>
            </a:extLst>
          </p:cNvPr>
          <p:cNvSpPr>
            <a:spLocks noGrp="1"/>
          </p:cNvSpPr>
          <p:nvPr>
            <p:ph type="title"/>
          </p:nvPr>
        </p:nvSpPr>
        <p:spPr>
          <a:xfrm>
            <a:off x="847120" y="190500"/>
            <a:ext cx="10353761" cy="638175"/>
          </a:xfrm>
        </p:spPr>
        <p:txBody>
          <a:bodyPr/>
          <a:lstStyle/>
          <a:p>
            <a:r>
              <a:rPr lang="en-US" dirty="0" err="1"/>
              <a:t>Ví</a:t>
            </a:r>
            <a:r>
              <a:rPr lang="en-US" dirty="0"/>
              <a:t> </a:t>
            </a:r>
            <a:r>
              <a:rPr lang="en-US" dirty="0" err="1"/>
              <a:t>dụ</a:t>
            </a:r>
            <a:r>
              <a:rPr lang="en-US" dirty="0"/>
              <a:t> </a:t>
            </a:r>
            <a:r>
              <a:rPr lang="en-US" dirty="0" err="1"/>
              <a:t>về</a:t>
            </a:r>
            <a:r>
              <a:rPr lang="en-US" dirty="0"/>
              <a:t> </a:t>
            </a:r>
            <a:r>
              <a:rPr lang="en-US" dirty="0" err="1"/>
              <a:t>kế</a:t>
            </a:r>
            <a:r>
              <a:rPr lang="en-US" dirty="0"/>
              <a:t> </a:t>
            </a:r>
            <a:r>
              <a:rPr lang="en-US" dirty="0" err="1"/>
              <a:t>thừa</a:t>
            </a:r>
            <a:endParaRPr lang="en-US" dirty="0"/>
          </a:p>
        </p:txBody>
      </p:sp>
      <p:pic>
        <p:nvPicPr>
          <p:cNvPr id="9218" name="Picture 2" descr="hinhhoc">
            <a:extLst>
              <a:ext uri="{FF2B5EF4-FFF2-40B4-BE49-F238E27FC236}">
                <a16:creationId xmlns:a16="http://schemas.microsoft.com/office/drawing/2014/main" id="{174D059C-8F64-4779-B3A1-1B15C80557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62288" y="731415"/>
            <a:ext cx="6067424" cy="6031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102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A2D6-D064-4688-9A30-1BBFEDF4464A}"/>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kế</a:t>
            </a:r>
            <a:r>
              <a:rPr lang="en-US" dirty="0"/>
              <a:t> </a:t>
            </a:r>
            <a:r>
              <a:rPr lang="en-US" dirty="0" err="1"/>
              <a:t>thừa</a:t>
            </a:r>
            <a:endParaRPr lang="en-US" dirty="0"/>
          </a:p>
        </p:txBody>
      </p:sp>
      <p:pic>
        <p:nvPicPr>
          <p:cNvPr id="10242" name="Picture 2" descr="Screen Shot 2017-06-14 at 06.30.38">
            <a:extLst>
              <a:ext uri="{FF2B5EF4-FFF2-40B4-BE49-F238E27FC236}">
                <a16:creationId xmlns:a16="http://schemas.microsoft.com/office/drawing/2014/main" id="{0FD45FC9-25C3-4E47-A62F-8A0EC35342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57611" y="1935921"/>
            <a:ext cx="4624389" cy="405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7822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B758-3738-435F-90B7-4D01463F7961}"/>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kế</a:t>
            </a:r>
            <a:r>
              <a:rPr lang="en-US" dirty="0"/>
              <a:t> </a:t>
            </a:r>
            <a:r>
              <a:rPr lang="en-US" dirty="0" err="1"/>
              <a:t>thừa</a:t>
            </a:r>
            <a:endParaRPr lang="en-US" dirty="0"/>
          </a:p>
        </p:txBody>
      </p:sp>
      <p:pic>
        <p:nvPicPr>
          <p:cNvPr id="5" name="Content Placeholder 4" descr="A screenshot of a social media post&#10;&#10;Description automatically generated">
            <a:extLst>
              <a:ext uri="{FF2B5EF4-FFF2-40B4-BE49-F238E27FC236}">
                <a16:creationId xmlns:a16="http://schemas.microsoft.com/office/drawing/2014/main" id="{6CF3A9E8-6D24-46C4-B579-A47CD4B73B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6482" y="1800225"/>
            <a:ext cx="5719518" cy="4552950"/>
          </a:xfrm>
        </p:spPr>
      </p:pic>
      <p:pic>
        <p:nvPicPr>
          <p:cNvPr id="7" name="Picture 6" descr="A screenshot of a social media post&#10;&#10;Description automatically generated">
            <a:extLst>
              <a:ext uri="{FF2B5EF4-FFF2-40B4-BE49-F238E27FC236}">
                <a16:creationId xmlns:a16="http://schemas.microsoft.com/office/drawing/2014/main" id="{BD4F20BD-7521-49A4-8087-0DD34CF1F5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700" y="1800225"/>
            <a:ext cx="5452818" cy="4579175"/>
          </a:xfrm>
          <a:prstGeom prst="rect">
            <a:avLst/>
          </a:prstGeom>
        </p:spPr>
      </p:pic>
    </p:spTree>
    <p:extLst>
      <p:ext uri="{BB962C8B-B14F-4D97-AF65-F5344CB8AC3E}">
        <p14:creationId xmlns:p14="http://schemas.microsoft.com/office/powerpoint/2010/main" val="7475259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B9D97-CC3D-4AB2-AF31-471A7610343B}"/>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kế</a:t>
            </a:r>
            <a:r>
              <a:rPr lang="en-US" dirty="0"/>
              <a:t> </a:t>
            </a:r>
            <a:r>
              <a:rPr lang="en-US" dirty="0" err="1"/>
              <a:t>thừa</a:t>
            </a:r>
            <a:endParaRPr lang="en-US" dirty="0"/>
          </a:p>
        </p:txBody>
      </p:sp>
      <p:pic>
        <p:nvPicPr>
          <p:cNvPr id="5" name="Content Placeholder 4" descr="A screenshot of a social media post&#10;&#10;Description automatically generated">
            <a:extLst>
              <a:ext uri="{FF2B5EF4-FFF2-40B4-BE49-F238E27FC236}">
                <a16:creationId xmlns:a16="http://schemas.microsoft.com/office/drawing/2014/main" id="{80683FA0-742F-46A8-A031-0B262CE75C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314" y="1695449"/>
            <a:ext cx="4866536" cy="4835168"/>
          </a:xfrm>
        </p:spPr>
      </p:pic>
      <p:pic>
        <p:nvPicPr>
          <p:cNvPr id="7" name="Picture 6" descr="A screenshot of a cell phone&#10;&#10;Description automatically generated">
            <a:extLst>
              <a:ext uri="{FF2B5EF4-FFF2-40B4-BE49-F238E27FC236}">
                <a16:creationId xmlns:a16="http://schemas.microsoft.com/office/drawing/2014/main" id="{02A54669-B4A8-46C0-B127-E6B85E7B9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354" y="1695449"/>
            <a:ext cx="5326842" cy="4835169"/>
          </a:xfrm>
          <a:prstGeom prst="rect">
            <a:avLst/>
          </a:prstGeom>
        </p:spPr>
      </p:pic>
    </p:spTree>
    <p:extLst>
      <p:ext uri="{BB962C8B-B14F-4D97-AF65-F5344CB8AC3E}">
        <p14:creationId xmlns:p14="http://schemas.microsoft.com/office/powerpoint/2010/main" val="3448729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9EEE5-E6B0-4693-9A1E-7D959B3CA58E}"/>
              </a:ext>
            </a:extLst>
          </p:cNvPr>
          <p:cNvSpPr>
            <a:spLocks noGrp="1"/>
          </p:cNvSpPr>
          <p:nvPr>
            <p:ph type="title"/>
          </p:nvPr>
        </p:nvSpPr>
        <p:spPr>
          <a:xfrm>
            <a:off x="313721" y="376904"/>
            <a:ext cx="6410930" cy="1326321"/>
          </a:xfrm>
        </p:spPr>
        <p:txBody>
          <a:bodyPr/>
          <a:lstStyle/>
          <a:p>
            <a:r>
              <a:rPr lang="en-US" dirty="0" err="1"/>
              <a:t>Ví</a:t>
            </a:r>
            <a:r>
              <a:rPr lang="en-US" dirty="0"/>
              <a:t> </a:t>
            </a:r>
            <a:r>
              <a:rPr lang="en-US" dirty="0" err="1"/>
              <a:t>dụ</a:t>
            </a:r>
            <a:r>
              <a:rPr lang="en-US" dirty="0"/>
              <a:t> </a:t>
            </a:r>
            <a:r>
              <a:rPr lang="en-US" dirty="0" err="1"/>
              <a:t>kế</a:t>
            </a:r>
            <a:r>
              <a:rPr lang="en-US" dirty="0"/>
              <a:t> </a:t>
            </a:r>
            <a:r>
              <a:rPr lang="en-US" dirty="0" err="1"/>
              <a:t>thừa</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992FCCA2-C38C-47FC-B9E6-D85F039BC5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7970" y="2013451"/>
            <a:ext cx="4549534" cy="3078747"/>
          </a:xfrm>
        </p:spPr>
      </p:pic>
      <p:pic>
        <p:nvPicPr>
          <p:cNvPr id="7" name="Picture 6" descr="A screenshot of a cell phone&#10;&#10;Description automatically generated">
            <a:extLst>
              <a:ext uri="{FF2B5EF4-FFF2-40B4-BE49-F238E27FC236}">
                <a16:creationId xmlns:a16="http://schemas.microsoft.com/office/drawing/2014/main" id="{93C3E431-E8BC-4119-9DF3-B684AEDDE9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9326" y="148305"/>
            <a:ext cx="5762624" cy="6561389"/>
          </a:xfrm>
          <a:prstGeom prst="rect">
            <a:avLst/>
          </a:prstGeom>
        </p:spPr>
      </p:pic>
    </p:spTree>
    <p:extLst>
      <p:ext uri="{BB962C8B-B14F-4D97-AF65-F5344CB8AC3E}">
        <p14:creationId xmlns:p14="http://schemas.microsoft.com/office/powerpoint/2010/main" val="14973740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A9614-F3BA-4F06-AC23-7F4AA13C88C3}"/>
              </a:ext>
            </a:extLst>
          </p:cNvPr>
          <p:cNvSpPr>
            <a:spLocks noGrp="1"/>
          </p:cNvSpPr>
          <p:nvPr>
            <p:ph type="title"/>
          </p:nvPr>
        </p:nvSpPr>
        <p:spPr/>
        <p:txBody>
          <a:bodyPr/>
          <a:lstStyle/>
          <a:p>
            <a:r>
              <a:rPr lang="en-US" dirty="0" err="1"/>
              <a:t>Từ</a:t>
            </a:r>
            <a:r>
              <a:rPr lang="en-US" dirty="0"/>
              <a:t> </a:t>
            </a:r>
            <a:r>
              <a:rPr lang="en-US" dirty="0" err="1"/>
              <a:t>Khóa</a:t>
            </a:r>
            <a:r>
              <a:rPr lang="en-US" dirty="0"/>
              <a:t> this &amp; </a:t>
            </a:r>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F9AF8A1E-7882-4ECE-863A-986FC40F8217}"/>
              </a:ext>
            </a:extLst>
          </p:cNvPr>
          <p:cNvSpPr>
            <a:spLocks noGrp="1"/>
          </p:cNvSpPr>
          <p:nvPr>
            <p:ph idx="1"/>
          </p:nvPr>
        </p:nvSpPr>
        <p:spPr/>
        <p:txBody>
          <a:bodyPr/>
          <a:lstStyle/>
          <a:p>
            <a:r>
              <a:rPr lang="en-US" dirty="0"/>
              <a:t>This </a:t>
            </a:r>
            <a:r>
              <a:rPr lang="vi-VN" dirty="0"/>
              <a:t>Sử Dụng this Khi Truy Xuất Đến Thuộc Tính Và Phương Thức Trong Lớp</a:t>
            </a:r>
            <a:endParaRPr lang="en-US" dirty="0"/>
          </a:p>
          <a:p>
            <a:endParaRPr lang="en-US" dirty="0"/>
          </a:p>
        </p:txBody>
      </p:sp>
      <p:pic>
        <p:nvPicPr>
          <p:cNvPr id="5" name="Picture 4" descr="A screenshot of a social media post&#10;&#10;Description automatically generated">
            <a:extLst>
              <a:ext uri="{FF2B5EF4-FFF2-40B4-BE49-F238E27FC236}">
                <a16:creationId xmlns:a16="http://schemas.microsoft.com/office/drawing/2014/main" id="{3DD3DE51-97F6-4333-83DB-94B593B2B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0895" y="2615388"/>
            <a:ext cx="6919560" cy="4084674"/>
          </a:xfrm>
          <a:prstGeom prst="rect">
            <a:avLst/>
          </a:prstGeom>
        </p:spPr>
      </p:pic>
    </p:spTree>
    <p:extLst>
      <p:ext uri="{BB962C8B-B14F-4D97-AF65-F5344CB8AC3E}">
        <p14:creationId xmlns:p14="http://schemas.microsoft.com/office/powerpoint/2010/main" val="604142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13AC-A7D5-4E78-86E6-215B834F0D78}"/>
              </a:ext>
            </a:extLst>
          </p:cNvPr>
          <p:cNvSpPr>
            <a:spLocks noGrp="1"/>
          </p:cNvSpPr>
          <p:nvPr>
            <p:ph type="title"/>
          </p:nvPr>
        </p:nvSpPr>
        <p:spPr>
          <a:xfrm>
            <a:off x="919119" y="161925"/>
            <a:ext cx="10353761" cy="904875"/>
          </a:xfrm>
        </p:spPr>
        <p:txBody>
          <a:bodyPr/>
          <a:lstStyle/>
          <a:p>
            <a:r>
              <a:rPr lang="en-US" dirty="0" err="1"/>
              <a:t>Từ</a:t>
            </a:r>
            <a:r>
              <a:rPr lang="en-US" dirty="0"/>
              <a:t> </a:t>
            </a:r>
            <a:r>
              <a:rPr lang="en-US" dirty="0" err="1"/>
              <a:t>Khóa</a:t>
            </a:r>
            <a:r>
              <a:rPr lang="en-US" dirty="0"/>
              <a:t> this &amp; </a:t>
            </a:r>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59A97AD4-B0B4-4C88-8728-1E62F7C8F143}"/>
              </a:ext>
            </a:extLst>
          </p:cNvPr>
          <p:cNvSpPr>
            <a:spLocks noGrp="1"/>
          </p:cNvSpPr>
          <p:nvPr>
            <p:ph idx="1"/>
          </p:nvPr>
        </p:nvSpPr>
        <p:spPr>
          <a:xfrm>
            <a:off x="919119" y="1057839"/>
            <a:ext cx="10353762" cy="3695136"/>
          </a:xfrm>
        </p:spPr>
        <p:txBody>
          <a:bodyPr/>
          <a:lstStyle/>
          <a:p>
            <a:r>
              <a:rPr lang="en-US" dirty="0" err="1"/>
              <a:t>Sử</a:t>
            </a:r>
            <a:r>
              <a:rPr lang="en-US" dirty="0"/>
              <a:t> </a:t>
            </a:r>
            <a:r>
              <a:rPr lang="en-US" dirty="0" err="1"/>
              <a:t>Dụng</a:t>
            </a:r>
            <a:r>
              <a:rPr lang="en-US" dirty="0"/>
              <a:t> this </a:t>
            </a:r>
            <a:r>
              <a:rPr lang="en-US" dirty="0" err="1"/>
              <a:t>Khi</a:t>
            </a:r>
            <a:r>
              <a:rPr lang="en-US" dirty="0"/>
              <a:t> </a:t>
            </a:r>
            <a:r>
              <a:rPr lang="en-US" dirty="0" err="1"/>
              <a:t>Gọi</a:t>
            </a:r>
            <a:r>
              <a:rPr lang="en-US" dirty="0"/>
              <a:t> </a:t>
            </a:r>
            <a:r>
              <a:rPr lang="en-US" dirty="0" err="1"/>
              <a:t>Đến</a:t>
            </a:r>
            <a:r>
              <a:rPr lang="en-US" dirty="0"/>
              <a:t> </a:t>
            </a:r>
            <a:r>
              <a:rPr lang="en-US" dirty="0" err="1"/>
              <a:t>Một</a:t>
            </a:r>
            <a:r>
              <a:rPr lang="en-US" dirty="0"/>
              <a:t> Constructor </a:t>
            </a:r>
            <a:r>
              <a:rPr lang="en-US" dirty="0" err="1"/>
              <a:t>Khác</a:t>
            </a:r>
            <a:r>
              <a:rPr lang="en-US" dirty="0"/>
              <a:t> </a:t>
            </a:r>
            <a:r>
              <a:rPr lang="en-US" dirty="0" err="1"/>
              <a:t>Bên</a:t>
            </a:r>
            <a:r>
              <a:rPr lang="en-US" dirty="0"/>
              <a:t> </a:t>
            </a:r>
            <a:r>
              <a:rPr lang="en-US" dirty="0" err="1"/>
              <a:t>Trong</a:t>
            </a:r>
            <a:r>
              <a:rPr lang="en-US" dirty="0"/>
              <a:t> </a:t>
            </a:r>
            <a:r>
              <a:rPr lang="en-US" dirty="0" err="1"/>
              <a:t>Lớp</a:t>
            </a:r>
            <a:endParaRPr lang="en-US" dirty="0"/>
          </a:p>
          <a:p>
            <a:endParaRPr lang="en-US" dirty="0"/>
          </a:p>
        </p:txBody>
      </p:sp>
      <p:pic>
        <p:nvPicPr>
          <p:cNvPr id="5" name="Picture 4" descr="A screenshot of a cell phone&#10;&#10;Description automatically generated">
            <a:extLst>
              <a:ext uri="{FF2B5EF4-FFF2-40B4-BE49-F238E27FC236}">
                <a16:creationId xmlns:a16="http://schemas.microsoft.com/office/drawing/2014/main" id="{60CC4271-5A21-45DA-8051-5DB42F6EBB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564" y="1712127"/>
            <a:ext cx="6812870" cy="4755348"/>
          </a:xfrm>
          <a:prstGeom prst="rect">
            <a:avLst/>
          </a:prstGeom>
        </p:spPr>
      </p:pic>
    </p:spTree>
    <p:extLst>
      <p:ext uri="{BB962C8B-B14F-4D97-AF65-F5344CB8AC3E}">
        <p14:creationId xmlns:p14="http://schemas.microsoft.com/office/powerpoint/2010/main" val="301172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3283A-7AB2-4DB5-8A1D-EC60C3616595}"/>
              </a:ext>
            </a:extLst>
          </p:cNvPr>
          <p:cNvSpPr>
            <a:spLocks noGrp="1"/>
          </p:cNvSpPr>
          <p:nvPr>
            <p:ph type="title"/>
          </p:nvPr>
        </p:nvSpPr>
        <p:spPr/>
        <p:txBody>
          <a:bodyPr/>
          <a:lstStyle/>
          <a:p>
            <a:r>
              <a:rPr lang="en-US" dirty="0" err="1"/>
              <a:t>Từ</a:t>
            </a:r>
            <a:r>
              <a:rPr lang="en-US" dirty="0"/>
              <a:t> </a:t>
            </a:r>
            <a:r>
              <a:rPr lang="en-US" dirty="0" err="1"/>
              <a:t>Khóa</a:t>
            </a:r>
            <a:r>
              <a:rPr lang="en-US" dirty="0"/>
              <a:t> this &amp; </a:t>
            </a:r>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EEDB09ED-8B12-4F14-A65F-7CEEE118B310}"/>
              </a:ext>
            </a:extLst>
          </p:cNvPr>
          <p:cNvSpPr>
            <a:spLocks noGrp="1"/>
          </p:cNvSpPr>
          <p:nvPr>
            <p:ph idx="1"/>
          </p:nvPr>
        </p:nvSpPr>
        <p:spPr/>
        <p:txBody>
          <a:bodyPr/>
          <a:lstStyle/>
          <a:p>
            <a:r>
              <a:rPr lang="vi-VN" dirty="0"/>
              <a:t>Sử Dụng this Làm Tham Số Truyền Vào Một Phương Thức Hay Một Constructor Khác</a:t>
            </a:r>
            <a:endParaRPr lang="en-US" dirty="0"/>
          </a:p>
        </p:txBody>
      </p:sp>
      <p:pic>
        <p:nvPicPr>
          <p:cNvPr id="5" name="Picture 4" descr="A screenshot of a cell phone&#10;&#10;Description automatically generated">
            <a:extLst>
              <a:ext uri="{FF2B5EF4-FFF2-40B4-BE49-F238E27FC236}">
                <a16:creationId xmlns:a16="http://schemas.microsoft.com/office/drawing/2014/main" id="{97B79497-E25F-4176-8756-CB8A6D053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5842" y="2811522"/>
            <a:ext cx="6073666" cy="2979678"/>
          </a:xfrm>
          <a:prstGeom prst="rect">
            <a:avLst/>
          </a:prstGeom>
        </p:spPr>
      </p:pic>
    </p:spTree>
    <p:extLst>
      <p:ext uri="{BB962C8B-B14F-4D97-AF65-F5344CB8AC3E}">
        <p14:creationId xmlns:p14="http://schemas.microsoft.com/office/powerpoint/2010/main" val="19111570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FE2C-5A57-4FFA-89D5-75F3A1527266}"/>
              </a:ext>
            </a:extLst>
          </p:cNvPr>
          <p:cNvSpPr>
            <a:spLocks noGrp="1"/>
          </p:cNvSpPr>
          <p:nvPr>
            <p:ph type="title"/>
          </p:nvPr>
        </p:nvSpPr>
        <p:spPr/>
        <p:txBody>
          <a:bodyPr/>
          <a:lstStyle/>
          <a:p>
            <a:r>
              <a:rPr lang="en-US" dirty="0" err="1"/>
              <a:t>Từ</a:t>
            </a:r>
            <a:r>
              <a:rPr lang="en-US" dirty="0"/>
              <a:t> </a:t>
            </a:r>
            <a:r>
              <a:rPr lang="en-US" dirty="0" err="1"/>
              <a:t>Khóa</a:t>
            </a:r>
            <a:r>
              <a:rPr lang="en-US" dirty="0"/>
              <a:t> this &amp; </a:t>
            </a:r>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0C767531-1EEE-4312-88A2-A9C7505951C9}"/>
              </a:ext>
            </a:extLst>
          </p:cNvPr>
          <p:cNvSpPr>
            <a:spLocks noGrp="1"/>
          </p:cNvSpPr>
          <p:nvPr>
            <p:ph idx="1"/>
          </p:nvPr>
        </p:nvSpPr>
        <p:spPr/>
        <p:txBody>
          <a:bodyPr/>
          <a:lstStyle/>
          <a:p>
            <a:r>
              <a:rPr lang="vi-VN" dirty="0"/>
              <a:t>Khác với từ khóa this giúp tham chiếu đến chính đối tượng hiện tại. Từ khóa super lại giúp tham chiếu đến lớp cha, mà là lớp cha gần nhất của nó. Tức là có thể hiểu vui là super không thể được sử dụng để tham chiếu đến lớp “ông nội” được nhé.</a:t>
            </a:r>
            <a:endParaRPr lang="en-US" dirty="0"/>
          </a:p>
        </p:txBody>
      </p:sp>
    </p:spTree>
    <p:extLst>
      <p:ext uri="{BB962C8B-B14F-4D97-AF65-F5344CB8AC3E}">
        <p14:creationId xmlns:p14="http://schemas.microsoft.com/office/powerpoint/2010/main" val="11893583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D800-AC3C-421A-906E-19F691EDD72C}"/>
              </a:ext>
            </a:extLst>
          </p:cNvPr>
          <p:cNvSpPr>
            <a:spLocks noGrp="1"/>
          </p:cNvSpPr>
          <p:nvPr>
            <p:ph type="title"/>
          </p:nvPr>
        </p:nvSpPr>
        <p:spPr>
          <a:xfrm>
            <a:off x="913795" y="609600"/>
            <a:ext cx="5620355" cy="1326321"/>
          </a:xfrm>
        </p:spPr>
        <p:txBody>
          <a:bodyPr/>
          <a:lstStyle/>
          <a:p>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300043A3-D6A9-4473-A75A-34811516FF43}"/>
              </a:ext>
            </a:extLst>
          </p:cNvPr>
          <p:cNvSpPr>
            <a:spLocks noGrp="1"/>
          </p:cNvSpPr>
          <p:nvPr>
            <p:ph idx="1"/>
          </p:nvPr>
        </p:nvSpPr>
        <p:spPr>
          <a:xfrm>
            <a:off x="913795" y="2096064"/>
            <a:ext cx="4950269" cy="3695136"/>
          </a:xfrm>
        </p:spPr>
        <p:txBody>
          <a:bodyPr/>
          <a:lstStyle/>
          <a:p>
            <a:r>
              <a:rPr lang="vi-VN" dirty="0"/>
              <a:t>Sử Dụng super Khi Truy Xuất Đến Thuộc Tính Và Phương Thức Của Lớp Cha Gần Nhất</a:t>
            </a:r>
            <a:r>
              <a:rPr lang="en-US" dirty="0"/>
              <a:t>: </a:t>
            </a:r>
            <a:r>
              <a:rPr lang="en-US" dirty="0" err="1"/>
              <a:t>mục</a:t>
            </a:r>
            <a:r>
              <a:rPr lang="en-US" dirty="0"/>
              <a:t> </a:t>
            </a:r>
            <a:r>
              <a:rPr lang="en-US" dirty="0" err="1"/>
              <a:t>đích</a:t>
            </a:r>
            <a:r>
              <a:rPr lang="en-US" dirty="0"/>
              <a:t> </a:t>
            </a:r>
            <a:r>
              <a:rPr lang="en-US" dirty="0" err="1"/>
              <a:t>đầu</a:t>
            </a:r>
            <a:r>
              <a:rPr lang="en-US" dirty="0"/>
              <a:t> </a:t>
            </a:r>
            <a:r>
              <a:rPr lang="en-US" dirty="0" err="1"/>
              <a:t>tiên</a:t>
            </a:r>
            <a:r>
              <a:rPr lang="en-US" dirty="0"/>
              <a:t> </a:t>
            </a:r>
            <a:r>
              <a:rPr lang="en-US" dirty="0" err="1"/>
              <a:t>của</a:t>
            </a:r>
            <a:r>
              <a:rPr lang="en-US" dirty="0"/>
              <a:t> super </a:t>
            </a:r>
            <a:r>
              <a:rPr lang="en-US" dirty="0" err="1"/>
              <a:t>này</a:t>
            </a:r>
            <a:r>
              <a:rPr lang="en-US" dirty="0"/>
              <a:t> </a:t>
            </a:r>
            <a:r>
              <a:rPr lang="en-US" dirty="0" err="1"/>
              <a:t>là</a:t>
            </a:r>
            <a:r>
              <a:rPr lang="en-US" dirty="0"/>
              <a:t> </a:t>
            </a:r>
            <a:r>
              <a:rPr lang="en-US" dirty="0" err="1"/>
              <a:t>để</a:t>
            </a:r>
            <a:r>
              <a:rPr lang="en-US" dirty="0"/>
              <a:t> </a:t>
            </a:r>
            <a:r>
              <a:rPr lang="en-US" dirty="0" err="1"/>
              <a:t>phân</a:t>
            </a:r>
            <a:r>
              <a:rPr lang="en-US" dirty="0"/>
              <a:t> </a:t>
            </a:r>
            <a:r>
              <a:rPr lang="en-US" dirty="0" err="1"/>
              <a:t>biệt</a:t>
            </a:r>
            <a:r>
              <a:rPr lang="en-US" dirty="0"/>
              <a:t> </a:t>
            </a:r>
            <a:r>
              <a:rPr lang="en-US" dirty="0" err="1"/>
              <a:t>đâu</a:t>
            </a:r>
            <a:r>
              <a:rPr lang="en-US" dirty="0"/>
              <a:t> </a:t>
            </a:r>
            <a:r>
              <a:rPr lang="en-US" dirty="0" err="1"/>
              <a:t>là</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lớp</a:t>
            </a:r>
            <a:r>
              <a:rPr lang="en-US" dirty="0"/>
              <a:t> con </a:t>
            </a:r>
            <a:r>
              <a:rPr lang="en-US" dirty="0" err="1"/>
              <a:t>và</a:t>
            </a:r>
            <a:r>
              <a:rPr lang="en-US" dirty="0"/>
              <a:t> </a:t>
            </a:r>
            <a:r>
              <a:rPr lang="en-US" dirty="0" err="1"/>
              <a:t>đâu</a:t>
            </a:r>
            <a:r>
              <a:rPr lang="en-US" dirty="0"/>
              <a:t> </a:t>
            </a:r>
            <a:r>
              <a:rPr lang="en-US" dirty="0" err="1"/>
              <a:t>là</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lớp</a:t>
            </a:r>
            <a:r>
              <a:rPr lang="en-US" dirty="0"/>
              <a:t> cha </a:t>
            </a:r>
            <a:r>
              <a:rPr lang="en-US" dirty="0" err="1"/>
              <a:t>gần</a:t>
            </a:r>
            <a:r>
              <a:rPr lang="en-US" dirty="0"/>
              <a:t> </a:t>
            </a:r>
            <a:r>
              <a:rPr lang="en-US" dirty="0" err="1"/>
              <a:t>nhất</a:t>
            </a:r>
            <a:r>
              <a:rPr lang="en-US" dirty="0"/>
              <a:t> </a:t>
            </a:r>
            <a:r>
              <a:rPr lang="en-US" dirty="0" err="1"/>
              <a:t>khi</a:t>
            </a:r>
            <a:r>
              <a:rPr lang="en-US" dirty="0"/>
              <a:t> </a:t>
            </a:r>
            <a:r>
              <a:rPr lang="en-US" dirty="0" err="1"/>
              <a:t>chúng</a:t>
            </a:r>
            <a:r>
              <a:rPr lang="en-US" dirty="0"/>
              <a:t> </a:t>
            </a:r>
            <a:r>
              <a:rPr lang="en-US" dirty="0" err="1"/>
              <a:t>bị</a:t>
            </a:r>
            <a:r>
              <a:rPr lang="en-US" dirty="0"/>
              <a:t> </a:t>
            </a:r>
            <a:r>
              <a:rPr lang="en-US" dirty="0" err="1"/>
              <a:t>trùng</a:t>
            </a:r>
            <a:r>
              <a:rPr lang="en-US" dirty="0"/>
              <a:t> </a:t>
            </a:r>
            <a:r>
              <a:rPr lang="en-US" dirty="0" err="1"/>
              <a:t>tên</a:t>
            </a:r>
            <a:endParaRPr lang="en-US" dirty="0"/>
          </a:p>
        </p:txBody>
      </p:sp>
      <p:pic>
        <p:nvPicPr>
          <p:cNvPr id="5" name="Picture 4" descr="A screenshot of a cell phone&#10;&#10;Description automatically generated">
            <a:extLst>
              <a:ext uri="{FF2B5EF4-FFF2-40B4-BE49-F238E27FC236}">
                <a16:creationId xmlns:a16="http://schemas.microsoft.com/office/drawing/2014/main" id="{22F09655-0FAC-46E1-A2DE-02A5BC5F5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937" y="247374"/>
            <a:ext cx="5464013" cy="6363251"/>
          </a:xfrm>
          <a:prstGeom prst="rect">
            <a:avLst/>
          </a:prstGeom>
        </p:spPr>
      </p:pic>
    </p:spTree>
    <p:extLst>
      <p:ext uri="{BB962C8B-B14F-4D97-AF65-F5344CB8AC3E}">
        <p14:creationId xmlns:p14="http://schemas.microsoft.com/office/powerpoint/2010/main" val="19503262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ACFC7-2164-4AA4-812D-58130819D242}"/>
              </a:ext>
            </a:extLst>
          </p:cNvPr>
          <p:cNvSpPr>
            <a:spLocks noGrp="1"/>
          </p:cNvSpPr>
          <p:nvPr>
            <p:ph type="title"/>
          </p:nvPr>
        </p:nvSpPr>
        <p:spPr>
          <a:xfrm>
            <a:off x="913795" y="464943"/>
            <a:ext cx="10353761" cy="1326321"/>
          </a:xfrm>
        </p:spPr>
        <p:txBody>
          <a:bodyPr/>
          <a:lstStyle/>
          <a:p>
            <a:r>
              <a:rPr lang="en-US" dirty="0" err="1"/>
              <a:t>Từ</a:t>
            </a:r>
            <a:r>
              <a:rPr lang="en-US" dirty="0"/>
              <a:t> </a:t>
            </a:r>
            <a:r>
              <a:rPr lang="en-US" dirty="0" err="1"/>
              <a:t>Khóa</a:t>
            </a:r>
            <a:r>
              <a:rPr lang="en-US" dirty="0"/>
              <a:t> super</a:t>
            </a:r>
          </a:p>
        </p:txBody>
      </p:sp>
      <p:sp>
        <p:nvSpPr>
          <p:cNvPr id="3" name="Content Placeholder 2">
            <a:extLst>
              <a:ext uri="{FF2B5EF4-FFF2-40B4-BE49-F238E27FC236}">
                <a16:creationId xmlns:a16="http://schemas.microsoft.com/office/drawing/2014/main" id="{0C4B6CCD-38A1-4370-964C-167BED4B3A13}"/>
              </a:ext>
            </a:extLst>
          </p:cNvPr>
          <p:cNvSpPr>
            <a:spLocks noGrp="1"/>
          </p:cNvSpPr>
          <p:nvPr>
            <p:ph idx="1"/>
          </p:nvPr>
        </p:nvSpPr>
        <p:spPr>
          <a:xfrm>
            <a:off x="913795" y="1791264"/>
            <a:ext cx="10353762" cy="3695136"/>
          </a:xfrm>
        </p:spPr>
        <p:txBody>
          <a:bodyPr/>
          <a:lstStyle/>
          <a:p>
            <a:r>
              <a:rPr lang="en-US" dirty="0" err="1"/>
              <a:t>Sử</a:t>
            </a:r>
            <a:r>
              <a:rPr lang="en-US" dirty="0"/>
              <a:t> </a:t>
            </a:r>
            <a:r>
              <a:rPr lang="en-US" dirty="0" err="1"/>
              <a:t>Dụng</a:t>
            </a:r>
            <a:r>
              <a:rPr lang="en-US" dirty="0"/>
              <a:t> super </a:t>
            </a:r>
            <a:r>
              <a:rPr lang="en-US" dirty="0" err="1"/>
              <a:t>Khi</a:t>
            </a:r>
            <a:r>
              <a:rPr lang="en-US" dirty="0"/>
              <a:t> </a:t>
            </a:r>
            <a:r>
              <a:rPr lang="en-US" dirty="0" err="1"/>
              <a:t>Gọi</a:t>
            </a:r>
            <a:r>
              <a:rPr lang="en-US" dirty="0"/>
              <a:t> </a:t>
            </a:r>
            <a:r>
              <a:rPr lang="en-US" dirty="0" err="1"/>
              <a:t>Đến</a:t>
            </a:r>
            <a:r>
              <a:rPr lang="en-US" dirty="0"/>
              <a:t> </a:t>
            </a:r>
            <a:r>
              <a:rPr lang="en-US" dirty="0" err="1"/>
              <a:t>Một</a:t>
            </a:r>
            <a:r>
              <a:rPr lang="en-US" dirty="0"/>
              <a:t> Constructor </a:t>
            </a:r>
            <a:r>
              <a:rPr lang="en-US" dirty="0" err="1"/>
              <a:t>Của</a:t>
            </a:r>
            <a:r>
              <a:rPr lang="en-US" dirty="0"/>
              <a:t> </a:t>
            </a:r>
            <a:r>
              <a:rPr lang="en-US" dirty="0" err="1"/>
              <a:t>Lớp</a:t>
            </a:r>
            <a:r>
              <a:rPr lang="en-US" dirty="0"/>
              <a:t> Cha </a:t>
            </a:r>
            <a:r>
              <a:rPr lang="en-US" dirty="0" err="1"/>
              <a:t>Gần</a:t>
            </a:r>
            <a:r>
              <a:rPr lang="en-US" dirty="0"/>
              <a:t> </a:t>
            </a:r>
            <a:r>
              <a:rPr lang="en-US" dirty="0" err="1"/>
              <a:t>Nhất</a:t>
            </a:r>
            <a:endParaRPr lang="en-US" dirty="0"/>
          </a:p>
        </p:txBody>
      </p:sp>
      <p:pic>
        <p:nvPicPr>
          <p:cNvPr id="5" name="Picture 4" descr="A screenshot of a cell phone&#10;&#10;Description automatically generated">
            <a:extLst>
              <a:ext uri="{FF2B5EF4-FFF2-40B4-BE49-F238E27FC236}">
                <a16:creationId xmlns:a16="http://schemas.microsoft.com/office/drawing/2014/main" id="{5BDEB95F-664C-4931-AF0E-0C8485792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0251" y="2337255"/>
            <a:ext cx="4000847" cy="4145639"/>
          </a:xfrm>
          <a:prstGeom prst="rect">
            <a:avLst/>
          </a:prstGeom>
        </p:spPr>
      </p:pic>
    </p:spTree>
    <p:extLst>
      <p:ext uri="{BB962C8B-B14F-4D97-AF65-F5344CB8AC3E}">
        <p14:creationId xmlns:p14="http://schemas.microsoft.com/office/powerpoint/2010/main" val="4066477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Lớp</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Gói</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US" sz="2400" b="1" dirty="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solidFill>
                  <a:srgbClr val="FF0000"/>
                </a:solidFill>
                <a:latin typeface="Times New Roman" panose="02020603050405020304" pitchFamily="18" charset="0"/>
                <a:cs typeface="Times New Roman" panose="02020603050405020304" pitchFamily="18" charset="0"/>
              </a:rPr>
              <a:t>Tính</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Phủ</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Quyết</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Overriding</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Trong</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Kế</a:t>
            </a:r>
            <a:r>
              <a:rPr lang="nl-NL" sz="2400" b="1" dirty="0">
                <a:solidFill>
                  <a:srgbClr val="FF0000"/>
                </a:solidFill>
                <a:latin typeface="Times New Roman" panose="02020603050405020304" pitchFamily="18" charset="0"/>
                <a:cs typeface="Times New Roman" panose="02020603050405020304" pitchFamily="18" charset="0"/>
              </a:rPr>
              <a:t> </a:t>
            </a:r>
            <a:r>
              <a:rPr lang="nl-NL" sz="2400" b="1" dirty="0" err="1">
                <a:solidFill>
                  <a:srgbClr val="FF0000"/>
                </a:solidFill>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Lớp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7887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F489-F9CA-4B5A-84B1-FAADCECB46E3}"/>
              </a:ext>
            </a:extLst>
          </p:cNvPr>
          <p:cNvSpPr>
            <a:spLocks noGrp="1"/>
          </p:cNvSpPr>
          <p:nvPr>
            <p:ph type="title"/>
          </p:nvPr>
        </p:nvSpPr>
        <p:spPr>
          <a:xfrm>
            <a:off x="1" y="609600"/>
            <a:ext cx="12192000" cy="1326321"/>
          </a:xfrm>
        </p:spPr>
        <p:txBody>
          <a:bodyPr>
            <a:noAutofit/>
          </a:bodyPr>
          <a:lstStyle/>
          <a:p>
            <a:pPr>
              <a:lnSpc>
                <a:spcPct val="150000"/>
              </a:lnSpc>
            </a:pPr>
            <a:r>
              <a:rPr lang="nl-NL" sz="3100" dirty="0">
                <a:latin typeface="Times New Roman" panose="02020603050405020304" pitchFamily="18" charset="0"/>
                <a:cs typeface="Times New Roman" panose="02020603050405020304" pitchFamily="18" charset="0"/>
              </a:rPr>
              <a:t>5. </a:t>
            </a:r>
            <a:r>
              <a:rPr lang="nl-NL" sz="3100" dirty="0" err="1">
                <a:latin typeface="Times New Roman" panose="02020603050405020304" pitchFamily="18" charset="0"/>
                <a:cs typeface="Times New Roman" panose="02020603050405020304" pitchFamily="18" charset="0"/>
              </a:rPr>
              <a:t>Tính</a:t>
            </a:r>
            <a:r>
              <a:rPr lang="nl-NL" sz="3100" dirty="0">
                <a:latin typeface="Times New Roman" panose="02020603050405020304" pitchFamily="18" charset="0"/>
                <a:cs typeface="Times New Roman" panose="02020603050405020304" pitchFamily="18" charset="0"/>
              </a:rPr>
              <a:t> Phủ Quyết (Overriding) Trong Kế Thừa</a:t>
            </a:r>
            <a:endParaRPr lang="en-US" sz="31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59812E-907C-47DC-AAB8-080ECC12D837}"/>
              </a:ext>
            </a:extLst>
          </p:cNvPr>
          <p:cNvSpPr>
            <a:spLocks noGrp="1"/>
          </p:cNvSpPr>
          <p:nvPr>
            <p:ph idx="1"/>
          </p:nvPr>
        </p:nvSpPr>
        <p:spPr>
          <a:xfrm>
            <a:off x="762000" y="2096064"/>
            <a:ext cx="10715625" cy="3695136"/>
          </a:xfrm>
        </p:spPr>
        <p:txBody>
          <a:bodyPr/>
          <a:lstStyle/>
          <a:p>
            <a:r>
              <a:rPr lang="en-US" dirty="0"/>
              <a:t>Đ</a:t>
            </a:r>
            <a:r>
              <a:rPr lang="vi-VN" dirty="0"/>
              <a:t>ể thực hiện cho nhu cầu overriding, chỉ cần đặt tên phương thức ở lớp con trùng tên và tham số truyền vào với phương thức đã có ở lớp cha. Sau đó khai báo một chú thích (tiếng Anh gọi là Annotation) với nội dung @Override ở mỗi phương thức overriding để có sự rõ ràng về code.</a:t>
            </a:r>
            <a:endParaRPr lang="en-US" dirty="0"/>
          </a:p>
        </p:txBody>
      </p:sp>
      <p:pic>
        <p:nvPicPr>
          <p:cNvPr id="11266" name="Picture 2" descr="hinhtron_hinhtru">
            <a:extLst>
              <a:ext uri="{FF2B5EF4-FFF2-40B4-BE49-F238E27FC236}">
                <a16:creationId xmlns:a16="http://schemas.microsoft.com/office/drawing/2014/main" id="{60FC1832-30BC-4E2E-BCCA-01373D69C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088" y="3495675"/>
            <a:ext cx="183832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862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5FA9A-9241-42A9-9E5B-28E7BD924783}"/>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về</a:t>
            </a:r>
            <a:r>
              <a:rPr lang="en-US" dirty="0"/>
              <a:t> overriding</a:t>
            </a:r>
          </a:p>
        </p:txBody>
      </p:sp>
      <p:pic>
        <p:nvPicPr>
          <p:cNvPr id="5" name="Content Placeholder 4" descr="A screenshot of a cell phone&#10;&#10;Description automatically generated">
            <a:extLst>
              <a:ext uri="{FF2B5EF4-FFF2-40B4-BE49-F238E27FC236}">
                <a16:creationId xmlns:a16="http://schemas.microsoft.com/office/drawing/2014/main" id="{C60CD1AB-D8CC-4FAA-813C-56C9CB68C7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7070" y="2240090"/>
            <a:ext cx="5121084" cy="2690093"/>
          </a:xfrm>
        </p:spPr>
      </p:pic>
      <p:pic>
        <p:nvPicPr>
          <p:cNvPr id="7" name="Picture 6" descr="A picture containing bird&#10;&#10;Description automatically generated">
            <a:extLst>
              <a:ext uri="{FF2B5EF4-FFF2-40B4-BE49-F238E27FC236}">
                <a16:creationId xmlns:a16="http://schemas.microsoft.com/office/drawing/2014/main" id="{1A6C1705-6426-4349-AD9D-4A8D4F3F6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2658" y="1873328"/>
            <a:ext cx="5090601" cy="2004234"/>
          </a:xfrm>
          <a:prstGeom prst="rect">
            <a:avLst/>
          </a:prstGeom>
        </p:spPr>
      </p:pic>
      <p:pic>
        <p:nvPicPr>
          <p:cNvPr id="12290" name="Picture 2" descr="Screen Shot 2017-07-26 at 17.11.51">
            <a:extLst>
              <a:ext uri="{FF2B5EF4-FFF2-40B4-BE49-F238E27FC236}">
                <a16:creationId xmlns:a16="http://schemas.microsoft.com/office/drawing/2014/main" id="{47883EBE-5FA7-4D93-9423-6D83F83F1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930" y="4057650"/>
            <a:ext cx="5715000"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4988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1662-B8D2-433A-8E23-4AEBB456BDF8}"/>
              </a:ext>
            </a:extLst>
          </p:cNvPr>
          <p:cNvSpPr>
            <a:spLocks noGrp="1"/>
          </p:cNvSpPr>
          <p:nvPr>
            <p:ph type="title"/>
          </p:nvPr>
        </p:nvSpPr>
        <p:spPr/>
        <p:txBody>
          <a:bodyPr/>
          <a:lstStyle/>
          <a:p>
            <a:r>
              <a:rPr lang="en-US" dirty="0" err="1"/>
              <a:t>Lớp</a:t>
            </a:r>
            <a:r>
              <a:rPr lang="en-US" dirty="0"/>
              <a:t> Object</a:t>
            </a:r>
          </a:p>
        </p:txBody>
      </p:sp>
      <p:sp>
        <p:nvSpPr>
          <p:cNvPr id="3" name="Content Placeholder 2">
            <a:extLst>
              <a:ext uri="{FF2B5EF4-FFF2-40B4-BE49-F238E27FC236}">
                <a16:creationId xmlns:a16="http://schemas.microsoft.com/office/drawing/2014/main" id="{FD263348-09AF-4D41-90BE-1A63D35B9E2C}"/>
              </a:ext>
            </a:extLst>
          </p:cNvPr>
          <p:cNvSpPr>
            <a:spLocks noGrp="1"/>
          </p:cNvSpPr>
          <p:nvPr>
            <p:ph idx="1"/>
          </p:nvPr>
        </p:nvSpPr>
        <p:spPr/>
        <p:txBody>
          <a:bodyPr/>
          <a:lstStyle/>
          <a:p>
            <a:r>
              <a:rPr lang="vi-VN" dirty="0"/>
              <a:t> Lớp này có cái tên là Object, nó là một lớp được hệ thống tạo ra sẵn, và hệ thống cũng chỉ định nó là lớp cha cao nhất của tất cả các lớp trong Java.</a:t>
            </a:r>
            <a:endParaRPr lang="en-US" dirty="0"/>
          </a:p>
          <a:p>
            <a:r>
              <a:rPr lang="en-US" dirty="0"/>
              <a:t>T</a:t>
            </a:r>
            <a:r>
              <a:rPr lang="vi-VN" dirty="0"/>
              <a:t>rong Java, nếu như bạn không chỉ định lớp cha cho một lớp nào đó, thì hệ thống mặc định cho lớp đó kế thừa từ một lớp, chính là lớp Object. </a:t>
            </a:r>
            <a:endParaRPr lang="en-US" dirty="0"/>
          </a:p>
          <a:p>
            <a:r>
              <a:rPr lang="en-US" dirty="0"/>
              <a:t>L</a:t>
            </a:r>
            <a:r>
              <a:rPr lang="vi-VN" dirty="0"/>
              <a:t>ớp Object cũng vậy, lớp này lúc này đóng vai trò là một lớp cơ sở cho bất kỳ lớp nào bạn tạo ra trong một project Java</a:t>
            </a:r>
            <a:endParaRPr lang="en-US" dirty="0"/>
          </a:p>
          <a:p>
            <a:endParaRPr lang="en-US" dirty="0"/>
          </a:p>
          <a:p>
            <a:endParaRPr lang="en-US" dirty="0"/>
          </a:p>
        </p:txBody>
      </p:sp>
      <p:pic>
        <p:nvPicPr>
          <p:cNvPr id="5" name="Picture 4" descr="A screenshot of a cell phone&#10;&#10;Description automatically generated">
            <a:extLst>
              <a:ext uri="{FF2B5EF4-FFF2-40B4-BE49-F238E27FC236}">
                <a16:creationId xmlns:a16="http://schemas.microsoft.com/office/drawing/2014/main" id="{1538D555-F19A-43DC-A3D9-B7396288F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885" y="4991031"/>
            <a:ext cx="2758679" cy="800169"/>
          </a:xfrm>
          <a:prstGeom prst="rect">
            <a:avLst/>
          </a:prstGeom>
        </p:spPr>
      </p:pic>
      <p:pic>
        <p:nvPicPr>
          <p:cNvPr id="7" name="Picture 6" descr="A picture containing bird&#10;&#10;Description automatically generated">
            <a:extLst>
              <a:ext uri="{FF2B5EF4-FFF2-40B4-BE49-F238E27FC236}">
                <a16:creationId xmlns:a16="http://schemas.microsoft.com/office/drawing/2014/main" id="{1BC2C70D-47A5-49DF-8BE6-156900ADA0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9053" y="4930069"/>
            <a:ext cx="4183743" cy="823031"/>
          </a:xfrm>
          <a:prstGeom prst="rect">
            <a:avLst/>
          </a:prstGeom>
        </p:spPr>
      </p:pic>
    </p:spTree>
    <p:extLst>
      <p:ext uri="{BB962C8B-B14F-4D97-AF65-F5344CB8AC3E}">
        <p14:creationId xmlns:p14="http://schemas.microsoft.com/office/powerpoint/2010/main" val="27787080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6D96C-E326-4AA6-BFD8-2E3D44754185}"/>
              </a:ext>
            </a:extLst>
          </p:cNvPr>
          <p:cNvSpPr>
            <a:spLocks noGrp="1"/>
          </p:cNvSpPr>
          <p:nvPr>
            <p:ph type="title"/>
          </p:nvPr>
        </p:nvSpPr>
        <p:spPr>
          <a:xfrm>
            <a:off x="789711" y="590550"/>
            <a:ext cx="10601930" cy="1326321"/>
          </a:xfrm>
        </p:spPr>
        <p:txBody>
          <a:bodyPr/>
          <a:lstStyle/>
          <a:p>
            <a:r>
              <a:rPr lang="vi-VN" dirty="0"/>
              <a:t>Các Phương Thức Mà Lớp Object Cung Cấp</a:t>
            </a:r>
            <a:endParaRPr lang="en-US" dirty="0"/>
          </a:p>
        </p:txBody>
      </p:sp>
      <p:sp>
        <p:nvSpPr>
          <p:cNvPr id="3" name="Content Placeholder 2">
            <a:extLst>
              <a:ext uri="{FF2B5EF4-FFF2-40B4-BE49-F238E27FC236}">
                <a16:creationId xmlns:a16="http://schemas.microsoft.com/office/drawing/2014/main" id="{4F7ADC63-8984-4E1E-A73C-D79B7ABD4434}"/>
              </a:ext>
            </a:extLst>
          </p:cNvPr>
          <p:cNvSpPr>
            <a:spLocks noGrp="1"/>
          </p:cNvSpPr>
          <p:nvPr>
            <p:ph idx="1"/>
          </p:nvPr>
        </p:nvSpPr>
        <p:spPr/>
        <p:txBody>
          <a:bodyPr>
            <a:normAutofit fontScale="85000" lnSpcReduction="10000"/>
          </a:bodyPr>
          <a:lstStyle/>
          <a:p>
            <a:r>
              <a:rPr lang="en-US" dirty="0"/>
              <a:t>public final Class </a:t>
            </a:r>
            <a:r>
              <a:rPr lang="en-US" dirty="0" err="1"/>
              <a:t>getClass</a:t>
            </a:r>
            <a:r>
              <a:rPr lang="en-US" dirty="0"/>
              <a:t>(): </a:t>
            </a:r>
            <a:r>
              <a:rPr lang="vi-VN" dirty="0"/>
              <a:t>Phương thức này trả về một lớp Class, lớp Class này chứa đựng các thông tin được xây dựng sẵn liên quan đến đối tượng đang gọi.</a:t>
            </a:r>
            <a:endParaRPr lang="en-US" dirty="0"/>
          </a:p>
          <a:p>
            <a:pPr marL="0" indent="0">
              <a:buNone/>
            </a:pPr>
            <a:r>
              <a:rPr lang="vi-VN" b="1" i="1" dirty="0">
                <a:solidFill>
                  <a:srgbClr val="FFFF00"/>
                </a:solidFill>
              </a:rPr>
              <a:t>public static void main(String[] args) {</a:t>
            </a:r>
          </a:p>
          <a:p>
            <a:pPr marL="0" indent="0">
              <a:buNone/>
            </a:pPr>
            <a:r>
              <a:rPr lang="vi-VN" b="1" i="1" dirty="0">
                <a:solidFill>
                  <a:srgbClr val="FFFF00"/>
                </a:solidFill>
              </a:rPr>
              <a:t>    HinhTron hinhTron = new HinhTron();</a:t>
            </a:r>
          </a:p>
          <a:p>
            <a:pPr marL="0" indent="0">
              <a:buNone/>
            </a:pPr>
            <a:r>
              <a:rPr lang="vi-VN" b="1" i="1" dirty="0">
                <a:solidFill>
                  <a:srgbClr val="FFFF00"/>
                </a:solidFill>
              </a:rPr>
              <a:t>    System.out.println("Thông tin đối tượng HinhTron: " + hinhTron.getClass());</a:t>
            </a:r>
          </a:p>
          <a:p>
            <a:pPr marL="0" indent="0">
              <a:buNone/>
            </a:pPr>
            <a:r>
              <a:rPr lang="vi-VN" b="1" i="1" dirty="0">
                <a:solidFill>
                  <a:srgbClr val="FFFF00"/>
                </a:solidFill>
              </a:rPr>
              <a:t>    System.out.println("Thông tin đối tượng HinhTron: " + hinhTron.getClass().getName());</a:t>
            </a:r>
          </a:p>
          <a:p>
            <a:pPr marL="0" indent="0">
              <a:buNone/>
            </a:pPr>
            <a:r>
              <a:rPr lang="vi-VN" b="1" i="1" dirty="0">
                <a:solidFill>
                  <a:srgbClr val="FFFF00"/>
                </a:solidFill>
              </a:rPr>
              <a:t>    System.out.println("Thông tin đối tượng HinhTron: " + hinhTron.getClass().getSimpleName());</a:t>
            </a:r>
          </a:p>
          <a:p>
            <a:pPr marL="0" indent="0">
              <a:buNone/>
            </a:pPr>
            <a:r>
              <a:rPr lang="vi-VN" b="1" i="1" dirty="0">
                <a:solidFill>
                  <a:srgbClr val="FFFF00"/>
                </a:solidFill>
              </a:rPr>
              <a:t>}</a:t>
            </a:r>
            <a:endParaRPr lang="en-US" b="1" i="1" dirty="0">
              <a:solidFill>
                <a:srgbClr val="FFFF00"/>
              </a:solidFill>
            </a:endParaRPr>
          </a:p>
        </p:txBody>
      </p:sp>
      <p:pic>
        <p:nvPicPr>
          <p:cNvPr id="13316" name="Picture 4" descr="Lớp Object - Phương thức getClass()">
            <a:extLst>
              <a:ext uri="{FF2B5EF4-FFF2-40B4-BE49-F238E27FC236}">
                <a16:creationId xmlns:a16="http://schemas.microsoft.com/office/drawing/2014/main" id="{B7BF8FED-C413-4646-892A-7E2FB8789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457" y="4719638"/>
            <a:ext cx="5229225" cy="233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5853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2B9B-100A-4A12-A77B-4F01901463A2}"/>
              </a:ext>
            </a:extLst>
          </p:cNvPr>
          <p:cNvSpPr>
            <a:spLocks noGrp="1"/>
          </p:cNvSpPr>
          <p:nvPr>
            <p:ph type="title"/>
          </p:nvPr>
        </p:nvSpPr>
        <p:spPr/>
        <p:txBody>
          <a:bodyPr/>
          <a:lstStyle/>
          <a:p>
            <a:r>
              <a:rPr lang="vi-VN" dirty="0"/>
              <a:t>Phương Thức Getter Và Setter</a:t>
            </a:r>
            <a:endParaRPr lang="en-US" dirty="0"/>
          </a:p>
        </p:txBody>
      </p:sp>
      <p:sp>
        <p:nvSpPr>
          <p:cNvPr id="3" name="Content Placeholder 2">
            <a:extLst>
              <a:ext uri="{FF2B5EF4-FFF2-40B4-BE49-F238E27FC236}">
                <a16:creationId xmlns:a16="http://schemas.microsoft.com/office/drawing/2014/main" id="{03D642D4-D0D5-4F07-8566-7C980ED23DD2}"/>
              </a:ext>
            </a:extLst>
          </p:cNvPr>
          <p:cNvSpPr>
            <a:spLocks noGrp="1"/>
          </p:cNvSpPr>
          <p:nvPr>
            <p:ph idx="1"/>
          </p:nvPr>
        </p:nvSpPr>
        <p:spPr/>
        <p:txBody>
          <a:bodyPr/>
          <a:lstStyle/>
          <a:p>
            <a:r>
              <a:rPr lang="en-US" dirty="0" err="1"/>
              <a:t>Đặc</a:t>
            </a:r>
            <a:r>
              <a:rPr lang="en-US" dirty="0"/>
              <a:t> </a:t>
            </a:r>
            <a:r>
              <a:rPr lang="en-US" dirty="0" err="1"/>
              <a:t>tính</a:t>
            </a:r>
            <a:r>
              <a:rPr lang="en-US" dirty="0"/>
              <a:t> </a:t>
            </a:r>
            <a:r>
              <a:rPr lang="en-US" dirty="0" err="1"/>
              <a:t>gói</a:t>
            </a:r>
            <a:r>
              <a:rPr lang="en-US" dirty="0"/>
              <a:t> </a:t>
            </a:r>
            <a:r>
              <a:rPr lang="en-US" dirty="0" err="1"/>
              <a:t>ghém</a:t>
            </a:r>
            <a:r>
              <a:rPr lang="en-US" dirty="0"/>
              <a:t> </a:t>
            </a:r>
            <a:r>
              <a:rPr lang="en-US" dirty="0" err="1"/>
              <a:t>dữ</a:t>
            </a:r>
            <a:r>
              <a:rPr lang="en-US" dirty="0"/>
              <a:t> </a:t>
            </a:r>
            <a:r>
              <a:rPr lang="en-US" dirty="0" err="1"/>
              <a:t>liệu</a:t>
            </a:r>
            <a:r>
              <a:rPr lang="en-US" dirty="0"/>
              <a:t> </a:t>
            </a:r>
            <a:r>
              <a:rPr lang="en-US" dirty="0" err="1"/>
              <a:t>giúp</a:t>
            </a:r>
            <a:r>
              <a:rPr lang="en-US" dirty="0"/>
              <a:t> bao </a:t>
            </a:r>
            <a:r>
              <a:rPr lang="en-US" dirty="0" err="1"/>
              <a:t>bọc</a:t>
            </a:r>
            <a:r>
              <a:rPr lang="en-US" dirty="0"/>
              <a:t> </a:t>
            </a:r>
            <a:r>
              <a:rPr lang="en-US" dirty="0" err="1"/>
              <a:t>lấy</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một</a:t>
            </a:r>
            <a:r>
              <a:rPr lang="en-US" dirty="0"/>
              <a:t> </a:t>
            </a:r>
            <a:r>
              <a:rPr lang="en-US" dirty="0" err="1"/>
              <a:t>lớp</a:t>
            </a:r>
            <a:r>
              <a:rPr lang="en-US" dirty="0"/>
              <a:t>. </a:t>
            </a:r>
            <a:r>
              <a:rPr lang="en-US" dirty="0" err="1"/>
              <a:t>Nó</a:t>
            </a:r>
            <a:r>
              <a:rPr lang="en-US" dirty="0"/>
              <a:t> </a:t>
            </a:r>
            <a:r>
              <a:rPr lang="en-US" dirty="0" err="1"/>
              <a:t>làm</a:t>
            </a:r>
            <a:r>
              <a:rPr lang="en-US" dirty="0"/>
              <a:t> </a:t>
            </a:r>
            <a:r>
              <a:rPr lang="en-US" dirty="0" err="1"/>
              <a:t>cho</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lớp</a:t>
            </a:r>
            <a:r>
              <a:rPr lang="en-US" dirty="0"/>
              <a:t> </a:t>
            </a:r>
            <a:r>
              <a:rPr lang="en-US" dirty="0" err="1"/>
              <a:t>bị</a:t>
            </a:r>
            <a:r>
              <a:rPr lang="en-US" dirty="0"/>
              <a:t> </a:t>
            </a:r>
            <a:r>
              <a:rPr lang="en-US" dirty="0" err="1"/>
              <a:t>ẩn</a:t>
            </a:r>
            <a:r>
              <a:rPr lang="en-US" dirty="0"/>
              <a:t> </a:t>
            </a:r>
            <a:r>
              <a:rPr lang="en-US" dirty="0" err="1"/>
              <a:t>đi</a:t>
            </a:r>
            <a:r>
              <a:rPr lang="en-US" dirty="0"/>
              <a:t> so </a:t>
            </a:r>
            <a:r>
              <a:rPr lang="en-US" dirty="0" err="1"/>
              <a:t>với</a:t>
            </a:r>
            <a:r>
              <a:rPr lang="en-US" dirty="0"/>
              <a:t> </a:t>
            </a:r>
            <a:r>
              <a:rPr lang="en-US" dirty="0" err="1"/>
              <a:t>các</a:t>
            </a:r>
            <a:r>
              <a:rPr lang="en-US" dirty="0"/>
              <a:t> </a:t>
            </a:r>
            <a:r>
              <a:rPr lang="en-US" dirty="0" err="1"/>
              <a:t>lớp</a:t>
            </a:r>
            <a:r>
              <a:rPr lang="en-US" dirty="0"/>
              <a:t> </a:t>
            </a:r>
            <a:r>
              <a:rPr lang="en-US" dirty="0" err="1"/>
              <a:t>khác</a:t>
            </a:r>
            <a:r>
              <a:rPr lang="en-US" dirty="0"/>
              <a:t>. </a:t>
            </a:r>
            <a:r>
              <a:rPr lang="vi-VN" dirty="0"/>
              <a:t>Các phương thức Getter và Setter  giúp cho các thuộc tính private của một lớp hoặc sẽ không thể truy xuất, hoặc chỉ được phép cho đọc (thông qua phương thức getter), hoặc chỉ cho ghi (thông qua phương thức setter) từ các lớp bên ngoài. Đó gọi là gói ghém dữ liệu.</a:t>
            </a:r>
            <a:endParaRPr lang="en-US" dirty="0"/>
          </a:p>
        </p:txBody>
      </p:sp>
    </p:spTree>
    <p:extLst>
      <p:ext uri="{BB962C8B-B14F-4D97-AF65-F5344CB8AC3E}">
        <p14:creationId xmlns:p14="http://schemas.microsoft.com/office/powerpoint/2010/main" val="30899804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B720-F04D-4D1C-BC48-E5CF0B90D4EE}"/>
              </a:ext>
            </a:extLst>
          </p:cNvPr>
          <p:cNvSpPr>
            <a:spLocks noGrp="1"/>
          </p:cNvSpPr>
          <p:nvPr>
            <p:ph type="title"/>
          </p:nvPr>
        </p:nvSpPr>
        <p:spPr>
          <a:xfrm>
            <a:off x="919119" y="266701"/>
            <a:ext cx="10353761" cy="781050"/>
          </a:xfrm>
        </p:spPr>
        <p:txBody>
          <a:bodyPr/>
          <a:lstStyle/>
          <a:p>
            <a:r>
              <a:rPr lang="en-US" dirty="0" err="1"/>
              <a:t>Ví</a:t>
            </a:r>
            <a:r>
              <a:rPr lang="en-US" dirty="0"/>
              <a:t> </a:t>
            </a:r>
            <a:r>
              <a:rPr lang="en-US" dirty="0" err="1"/>
              <a:t>dụ</a:t>
            </a:r>
            <a:r>
              <a:rPr lang="en-US" dirty="0"/>
              <a:t> </a:t>
            </a:r>
            <a:r>
              <a:rPr lang="en-US" dirty="0" err="1"/>
              <a:t>về</a:t>
            </a:r>
            <a:r>
              <a:rPr lang="en-US" dirty="0"/>
              <a:t> getter </a:t>
            </a:r>
            <a:r>
              <a:rPr lang="en-US" dirty="0" err="1"/>
              <a:t>và</a:t>
            </a:r>
            <a:r>
              <a:rPr lang="en-US" dirty="0"/>
              <a:t> setter</a:t>
            </a:r>
          </a:p>
        </p:txBody>
      </p:sp>
      <p:pic>
        <p:nvPicPr>
          <p:cNvPr id="5" name="Content Placeholder 4" descr="A screenshot of a cell phone&#10;&#10;Description automatically generated">
            <a:extLst>
              <a:ext uri="{FF2B5EF4-FFF2-40B4-BE49-F238E27FC236}">
                <a16:creationId xmlns:a16="http://schemas.microsoft.com/office/drawing/2014/main" id="{C98321AF-B97C-460C-9B94-04F0EB970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461" y="1345371"/>
            <a:ext cx="3143697" cy="4455354"/>
          </a:xfrm>
        </p:spPr>
      </p:pic>
      <p:pic>
        <p:nvPicPr>
          <p:cNvPr id="7" name="Picture 6" descr="A screenshot of a cell phone&#10;&#10;Description automatically generated">
            <a:extLst>
              <a:ext uri="{FF2B5EF4-FFF2-40B4-BE49-F238E27FC236}">
                <a16:creationId xmlns:a16="http://schemas.microsoft.com/office/drawing/2014/main" id="{76F0253B-D055-4C12-9706-2FA49F5607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0412" y="1212023"/>
            <a:ext cx="3152384" cy="2731327"/>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75F81E57-F285-4B0A-8AE7-9BC21D3BBE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0412" y="4107622"/>
            <a:ext cx="7277731" cy="2606266"/>
          </a:xfrm>
          <a:prstGeom prst="rect">
            <a:avLst/>
          </a:prstGeom>
        </p:spPr>
      </p:pic>
    </p:spTree>
    <p:extLst>
      <p:ext uri="{BB962C8B-B14F-4D97-AF65-F5344CB8AC3E}">
        <p14:creationId xmlns:p14="http://schemas.microsoft.com/office/powerpoint/2010/main" val="17292639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B97B7-F1B8-4BBC-A958-B97894A5E5D6}"/>
              </a:ext>
            </a:extLst>
          </p:cNvPr>
          <p:cNvSpPr>
            <a:spLocks noGrp="1"/>
          </p:cNvSpPr>
          <p:nvPr>
            <p:ph type="title"/>
          </p:nvPr>
        </p:nvSpPr>
        <p:spPr>
          <a:xfrm>
            <a:off x="919119" y="200025"/>
            <a:ext cx="10353761" cy="981075"/>
          </a:xfrm>
        </p:spPr>
        <p:txBody>
          <a:bodyPr/>
          <a:lstStyle/>
          <a:p>
            <a:r>
              <a:rPr lang="en-US" dirty="0"/>
              <a:t>Getter, Setter </a:t>
            </a:r>
            <a:r>
              <a:rPr lang="en-US" dirty="0" err="1"/>
              <a:t>Và</a:t>
            </a:r>
            <a:r>
              <a:rPr lang="en-US" dirty="0"/>
              <a:t> </a:t>
            </a:r>
            <a:r>
              <a:rPr lang="en-US" dirty="0" err="1"/>
              <a:t>Những</a:t>
            </a:r>
            <a:r>
              <a:rPr lang="en-US" dirty="0"/>
              <a:t> </a:t>
            </a:r>
            <a:r>
              <a:rPr lang="en-US" dirty="0" err="1"/>
              <a:t>Tùy</a:t>
            </a:r>
            <a:r>
              <a:rPr lang="en-US" dirty="0"/>
              <a:t> </a:t>
            </a:r>
            <a:r>
              <a:rPr lang="en-US" dirty="0" err="1"/>
              <a:t>Biến</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D312D2FA-D502-483C-BCAD-D7CCF3C353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72526"/>
            <a:ext cx="5001383" cy="5546458"/>
          </a:xfrm>
        </p:spPr>
      </p:pic>
      <p:grpSp>
        <p:nvGrpSpPr>
          <p:cNvPr id="10" name="Group 9">
            <a:extLst>
              <a:ext uri="{FF2B5EF4-FFF2-40B4-BE49-F238E27FC236}">
                <a16:creationId xmlns:a16="http://schemas.microsoft.com/office/drawing/2014/main" id="{64D49290-11D5-4FC3-A31D-0D2DB81E681E}"/>
              </a:ext>
            </a:extLst>
          </p:cNvPr>
          <p:cNvGrpSpPr/>
          <p:nvPr/>
        </p:nvGrpSpPr>
        <p:grpSpPr>
          <a:xfrm>
            <a:off x="5135612" y="1880093"/>
            <a:ext cx="6864382" cy="3463432"/>
            <a:chOff x="5135612" y="1880093"/>
            <a:chExt cx="6864382" cy="3463432"/>
          </a:xfrm>
        </p:grpSpPr>
        <p:pic>
          <p:nvPicPr>
            <p:cNvPr id="7" name="Picture 6" descr="A screenshot of a cell phone&#10;&#10;Description automatically generated">
              <a:extLst>
                <a:ext uri="{FF2B5EF4-FFF2-40B4-BE49-F238E27FC236}">
                  <a16:creationId xmlns:a16="http://schemas.microsoft.com/office/drawing/2014/main" id="{22D4ED65-E98F-40D4-B124-03B764039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612" y="1880093"/>
              <a:ext cx="5001383" cy="3463432"/>
            </a:xfrm>
            <a:prstGeom prst="rect">
              <a:avLst/>
            </a:prstGeom>
          </p:spPr>
        </p:pic>
        <p:pic>
          <p:nvPicPr>
            <p:cNvPr id="9" name="Picture 8" descr="A picture containing bird, flower&#10;&#10;Description automatically generated">
              <a:extLst>
                <a:ext uri="{FF2B5EF4-FFF2-40B4-BE49-F238E27FC236}">
                  <a16:creationId xmlns:a16="http://schemas.microsoft.com/office/drawing/2014/main" id="{28E3060C-2235-4EC2-88FC-FA34FB50CE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6995" y="1880094"/>
              <a:ext cx="1862999" cy="3463431"/>
            </a:xfrm>
            <a:prstGeom prst="rect">
              <a:avLst/>
            </a:prstGeom>
          </p:spPr>
        </p:pic>
      </p:grpSp>
    </p:spTree>
    <p:extLst>
      <p:ext uri="{BB962C8B-B14F-4D97-AF65-F5344CB8AC3E}">
        <p14:creationId xmlns:p14="http://schemas.microsoft.com/office/powerpoint/2010/main" val="6709022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7134-34E4-4D5F-9FCD-882B415FC910}"/>
              </a:ext>
            </a:extLst>
          </p:cNvPr>
          <p:cNvSpPr>
            <a:spLocks noGrp="1"/>
          </p:cNvSpPr>
          <p:nvPr>
            <p:ph type="title"/>
          </p:nvPr>
        </p:nvSpPr>
        <p:spPr>
          <a:xfrm>
            <a:off x="913794" y="230821"/>
            <a:ext cx="10353761" cy="843378"/>
          </a:xfrm>
        </p:spPr>
        <p:txBody>
          <a:bodyPr/>
          <a:lstStyle/>
          <a:p>
            <a:r>
              <a:rPr lang="en-US" dirty="0" err="1"/>
              <a:t>Từ</a:t>
            </a:r>
            <a:r>
              <a:rPr lang="en-US" dirty="0"/>
              <a:t> </a:t>
            </a:r>
            <a:r>
              <a:rPr lang="en-US" dirty="0" err="1"/>
              <a:t>Khóa</a:t>
            </a:r>
            <a:r>
              <a:rPr lang="en-US" dirty="0"/>
              <a:t> static</a:t>
            </a:r>
          </a:p>
        </p:txBody>
      </p:sp>
      <p:sp>
        <p:nvSpPr>
          <p:cNvPr id="3" name="Content Placeholder 2">
            <a:extLst>
              <a:ext uri="{FF2B5EF4-FFF2-40B4-BE49-F238E27FC236}">
                <a16:creationId xmlns:a16="http://schemas.microsoft.com/office/drawing/2014/main" id="{9A7D907D-A6AA-4BDD-A2B4-CD942BBE86F9}"/>
              </a:ext>
            </a:extLst>
          </p:cNvPr>
          <p:cNvSpPr>
            <a:spLocks noGrp="1"/>
          </p:cNvSpPr>
          <p:nvPr>
            <p:ph idx="1"/>
          </p:nvPr>
        </p:nvSpPr>
        <p:spPr>
          <a:xfrm>
            <a:off x="913795" y="1074199"/>
            <a:ext cx="10353762" cy="5442011"/>
          </a:xfrm>
        </p:spPr>
        <p:txBody>
          <a:bodyPr>
            <a:normAutofit/>
          </a:bodyPr>
          <a:lstStyle/>
          <a:p>
            <a:r>
              <a:rPr lang="en-US" dirty="0"/>
              <a:t>C</a:t>
            </a:r>
            <a:r>
              <a:rPr lang="vi-VN" dirty="0"/>
              <a:t>ác thành viên static sẽ thuộc về quản lý bộ nhớ của lớp, chứ không thuộc về quản lý của thể hiện lớp (hay có thể hiểu là đối tượng).</a:t>
            </a:r>
            <a:endParaRPr lang="en-US" dirty="0"/>
          </a:p>
          <a:p>
            <a:endParaRPr lang="en-US" dirty="0"/>
          </a:p>
          <a:p>
            <a:endParaRPr lang="en-US" dirty="0"/>
          </a:p>
          <a:p>
            <a:endParaRPr lang="en-US" dirty="0"/>
          </a:p>
          <a:p>
            <a:endParaRPr lang="en-US" dirty="0"/>
          </a:p>
          <a:p>
            <a:endParaRPr lang="en-US" dirty="0"/>
          </a:p>
          <a:p>
            <a:endParaRPr lang="en-US" dirty="0"/>
          </a:p>
          <a:p>
            <a:r>
              <a:rPr lang="vi-VN" dirty="0"/>
              <a:t>Thuộc tính thongTin là static, và nó sẽ thuộc quyền quản lý của lớp ToaDo. Các thuộc tính x, y là không static, sẽ thuộc quyền quản lý của các thể hiện, hay các đối tượng được khai báo từ ToaDo.</a:t>
            </a:r>
            <a:endParaRPr lang="en-US" dirty="0"/>
          </a:p>
        </p:txBody>
      </p:sp>
      <p:pic>
        <p:nvPicPr>
          <p:cNvPr id="5" name="Picture 4" descr="A picture containing bird&#10;&#10;Description automatically generated">
            <a:extLst>
              <a:ext uri="{FF2B5EF4-FFF2-40B4-BE49-F238E27FC236}">
                <a16:creationId xmlns:a16="http://schemas.microsoft.com/office/drawing/2014/main" id="{5065E812-8B78-46EB-8A50-6F44839C8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927" y="2753197"/>
            <a:ext cx="3398815" cy="1493649"/>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04D1F0D5-2953-4390-93C1-E548994EFB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8893" y="1917577"/>
            <a:ext cx="7178662" cy="2949196"/>
          </a:xfrm>
          <a:prstGeom prst="rect">
            <a:avLst/>
          </a:prstGeom>
        </p:spPr>
      </p:pic>
    </p:spTree>
    <p:extLst>
      <p:ext uri="{BB962C8B-B14F-4D97-AF65-F5344CB8AC3E}">
        <p14:creationId xmlns:p14="http://schemas.microsoft.com/office/powerpoint/2010/main" val="1461967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69383-FE73-47AF-A1FB-DA629B9F6E17}"/>
              </a:ext>
            </a:extLst>
          </p:cNvPr>
          <p:cNvSpPr>
            <a:spLocks noGrp="1"/>
          </p:cNvSpPr>
          <p:nvPr>
            <p:ph type="title"/>
          </p:nvPr>
        </p:nvSpPr>
        <p:spPr/>
        <p:txBody>
          <a:bodyPr/>
          <a:lstStyle/>
          <a:p>
            <a:r>
              <a:rPr lang="en-US" dirty="0" err="1"/>
              <a:t>Công</a:t>
            </a:r>
            <a:r>
              <a:rPr lang="en-US" dirty="0"/>
              <a:t> </a:t>
            </a:r>
            <a:r>
              <a:rPr lang="en-US" dirty="0" err="1"/>
              <a:t>Dụng</a:t>
            </a:r>
            <a:r>
              <a:rPr lang="en-US" dirty="0"/>
              <a:t> </a:t>
            </a:r>
            <a:r>
              <a:rPr lang="en-US" dirty="0" err="1"/>
              <a:t>Của</a:t>
            </a:r>
            <a:r>
              <a:rPr lang="en-US" dirty="0"/>
              <a:t> </a:t>
            </a:r>
            <a:r>
              <a:rPr lang="en-US" dirty="0" err="1"/>
              <a:t>Từ</a:t>
            </a:r>
            <a:r>
              <a:rPr lang="en-US" dirty="0"/>
              <a:t> </a:t>
            </a:r>
            <a:r>
              <a:rPr lang="en-US" dirty="0" err="1"/>
              <a:t>Khóa</a:t>
            </a:r>
            <a:r>
              <a:rPr lang="en-US" dirty="0"/>
              <a:t> static</a:t>
            </a:r>
          </a:p>
        </p:txBody>
      </p:sp>
      <p:sp>
        <p:nvSpPr>
          <p:cNvPr id="3" name="Content Placeholder 2">
            <a:extLst>
              <a:ext uri="{FF2B5EF4-FFF2-40B4-BE49-F238E27FC236}">
                <a16:creationId xmlns:a16="http://schemas.microsoft.com/office/drawing/2014/main" id="{5709198B-56EE-4FC7-BDFA-779A5F3FA656}"/>
              </a:ext>
            </a:extLst>
          </p:cNvPr>
          <p:cNvSpPr>
            <a:spLocks noGrp="1"/>
          </p:cNvSpPr>
          <p:nvPr>
            <p:ph idx="1"/>
          </p:nvPr>
        </p:nvSpPr>
        <p:spPr/>
        <p:txBody>
          <a:bodyPr/>
          <a:lstStyle/>
          <a:p>
            <a:r>
              <a:rPr lang="en-US" dirty="0"/>
              <a:t>V</a:t>
            </a:r>
            <a:r>
              <a:rPr lang="vi-VN" dirty="0"/>
              <a:t>ới việc gọi đến giá trị của lớp thông qua tên lớp, mà không cần phải khởi tạo đối tượng của lớp đó, giúp cho các giá trị được khai báo static sẽ dễ dàng truy xuất hơn.</a:t>
            </a:r>
            <a:endParaRPr lang="en-US" dirty="0"/>
          </a:p>
          <a:p>
            <a:r>
              <a:rPr lang="en-US" dirty="0"/>
              <a:t>C</a:t>
            </a:r>
            <a:r>
              <a:rPr lang="vi-VN" dirty="0"/>
              <a:t>ác giá trị được khai báo static này có thể được dùng chung bởi các lớp khác trong ứng dụng. Nó mang ý nghĩa toàn cục trong cả ứng dụng</a:t>
            </a:r>
            <a:endParaRPr lang="en-US" dirty="0"/>
          </a:p>
        </p:txBody>
      </p:sp>
    </p:spTree>
    <p:extLst>
      <p:ext uri="{BB962C8B-B14F-4D97-AF65-F5344CB8AC3E}">
        <p14:creationId xmlns:p14="http://schemas.microsoft.com/office/powerpoint/2010/main" val="3998308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2826-4A1D-45D9-AF5E-71A68594DCDF}"/>
              </a:ext>
            </a:extLst>
          </p:cNvPr>
          <p:cNvSpPr>
            <a:spLocks noGrp="1"/>
          </p:cNvSpPr>
          <p:nvPr>
            <p:ph type="title"/>
          </p:nvPr>
        </p:nvSpPr>
        <p:spPr/>
        <p:txBody>
          <a:bodyPr/>
          <a:lstStyle/>
          <a:p>
            <a:r>
              <a:rPr lang="en-US" dirty="0" err="1"/>
              <a:t>Khai</a:t>
            </a:r>
            <a:r>
              <a:rPr lang="en-US" dirty="0"/>
              <a:t> </a:t>
            </a:r>
            <a:r>
              <a:rPr lang="en-US" dirty="0" err="1"/>
              <a:t>Báo</a:t>
            </a:r>
            <a:r>
              <a:rPr lang="en-US" dirty="0"/>
              <a:t> </a:t>
            </a:r>
            <a:r>
              <a:rPr lang="en-US" dirty="0" err="1"/>
              <a:t>Thuộc</a:t>
            </a:r>
            <a:r>
              <a:rPr lang="en-US" dirty="0"/>
              <a:t> </a:t>
            </a:r>
            <a:r>
              <a:rPr lang="en-US" dirty="0" err="1"/>
              <a:t>Tính</a:t>
            </a:r>
            <a:r>
              <a:rPr lang="en-US" dirty="0"/>
              <a:t> static</a:t>
            </a:r>
          </a:p>
        </p:txBody>
      </p:sp>
      <p:pic>
        <p:nvPicPr>
          <p:cNvPr id="5" name="Content Placeholder 4">
            <a:extLst>
              <a:ext uri="{FF2B5EF4-FFF2-40B4-BE49-F238E27FC236}">
                <a16:creationId xmlns:a16="http://schemas.microsoft.com/office/drawing/2014/main" id="{90E1A5D3-EF92-4E77-B542-ED28811D51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4476" y="1797747"/>
            <a:ext cx="3322608" cy="2126164"/>
          </a:xfrm>
        </p:spPr>
      </p:pic>
      <p:pic>
        <p:nvPicPr>
          <p:cNvPr id="7" name="Picture 6" descr="A screenshot of a social media post&#10;&#10;Description automatically generated">
            <a:extLst>
              <a:ext uri="{FF2B5EF4-FFF2-40B4-BE49-F238E27FC236}">
                <a16:creationId xmlns:a16="http://schemas.microsoft.com/office/drawing/2014/main" id="{CF3D7A19-925C-43EA-ADC0-596E801FE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2867" y="1634281"/>
            <a:ext cx="4142391" cy="3408058"/>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DE36AF31-D076-44FD-861A-7B2B44C3BF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4" y="4249319"/>
            <a:ext cx="6645216" cy="2225233"/>
          </a:xfrm>
          <a:prstGeom prst="rect">
            <a:avLst/>
          </a:prstGeom>
        </p:spPr>
      </p:pic>
    </p:spTree>
    <p:extLst>
      <p:ext uri="{BB962C8B-B14F-4D97-AF65-F5344CB8AC3E}">
        <p14:creationId xmlns:p14="http://schemas.microsoft.com/office/powerpoint/2010/main" val="39802288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0D91B-4946-459E-BC68-F8DB0A7EA559}"/>
              </a:ext>
            </a:extLst>
          </p:cNvPr>
          <p:cNvSpPr>
            <a:spLocks noGrp="1"/>
          </p:cNvSpPr>
          <p:nvPr>
            <p:ph type="title"/>
          </p:nvPr>
        </p:nvSpPr>
        <p:spPr/>
        <p:txBody>
          <a:bodyPr/>
          <a:lstStyle/>
          <a:p>
            <a:r>
              <a:rPr lang="vi-VN" dirty="0"/>
              <a:t>Khai Báo Phương Thức static</a:t>
            </a:r>
            <a:endParaRPr lang="en-US" dirty="0"/>
          </a:p>
        </p:txBody>
      </p:sp>
      <p:sp>
        <p:nvSpPr>
          <p:cNvPr id="3" name="Content Placeholder 2">
            <a:extLst>
              <a:ext uri="{FF2B5EF4-FFF2-40B4-BE49-F238E27FC236}">
                <a16:creationId xmlns:a16="http://schemas.microsoft.com/office/drawing/2014/main" id="{74F6405C-19AF-41BD-97CD-08CAD3090C9C}"/>
              </a:ext>
            </a:extLst>
          </p:cNvPr>
          <p:cNvSpPr>
            <a:spLocks noGrp="1"/>
          </p:cNvSpPr>
          <p:nvPr>
            <p:ph idx="1"/>
          </p:nvPr>
        </p:nvSpPr>
        <p:spPr>
          <a:xfrm>
            <a:off x="913795" y="2096063"/>
            <a:ext cx="10353762" cy="4331369"/>
          </a:xfrm>
        </p:spPr>
        <p:txBody>
          <a:bodyPr>
            <a:normAutofit/>
          </a:bodyPr>
          <a:lstStyle/>
          <a:p>
            <a:r>
              <a:rPr lang="vi-VN" dirty="0"/>
              <a:t>Phương thức static được sử dụng với đặc điểm và mục đích tương tự như thuộc tính static trên kia. Đó là.</a:t>
            </a:r>
          </a:p>
          <a:p>
            <a:pPr marL="0" indent="0">
              <a:buNone/>
            </a:pPr>
            <a:r>
              <a:rPr lang="en-US" dirty="0"/>
              <a:t>	</a:t>
            </a:r>
            <a:r>
              <a:rPr lang="vi-VN" dirty="0"/>
              <a:t>– Các phương thức static vẫn thuộc quản lý của lớp chứ không phải của thể hiện lớp.</a:t>
            </a:r>
          </a:p>
          <a:p>
            <a:pPr marL="0" indent="0">
              <a:buNone/>
            </a:pPr>
            <a:r>
              <a:rPr lang="en-US" dirty="0"/>
              <a:t>	</a:t>
            </a:r>
            <a:r>
              <a:rPr lang="vi-VN" dirty="0"/>
              <a:t>– Một phương thức được set là static khi chúng được dùng chung bởi tất cả các đối tượng bên trong ứng dụng. Như các phương thức về kiểm tra tính đúng đắn của giá trị nào đó, phương thức về chuyển đổi tiền tệ, chuyển đổi đơn vị, phương thức về lưu trữ giữ liệu xuống bộ nhớ, phương thức kết nối với server,…</a:t>
            </a:r>
            <a:endParaRPr lang="en-US" dirty="0"/>
          </a:p>
          <a:p>
            <a:pPr marL="0" indent="0">
              <a:buNone/>
            </a:pPr>
            <a:r>
              <a:rPr lang="en-US" dirty="0"/>
              <a:t>	- </a:t>
            </a:r>
            <a:r>
              <a:rPr lang="vi-VN" dirty="0"/>
              <a:t>tất cả các phương thức static chỉ có thể gọi đến các thuộc tính được khai báo là static </a:t>
            </a:r>
            <a:endParaRPr lang="en-US" dirty="0"/>
          </a:p>
        </p:txBody>
      </p:sp>
    </p:spTree>
    <p:extLst>
      <p:ext uri="{BB962C8B-B14F-4D97-AF65-F5344CB8AC3E}">
        <p14:creationId xmlns:p14="http://schemas.microsoft.com/office/powerpoint/2010/main" val="15306872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2AD1-25C3-44AA-89C5-12A5BAF5135D}"/>
              </a:ext>
            </a:extLst>
          </p:cNvPr>
          <p:cNvSpPr>
            <a:spLocks noGrp="1"/>
          </p:cNvSpPr>
          <p:nvPr>
            <p:ph type="title"/>
          </p:nvPr>
        </p:nvSpPr>
        <p:spPr/>
        <p:txBody>
          <a:bodyPr/>
          <a:lstStyle/>
          <a:p>
            <a:r>
              <a:rPr lang="en-US" dirty="0" err="1"/>
              <a:t>Ví</a:t>
            </a:r>
            <a:r>
              <a:rPr lang="en-US" dirty="0"/>
              <a:t> </a:t>
            </a:r>
            <a:r>
              <a:rPr lang="en-US" dirty="0" err="1"/>
              <a:t>dụ</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533B0B04-224F-4313-8C52-B2D1DF03C2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608" y="1889833"/>
            <a:ext cx="4464147" cy="4358567"/>
          </a:xfrm>
        </p:spPr>
      </p:pic>
      <p:grpSp>
        <p:nvGrpSpPr>
          <p:cNvPr id="10" name="Group 9">
            <a:extLst>
              <a:ext uri="{FF2B5EF4-FFF2-40B4-BE49-F238E27FC236}">
                <a16:creationId xmlns:a16="http://schemas.microsoft.com/office/drawing/2014/main" id="{F20433FB-8A55-494E-87C4-647A67740D80}"/>
              </a:ext>
            </a:extLst>
          </p:cNvPr>
          <p:cNvGrpSpPr/>
          <p:nvPr/>
        </p:nvGrpSpPr>
        <p:grpSpPr>
          <a:xfrm>
            <a:off x="5090579" y="1863198"/>
            <a:ext cx="6984691" cy="4385202"/>
            <a:chOff x="5090579" y="1863198"/>
            <a:chExt cx="6984691" cy="4385202"/>
          </a:xfrm>
        </p:grpSpPr>
        <p:pic>
          <p:nvPicPr>
            <p:cNvPr id="7" name="Picture 6" descr="A screenshot of a social media post&#10;&#10;Description automatically generated">
              <a:extLst>
                <a:ext uri="{FF2B5EF4-FFF2-40B4-BE49-F238E27FC236}">
                  <a16:creationId xmlns:a16="http://schemas.microsoft.com/office/drawing/2014/main" id="{180F8A63-32BA-4F2A-8F1B-547BF6BE5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0579" y="1889832"/>
              <a:ext cx="5023336" cy="4358568"/>
            </a:xfrm>
            <a:prstGeom prst="rect">
              <a:avLst/>
            </a:prstGeom>
          </p:spPr>
        </p:pic>
        <p:pic>
          <p:nvPicPr>
            <p:cNvPr id="9" name="Picture 8" descr="A close up of a logo&#10;&#10;Description automatically generated">
              <a:extLst>
                <a:ext uri="{FF2B5EF4-FFF2-40B4-BE49-F238E27FC236}">
                  <a16:creationId xmlns:a16="http://schemas.microsoft.com/office/drawing/2014/main" id="{163D1FED-929E-41B6-B0CC-8E758B8F6C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26" y="1863198"/>
              <a:ext cx="2118544" cy="4358568"/>
            </a:xfrm>
            <a:prstGeom prst="rect">
              <a:avLst/>
            </a:prstGeom>
          </p:spPr>
        </p:pic>
      </p:grpSp>
    </p:spTree>
    <p:extLst>
      <p:ext uri="{BB962C8B-B14F-4D97-AF65-F5344CB8AC3E}">
        <p14:creationId xmlns:p14="http://schemas.microsoft.com/office/powerpoint/2010/main" val="22330867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38D72-4E7E-43E3-9583-CED8BFE976C7}"/>
              </a:ext>
            </a:extLst>
          </p:cNvPr>
          <p:cNvSpPr>
            <a:spLocks noGrp="1"/>
          </p:cNvSpPr>
          <p:nvPr>
            <p:ph type="title"/>
          </p:nvPr>
        </p:nvSpPr>
        <p:spPr/>
        <p:txBody>
          <a:bodyPr/>
          <a:lstStyle/>
          <a:p>
            <a:r>
              <a:rPr lang="vi-VN" dirty="0"/>
              <a:t>Nạp Chồng Phương Thức (Overloading)</a:t>
            </a:r>
            <a:endParaRPr lang="en-US" dirty="0"/>
          </a:p>
        </p:txBody>
      </p:sp>
      <p:sp>
        <p:nvSpPr>
          <p:cNvPr id="3" name="Content Placeholder 2">
            <a:extLst>
              <a:ext uri="{FF2B5EF4-FFF2-40B4-BE49-F238E27FC236}">
                <a16:creationId xmlns:a16="http://schemas.microsoft.com/office/drawing/2014/main" id="{B3704B5E-9673-4E2F-9576-19E3641A2A72}"/>
              </a:ext>
            </a:extLst>
          </p:cNvPr>
          <p:cNvSpPr>
            <a:spLocks noGrp="1"/>
          </p:cNvSpPr>
          <p:nvPr>
            <p:ph idx="1"/>
          </p:nvPr>
        </p:nvSpPr>
        <p:spPr/>
        <p:txBody>
          <a:bodyPr/>
          <a:lstStyle/>
          <a:p>
            <a:r>
              <a:rPr lang="vi-VN" dirty="0"/>
              <a:t> Overloading cho phép một lớp có khả năng định nghĩa ra nhiều phương thức có cùng tên, nhưng khác nhau về tham số truyền vào. Phương thức ở đây có bao gồm luôn constructor</a:t>
            </a:r>
            <a:endParaRPr lang="en-US" dirty="0"/>
          </a:p>
        </p:txBody>
      </p:sp>
      <p:pic>
        <p:nvPicPr>
          <p:cNvPr id="5" name="Picture 4" descr="A picture containing indoor, table&#10;&#10;Description automatically generated">
            <a:extLst>
              <a:ext uri="{FF2B5EF4-FFF2-40B4-BE49-F238E27FC236}">
                <a16:creationId xmlns:a16="http://schemas.microsoft.com/office/drawing/2014/main" id="{7F66B8D9-A76C-4AE4-AAA4-25075DB8E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1272" y="3078205"/>
            <a:ext cx="6599492" cy="3170195"/>
          </a:xfrm>
          <a:prstGeom prst="rect">
            <a:avLst/>
          </a:prstGeom>
        </p:spPr>
      </p:pic>
    </p:spTree>
    <p:extLst>
      <p:ext uri="{BB962C8B-B14F-4D97-AF65-F5344CB8AC3E}">
        <p14:creationId xmlns:p14="http://schemas.microsoft.com/office/powerpoint/2010/main" val="2174133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93EC1-945C-4AFB-B0B5-EA165994B041}"/>
              </a:ext>
            </a:extLst>
          </p:cNvPr>
          <p:cNvSpPr>
            <a:spLocks noGrp="1"/>
          </p:cNvSpPr>
          <p:nvPr>
            <p:ph type="title"/>
          </p:nvPr>
        </p:nvSpPr>
        <p:spPr/>
        <p:txBody>
          <a:bodyPr/>
          <a:lstStyle/>
          <a:p>
            <a:r>
              <a:rPr lang="en-US" dirty="0" err="1"/>
              <a:t>Thực</a:t>
            </a:r>
            <a:r>
              <a:rPr lang="en-US" dirty="0"/>
              <a:t> </a:t>
            </a:r>
            <a:r>
              <a:rPr lang="en-US" dirty="0" err="1"/>
              <a:t>hành</a:t>
            </a:r>
            <a:endParaRPr lang="en-US" dirty="0"/>
          </a:p>
        </p:txBody>
      </p:sp>
      <p:sp>
        <p:nvSpPr>
          <p:cNvPr id="3" name="Content Placeholder 2">
            <a:extLst>
              <a:ext uri="{FF2B5EF4-FFF2-40B4-BE49-F238E27FC236}">
                <a16:creationId xmlns:a16="http://schemas.microsoft.com/office/drawing/2014/main" id="{5606FD49-E692-4022-9251-A522DDDDEA88}"/>
              </a:ext>
            </a:extLst>
          </p:cNvPr>
          <p:cNvSpPr>
            <a:spLocks noGrp="1"/>
          </p:cNvSpPr>
          <p:nvPr>
            <p:ph idx="1"/>
          </p:nvPr>
        </p:nvSpPr>
        <p:spPr>
          <a:xfrm>
            <a:off x="913795" y="1766656"/>
            <a:ext cx="10353762" cy="4481744"/>
          </a:xfrm>
        </p:spPr>
        <p:txBody>
          <a:bodyPr>
            <a:normAutofit fontScale="92500" lnSpcReduction="10000"/>
          </a:bodyPr>
          <a:lstStyle/>
          <a:p>
            <a:r>
              <a:rPr lang="vi-VN" dirty="0"/>
              <a:t>Thực Hành Xây Dựng Ứng Dụng Tính Lương Cho Nhân Viên</a:t>
            </a:r>
            <a:endParaRPr lang="en-US" dirty="0"/>
          </a:p>
          <a:p>
            <a:r>
              <a:rPr lang="vi-VN" dirty="0"/>
              <a:t>Yêu Cầu Chương Trình</a:t>
            </a:r>
            <a:r>
              <a:rPr lang="en-US" dirty="0"/>
              <a:t>: </a:t>
            </a:r>
            <a:r>
              <a:rPr lang="vi-VN" dirty="0"/>
              <a:t>Ứng dụng của chúng ta phục vụ một công ty nhỏ. Với một số nguyên tắc sau.</a:t>
            </a:r>
          </a:p>
          <a:p>
            <a:pPr marL="0" indent="0">
              <a:buNone/>
            </a:pPr>
            <a:r>
              <a:rPr lang="en-US" dirty="0"/>
              <a:t>	</a:t>
            </a:r>
            <a:r>
              <a:rPr lang="vi-VN" dirty="0"/>
              <a:t>– Công ty này có hai loại nhân viên, đó là nhân viên toàn thời gian và nhân viên thời vụ.</a:t>
            </a:r>
          </a:p>
          <a:p>
            <a:pPr marL="0" indent="0">
              <a:buNone/>
            </a:pPr>
            <a:r>
              <a:rPr lang="en-US" dirty="0"/>
              <a:t>	</a:t>
            </a:r>
            <a:r>
              <a:rPr lang="vi-VN" dirty="0"/>
              <a:t>– Nhân viên toàn thời gian là lính sẽ hưởng lương 10tr một tháng. Nhân viên toàn thời gian là sếp sẽ hưởng </a:t>
            </a:r>
            <a:r>
              <a:rPr lang="vi-VN"/>
              <a:t>lương 20tr </a:t>
            </a:r>
            <a:r>
              <a:rPr lang="vi-VN" dirty="0"/>
              <a:t>một tháng.</a:t>
            </a:r>
          </a:p>
          <a:p>
            <a:pPr marL="0" indent="0">
              <a:buNone/>
            </a:pPr>
            <a:r>
              <a:rPr lang="en-US" dirty="0"/>
              <a:t>	</a:t>
            </a:r>
            <a:r>
              <a:rPr lang="vi-VN" dirty="0"/>
              <a:t>– Nhân viên toàn thời gian nếu làm thêm ngày nào thì sẽ được cộng thêm 800k mỗi ngày, bất kể chức vụ.</a:t>
            </a:r>
          </a:p>
          <a:p>
            <a:pPr marL="0" indent="0">
              <a:buNone/>
            </a:pPr>
            <a:r>
              <a:rPr lang="en-US" dirty="0"/>
              <a:t>	</a:t>
            </a:r>
            <a:r>
              <a:rPr lang="vi-VN" dirty="0"/>
              <a:t>– Nhân viên thời vụ cứ làm mỗi giờ được 100k, không phân biệt chức vụ gì cả. Làm nhiều thì hưởng nhiều.</a:t>
            </a:r>
            <a:endParaRPr lang="en-US" dirty="0"/>
          </a:p>
        </p:txBody>
      </p:sp>
    </p:spTree>
    <p:extLst>
      <p:ext uri="{BB962C8B-B14F-4D97-AF65-F5344CB8AC3E}">
        <p14:creationId xmlns:p14="http://schemas.microsoft.com/office/powerpoint/2010/main" val="6722774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8EDB-6CE7-4851-ACD3-0718442C6BAB}"/>
              </a:ext>
            </a:extLst>
          </p:cNvPr>
          <p:cNvSpPr>
            <a:spLocks noGrp="1"/>
          </p:cNvSpPr>
          <p:nvPr>
            <p:ph type="title"/>
          </p:nvPr>
        </p:nvSpPr>
        <p:spPr/>
        <p:txBody>
          <a:bodyPr/>
          <a:lstStyle/>
          <a:p>
            <a:r>
              <a:rPr lang="en-US" dirty="0" err="1"/>
              <a:t>Thực</a:t>
            </a:r>
            <a:r>
              <a:rPr lang="en-US" dirty="0"/>
              <a:t> </a:t>
            </a:r>
            <a:r>
              <a:rPr lang="en-US" dirty="0" err="1"/>
              <a:t>hành</a:t>
            </a:r>
            <a:endParaRPr lang="en-US" dirty="0"/>
          </a:p>
        </p:txBody>
      </p:sp>
      <p:pic>
        <p:nvPicPr>
          <p:cNvPr id="14338" name="Picture 2" descr="Overloading - UML">
            <a:extLst>
              <a:ext uri="{FF2B5EF4-FFF2-40B4-BE49-F238E27FC236}">
                <a16:creationId xmlns:a16="http://schemas.microsoft.com/office/drawing/2014/main" id="{A4704B67-8BD3-4727-B589-AC109E88C6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6240" y="1708008"/>
            <a:ext cx="8968456" cy="4451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7893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C9F22-B1BD-41CC-B527-35D692804075}"/>
              </a:ext>
            </a:extLst>
          </p:cNvPr>
          <p:cNvSpPr>
            <a:spLocks noGrp="1"/>
          </p:cNvSpPr>
          <p:nvPr>
            <p:ph type="title"/>
          </p:nvPr>
        </p:nvSpPr>
        <p:spPr/>
        <p:txBody>
          <a:bodyPr/>
          <a:lstStyle/>
          <a:p>
            <a:r>
              <a:rPr lang="en-US" dirty="0" err="1"/>
              <a:t>Thực</a:t>
            </a:r>
            <a:r>
              <a:rPr lang="en-US" dirty="0"/>
              <a:t> </a:t>
            </a:r>
            <a:r>
              <a:rPr lang="en-US" dirty="0" err="1"/>
              <a:t>hành</a:t>
            </a:r>
            <a:endParaRPr lang="en-US" dirty="0"/>
          </a:p>
        </p:txBody>
      </p:sp>
      <p:sp>
        <p:nvSpPr>
          <p:cNvPr id="3" name="Content Placeholder 2">
            <a:extLst>
              <a:ext uri="{FF2B5EF4-FFF2-40B4-BE49-F238E27FC236}">
                <a16:creationId xmlns:a16="http://schemas.microsoft.com/office/drawing/2014/main" id="{E631D0FB-EBCC-4FD7-B625-F80AD0A45397}"/>
              </a:ext>
            </a:extLst>
          </p:cNvPr>
          <p:cNvSpPr>
            <a:spLocks noGrp="1"/>
          </p:cNvSpPr>
          <p:nvPr>
            <p:ph idx="1"/>
          </p:nvPr>
        </p:nvSpPr>
        <p:spPr/>
        <p:txBody>
          <a:bodyPr/>
          <a:lstStyle/>
          <a:p>
            <a:pPr marL="0" indent="0">
              <a:buNone/>
            </a:pPr>
            <a:r>
              <a:rPr lang="vi-VN" dirty="0"/>
              <a:t>– Thông tin package được thể hiện ở dưới tên lớp, với font chữ nhỏ hơn. Như vậy nhìn sơ đồ chúng ta thấy các lớp NhanVien, NhanVienFullTime và NhanVienPartTime nằm trong cùng package model. Lớp Configs nằm trong package util.</a:t>
            </a:r>
          </a:p>
          <a:p>
            <a:pPr marL="0" indent="0">
              <a:buNone/>
            </a:pPr>
            <a:r>
              <a:rPr lang="vi-VN" dirty="0"/>
              <a:t>– Khả năng truy cập của các thuộc tính và phương thức nay rõ ràng hơn. Khi đó dấu (-) là private, dấu (+) là public, và dấu (#) là protected.</a:t>
            </a:r>
          </a:p>
          <a:p>
            <a:pPr marL="0" indent="0">
              <a:buNone/>
            </a:pPr>
            <a:r>
              <a:rPr lang="vi-VN" dirty="0"/>
              <a:t>– Hằng số là các giá trị được viết in hoa.</a:t>
            </a:r>
          </a:p>
          <a:p>
            <a:pPr marL="0" indent="0">
              <a:buNone/>
            </a:pPr>
            <a:r>
              <a:rPr lang="vi-VN" dirty="0"/>
              <a:t>– Còn giá trị static sẽ được gạch chân, như các thuộc tính trong lớp Configs.</a:t>
            </a:r>
            <a:endParaRPr lang="en-US" dirty="0"/>
          </a:p>
        </p:txBody>
      </p:sp>
    </p:spTree>
    <p:extLst>
      <p:ext uri="{BB962C8B-B14F-4D97-AF65-F5344CB8AC3E}">
        <p14:creationId xmlns:p14="http://schemas.microsoft.com/office/powerpoint/2010/main" val="5615593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43E-1107-419F-956C-9E5FE4292264}"/>
              </a:ext>
            </a:extLst>
          </p:cNvPr>
          <p:cNvSpPr>
            <a:spLocks noGrp="1"/>
          </p:cNvSpPr>
          <p:nvPr>
            <p:ph type="title"/>
          </p:nvPr>
        </p:nvSpPr>
        <p:spPr/>
        <p:txBody>
          <a:bodyPr/>
          <a:lstStyle/>
          <a:p>
            <a:r>
              <a:rPr lang="en-US" dirty="0" err="1"/>
              <a:t>Thực</a:t>
            </a:r>
            <a:r>
              <a:rPr lang="en-US" dirty="0"/>
              <a:t> </a:t>
            </a:r>
            <a:r>
              <a:rPr lang="en-US" dirty="0" err="1"/>
              <a:t>hành</a:t>
            </a:r>
            <a:endParaRPr lang="en-US" dirty="0"/>
          </a:p>
        </p:txBody>
      </p:sp>
      <p:sp>
        <p:nvSpPr>
          <p:cNvPr id="3" name="Content Placeholder 2">
            <a:extLst>
              <a:ext uri="{FF2B5EF4-FFF2-40B4-BE49-F238E27FC236}">
                <a16:creationId xmlns:a16="http://schemas.microsoft.com/office/drawing/2014/main" id="{97327BD5-EBD2-4DEF-9533-A3F4478C155E}"/>
              </a:ext>
            </a:extLst>
          </p:cNvPr>
          <p:cNvSpPr>
            <a:spLocks noGrp="1"/>
          </p:cNvSpPr>
          <p:nvPr>
            <p:ph idx="1"/>
          </p:nvPr>
        </p:nvSpPr>
        <p:spPr>
          <a:xfrm>
            <a:off x="913795" y="1677881"/>
            <a:ext cx="10353762" cy="4802818"/>
          </a:xfrm>
        </p:spPr>
        <p:txBody>
          <a:bodyPr>
            <a:normAutofit fontScale="70000" lnSpcReduction="20000"/>
          </a:bodyPr>
          <a:lstStyle/>
          <a:p>
            <a:r>
              <a:rPr lang="en-US" dirty="0" err="1"/>
              <a:t>Lớp</a:t>
            </a:r>
            <a:r>
              <a:rPr lang="en-US" dirty="0"/>
              <a:t> Configs </a:t>
            </a:r>
          </a:p>
          <a:p>
            <a:pPr marL="0" indent="0">
              <a:buNone/>
            </a:pPr>
            <a:r>
              <a:rPr lang="vi-VN" b="1" i="1" dirty="0">
                <a:solidFill>
                  <a:srgbClr val="FFFF00"/>
                </a:solidFill>
              </a:rPr>
              <a:t>package util;</a:t>
            </a:r>
          </a:p>
          <a:p>
            <a:pPr marL="0" indent="0">
              <a:buNone/>
            </a:pPr>
            <a:r>
              <a:rPr lang="vi-VN" b="1" i="1" dirty="0">
                <a:solidFill>
                  <a:srgbClr val="FFFF00"/>
                </a:solidFill>
              </a:rPr>
              <a:t>public class Configs {</a:t>
            </a:r>
          </a:p>
          <a:p>
            <a:pPr marL="0" indent="0">
              <a:buNone/>
            </a:pPr>
            <a:r>
              <a:rPr lang="vi-VN" b="1" i="1" dirty="0">
                <a:solidFill>
                  <a:srgbClr val="FFFF00"/>
                </a:solidFill>
              </a:rPr>
              <a:t>    // Loại nhân viên</a:t>
            </a:r>
          </a:p>
          <a:p>
            <a:pPr marL="0" indent="0">
              <a:buNone/>
            </a:pPr>
            <a:r>
              <a:rPr lang="vi-VN" b="1" i="1" dirty="0">
                <a:solidFill>
                  <a:srgbClr val="FFFF00"/>
                </a:solidFill>
              </a:rPr>
              <a:t>    public static final int NHAN_VIEN_SEP = 1;</a:t>
            </a:r>
          </a:p>
          <a:p>
            <a:pPr marL="0" indent="0">
              <a:buNone/>
            </a:pPr>
            <a:r>
              <a:rPr lang="vi-VN" b="1" i="1" dirty="0">
                <a:solidFill>
                  <a:srgbClr val="FFFF00"/>
                </a:solidFill>
              </a:rPr>
              <a:t>    public static final int NHAN_VIEN_LINH = 2;</a:t>
            </a:r>
          </a:p>
          <a:p>
            <a:pPr marL="0" indent="0">
              <a:buNone/>
            </a:pPr>
            <a:r>
              <a:rPr lang="vi-VN" b="1" i="1" dirty="0">
                <a:solidFill>
                  <a:srgbClr val="FFFF00"/>
                </a:solidFill>
              </a:rPr>
              <a:t>    // Lương nhân viên</a:t>
            </a:r>
          </a:p>
          <a:p>
            <a:pPr marL="0" indent="0">
              <a:buNone/>
            </a:pPr>
            <a:r>
              <a:rPr lang="vi-VN" b="1" i="1" dirty="0">
                <a:solidFill>
                  <a:srgbClr val="FFFF00"/>
                </a:solidFill>
              </a:rPr>
              <a:t>    public static final long LUONG_NHAN_VIEN_FULL_TIME_SEP = 20000000; // Lương tháng của sếp</a:t>
            </a:r>
          </a:p>
          <a:p>
            <a:pPr marL="0" indent="0">
              <a:buNone/>
            </a:pPr>
            <a:r>
              <a:rPr lang="vi-VN" b="1" i="1" dirty="0">
                <a:solidFill>
                  <a:srgbClr val="FFFF00"/>
                </a:solidFill>
              </a:rPr>
              <a:t>    public static final long LUONG_NHAN_VIEN_FULL_TIME_LINH = 10000000; // Lương tháng của lính</a:t>
            </a:r>
          </a:p>
          <a:p>
            <a:pPr marL="0" indent="0">
              <a:buNone/>
            </a:pPr>
            <a:r>
              <a:rPr lang="vi-VN" b="1" i="1" dirty="0">
                <a:solidFill>
                  <a:srgbClr val="FFFF00"/>
                </a:solidFill>
              </a:rPr>
              <a:t>    public static final long LUONG_LAM_THEM_MOI_NGAY = 800000; // Làm thêm mỗi ngày của nhân viên toàn thời gian được 800 k</a:t>
            </a:r>
          </a:p>
          <a:p>
            <a:pPr marL="0" indent="0">
              <a:buNone/>
            </a:pPr>
            <a:r>
              <a:rPr lang="vi-VN" b="1" i="1" dirty="0">
                <a:solidFill>
                  <a:srgbClr val="FFFF00"/>
                </a:solidFill>
              </a:rPr>
              <a:t>    public static final long LUONG_NHAN_VIEN_PART_TIME_MOI_GIO = 100000; // Lương nhân viên thời vụ mỗi giờ 100 k</a:t>
            </a:r>
          </a:p>
          <a:p>
            <a:pPr marL="0" indent="0">
              <a:buNone/>
            </a:pPr>
            <a:r>
              <a:rPr lang="vi-VN" b="1" i="1" dirty="0">
                <a:solidFill>
                  <a:srgbClr val="FFFF00"/>
                </a:solidFill>
              </a:rPr>
              <a:t>}</a:t>
            </a:r>
            <a:endParaRPr lang="en-US" b="1" i="1" dirty="0">
              <a:solidFill>
                <a:srgbClr val="FFFF00"/>
              </a:solidFill>
            </a:endParaRPr>
          </a:p>
        </p:txBody>
      </p:sp>
    </p:spTree>
    <p:extLst>
      <p:ext uri="{BB962C8B-B14F-4D97-AF65-F5344CB8AC3E}">
        <p14:creationId xmlns:p14="http://schemas.microsoft.com/office/powerpoint/2010/main" val="25697458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386E-E6DF-43E6-A276-1776F2DA203E}"/>
              </a:ext>
            </a:extLst>
          </p:cNvPr>
          <p:cNvSpPr>
            <a:spLocks noGrp="1"/>
          </p:cNvSpPr>
          <p:nvPr>
            <p:ph type="title"/>
          </p:nvPr>
        </p:nvSpPr>
        <p:spPr/>
        <p:txBody>
          <a:bodyPr/>
          <a:lstStyle/>
          <a:p>
            <a:r>
              <a:rPr lang="en-US" dirty="0" err="1"/>
              <a:t>Thực</a:t>
            </a:r>
            <a:r>
              <a:rPr lang="en-US" dirty="0"/>
              <a:t> </a:t>
            </a:r>
            <a:r>
              <a:rPr lang="en-US" dirty="0" err="1"/>
              <a:t>hành</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93941368-749B-413E-9E48-4DCC7A7F32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0120" y="1829389"/>
            <a:ext cx="6304800" cy="4664916"/>
          </a:xfrm>
        </p:spPr>
      </p:pic>
    </p:spTree>
    <p:extLst>
      <p:ext uri="{BB962C8B-B14F-4D97-AF65-F5344CB8AC3E}">
        <p14:creationId xmlns:p14="http://schemas.microsoft.com/office/powerpoint/2010/main" val="22653446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8B2A2-5031-4CE9-A2B2-E6AF10C07216}"/>
              </a:ext>
            </a:extLst>
          </p:cNvPr>
          <p:cNvSpPr>
            <a:spLocks noGrp="1"/>
          </p:cNvSpPr>
          <p:nvPr>
            <p:ph type="title"/>
          </p:nvPr>
        </p:nvSpPr>
        <p:spPr>
          <a:xfrm>
            <a:off x="919119" y="387660"/>
            <a:ext cx="10353761" cy="457200"/>
          </a:xfrm>
        </p:spPr>
        <p:txBody>
          <a:bodyPr>
            <a:normAutofit fontScale="90000"/>
          </a:bodyPr>
          <a:lstStyle/>
          <a:p>
            <a:r>
              <a:rPr lang="en-US" dirty="0" err="1"/>
              <a:t>Thực</a:t>
            </a:r>
            <a:r>
              <a:rPr lang="en-US" dirty="0"/>
              <a:t> </a:t>
            </a:r>
            <a:r>
              <a:rPr lang="en-US" dirty="0" err="1"/>
              <a:t>hành</a:t>
            </a: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7E8E6920-24C0-4469-8E36-F717AC176A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9420" y="1382505"/>
            <a:ext cx="6180356" cy="4267570"/>
          </a:xfrm>
        </p:spPr>
      </p:pic>
    </p:spTree>
    <p:extLst>
      <p:ext uri="{BB962C8B-B14F-4D97-AF65-F5344CB8AC3E}">
        <p14:creationId xmlns:p14="http://schemas.microsoft.com/office/powerpoint/2010/main" val="37201674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C14C-3982-4411-9B44-75FDB7FFF44A}"/>
              </a:ext>
            </a:extLst>
          </p:cNvPr>
          <p:cNvSpPr>
            <a:spLocks noGrp="1"/>
          </p:cNvSpPr>
          <p:nvPr>
            <p:ph type="title"/>
          </p:nvPr>
        </p:nvSpPr>
        <p:spPr>
          <a:xfrm>
            <a:off x="842918" y="112451"/>
            <a:ext cx="10353761" cy="810827"/>
          </a:xfrm>
        </p:spPr>
        <p:txBody>
          <a:bodyPr/>
          <a:lstStyle/>
          <a:p>
            <a:r>
              <a:rPr lang="en-US" dirty="0" err="1"/>
              <a:t>Thực</a:t>
            </a:r>
            <a:r>
              <a:rPr lang="en-US" dirty="0"/>
              <a:t> </a:t>
            </a:r>
            <a:r>
              <a:rPr lang="en-US" dirty="0" err="1"/>
              <a:t>hành</a:t>
            </a:r>
            <a:endParaRPr lang="en-US" dirty="0"/>
          </a:p>
        </p:txBody>
      </p:sp>
      <p:sp>
        <p:nvSpPr>
          <p:cNvPr id="3" name="Content Placeholder 2">
            <a:extLst>
              <a:ext uri="{FF2B5EF4-FFF2-40B4-BE49-F238E27FC236}">
                <a16:creationId xmlns:a16="http://schemas.microsoft.com/office/drawing/2014/main" id="{05763C48-A6B8-4B89-BE79-5F2DE2AF2E27}"/>
              </a:ext>
            </a:extLst>
          </p:cNvPr>
          <p:cNvSpPr>
            <a:spLocks noGrp="1"/>
          </p:cNvSpPr>
          <p:nvPr>
            <p:ph sz="half" idx="1"/>
          </p:nvPr>
        </p:nvSpPr>
        <p:spPr>
          <a:xfrm>
            <a:off x="913795" y="923279"/>
            <a:ext cx="5106004" cy="5726096"/>
          </a:xfrm>
        </p:spPr>
        <p:txBody>
          <a:bodyPr>
            <a:noAutofit/>
          </a:bodyPr>
          <a:lstStyle/>
          <a:p>
            <a:pPr marL="0" indent="0">
              <a:buNone/>
            </a:pPr>
            <a:r>
              <a:rPr lang="vi-VN" sz="1400" dirty="0"/>
              <a:t>package main;</a:t>
            </a:r>
          </a:p>
          <a:p>
            <a:pPr marL="0" indent="0">
              <a:buNone/>
            </a:pPr>
            <a:r>
              <a:rPr lang="vi-VN" sz="1400" dirty="0"/>
              <a:t>import model.NhanVienFullTime;</a:t>
            </a:r>
          </a:p>
          <a:p>
            <a:pPr marL="0" indent="0">
              <a:buNone/>
            </a:pPr>
            <a:r>
              <a:rPr lang="vi-VN" sz="1400" dirty="0"/>
              <a:t>import model.NhanVienPartTime;</a:t>
            </a:r>
          </a:p>
          <a:p>
            <a:pPr marL="0" indent="0">
              <a:buNone/>
            </a:pPr>
            <a:r>
              <a:rPr lang="vi-VN" sz="1400" dirty="0"/>
              <a:t>import util.Configs;</a:t>
            </a:r>
          </a:p>
          <a:p>
            <a:pPr marL="0" indent="0">
              <a:buNone/>
            </a:pPr>
            <a:r>
              <a:rPr lang="vi-VN" sz="1400" dirty="0"/>
              <a:t>public class MainClass {</a:t>
            </a:r>
          </a:p>
          <a:p>
            <a:pPr marL="0" indent="0">
              <a:buNone/>
            </a:pPr>
            <a:r>
              <a:rPr lang="vi-VN" sz="1400" dirty="0"/>
              <a:t>    public static void main(String[] args) {</a:t>
            </a:r>
          </a:p>
          <a:p>
            <a:pPr marL="0" indent="0">
              <a:buNone/>
            </a:pPr>
            <a:r>
              <a:rPr lang="vi-VN" sz="1400" dirty="0"/>
              <a:t>        // Công ty có 3 nhân viên toàn thời gian, trong đó có 1 sếp, sếp không làm thêm ngày nào</a:t>
            </a:r>
          </a:p>
          <a:p>
            <a:pPr marL="0" indent="0">
              <a:buNone/>
            </a:pPr>
            <a:r>
              <a:rPr lang="vi-VN" sz="1400" dirty="0"/>
              <a:t>        NhanVienFullTime sep = new NhanVienFullTime("Trần Văn Sếp");</a:t>
            </a:r>
          </a:p>
          <a:p>
            <a:pPr marL="0" indent="0">
              <a:buNone/>
            </a:pPr>
            <a:r>
              <a:rPr lang="vi-VN" sz="1400" dirty="0"/>
              <a:t>        sep.setLoaiChucVu(Configs.NHAN_VIEN_SEP);</a:t>
            </a:r>
          </a:p>
          <a:p>
            <a:pPr marL="0" indent="0">
              <a:buNone/>
            </a:pPr>
            <a:r>
              <a:rPr lang="vi-VN" sz="1400" dirty="0"/>
              <a:t>        NhanVienFullTime linh1 = new NhanVienFullTime("Nguyễn Văn Lính"); // Không làm thêm ngày nào</a:t>
            </a:r>
          </a:p>
          <a:p>
            <a:pPr marL="0" indent="0">
              <a:buNone/>
            </a:pPr>
            <a:r>
              <a:rPr lang="vi-VN" sz="1400" dirty="0"/>
              <a:t>        NhanVienFullTime linh2 = new NhanVienFullTime("Lê Thị Lính", 3); // Làm thêm 3 ngày</a:t>
            </a:r>
          </a:p>
          <a:p>
            <a:pPr marL="0" indent="0">
              <a:buNone/>
            </a:pPr>
            <a:endParaRPr lang="en-US" sz="1200" dirty="0"/>
          </a:p>
        </p:txBody>
      </p:sp>
      <p:sp>
        <p:nvSpPr>
          <p:cNvPr id="4" name="Content Placeholder 3">
            <a:extLst>
              <a:ext uri="{FF2B5EF4-FFF2-40B4-BE49-F238E27FC236}">
                <a16:creationId xmlns:a16="http://schemas.microsoft.com/office/drawing/2014/main" id="{91B24063-9415-4842-9F84-9A54034F57BE}"/>
              </a:ext>
            </a:extLst>
          </p:cNvPr>
          <p:cNvSpPr>
            <a:spLocks noGrp="1"/>
          </p:cNvSpPr>
          <p:nvPr>
            <p:ph sz="half" idx="2"/>
          </p:nvPr>
        </p:nvSpPr>
        <p:spPr>
          <a:xfrm>
            <a:off x="6173402" y="834501"/>
            <a:ext cx="5713797" cy="5814874"/>
          </a:xfrm>
        </p:spPr>
        <p:txBody>
          <a:bodyPr>
            <a:normAutofit fontScale="77500" lnSpcReduction="20000"/>
          </a:bodyPr>
          <a:lstStyle/>
          <a:p>
            <a:pPr marL="0" indent="0">
              <a:buNone/>
            </a:pPr>
            <a:r>
              <a:rPr lang="vi-VN" dirty="0"/>
              <a:t> // Công ty đang thuê 1 nhân viên thời vụ</a:t>
            </a:r>
          </a:p>
          <a:p>
            <a:pPr marL="0" indent="0">
              <a:buNone/>
            </a:pPr>
            <a:r>
              <a:rPr lang="vi-VN" dirty="0"/>
              <a:t>        NhanVienPartTime thoiVu = new NhanVienPartTime("Phan Thị Thời Vụ", 240); // Cô ấy siêng làm lắm</a:t>
            </a:r>
          </a:p>
          <a:p>
            <a:pPr marL="0" indent="0">
              <a:buNone/>
            </a:pPr>
            <a:r>
              <a:rPr lang="vi-VN" dirty="0"/>
              <a:t>        // Tính lương cho nhân viên</a:t>
            </a:r>
          </a:p>
          <a:p>
            <a:pPr marL="0" indent="0">
              <a:buNone/>
            </a:pPr>
            <a:r>
              <a:rPr lang="vi-VN" dirty="0"/>
              <a:t>        sep.tinhLuong();</a:t>
            </a:r>
          </a:p>
          <a:p>
            <a:pPr marL="0" indent="0">
              <a:buNone/>
            </a:pPr>
            <a:r>
              <a:rPr lang="vi-VN" dirty="0"/>
              <a:t>        linh1.tinhLuong();</a:t>
            </a:r>
          </a:p>
          <a:p>
            <a:pPr marL="0" indent="0">
              <a:buNone/>
            </a:pPr>
            <a:r>
              <a:rPr lang="vi-VN" dirty="0"/>
              <a:t>        linh2.tinhLuong();</a:t>
            </a:r>
          </a:p>
          <a:p>
            <a:pPr marL="0" indent="0">
              <a:buNone/>
            </a:pPr>
            <a:r>
              <a:rPr lang="vi-VN" dirty="0"/>
              <a:t>        thoiVu.tinhLuong();</a:t>
            </a:r>
          </a:p>
          <a:p>
            <a:pPr marL="0" indent="0">
              <a:buNone/>
            </a:pPr>
            <a:r>
              <a:rPr lang="vi-VN" dirty="0"/>
              <a:t>        // In thông tin nhân viên</a:t>
            </a:r>
          </a:p>
          <a:p>
            <a:pPr marL="0" indent="0">
              <a:buNone/>
            </a:pPr>
            <a:r>
              <a:rPr lang="vi-VN" dirty="0"/>
              <a:t>        sep.xuatThongTin();</a:t>
            </a:r>
          </a:p>
          <a:p>
            <a:pPr marL="0" indent="0">
              <a:buNone/>
            </a:pPr>
            <a:r>
              <a:rPr lang="vi-VN" dirty="0"/>
              <a:t>        linh1.xuatThongTin();</a:t>
            </a:r>
          </a:p>
          <a:p>
            <a:pPr marL="0" indent="0">
              <a:buNone/>
            </a:pPr>
            <a:r>
              <a:rPr lang="vi-VN" dirty="0"/>
              <a:t>        linh2.xuatThongTin();</a:t>
            </a:r>
          </a:p>
          <a:p>
            <a:pPr marL="0" indent="0">
              <a:buNone/>
            </a:pPr>
            <a:r>
              <a:rPr lang="vi-VN" dirty="0"/>
              <a:t>        thoiVu.xuatThongTin();</a:t>
            </a:r>
          </a:p>
          <a:p>
            <a:pPr marL="0" indent="0">
              <a:buNone/>
            </a:pPr>
            <a:r>
              <a:rPr lang="vi-VN" dirty="0"/>
              <a:t>    }</a:t>
            </a:r>
          </a:p>
          <a:p>
            <a:pPr marL="0" indent="0">
              <a:buNone/>
            </a:pPr>
            <a:r>
              <a:rPr lang="vi-VN" dirty="0"/>
              <a:t>}</a:t>
            </a:r>
            <a:endParaRPr lang="en-US" dirty="0"/>
          </a:p>
        </p:txBody>
      </p:sp>
    </p:spTree>
    <p:extLst>
      <p:ext uri="{BB962C8B-B14F-4D97-AF65-F5344CB8AC3E}">
        <p14:creationId xmlns:p14="http://schemas.microsoft.com/office/powerpoint/2010/main" val="30183693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Lớp</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Gói</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nl-NL" sz="2400" b="1" dirty="0" err="1">
                <a:latin typeface="Times New Roman" panose="02020603050405020304" pitchFamily="18" charset="0"/>
                <a:cs typeface="Times New Roman" panose="02020603050405020304" pitchFamily="18" charset="0"/>
              </a:rPr>
              <a:t>Tính</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Phủ</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Quyết</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Overriding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Trong</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Kế</a:t>
            </a:r>
            <a:r>
              <a:rPr lang="nl-NL" sz="2400" b="1" dirty="0">
                <a:latin typeface="Times New Roman" panose="02020603050405020304" pitchFamily="18" charset="0"/>
                <a:cs typeface="Times New Roman" panose="02020603050405020304" pitchFamily="18" charset="0"/>
              </a:rPr>
              <a:t> </a:t>
            </a:r>
            <a:r>
              <a:rPr lang="nl-NL" sz="2400" b="1" dirty="0" err="1">
                <a:latin typeface="Times New Roman" panose="02020603050405020304" pitchFamily="18" charset="0"/>
                <a:cs typeface="Times New Roman" panose="02020603050405020304" pitchFamily="18" charset="0"/>
              </a:rPr>
              <a:t>Thừa</a:t>
            </a:r>
            <a:endParaRPr lang="en-US" sz="24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err="1">
                <a:solidFill>
                  <a:srgbClr val="FF0000"/>
                </a:solidFill>
                <a:latin typeface="Times New Roman" panose="02020603050405020304" pitchFamily="18" charset="0"/>
                <a:cs typeface="Times New Roman" panose="02020603050405020304" pitchFamily="18" charset="0"/>
              </a:rPr>
              <a:t>Lớp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trừu</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tượng</a:t>
            </a:r>
            <a:endParaRPr lang="en-US"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455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5. Lớp trừu tượng</a:t>
            </a:r>
            <a:endParaRPr lang="en-US" dirty="0"/>
          </a:p>
        </p:txBody>
      </p:sp>
      <p:sp>
        <p:nvSpPr>
          <p:cNvPr id="3" name="Content Placeholder 2">
            <a:extLst>
              <a:ext uri="{FF2B5EF4-FFF2-40B4-BE49-F238E27FC236}">
                <a16:creationId xmlns:a16="http://schemas.microsoft.com/office/drawing/2014/main" id="{7E4DA900-C794-4288-945C-8C55AB926201}"/>
              </a:ext>
            </a:extLst>
          </p:cNvPr>
          <p:cNvSpPr>
            <a:spLocks noGrp="1"/>
          </p:cNvSpPr>
          <p:nvPr>
            <p:ph idx="1"/>
          </p:nvPr>
        </p:nvSpPr>
        <p:spPr>
          <a:xfrm>
            <a:off x="913795" y="1271847"/>
            <a:ext cx="10353762" cy="4519353"/>
          </a:xfrm>
        </p:spPr>
        <p:txBody>
          <a:bodyPr>
            <a:noAutofit/>
          </a:bodyPr>
          <a:lstStyle/>
          <a:p>
            <a:pPr>
              <a:lnSpc>
                <a:spcPct val="150000"/>
              </a:lnSpc>
            </a:pPr>
            <a:r>
              <a:rPr lang="vi-VN" sz="3200" dirty="0">
                <a:latin typeface="Times New Roman" panose="02020603050405020304" pitchFamily="18" charset="0"/>
                <a:cs typeface="Times New Roman" panose="02020603050405020304" pitchFamily="18" charset="0"/>
              </a:rPr>
              <a:t>Tính trừu tượng là một tiến trình ẩn các cài đặt chi tiết và chỉ hiển thị tính năng tới người dùng.</a:t>
            </a:r>
            <a:endParaRPr lang="en-US" sz="32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vi-VN" sz="3200" dirty="0">
                <a:latin typeface="Times New Roman" panose="02020603050405020304" pitchFamily="18" charset="0"/>
                <a:cs typeface="Times New Roman" panose="02020603050405020304" pitchFamily="18" charset="0"/>
              </a:rPr>
              <a:t>Có 2 cách để đạt được sự trừu tượng hóa trong java</a:t>
            </a:r>
          </a:p>
          <a:p>
            <a:pPr marL="1114425" indent="-268288">
              <a:lnSpc>
                <a:spcPct val="150000"/>
              </a:lnSpc>
              <a:buFont typeface="+mj-lt"/>
              <a:buAutoNum type="arabicPeriod"/>
            </a:pPr>
            <a:r>
              <a:rPr lang="vi-VN" sz="3200" dirty="0">
                <a:latin typeface="Times New Roman" panose="02020603050405020304" pitchFamily="18" charset="0"/>
                <a:cs typeface="Times New Roman" panose="02020603050405020304" pitchFamily="18" charset="0"/>
              </a:rPr>
              <a:t>Sử dụng Abstract class</a:t>
            </a:r>
          </a:p>
          <a:p>
            <a:pPr marL="1114425" indent="-268288">
              <a:lnSpc>
                <a:spcPct val="150000"/>
              </a:lnSpc>
              <a:buFont typeface="+mj-lt"/>
              <a:buAutoNum type="arabicPeriod"/>
            </a:pPr>
            <a:r>
              <a:rPr lang="vi-VN" sz="3200" dirty="0">
                <a:latin typeface="Times New Roman" panose="02020603050405020304" pitchFamily="18" charset="0"/>
                <a:cs typeface="Times New Roman" panose="02020603050405020304" pitchFamily="18" charset="0"/>
              </a:rPr>
              <a:t>Sử dụng Interface</a:t>
            </a:r>
          </a:p>
        </p:txBody>
      </p:sp>
    </p:spTree>
    <p:extLst>
      <p:ext uri="{BB962C8B-B14F-4D97-AF65-F5344CB8AC3E}">
        <p14:creationId xmlns:p14="http://schemas.microsoft.com/office/powerpoint/2010/main" val="14634355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VÍ DỤ VỀ ABSTRACT CLass</a:t>
            </a:r>
            <a:endParaRPr lang="en-US" dirty="0"/>
          </a:p>
        </p:txBody>
      </p:sp>
      <p:pic>
        <p:nvPicPr>
          <p:cNvPr id="5" name="Content Placeholder 4" descr="Graphical user interface, text, application&#10;&#10;Description automatically generated">
            <a:extLst>
              <a:ext uri="{FF2B5EF4-FFF2-40B4-BE49-F238E27FC236}">
                <a16:creationId xmlns:a16="http://schemas.microsoft.com/office/drawing/2014/main" id="{63600546-029E-7548-87B7-448453A39D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0591" y="1370141"/>
            <a:ext cx="9309224" cy="4490332"/>
          </a:xfrm>
        </p:spPr>
      </p:pic>
    </p:spTree>
    <p:extLst>
      <p:ext uri="{BB962C8B-B14F-4D97-AF65-F5344CB8AC3E}">
        <p14:creationId xmlns:p14="http://schemas.microsoft.com/office/powerpoint/2010/main" val="14788690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VÍ DỤ VỀ interface</a:t>
            </a:r>
            <a:endParaRPr lang="en-US" dirty="0"/>
          </a:p>
        </p:txBody>
      </p:sp>
      <p:pic>
        <p:nvPicPr>
          <p:cNvPr id="7" name="Content Placeholder 6" descr="Text&#10;&#10;Description automatically generated">
            <a:extLst>
              <a:ext uri="{FF2B5EF4-FFF2-40B4-BE49-F238E27FC236}">
                <a16:creationId xmlns:a16="http://schemas.microsoft.com/office/drawing/2014/main" id="{E7A8C2DA-7299-7449-9FBF-84D7CDFF23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7236" y="1360949"/>
            <a:ext cx="8281555" cy="4968933"/>
          </a:xfrm>
        </p:spPr>
      </p:pic>
    </p:spTree>
    <p:extLst>
      <p:ext uri="{BB962C8B-B14F-4D97-AF65-F5344CB8AC3E}">
        <p14:creationId xmlns:p14="http://schemas.microsoft.com/office/powerpoint/2010/main" val="281587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60F2-5411-41AA-8BAA-2330347BE9A0}"/>
              </a:ext>
            </a:extLst>
          </p:cNvPr>
          <p:cNvSpPr>
            <a:spLocks noGrp="1"/>
          </p:cNvSpPr>
          <p:nvPr>
            <p:ph type="title"/>
          </p:nvPr>
        </p:nvSpPr>
        <p:spPr>
          <a:xfrm>
            <a:off x="913795" y="609600"/>
            <a:ext cx="10353761" cy="662247"/>
          </a:xfrm>
        </p:spPr>
        <p:txBody>
          <a:bodyPr/>
          <a:lstStyle/>
          <a:p>
            <a:r>
              <a:rPr lang="vi-VN" dirty="0"/>
              <a:t>So sánh abstract class và interface</a:t>
            </a:r>
            <a:endParaRPr lang="en-US" dirty="0"/>
          </a:p>
        </p:txBody>
      </p:sp>
      <p:graphicFrame>
        <p:nvGraphicFramePr>
          <p:cNvPr id="5" name="Table 5">
            <a:extLst>
              <a:ext uri="{FF2B5EF4-FFF2-40B4-BE49-F238E27FC236}">
                <a16:creationId xmlns:a16="http://schemas.microsoft.com/office/drawing/2014/main" id="{4B381A80-9B3D-554E-91CB-758B9EDB5567}"/>
              </a:ext>
            </a:extLst>
          </p:cNvPr>
          <p:cNvGraphicFramePr>
            <a:graphicFrameLocks noGrp="1"/>
          </p:cNvGraphicFramePr>
          <p:nvPr>
            <p:ph idx="1"/>
            <p:extLst>
              <p:ext uri="{D42A27DB-BD31-4B8C-83A1-F6EECF244321}">
                <p14:modId xmlns:p14="http://schemas.microsoft.com/office/powerpoint/2010/main" val="796526097"/>
              </p:ext>
            </p:extLst>
          </p:nvPr>
        </p:nvGraphicFramePr>
        <p:xfrm>
          <a:off x="83890" y="1271847"/>
          <a:ext cx="11979480" cy="4980923"/>
        </p:xfrm>
        <a:graphic>
          <a:graphicData uri="http://schemas.openxmlformats.org/drawingml/2006/table">
            <a:tbl>
              <a:tblPr firstRow="1" bandRow="1">
                <a:tableStyleId>{5C22544A-7EE6-4342-B048-85BDC9FD1C3A}</a:tableStyleId>
              </a:tblPr>
              <a:tblGrid>
                <a:gridCol w="5989740">
                  <a:extLst>
                    <a:ext uri="{9D8B030D-6E8A-4147-A177-3AD203B41FA5}">
                      <a16:colId xmlns:a16="http://schemas.microsoft.com/office/drawing/2014/main" val="1622433352"/>
                    </a:ext>
                  </a:extLst>
                </a:gridCol>
                <a:gridCol w="5989740">
                  <a:extLst>
                    <a:ext uri="{9D8B030D-6E8A-4147-A177-3AD203B41FA5}">
                      <a16:colId xmlns:a16="http://schemas.microsoft.com/office/drawing/2014/main" val="219558855"/>
                    </a:ext>
                  </a:extLst>
                </a:gridCol>
              </a:tblGrid>
              <a:tr h="629629">
                <a:tc>
                  <a:txBody>
                    <a:bodyPr/>
                    <a:lstStyle/>
                    <a:p>
                      <a:pPr algn="ctr"/>
                      <a:r>
                        <a:rPr lang="en-US" sz="2400" dirty="0">
                          <a:latin typeface="Times New Roman" panose="02020603050405020304" pitchFamily="18" charset="0"/>
                          <a:cs typeface="Times New Roman" panose="02020603050405020304" pitchFamily="18" charset="0"/>
                        </a:rPr>
                        <a:t>A</a:t>
                      </a:r>
                      <a:r>
                        <a:rPr lang="en-VN" sz="2400" dirty="0">
                          <a:latin typeface="Times New Roman" panose="02020603050405020304" pitchFamily="18" charset="0"/>
                          <a:cs typeface="Times New Roman" panose="02020603050405020304" pitchFamily="18" charset="0"/>
                        </a:rPr>
                        <a:t>bstract class</a:t>
                      </a:r>
                    </a:p>
                  </a:txBody>
                  <a:tcPr/>
                </a:tc>
                <a:tc>
                  <a:txBody>
                    <a:bodyPr/>
                    <a:lstStyle/>
                    <a:p>
                      <a:pPr algn="ctr"/>
                      <a:r>
                        <a:rPr lang="en-US" sz="2400" dirty="0">
                          <a:latin typeface="Times New Roman" panose="02020603050405020304" pitchFamily="18" charset="0"/>
                          <a:cs typeface="Times New Roman" panose="02020603050405020304" pitchFamily="18" charset="0"/>
                        </a:rPr>
                        <a:t>I</a:t>
                      </a:r>
                      <a:r>
                        <a:rPr lang="en-VN" sz="2400" dirty="0">
                          <a:latin typeface="Times New Roman" panose="02020603050405020304" pitchFamily="18" charset="0"/>
                          <a:cs typeface="Times New Roman" panose="02020603050405020304" pitchFamily="18" charset="0"/>
                        </a:rPr>
                        <a:t>nterface</a:t>
                      </a:r>
                    </a:p>
                  </a:txBody>
                  <a:tcPr/>
                </a:tc>
                <a:extLst>
                  <a:ext uri="{0D108BD9-81ED-4DB2-BD59-A6C34878D82A}">
                    <a16:rowId xmlns:a16="http://schemas.microsoft.com/office/drawing/2014/main" val="3014909437"/>
                  </a:ext>
                </a:extLst>
              </a:tr>
              <a:tr h="1252785">
                <a:tc>
                  <a:txBody>
                    <a:bodyPr/>
                    <a:lstStyle/>
                    <a:p>
                      <a:r>
                        <a:rPr lang="vi-VN" sz="2400" dirty="0">
                          <a:latin typeface="Times New Roman" panose="02020603050405020304" pitchFamily="18" charset="0"/>
                          <a:cs typeface="Times New Roman" panose="02020603050405020304" pitchFamily="18" charset="0"/>
                        </a:rPr>
                        <a:t>Abstract class có phương thức </a:t>
                      </a:r>
                      <a:r>
                        <a:rPr lang="vi-VN" sz="2400" b="1" dirty="0">
                          <a:latin typeface="Times New Roman" panose="02020603050405020304" pitchFamily="18" charset="0"/>
                          <a:cs typeface="Times New Roman" panose="02020603050405020304" pitchFamily="18" charset="0"/>
                        </a:rPr>
                        <a:t>abstract </a:t>
                      </a:r>
                      <a:r>
                        <a:rPr lang="vi-VN" sz="2400" dirty="0">
                          <a:latin typeface="Times New Roman" panose="02020603050405020304" pitchFamily="18" charset="0"/>
                          <a:cs typeface="Times New Roman" panose="02020603050405020304" pitchFamily="18" charset="0"/>
                        </a:rPr>
                        <a:t>(không có thân hàm) và phương thức </a:t>
                      </a:r>
                      <a:r>
                        <a:rPr lang="vi-VN" sz="2400" b="1" dirty="0">
                          <a:latin typeface="Times New Roman" panose="02020603050405020304" pitchFamily="18" charset="0"/>
                          <a:cs typeface="Times New Roman" panose="02020603050405020304" pitchFamily="18" charset="0"/>
                        </a:rPr>
                        <a:t>non-abstract</a:t>
                      </a:r>
                      <a:r>
                        <a:rPr lang="vi-VN" sz="2400" dirty="0">
                          <a:latin typeface="Times New Roman" panose="02020603050405020304" pitchFamily="18" charset="0"/>
                          <a:cs typeface="Times New Roman" panose="02020603050405020304" pitchFamily="18" charset="0"/>
                        </a:rPr>
                        <a:t> (có thân hàm)</a:t>
                      </a:r>
                      <a:endParaRPr lang="en-VN" sz="2400" dirty="0">
                        <a:latin typeface="Times New Roman" panose="02020603050405020304" pitchFamily="18" charset="0"/>
                        <a:cs typeface="Times New Roman" panose="02020603050405020304" pitchFamily="18" charset="0"/>
                      </a:endParaRPr>
                    </a:p>
                  </a:txBody>
                  <a:tcPr/>
                </a:tc>
                <a:tc>
                  <a:txBody>
                    <a:bodyPr/>
                    <a:lstStyle/>
                    <a:p>
                      <a:r>
                        <a:rPr lang="vi-VN" sz="2400" dirty="0">
                          <a:latin typeface="Times New Roman" panose="02020603050405020304" pitchFamily="18" charset="0"/>
                          <a:cs typeface="Times New Roman" panose="02020603050405020304" pitchFamily="18" charset="0"/>
                        </a:rPr>
                        <a:t>Interface chỉ có phương thức </a:t>
                      </a:r>
                      <a:r>
                        <a:rPr lang="vi-VN" sz="2400" b="1" dirty="0">
                          <a:latin typeface="Times New Roman" panose="02020603050405020304" pitchFamily="18" charset="0"/>
                          <a:cs typeface="Times New Roman" panose="02020603050405020304" pitchFamily="18" charset="0"/>
                        </a:rPr>
                        <a:t>abstract</a:t>
                      </a:r>
                      <a:r>
                        <a:rPr lang="vi-VN" sz="2400" dirty="0">
                          <a:latin typeface="Times New Roman" panose="02020603050405020304" pitchFamily="18" charset="0"/>
                          <a:cs typeface="Times New Roman" panose="02020603050405020304" pitchFamily="18" charset="0"/>
                        </a:rPr>
                        <a:t>. Từ java 8, nó có thêm </a:t>
                      </a:r>
                      <a:r>
                        <a:rPr lang="vi-VN" sz="2400" b="1" dirty="0">
                          <a:latin typeface="Times New Roman" panose="02020603050405020304" pitchFamily="18" charset="0"/>
                          <a:cs typeface="Times New Roman" panose="02020603050405020304" pitchFamily="18" charset="0"/>
                        </a:rPr>
                        <a:t>các phương thức default và static</a:t>
                      </a:r>
                      <a:r>
                        <a:rPr lang="vi-VN" sz="2400" dirty="0">
                          <a:latin typeface="Times New Roman" panose="02020603050405020304" pitchFamily="18" charset="0"/>
                          <a:cs typeface="Times New Roman" panose="02020603050405020304" pitchFamily="18" charset="0"/>
                        </a:rPr>
                        <a:t>.</a:t>
                      </a:r>
                      <a:endParaRPr lang="en-V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4519987"/>
                  </a:ext>
                </a:extLst>
              </a:tr>
              <a:tr h="629629">
                <a:tc>
                  <a:txBody>
                    <a:bodyPr/>
                    <a:lstStyle/>
                    <a:p>
                      <a:r>
                        <a:rPr lang="en-US" sz="2400" dirty="0">
                          <a:latin typeface="Times New Roman" panose="02020603050405020304" pitchFamily="18" charset="0"/>
                          <a:cs typeface="Times New Roman" panose="02020603050405020304" pitchFamily="18" charset="0"/>
                        </a:rPr>
                        <a:t>Abstract class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hỗ</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V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Interface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hỗ</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thừa</a:t>
                      </a:r>
                      <a:endParaRPr lang="en-V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0606474"/>
                  </a:ext>
                </a:extLst>
              </a:tr>
              <a:tr h="629629">
                <a:tc>
                  <a:txBody>
                    <a:bodyPr/>
                    <a:lstStyle/>
                    <a:p>
                      <a:r>
                        <a:rPr lang="en-US" sz="2400" dirty="0">
                          <a:latin typeface="Times New Roman" panose="02020603050405020304" pitchFamily="18" charset="0"/>
                          <a:cs typeface="Times New Roman" panose="02020603050405020304" pitchFamily="18" charset="0"/>
                        </a:rPr>
                        <a:t>Abstract class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final, non-final, static and non-static</a:t>
                      </a:r>
                      <a:endParaRPr lang="en-V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Interface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final</a:t>
                      </a:r>
                      <a:endParaRPr lang="en-V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11993696"/>
                  </a:ext>
                </a:extLst>
              </a:tr>
              <a:tr h="629629">
                <a:tc>
                  <a:txBody>
                    <a:bodyPr/>
                    <a:lstStyle/>
                    <a:p>
                      <a:r>
                        <a:rPr lang="vi-VN" sz="2400" dirty="0">
                          <a:latin typeface="Times New Roman" panose="02020603050405020304" pitchFamily="18" charset="0"/>
                          <a:cs typeface="Times New Roman" panose="02020603050405020304" pitchFamily="18" charset="0"/>
                        </a:rPr>
                        <a:t>Abstract class </a:t>
                      </a:r>
                      <a:r>
                        <a:rPr lang="vi-VN" sz="2400" b="1" dirty="0">
                          <a:latin typeface="Times New Roman" panose="02020603050405020304" pitchFamily="18" charset="0"/>
                          <a:cs typeface="Times New Roman" panose="02020603050405020304" pitchFamily="18" charset="0"/>
                        </a:rPr>
                        <a:t>có thể cung cấp nội dung cài đặt cho phương thức của interface</a:t>
                      </a:r>
                      <a:r>
                        <a:rPr lang="vi-VN" sz="2400" dirty="0">
                          <a:latin typeface="Times New Roman" panose="02020603050405020304" pitchFamily="18" charset="0"/>
                          <a:cs typeface="Times New Roman" panose="02020603050405020304" pitchFamily="18" charset="0"/>
                        </a:rPr>
                        <a:t>.</a:t>
                      </a:r>
                      <a:endParaRPr lang="en-VN" sz="2400" dirty="0">
                        <a:latin typeface="Times New Roman" panose="02020603050405020304" pitchFamily="18" charset="0"/>
                        <a:cs typeface="Times New Roman" panose="02020603050405020304" pitchFamily="18" charset="0"/>
                      </a:endParaRPr>
                    </a:p>
                  </a:txBody>
                  <a:tcPr/>
                </a:tc>
                <a:tc>
                  <a:txBody>
                    <a:bodyPr/>
                    <a:lstStyle/>
                    <a:p>
                      <a:r>
                        <a:rPr lang="en-VN" sz="2400" dirty="0">
                          <a:latin typeface="Times New Roman" panose="02020603050405020304" pitchFamily="18" charset="0"/>
                          <a:cs typeface="Times New Roman" panose="02020603050405020304" pitchFamily="18" charset="0"/>
                        </a:rPr>
                        <a:t>I</a:t>
                      </a:r>
                      <a:r>
                        <a:rPr lang="vi-VN" sz="2400" dirty="0">
                          <a:latin typeface="Times New Roman" panose="02020603050405020304" pitchFamily="18" charset="0"/>
                          <a:cs typeface="Times New Roman" panose="02020603050405020304" pitchFamily="18" charset="0"/>
                        </a:rPr>
                        <a:t>nterface </a:t>
                      </a:r>
                      <a:r>
                        <a:rPr lang="vi-VN" sz="2400" b="1" dirty="0">
                          <a:latin typeface="Times New Roman" panose="02020603050405020304" pitchFamily="18" charset="0"/>
                          <a:cs typeface="Times New Roman" panose="02020603050405020304" pitchFamily="18" charset="0"/>
                        </a:rPr>
                        <a:t>không thể cung cấp nội dung cài đặt cho phương thức của abstract class</a:t>
                      </a:r>
                      <a:endParaRPr lang="en-V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6973232"/>
                  </a:ext>
                </a:extLst>
              </a:tr>
              <a:tr h="629629">
                <a:tc>
                  <a:txBody>
                    <a:bodyPr/>
                    <a:lstStyle/>
                    <a:p>
                      <a:r>
                        <a:rPr lang="vi-VN" sz="2400" dirty="0">
                          <a:latin typeface="Times New Roman" panose="02020603050405020304" pitchFamily="18" charset="0"/>
                          <a:cs typeface="Times New Roman" panose="02020603050405020304" pitchFamily="18" charset="0"/>
                        </a:rPr>
                        <a:t>Từ khóa </a:t>
                      </a:r>
                      <a:r>
                        <a:rPr lang="vi-VN" sz="2400" b="1" dirty="0">
                          <a:latin typeface="Times New Roman" panose="02020603050405020304" pitchFamily="18" charset="0"/>
                          <a:cs typeface="Times New Roman" panose="02020603050405020304" pitchFamily="18" charset="0"/>
                        </a:rPr>
                        <a:t>abstract</a:t>
                      </a:r>
                      <a:r>
                        <a:rPr lang="vi-VN" sz="2400" dirty="0">
                          <a:latin typeface="Times New Roman" panose="02020603050405020304" pitchFamily="18" charset="0"/>
                          <a:cs typeface="Times New Roman" panose="02020603050405020304" pitchFamily="18" charset="0"/>
                        </a:rPr>
                        <a:t> được sử dụng để khai báo abstract class</a:t>
                      </a:r>
                      <a:endParaRPr lang="en-VN" sz="2400" dirty="0">
                        <a:latin typeface="Times New Roman" panose="02020603050405020304" pitchFamily="18" charset="0"/>
                        <a:cs typeface="Times New Roman" panose="02020603050405020304" pitchFamily="18" charset="0"/>
                      </a:endParaRPr>
                    </a:p>
                  </a:txBody>
                  <a:tcPr/>
                </a:tc>
                <a:tc>
                  <a:txBody>
                    <a:bodyPr/>
                    <a:lstStyle/>
                    <a:p>
                      <a:r>
                        <a:rPr lang="vi-VN" sz="2400" dirty="0">
                          <a:latin typeface="Times New Roman" panose="02020603050405020304" pitchFamily="18" charset="0"/>
                          <a:cs typeface="Times New Roman" panose="02020603050405020304" pitchFamily="18" charset="0"/>
                        </a:rPr>
                        <a:t>Từ khóa </a:t>
                      </a:r>
                      <a:r>
                        <a:rPr lang="vi-VN" sz="2400" b="1" dirty="0">
                          <a:latin typeface="Times New Roman" panose="02020603050405020304" pitchFamily="18" charset="0"/>
                          <a:cs typeface="Times New Roman" panose="02020603050405020304" pitchFamily="18" charset="0"/>
                        </a:rPr>
                        <a:t>interface</a:t>
                      </a:r>
                      <a:r>
                        <a:rPr lang="vi-VN" sz="2400" dirty="0">
                          <a:latin typeface="Times New Roman" panose="02020603050405020304" pitchFamily="18" charset="0"/>
                          <a:cs typeface="Times New Roman" panose="02020603050405020304" pitchFamily="18" charset="0"/>
                        </a:rPr>
                        <a:t> được sử dụng để khai báo interface.</a:t>
                      </a:r>
                      <a:endParaRPr lang="en-V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270495"/>
                  </a:ext>
                </a:extLst>
              </a:tr>
            </a:tbl>
          </a:graphicData>
        </a:graphic>
      </p:graphicFrame>
    </p:spTree>
    <p:extLst>
      <p:ext uri="{BB962C8B-B14F-4D97-AF65-F5344CB8AC3E}">
        <p14:creationId xmlns:p14="http://schemas.microsoft.com/office/powerpoint/2010/main" val="14376747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725C36023882DE4FB137522A70E4931E" ma:contentTypeVersion="5" ma:contentTypeDescription="Tạo tài liệu mới." ma:contentTypeScope="" ma:versionID="37206308218167f1bcab7ccacbc55a34">
  <xsd:schema xmlns:xsd="http://www.w3.org/2001/XMLSchema" xmlns:xs="http://www.w3.org/2001/XMLSchema" xmlns:p="http://schemas.microsoft.com/office/2006/metadata/properties" xmlns:ns2="786e6eaa-1619-4404-b353-bdcbc5319744" targetNamespace="http://schemas.microsoft.com/office/2006/metadata/properties" ma:root="true" ma:fieldsID="0d24929628809535d89936c78e4ba2a1" ns2:_="">
    <xsd:import namespace="786e6eaa-1619-4404-b353-bdcbc531974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6e6eaa-1619-4404-b353-bdcbc53197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624477-8CED-434B-8B6D-A271D8597E68}"/>
</file>

<file path=customXml/itemProps2.xml><?xml version="1.0" encoding="utf-8"?>
<ds:datastoreItem xmlns:ds="http://schemas.openxmlformats.org/officeDocument/2006/customXml" ds:itemID="{9547A5EB-7993-4309-8410-8C353C3F15CA}"/>
</file>

<file path=customXml/itemProps3.xml><?xml version="1.0" encoding="utf-8"?>
<ds:datastoreItem xmlns:ds="http://schemas.openxmlformats.org/officeDocument/2006/customXml" ds:itemID="{3E059E4F-05AB-4B16-8942-B87DE80AE4E6}"/>
</file>

<file path=docProps/app.xml><?xml version="1.0" encoding="utf-8"?>
<Properties xmlns="http://schemas.openxmlformats.org/officeDocument/2006/extended-properties" xmlns:vt="http://schemas.openxmlformats.org/officeDocument/2006/docPropsVTypes">
  <Template/>
  <TotalTime>577</TotalTime>
  <Words>4938</Words>
  <Application>Microsoft Macintosh PowerPoint</Application>
  <PresentationFormat>Widescreen</PresentationFormat>
  <Paragraphs>357</Paragraphs>
  <Slides>90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90</vt:i4>
      </vt:variant>
    </vt:vector>
  </HeadingPairs>
  <TitlesOfParts>
    <vt:vector size="95" baseType="lpstr">
      <vt:lpstr>Arial</vt:lpstr>
      <vt:lpstr>Bookman Old Style</vt:lpstr>
      <vt:lpstr>Rockwell</vt:lpstr>
      <vt:lpstr>Times New Roman</vt:lpstr>
      <vt:lpstr>Damask</vt:lpstr>
      <vt:lpstr>Chương 3: Lập Trình Hướng Đối Tượng trong java</vt:lpstr>
      <vt:lpstr>Nội dung</vt:lpstr>
      <vt:lpstr>1. Tổng quan lập trình hướng đối tượng</vt:lpstr>
      <vt:lpstr>Các Hướng Tư Duy Trong Lập Trình</vt:lpstr>
      <vt:lpstr>Xây Dựng Ứng Dụng Theo Hướng “Cũ”</vt:lpstr>
      <vt:lpstr>Xây Dựng Ứng Dụng Theo Hướng “Cũ”</vt:lpstr>
      <vt:lpstr>Xây Dựng Ứng Dụng Theo Hướng “Cũ”</vt:lpstr>
      <vt:lpstr>Xây Dựng Ứng Dụng Theo Hướng Đối Tượng</vt:lpstr>
      <vt:lpstr>Nội dung</vt:lpstr>
      <vt:lpstr>2. Đối Tượng (Object) &amp; Lớp (Class)</vt:lpstr>
      <vt:lpstr>Khái Niệm Đối Tượng (Object)</vt:lpstr>
      <vt:lpstr>Đối tượng</vt:lpstr>
      <vt:lpstr>Khái Niệm Lớp (Class)</vt:lpstr>
      <vt:lpstr>Khái Niệm Lớp (Class)</vt:lpstr>
      <vt:lpstr>Khai Báo Lớp</vt:lpstr>
      <vt:lpstr>Ví dụ về khai báo lớp</vt:lpstr>
      <vt:lpstr>Khai Báo Và Khởi Tạo Đối Tượng</vt:lpstr>
      <vt:lpstr>Thuộc Tính Của Lớp</vt:lpstr>
      <vt:lpstr>Thuộc Tính Của Lớp</vt:lpstr>
      <vt:lpstr>Thực Hành Tạo Các Thuộc Tính</vt:lpstr>
      <vt:lpstr>Mối Liên Hệ Giữa Thuộc Tính Và Biến</vt:lpstr>
      <vt:lpstr>Truy Xuất Đến Thuộc Tính Của Lớp Từ Bên Ngoài</vt:lpstr>
      <vt:lpstr>Phương Thức Của Lớp</vt:lpstr>
      <vt:lpstr>Phương thức của lớp</vt:lpstr>
      <vt:lpstr>Ví dụ phương thức của lớp</vt:lpstr>
      <vt:lpstr>Kiểu Trả Về Của Phương Thức</vt:lpstr>
      <vt:lpstr>Ví dụ kiểu dữ liệu trả về của phương thức</vt:lpstr>
      <vt:lpstr>Ví Dụ Kiểu Trả Về Là void</vt:lpstr>
      <vt:lpstr>Các Tham Số Truyền Vào Của Phương Thức</vt:lpstr>
      <vt:lpstr>Truy Xuất Đến Phương Thức Của Lớp Từ Bên Ngoài</vt:lpstr>
      <vt:lpstr>Ví dụ Truy Xuất Đến Phương Thức Của Lớp Từ Bên Ngoài</vt:lpstr>
      <vt:lpstr>Nội dung</vt:lpstr>
      <vt:lpstr>3. Package</vt:lpstr>
      <vt:lpstr>Package</vt:lpstr>
      <vt:lpstr>Tạo Package Với Eclipse</vt:lpstr>
      <vt:lpstr>Tạo Package Với Eclipse</vt:lpstr>
      <vt:lpstr>Tạo Package Với Eclipse</vt:lpstr>
      <vt:lpstr>Tạo Các Lớp Hình Học Bên Trong Package shapes</vt:lpstr>
      <vt:lpstr>Sử Dụng Các Lớp HinhTron Và HinhChuNhat Từ MainClass</vt:lpstr>
      <vt:lpstr>Phương Thức Khởi Tạo – Constructor</vt:lpstr>
      <vt:lpstr>Thực Hành Khai Báo Các Constructor Cho Lớp HinhTron</vt:lpstr>
      <vt:lpstr>Khả năng truy cập của thuộc tính và phương thức</vt:lpstr>
      <vt:lpstr>Khả Năng Truy Cập private</vt:lpstr>
      <vt:lpstr>Ví dụ khả năng truy cập private  </vt:lpstr>
      <vt:lpstr>Khả Năng Truy Cập default</vt:lpstr>
      <vt:lpstr>Ví dụ Khả Năng Truy Cập default</vt:lpstr>
      <vt:lpstr>Khả Năng Truy Cập protected</vt:lpstr>
      <vt:lpstr>Ví dụ Khả Năng Truy Cập protected</vt:lpstr>
      <vt:lpstr>Khả Năng Truy Cập public</vt:lpstr>
      <vt:lpstr>Nội dung</vt:lpstr>
      <vt:lpstr>4. Kế thừa trong lập trình hướng đối tượng</vt:lpstr>
      <vt:lpstr>Ví dụ kế thừa trong java</vt:lpstr>
      <vt:lpstr>Đặc điểm chú ý trong kế thừa</vt:lpstr>
      <vt:lpstr>Ví dụ về kế thừa</vt:lpstr>
      <vt:lpstr>Ví dụ kế thừa</vt:lpstr>
      <vt:lpstr>Ví dụ kế thừa</vt:lpstr>
      <vt:lpstr>Ví dụ kế thừa</vt:lpstr>
      <vt:lpstr>Ví dụ kế thừa</vt:lpstr>
      <vt:lpstr>Từ Khóa this &amp; Từ Khóa super</vt:lpstr>
      <vt:lpstr>Từ Khóa this &amp; Từ Khóa super</vt:lpstr>
      <vt:lpstr>Từ Khóa this &amp; Từ Khóa super</vt:lpstr>
      <vt:lpstr>Từ Khóa this &amp; Từ Khóa super</vt:lpstr>
      <vt:lpstr>Từ Khóa super</vt:lpstr>
      <vt:lpstr>Từ Khóa super</vt:lpstr>
      <vt:lpstr>Nội dung</vt:lpstr>
      <vt:lpstr>5. Tính Phủ Quyết (Overriding) Trong Kế Thừa</vt:lpstr>
      <vt:lpstr>Ví dụ về overriding</vt:lpstr>
      <vt:lpstr>Lớp Object</vt:lpstr>
      <vt:lpstr>Các Phương Thức Mà Lớp Object Cung Cấp</vt:lpstr>
      <vt:lpstr>Phương Thức Getter Và Setter</vt:lpstr>
      <vt:lpstr>Ví dụ về getter và setter</vt:lpstr>
      <vt:lpstr>Getter, Setter Và Những Tùy Biến</vt:lpstr>
      <vt:lpstr>Từ Khóa static</vt:lpstr>
      <vt:lpstr>Công Dụng Của Từ Khóa static</vt:lpstr>
      <vt:lpstr>Khai Báo Thuộc Tính static</vt:lpstr>
      <vt:lpstr>Khai Báo Phương Thức static</vt:lpstr>
      <vt:lpstr>Ví dụ</vt:lpstr>
      <vt:lpstr>Nạp Chồng Phương Thức (Overloading)</vt:lpstr>
      <vt:lpstr>Thực hành</vt:lpstr>
      <vt:lpstr>Thực hành</vt:lpstr>
      <vt:lpstr>Thực hành</vt:lpstr>
      <vt:lpstr>Thực hành</vt:lpstr>
      <vt:lpstr>Thực hành</vt:lpstr>
      <vt:lpstr>Thực hành</vt:lpstr>
      <vt:lpstr>Thực hành</vt:lpstr>
      <vt:lpstr>Nội dung</vt:lpstr>
      <vt:lpstr>5. Lớp trừu tượng</vt:lpstr>
      <vt:lpstr>VÍ DỤ VỀ ABSTRACT CLass</vt:lpstr>
      <vt:lpstr>VÍ DỤ VỀ interface</vt:lpstr>
      <vt:lpstr>So sánh abstract class và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 Lập Trình Hướng Đối Tượng trong java</dc:title>
  <dc:creator>Dinh Bao Ngoc</dc:creator>
  <cp:lastModifiedBy>Pham Quang Hien</cp:lastModifiedBy>
  <cp:revision>116</cp:revision>
  <dcterms:created xsi:type="dcterms:W3CDTF">2020-02-26T15:23:53Z</dcterms:created>
  <dcterms:modified xsi:type="dcterms:W3CDTF">2021-04-28T09:42:24Z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0x010100725C36023882DE4FB137522A70E4931E</vt:lpwstr>
  </property>
</Properties>
</file>