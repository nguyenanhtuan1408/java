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317" r:id="rId4"/>
    <p:sldId id="314" r:id="rId5"/>
    <p:sldId id="318" r:id="rId6"/>
    <p:sldId id="320" r:id="rId7"/>
    <p:sldId id="321" r:id="rId8"/>
    <p:sldId id="334" r:id="rId9"/>
    <p:sldId id="333" r:id="rId10"/>
    <p:sldId id="335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1" r:id="rId20"/>
    <p:sldId id="332" r:id="rId21"/>
    <p:sldId id="319" r:id="rId22"/>
    <p:sldId id="337" r:id="rId23"/>
    <p:sldId id="342" r:id="rId24"/>
    <p:sldId id="341" r:id="rId25"/>
    <p:sldId id="339" r:id="rId26"/>
    <p:sldId id="340" r:id="rId27"/>
    <p:sldId id="31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949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6650" autoAdjust="0"/>
  </p:normalViewPr>
  <p:slideViewPr>
    <p:cSldViewPr snapToGrid="0">
      <p:cViewPr varScale="1">
        <p:scale>
          <a:sx n="62" d="100"/>
          <a:sy n="62" d="100"/>
        </p:scale>
        <p:origin x="1650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Hong Anh" userId="23b39fb8-87c8-4bf8-b9c6-65a6590efcf7" providerId="ADAL" clId="{D6360D72-C87A-4061-BEBC-C028158C2C9C}"/>
    <pc:docChg chg="modSld">
      <pc:chgData name="Le Hong Anh" userId="23b39fb8-87c8-4bf8-b9c6-65a6590efcf7" providerId="ADAL" clId="{D6360D72-C87A-4061-BEBC-C028158C2C9C}" dt="2019-12-16T02:30:39.865" v="0" actId="27309"/>
      <pc:docMkLst>
        <pc:docMk/>
      </pc:docMkLst>
      <pc:sldChg chg="addSp modSp">
        <pc:chgData name="Le Hong Anh" userId="23b39fb8-87c8-4bf8-b9c6-65a6590efcf7" providerId="ADAL" clId="{D6360D72-C87A-4061-BEBC-C028158C2C9C}" dt="2019-12-16T02:30:39.865" v="0" actId="27309"/>
        <pc:sldMkLst>
          <pc:docMk/>
          <pc:sldMk cId="132536602" sldId="325"/>
        </pc:sldMkLst>
        <pc:graphicFrameChg chg="add modGraphic">
          <ac:chgData name="Le Hong Anh" userId="23b39fb8-87c8-4bf8-b9c6-65a6590efcf7" providerId="ADAL" clId="{D6360D72-C87A-4061-BEBC-C028158C2C9C}" dt="2019-12-16T02:30:39.865" v="0" actId="27309"/>
          <ac:graphicFrameMkLst>
            <pc:docMk/>
            <pc:sldMk cId="132536602" sldId="325"/>
            <ac:graphicFrameMk id="5" creationId="{B18C90E8-CC24-46ED-985C-0A635D00766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FB1A2-A4F7-4A3F-B7DC-204A2DFF796F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31EB2-A354-4C69-9822-F7F23F730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97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131EB2-A354-4C69-9822-F7F23F730F4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8572" y="364456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8665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>
            <a:noAutofit/>
          </a:bodyPr>
          <a:lstStyle>
            <a:lvl1pPr algn="r">
              <a:defRPr sz="4000" b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978307" y="1690689"/>
            <a:ext cx="7016750" cy="3880476"/>
          </a:xfrm>
        </p:spPr>
        <p:txBody>
          <a:bodyPr/>
          <a:lstStyle>
            <a:lvl1pPr marL="742950" indent="-742950">
              <a:buClr>
                <a:schemeClr val="accent5">
                  <a:lumMod val="75000"/>
                </a:schemeClr>
              </a:buClr>
              <a:buFont typeface="+mj-lt"/>
              <a:buAutoNum type="arabicPeriod"/>
              <a:defRPr sz="340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8650" y="1190959"/>
            <a:ext cx="7886701" cy="0"/>
          </a:xfrm>
          <a:prstGeom prst="line">
            <a:avLst/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1" y="106112"/>
            <a:ext cx="968004" cy="96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86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2729"/>
            <a:ext cx="7886700" cy="1325563"/>
          </a:xfrm>
        </p:spPr>
        <p:txBody>
          <a:bodyPr>
            <a:normAutofit/>
          </a:bodyPr>
          <a:lstStyle>
            <a:lvl1pPr algn="r">
              <a:defRPr sz="4000" b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2">
                  <a:lumMod val="75000"/>
                </a:schemeClr>
              </a:buClr>
              <a:buSzPct val="130000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accent2">
                  <a:lumMod val="75000"/>
                </a:schemeClr>
              </a:buClr>
              <a:buSzPct val="120000"/>
              <a:buFont typeface="Wingdings" panose="05000000000000000000" pitchFamily="2" charset="2"/>
              <a:buChar char="§"/>
              <a:defRPr sz="2600"/>
            </a:lvl2pPr>
            <a:lvl3pPr marL="1143000" indent="-2286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1" y="106112"/>
            <a:ext cx="968004" cy="96800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628650" y="1190959"/>
            <a:ext cx="7886701" cy="0"/>
          </a:xfrm>
          <a:prstGeom prst="line">
            <a:avLst/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37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666874" y="1733550"/>
            <a:ext cx="6391275" cy="35718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2"/>
          <p:cNvSpPr txBox="1"/>
          <p:nvPr userDrawn="1"/>
        </p:nvSpPr>
        <p:spPr>
          <a:xfrm>
            <a:off x="4726622" y="1587753"/>
            <a:ext cx="2834005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200" b="1" spc="7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7200" b="1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1500" b="1" spc="-31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endParaRPr sz="11500" dirty="0">
              <a:latin typeface="Trebuchet MS"/>
              <a:cs typeface="Trebuchet MS"/>
            </a:endParaRPr>
          </a:p>
        </p:txBody>
      </p:sp>
      <p:sp>
        <p:nvSpPr>
          <p:cNvPr id="7" name="object 3"/>
          <p:cNvSpPr/>
          <p:nvPr userDrawn="1"/>
        </p:nvSpPr>
        <p:spPr>
          <a:xfrm>
            <a:off x="6270116" y="2019300"/>
            <a:ext cx="2245234" cy="20669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1" y="106112"/>
            <a:ext cx="968004" cy="96800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28650" y="1190959"/>
            <a:ext cx="7886701" cy="0"/>
          </a:xfrm>
          <a:prstGeom prst="line">
            <a:avLst/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419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buClr>
                <a:schemeClr val="accent2">
                  <a:lumMod val="75000"/>
                </a:schemeClr>
              </a:buClr>
              <a:buSzPct val="110000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182729"/>
            <a:ext cx="7886700" cy="1325563"/>
          </a:xfrm>
        </p:spPr>
        <p:txBody>
          <a:bodyPr>
            <a:normAutofit/>
          </a:bodyPr>
          <a:lstStyle>
            <a:lvl1pPr algn="r">
              <a:defRPr sz="4000"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buClr>
                <a:schemeClr val="accent2">
                  <a:lumMod val="75000"/>
                </a:schemeClr>
              </a:buClr>
              <a:buSzPct val="110000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628650" y="1190959"/>
            <a:ext cx="7886701" cy="0"/>
          </a:xfrm>
          <a:prstGeom prst="line">
            <a:avLst/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1" y="106112"/>
            <a:ext cx="968004" cy="96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1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974576"/>
          </a:xfrm>
        </p:spPr>
        <p:txBody>
          <a:bodyPr>
            <a:normAutofit/>
          </a:bodyPr>
          <a:lstStyle>
            <a:lvl1pPr algn="r">
              <a:defRPr sz="40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3"/>
          </p:nvPr>
        </p:nvSpPr>
        <p:spPr>
          <a:xfrm>
            <a:off x="628649" y="2505075"/>
            <a:ext cx="3886200" cy="3684588"/>
          </a:xfrm>
        </p:spPr>
        <p:txBody>
          <a:bodyPr/>
          <a:lstStyle>
            <a:lvl1pPr>
              <a:buClr>
                <a:schemeClr val="accent2">
                  <a:lumMod val="75000"/>
                </a:schemeClr>
              </a:buClr>
              <a:buSzPct val="110000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645817" y="2505075"/>
            <a:ext cx="3886200" cy="3684588"/>
          </a:xfrm>
        </p:spPr>
        <p:txBody>
          <a:bodyPr/>
          <a:lstStyle>
            <a:lvl1pPr>
              <a:buClr>
                <a:schemeClr val="accent2">
                  <a:lumMod val="75000"/>
                </a:schemeClr>
              </a:buClr>
              <a:buSzPct val="110000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1" y="106112"/>
            <a:ext cx="968004" cy="968004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28650" y="1190959"/>
            <a:ext cx="7886701" cy="0"/>
          </a:xfrm>
          <a:prstGeom prst="line">
            <a:avLst/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957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 dirty="0"/>
              <a:t>Khoa Công nghệ thông tin – Trường Đại học Mỏ - Địa chất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C498B-416A-4F27-9E1B-2DAD6BC6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17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8" r:id="rId4"/>
    <p:sldLayoutId id="2147483664" r:id="rId5"/>
    <p:sldLayoutId id="2147483665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088" y="4142764"/>
            <a:ext cx="5952903" cy="1904953"/>
          </a:xfrm>
        </p:spPr>
        <p:txBody>
          <a:bodyPr>
            <a:norm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</a:pPr>
            <a:r>
              <a:rPr lang="en-US" sz="2800" dirty="0" err="1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Chương</a:t>
            </a:r>
            <a:r>
              <a:rPr lang="en-US" sz="2800" dirty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6: </a:t>
            </a:r>
            <a:r>
              <a:rPr lang="en-US" sz="3000" dirty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LẬP TRÌNH VỚI TỆP</a:t>
            </a:r>
          </a:p>
        </p:txBody>
      </p:sp>
      <p:sp>
        <p:nvSpPr>
          <p:cNvPr id="8" name="object 3"/>
          <p:cNvSpPr/>
          <p:nvPr/>
        </p:nvSpPr>
        <p:spPr>
          <a:xfrm>
            <a:off x="6002079" y="1841378"/>
            <a:ext cx="2589028" cy="2555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088" y="432936"/>
            <a:ext cx="5952903" cy="2561737"/>
          </a:xfrm>
        </p:spPr>
        <p:txBody>
          <a:bodyPr>
            <a:normAutofit/>
          </a:bodyPr>
          <a:lstStyle/>
          <a:p>
            <a:pPr>
              <a:lnSpc>
                <a:spcPts val="6000"/>
              </a:lnSpc>
            </a:pP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LẬP TRÌNH </a:t>
            </a:r>
            <a:br>
              <a:rPr lang="en-US" sz="4000" b="1" dirty="0">
                <a:solidFill>
                  <a:schemeClr val="bg1">
                    <a:lumMod val="9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HƯỚNG ĐỐI TƯỢNG </a:t>
            </a:r>
            <a:br>
              <a:rPr lang="en-US" sz="4000" b="1" dirty="0">
                <a:solidFill>
                  <a:schemeClr val="bg1">
                    <a:lumMod val="9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VỚI JAVA</a:t>
            </a:r>
          </a:p>
        </p:txBody>
      </p:sp>
    </p:spTree>
    <p:extLst>
      <p:ext uri="{BB962C8B-B14F-4D97-AF65-F5344CB8AC3E}">
        <p14:creationId xmlns:p14="http://schemas.microsoft.com/office/powerpoint/2010/main" val="66843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43" y="141842"/>
            <a:ext cx="7886700" cy="1325563"/>
          </a:xfrm>
        </p:spPr>
        <p:txBody>
          <a:bodyPr/>
          <a:lstStyle/>
          <a:p>
            <a:pPr algn="r"/>
            <a:r>
              <a:rPr lang="en-US" dirty="0"/>
              <a:t>NỘI DUNG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063625" y="1552353"/>
            <a:ext cx="7016750" cy="4497573"/>
          </a:xfrm>
        </p:spPr>
        <p:txBody>
          <a:bodyPr>
            <a:normAutofit/>
          </a:bodyPr>
          <a:lstStyle/>
          <a:p>
            <a:r>
              <a:rPr lang="en-US" dirty="0" err="1"/>
              <a:t>Đường</a:t>
            </a:r>
            <a:r>
              <a:rPr lang="en-US" dirty="0"/>
              <a:t> dẫn</a:t>
            </a:r>
          </a:p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thư </a:t>
            </a:r>
            <a:r>
              <a:rPr lang="en-US" dirty="0" err="1"/>
              <a:t>mục</a:t>
            </a:r>
            <a:endParaRPr lang="en-US" dirty="0"/>
          </a:p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File</a:t>
            </a:r>
          </a:p>
          <a:p>
            <a:r>
              <a:rPr lang="en-US" dirty="0"/>
              <a:t>Bài tập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0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Đường</a:t>
            </a:r>
            <a:r>
              <a:rPr lang="en-US" dirty="0"/>
              <a:t> dẫn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3</a:t>
            </a:fld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275092" y="1224366"/>
            <a:ext cx="8361338" cy="5438618"/>
            <a:chOff x="275092" y="1224366"/>
            <a:chExt cx="8361338" cy="5438618"/>
          </a:xfrm>
        </p:grpSpPr>
        <p:sp>
          <p:nvSpPr>
            <p:cNvPr id="3" name="Rectangle 2"/>
            <p:cNvSpPr/>
            <p:nvPr/>
          </p:nvSpPr>
          <p:spPr>
            <a:xfrm>
              <a:off x="2510724" y="1224366"/>
              <a:ext cx="3812583" cy="9453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+mj-lt"/>
                </a:rPr>
                <a:t>/ (Solaris root)</a:t>
              </a:r>
            </a:p>
            <a:p>
              <a:pPr algn="ctr"/>
              <a:r>
                <a:rPr lang="en-US" sz="2800" dirty="0">
                  <a:latin typeface="+mj-lt"/>
                </a:rPr>
                <a:t>C</a:t>
              </a:r>
              <a:r>
                <a:rPr lang="en-US" sz="2800" dirty="0">
                  <a:latin typeface="+mj-lt"/>
                  <a:sym typeface="Wingdings" panose="05000000000000000000" pitchFamily="2" charset="2"/>
                </a:rPr>
                <a:t>: \ (Windows root)</a:t>
              </a:r>
              <a:endParaRPr lang="en-US" sz="2800" dirty="0">
                <a:latin typeface="+mj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436746" y="2549929"/>
              <a:ext cx="1960538" cy="697424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+mj-lt"/>
                </a:rPr>
                <a:t>Home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5092" y="4250034"/>
              <a:ext cx="1960538" cy="69742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+mj-lt"/>
                </a:rPr>
                <a:t>user1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36746" y="4250034"/>
              <a:ext cx="1960538" cy="69742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+mj-lt"/>
                </a:rPr>
                <a:t>user2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75892" y="4250034"/>
              <a:ext cx="1960538" cy="69742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/>
                  </a:solidFill>
                  <a:latin typeface="+mj-lt"/>
                </a:rPr>
                <a:t>logfile</a:t>
              </a:r>
              <a:r>
                <a:rPr lang="en-US" sz="2800" dirty="0">
                  <a:solidFill>
                    <a:schemeClr val="tx1"/>
                  </a:solidFill>
                  <a:latin typeface="+mj-lt"/>
                </a:rPr>
                <a:t> (file)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5092" y="5443406"/>
              <a:ext cx="1960538" cy="69742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+mj-lt"/>
                </a:rPr>
                <a:t>food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10724" y="5965560"/>
              <a:ext cx="1960538" cy="69742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+mj-lt"/>
                </a:rPr>
                <a:t>bar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959458" y="5965560"/>
              <a:ext cx="3115159" cy="69742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/>
                  </a:solidFill>
                  <a:latin typeface="+mj-lt"/>
                </a:rPr>
                <a:t>statusReport</a:t>
              </a:r>
              <a:r>
                <a:rPr lang="en-US" sz="2800" dirty="0">
                  <a:solidFill>
                    <a:schemeClr val="tx1"/>
                  </a:solidFill>
                  <a:latin typeface="+mj-lt"/>
                </a:rPr>
                <a:t> (file)</a:t>
              </a:r>
            </a:p>
          </p:txBody>
        </p:sp>
        <p:cxnSp>
          <p:nvCxnSpPr>
            <p:cNvPr id="16" name="Straight Arrow Connector 15"/>
            <p:cNvCxnSpPr>
              <a:stCxn id="3" idx="2"/>
              <a:endCxn id="5" idx="0"/>
            </p:cNvCxnSpPr>
            <p:nvPr/>
          </p:nvCxnSpPr>
          <p:spPr>
            <a:xfrm flipH="1">
              <a:off x="4417015" y="2169763"/>
              <a:ext cx="1" cy="3801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1255359" y="4947458"/>
              <a:ext cx="0" cy="5013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/>
          </p:nvGrpSpPr>
          <p:grpSpPr>
            <a:xfrm>
              <a:off x="1255359" y="3247353"/>
              <a:ext cx="6400802" cy="1002681"/>
              <a:chOff x="1255359" y="3247353"/>
              <a:chExt cx="6400802" cy="1002681"/>
            </a:xfrm>
          </p:grpSpPr>
          <p:cxnSp>
            <p:nvCxnSpPr>
              <p:cNvPr id="20" name="Straight Arrow Connector 19"/>
              <p:cNvCxnSpPr>
                <a:stCxn id="5" idx="2"/>
                <a:endCxn id="11" idx="0"/>
              </p:cNvCxnSpPr>
              <p:nvPr/>
            </p:nvCxnSpPr>
            <p:spPr>
              <a:xfrm>
                <a:off x="4417015" y="3247353"/>
                <a:ext cx="0" cy="10026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1255359" y="3748692"/>
                <a:ext cx="0" cy="5013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7640659" y="3748692"/>
                <a:ext cx="0" cy="5013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1255359" y="3748692"/>
                <a:ext cx="640080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>
              <a:off x="3490993" y="4947458"/>
              <a:ext cx="3188773" cy="1018102"/>
              <a:chOff x="3490993" y="4947458"/>
              <a:chExt cx="3188773" cy="1018102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>
                <a:off x="3490993" y="5464219"/>
                <a:ext cx="0" cy="5013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6679766" y="5463957"/>
                <a:ext cx="0" cy="5013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3490993" y="5463957"/>
                <a:ext cx="318489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959458" y="4947458"/>
                <a:ext cx="0" cy="51649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1986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Đường</a:t>
            </a:r>
            <a:r>
              <a:rPr lang="en-US" dirty="0"/>
              <a:t> dẫn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45656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2060"/>
                </a:solidFill>
              </a:rPr>
              <a:t>Đường</a:t>
            </a:r>
            <a:r>
              <a:rPr lang="en-US" dirty="0">
                <a:solidFill>
                  <a:srgbClr val="002060"/>
                </a:solidFill>
              </a:rPr>
              <a:t> dẫn là </a:t>
            </a:r>
            <a:r>
              <a:rPr lang="en-US" dirty="0" err="1">
                <a:solidFill>
                  <a:srgbClr val="002060"/>
                </a:solidFill>
              </a:rPr>
              <a:t>địa</a:t>
            </a:r>
            <a:r>
              <a:rPr lang="en-US" dirty="0">
                <a:solidFill>
                  <a:srgbClr val="002060"/>
                </a:solidFill>
              </a:rPr>
              <a:t> chỉ mà File, Folder được lưu </a:t>
            </a:r>
            <a:r>
              <a:rPr lang="en-US" dirty="0" err="1">
                <a:solidFill>
                  <a:srgbClr val="002060"/>
                </a:solidFill>
              </a:rPr>
              <a:t>trữ</a:t>
            </a:r>
            <a:r>
              <a:rPr lang="en-US" dirty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US" dirty="0">
                <a:solidFill>
                  <a:srgbClr val="002060"/>
                </a:solidFill>
              </a:rPr>
              <a:t>File, Folder </a:t>
            </a:r>
            <a:r>
              <a:rPr lang="en-US" dirty="0" err="1">
                <a:solidFill>
                  <a:srgbClr val="002060"/>
                </a:solidFill>
              </a:rPr>
              <a:t>tương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ứng</a:t>
            </a:r>
            <a:r>
              <a:rPr lang="en-US" dirty="0">
                <a:solidFill>
                  <a:srgbClr val="002060"/>
                </a:solidFill>
              </a:rPr>
              <a:t> với </a:t>
            </a:r>
            <a:r>
              <a:rPr lang="en-US" dirty="0" err="1">
                <a:solidFill>
                  <a:srgbClr val="002060"/>
                </a:solidFill>
              </a:rPr>
              <a:t>đường</a:t>
            </a:r>
            <a:r>
              <a:rPr lang="en-US" dirty="0">
                <a:solidFill>
                  <a:srgbClr val="002060"/>
                </a:solidFill>
              </a:rPr>
              <a:t> dẫn có thể không </a:t>
            </a:r>
            <a:r>
              <a:rPr lang="en-US" dirty="0" err="1">
                <a:solidFill>
                  <a:srgbClr val="002060"/>
                </a:solidFill>
              </a:rPr>
              <a:t>tồn</a:t>
            </a:r>
            <a:r>
              <a:rPr lang="en-US" dirty="0">
                <a:solidFill>
                  <a:srgbClr val="002060"/>
                </a:solidFill>
              </a:rPr>
              <a:t> tại.</a:t>
            </a:r>
          </a:p>
          <a:p>
            <a:pPr algn="just"/>
            <a:r>
              <a:rPr lang="en-US" dirty="0">
                <a:solidFill>
                  <a:srgbClr val="002060"/>
                </a:solidFill>
              </a:rPr>
              <a:t>Trong java, </a:t>
            </a:r>
            <a:r>
              <a:rPr lang="en-US" dirty="0" err="1">
                <a:solidFill>
                  <a:srgbClr val="002060"/>
                </a:solidFill>
              </a:rPr>
              <a:t>chúng</a:t>
            </a:r>
            <a:r>
              <a:rPr lang="en-US" dirty="0">
                <a:solidFill>
                  <a:srgbClr val="002060"/>
                </a:solidFill>
              </a:rPr>
              <a:t> ta </a:t>
            </a:r>
            <a:r>
              <a:rPr lang="en-US" dirty="0" err="1">
                <a:solidFill>
                  <a:srgbClr val="002060"/>
                </a:solidFill>
              </a:rPr>
              <a:t>sử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dụng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đường</a:t>
            </a:r>
            <a:r>
              <a:rPr lang="en-US" dirty="0">
                <a:solidFill>
                  <a:srgbClr val="002060"/>
                </a:solidFill>
              </a:rPr>
              <a:t> dẫn </a:t>
            </a:r>
            <a:r>
              <a:rPr lang="en-US" dirty="0" err="1">
                <a:solidFill>
                  <a:srgbClr val="002060"/>
                </a:solidFill>
              </a:rPr>
              <a:t>tương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đối</a:t>
            </a:r>
            <a:r>
              <a:rPr lang="en-US" dirty="0">
                <a:solidFill>
                  <a:srgbClr val="002060"/>
                </a:solidFill>
              </a:rPr>
              <a:t> và </a:t>
            </a:r>
            <a:r>
              <a:rPr lang="en-US" dirty="0" err="1">
                <a:solidFill>
                  <a:srgbClr val="002060"/>
                </a:solidFill>
              </a:rPr>
              <a:t>đường</a:t>
            </a:r>
            <a:r>
              <a:rPr lang="en-US" dirty="0">
                <a:solidFill>
                  <a:srgbClr val="002060"/>
                </a:solidFill>
              </a:rPr>
              <a:t> dẫn </a:t>
            </a:r>
            <a:r>
              <a:rPr lang="en-US" dirty="0" err="1">
                <a:solidFill>
                  <a:srgbClr val="002060"/>
                </a:solidFill>
              </a:rPr>
              <a:t>tuyệt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đối</a:t>
            </a:r>
            <a:r>
              <a:rPr lang="en-US" dirty="0">
                <a:solidFill>
                  <a:srgbClr val="002060"/>
                </a:solidFill>
              </a:rPr>
              <a:t> để làm việc với File: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  <a:r>
              <a:rPr lang="en-US" dirty="0">
                <a:solidFill>
                  <a:srgbClr val="0000FF"/>
                </a:solidFill>
              </a:rPr>
              <a:t>"</a:t>
            </a:r>
            <a:r>
              <a:rPr lang="en-US" dirty="0">
                <a:solidFill>
                  <a:srgbClr val="002060"/>
                </a:solidFill>
              </a:rPr>
              <a:t>:\\Project\\Teach\\Java\\HelloWord.java</a:t>
            </a:r>
            <a:r>
              <a:rPr lang="en-US" dirty="0">
                <a:solidFill>
                  <a:srgbClr val="0000FF"/>
                </a:solidFill>
              </a:rPr>
              <a:t>"</a:t>
            </a:r>
            <a:endParaRPr lang="en-US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  <a:r>
              <a:rPr lang="en-US" dirty="0">
                <a:solidFill>
                  <a:srgbClr val="0000FF"/>
                </a:solidFill>
              </a:rPr>
              <a:t>"</a:t>
            </a:r>
            <a:r>
              <a:rPr lang="en-US" dirty="0">
                <a:solidFill>
                  <a:srgbClr val="002060"/>
                </a:solidFill>
              </a:rPr>
              <a:t>..\\..\\HelloWord.java</a:t>
            </a:r>
            <a:r>
              <a:rPr lang="en-US" dirty="0">
                <a:solidFill>
                  <a:srgbClr val="0000FF"/>
                </a:solidFill>
              </a:rPr>
              <a:t>"</a:t>
            </a:r>
            <a:endParaRPr lang="en-US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76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thư </a:t>
            </a:r>
            <a:r>
              <a:rPr lang="en-US" dirty="0" err="1"/>
              <a:t>mục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45656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Kiểm </a:t>
            </a:r>
            <a:r>
              <a:rPr lang="en-US" dirty="0" err="1">
                <a:solidFill>
                  <a:srgbClr val="002060"/>
                </a:solidFill>
              </a:rPr>
              <a:t>tra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thưc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mục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rỗng</a:t>
            </a:r>
            <a:endParaRPr lang="en-US" dirty="0">
              <a:solidFill>
                <a:srgbClr val="002060"/>
              </a:solidFill>
            </a:endParaRPr>
          </a:p>
          <a:p>
            <a:pPr algn="just"/>
            <a:r>
              <a:rPr lang="en-US" dirty="0">
                <a:solidFill>
                  <a:srgbClr val="002060"/>
                </a:solidFill>
              </a:rPr>
              <a:t>Tạo thư </a:t>
            </a:r>
            <a:r>
              <a:rPr lang="en-US" dirty="0" err="1">
                <a:solidFill>
                  <a:srgbClr val="002060"/>
                </a:solidFill>
              </a:rPr>
              <a:t>mục</a:t>
            </a:r>
            <a:endParaRPr lang="en-US" dirty="0">
              <a:solidFill>
                <a:srgbClr val="002060"/>
              </a:solidFill>
            </a:endParaRPr>
          </a:p>
          <a:p>
            <a:pPr algn="just"/>
            <a:r>
              <a:rPr lang="en-US" dirty="0" err="1">
                <a:solidFill>
                  <a:srgbClr val="002060"/>
                </a:solidFill>
              </a:rPr>
              <a:t>Xóa</a:t>
            </a:r>
            <a:r>
              <a:rPr lang="en-US" dirty="0">
                <a:solidFill>
                  <a:srgbClr val="002060"/>
                </a:solidFill>
              </a:rPr>
              <a:t> thư </a:t>
            </a:r>
            <a:r>
              <a:rPr lang="en-US" dirty="0" err="1">
                <a:solidFill>
                  <a:srgbClr val="002060"/>
                </a:solidFill>
              </a:rPr>
              <a:t>mục</a:t>
            </a:r>
            <a:endParaRPr lang="en-US" dirty="0">
              <a:solidFill>
                <a:srgbClr val="002060"/>
              </a:solidFill>
            </a:endParaRPr>
          </a:p>
          <a:p>
            <a:pPr algn="just"/>
            <a:r>
              <a:rPr lang="en-US" dirty="0">
                <a:solidFill>
                  <a:srgbClr val="002060"/>
                </a:solidFill>
              </a:rPr>
              <a:t>Sao </a:t>
            </a:r>
            <a:r>
              <a:rPr lang="en-US" dirty="0" err="1">
                <a:solidFill>
                  <a:srgbClr val="002060"/>
                </a:solidFill>
              </a:rPr>
              <a:t>chép</a:t>
            </a:r>
            <a:r>
              <a:rPr lang="en-US" dirty="0">
                <a:solidFill>
                  <a:srgbClr val="002060"/>
                </a:solidFill>
              </a:rPr>
              <a:t> thư </a:t>
            </a:r>
            <a:r>
              <a:rPr lang="en-US" dirty="0" err="1">
                <a:solidFill>
                  <a:srgbClr val="002060"/>
                </a:solidFill>
              </a:rPr>
              <a:t>mục</a:t>
            </a:r>
            <a:endParaRPr lang="en-US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47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002060"/>
                </a:solidFill>
              </a:rPr>
              <a:t>Kiểm </a:t>
            </a:r>
            <a:r>
              <a:rPr lang="en-US" b="0" i="1" dirty="0" err="1">
                <a:solidFill>
                  <a:srgbClr val="002060"/>
                </a:solidFill>
              </a:rPr>
              <a:t>tra</a:t>
            </a:r>
            <a:r>
              <a:rPr lang="en-US" b="0" i="1" dirty="0">
                <a:solidFill>
                  <a:srgbClr val="002060"/>
                </a:solidFill>
              </a:rPr>
              <a:t> thư </a:t>
            </a:r>
            <a:r>
              <a:rPr lang="en-US" b="0" i="1" dirty="0" err="1">
                <a:solidFill>
                  <a:srgbClr val="002060"/>
                </a:solidFill>
              </a:rPr>
              <a:t>mục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rỗng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" y="1428154"/>
            <a:ext cx="91440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java.io.File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public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class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CheckFolderEmptyExample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{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public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static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void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main(String[]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 {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lang="en-US" sz="2000" dirty="0">
                <a:solidFill>
                  <a:srgbClr val="0000FF"/>
                </a:solidFill>
                <a:latin typeface="+mj-lt"/>
              </a:rPr>
              <a:t>"D:\\Project\\Teach\\Java"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if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file.isDirectory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()) {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kiem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tra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rong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bang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phuong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file.list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()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if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file.list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().length ==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+mj-lt"/>
              </a:rPr>
              <a:t>0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 {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"Thu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muc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"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    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+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file.getAbsolutePath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 +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 la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thu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muc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rong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!"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else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{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"Thu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muc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"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    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+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file.getAbsolutePath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 +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khong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rong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!"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else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{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lang="en-US" sz="2000" dirty="0">
                <a:solidFill>
                  <a:srgbClr val="0000FF"/>
                </a:solidFill>
              </a:rPr>
              <a:t>"</a:t>
            </a:r>
            <a:r>
              <a:rPr lang="en-US" sz="2000" dirty="0" err="1">
                <a:solidFill>
                  <a:srgbClr val="0000FF"/>
                </a:solidFill>
              </a:rPr>
              <a:t>khong</a:t>
            </a:r>
            <a:r>
              <a:rPr lang="en-US" sz="2000" dirty="0">
                <a:solidFill>
                  <a:srgbClr val="0000FF"/>
                </a:solidFill>
              </a:rPr>
              <a:t> ton tai </a:t>
            </a:r>
            <a:r>
              <a:rPr lang="en-US" sz="2000" dirty="0" err="1">
                <a:solidFill>
                  <a:srgbClr val="0000FF"/>
                </a:solidFill>
              </a:rPr>
              <a:t>thu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muc</a:t>
            </a:r>
            <a:r>
              <a:rPr lang="en-US" sz="2000" dirty="0">
                <a:solidFill>
                  <a:srgbClr val="0000FF"/>
                </a:solidFill>
              </a:rPr>
              <a:t> “ +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file.getAbsolutePath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());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735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002060"/>
                </a:solidFill>
              </a:rPr>
              <a:t>Tạo thư </a:t>
            </a:r>
            <a:r>
              <a:rPr lang="en-US" b="0" i="1" dirty="0" err="1">
                <a:solidFill>
                  <a:srgbClr val="002060"/>
                </a:solidFill>
              </a:rPr>
              <a:t>mục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45656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002060"/>
                </a:solidFill>
              </a:rPr>
              <a:t>Phương thức mkdir()</a:t>
            </a:r>
            <a:r>
              <a:rPr lang="en-US" dirty="0">
                <a:solidFill>
                  <a:srgbClr val="002060"/>
                </a:solidFill>
              </a:rPr>
              <a:t>: tạo </a:t>
            </a:r>
            <a:r>
              <a:rPr lang="en-US" dirty="0" err="1">
                <a:solidFill>
                  <a:srgbClr val="002060"/>
                </a:solidFill>
              </a:rPr>
              <a:t>ra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đường</a:t>
            </a:r>
            <a:r>
              <a:rPr lang="en-US" dirty="0">
                <a:solidFill>
                  <a:srgbClr val="002060"/>
                </a:solidFill>
              </a:rPr>
              <a:t> dẫn </a:t>
            </a:r>
            <a:r>
              <a:rPr lang="en-US" dirty="0" err="1">
                <a:solidFill>
                  <a:srgbClr val="002060"/>
                </a:solidFill>
              </a:rPr>
              <a:t>chứa</a:t>
            </a:r>
            <a:r>
              <a:rPr lang="en-US" dirty="0">
                <a:solidFill>
                  <a:srgbClr val="002060"/>
                </a:solidFill>
              </a:rPr>
              <a:t> 1 thư </a:t>
            </a:r>
            <a:r>
              <a:rPr lang="en-US" dirty="0" err="1">
                <a:solidFill>
                  <a:srgbClr val="002060"/>
                </a:solidFill>
              </a:rPr>
              <a:t>mục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duy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nhất</a:t>
            </a:r>
            <a:r>
              <a:rPr lang="en-US" dirty="0">
                <a:solidFill>
                  <a:srgbClr val="002060"/>
                </a:solidFill>
              </a:rPr>
              <a:t>, không có thư </a:t>
            </a:r>
            <a:r>
              <a:rPr lang="en-US" dirty="0" err="1">
                <a:solidFill>
                  <a:srgbClr val="002060"/>
                </a:solidFill>
              </a:rPr>
              <a:t>mục</a:t>
            </a:r>
            <a:r>
              <a:rPr lang="en-US" dirty="0">
                <a:solidFill>
                  <a:srgbClr val="002060"/>
                </a:solidFill>
              </a:rPr>
              <a:t> con</a:t>
            </a:r>
          </a:p>
          <a:p>
            <a:pPr algn="just"/>
            <a:r>
              <a:rPr lang="vi-VN" dirty="0">
                <a:solidFill>
                  <a:srgbClr val="002060"/>
                </a:solidFill>
              </a:rPr>
              <a:t>Phương thức mkdirs()</a:t>
            </a:r>
            <a:r>
              <a:rPr lang="en-US" dirty="0">
                <a:solidFill>
                  <a:srgbClr val="002060"/>
                </a:solidFill>
              </a:rPr>
              <a:t>: tạo </a:t>
            </a:r>
            <a:r>
              <a:rPr lang="en-US" dirty="0" err="1">
                <a:solidFill>
                  <a:srgbClr val="002060"/>
                </a:solidFill>
              </a:rPr>
              <a:t>ra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đường</a:t>
            </a:r>
            <a:r>
              <a:rPr lang="en-US" dirty="0">
                <a:solidFill>
                  <a:srgbClr val="002060"/>
                </a:solidFill>
              </a:rPr>
              <a:t> dẫn </a:t>
            </a:r>
            <a:r>
              <a:rPr lang="en-US" dirty="0" err="1">
                <a:solidFill>
                  <a:srgbClr val="002060"/>
                </a:solidFill>
              </a:rPr>
              <a:t>bao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gồm</a:t>
            </a:r>
            <a:r>
              <a:rPr lang="en-US" dirty="0">
                <a:solidFill>
                  <a:srgbClr val="002060"/>
                </a:solidFill>
              </a:rPr>
              <a:t> các thư </a:t>
            </a:r>
            <a:r>
              <a:rPr lang="en-US" dirty="0" err="1">
                <a:solidFill>
                  <a:srgbClr val="002060"/>
                </a:solidFill>
              </a:rPr>
              <a:t>mục</a:t>
            </a:r>
            <a:r>
              <a:rPr lang="en-US" dirty="0">
                <a:solidFill>
                  <a:srgbClr val="002060"/>
                </a:solidFill>
              </a:rPr>
              <a:t> con</a:t>
            </a:r>
            <a:endParaRPr lang="vi-VN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Phương thức static createDirectories()</a:t>
            </a:r>
          </a:p>
        </p:txBody>
      </p:sp>
    </p:spTree>
    <p:extLst>
      <p:ext uri="{BB962C8B-B14F-4D97-AF65-F5344CB8AC3E}">
        <p14:creationId xmlns:p14="http://schemas.microsoft.com/office/powerpoint/2010/main" val="266908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0" i="1" dirty="0">
                <a:solidFill>
                  <a:srgbClr val="002060"/>
                </a:solidFill>
              </a:rPr>
              <a:t>Phương thức mkdir()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8</a:t>
            </a:fld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317684"/>
            <a:ext cx="8726748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java.io.File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 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public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class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CreateDirectoryExample1 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public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static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void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main(String[]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 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"D:\\Directory1"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if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(!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file.exists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// Phuong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thuc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mkdir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()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tao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ra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duong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dan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thu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muc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duy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nhat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if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file.mkdir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()) 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"Directory is created!"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else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"Failed to create directory!"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1219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0" i="1" dirty="0">
                <a:solidFill>
                  <a:srgbClr val="002060"/>
                </a:solidFill>
              </a:rPr>
              <a:t>Phương thức mkdir</a:t>
            </a:r>
            <a:r>
              <a:rPr lang="en-US" b="0" i="1" dirty="0">
                <a:solidFill>
                  <a:srgbClr val="002060"/>
                </a:solidFill>
              </a:rPr>
              <a:t>s</a:t>
            </a:r>
            <a:r>
              <a:rPr lang="vi-VN" b="0" i="1" dirty="0">
                <a:solidFill>
                  <a:srgbClr val="002060"/>
                </a:solidFill>
              </a:rPr>
              <a:t>()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1626340"/>
            <a:ext cx="919322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java.io.File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 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public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class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CreateDirectoryExample2 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public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static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void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main(String[]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 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files =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"D:\\Directory2\\Sub2\\Sub-Sub2"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if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(!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files.exists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()) 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if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files.mkdirs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()) 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"Multiple directories are created!"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else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{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"Failed to create multiple directories!"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091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82729"/>
            <a:ext cx="8236381" cy="1325563"/>
          </a:xfrm>
        </p:spPr>
        <p:txBody>
          <a:bodyPr>
            <a:normAutofit/>
          </a:bodyPr>
          <a:lstStyle/>
          <a:p>
            <a:r>
              <a:rPr lang="vi-VN" sz="3600" b="0" i="1" dirty="0">
                <a:solidFill>
                  <a:srgbClr val="002060"/>
                </a:solidFill>
              </a:rPr>
              <a:t>Phương thức </a:t>
            </a:r>
            <a:r>
              <a:rPr lang="en-US" sz="3600" b="0" i="1" dirty="0">
                <a:solidFill>
                  <a:srgbClr val="002060"/>
                </a:solidFill>
              </a:rPr>
              <a:t>static </a:t>
            </a:r>
            <a:r>
              <a:rPr lang="en-US" sz="3600" b="0" i="1" dirty="0" err="1">
                <a:solidFill>
                  <a:srgbClr val="002060"/>
                </a:solidFill>
              </a:rPr>
              <a:t>createDictionary</a:t>
            </a:r>
            <a:r>
              <a:rPr lang="en-US" sz="3600" b="0" i="1" dirty="0">
                <a:solidFill>
                  <a:srgbClr val="002060"/>
                </a:solidFill>
              </a:rPr>
              <a:t>()</a:t>
            </a:r>
            <a:endParaRPr lang="en-US" sz="3600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630017"/>
            <a:ext cx="914400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Sử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dirty="0" err="1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dụng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dirty="0" err="1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cú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dirty="0" err="1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pháp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dirty="0" err="1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sau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để tạo thư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mục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(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áp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dụng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cho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việc tạo 1 thư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mục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duy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nhất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hoặc có cả thư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mục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con):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002060"/>
              </a:solidFill>
              <a:latin typeface="+mj-lt"/>
            </a:endParaRPr>
          </a:p>
          <a:p>
            <a:pPr marL="46513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Path path =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Paths.get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"C:\\Directory1"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6513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Files.createDirectories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(path);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6014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 err="1">
                <a:solidFill>
                  <a:srgbClr val="002060"/>
                </a:solidFill>
              </a:rPr>
              <a:t>Xóa</a:t>
            </a:r>
            <a:r>
              <a:rPr lang="en-US" b="0" i="1" dirty="0">
                <a:solidFill>
                  <a:srgbClr val="002060"/>
                </a:solidFill>
              </a:rPr>
              <a:t> thư </a:t>
            </a:r>
            <a:r>
              <a:rPr lang="en-US" b="0" i="1" dirty="0" err="1">
                <a:solidFill>
                  <a:srgbClr val="002060"/>
                </a:solidFill>
              </a:rPr>
              <a:t>mục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28650" y="1361597"/>
            <a:ext cx="757739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</a:rPr>
              <a:t>Có 2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cách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để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xóa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thư </a:t>
            </a:r>
            <a:r>
              <a:rPr lang="en-US" sz="2400" dirty="0" err="1">
                <a:solidFill>
                  <a:srgbClr val="002060"/>
                </a:solidFill>
                <a:latin typeface="+mj-lt"/>
              </a:rPr>
              <a:t>mục</a:t>
            </a:r>
            <a:r>
              <a:rPr lang="en-US" sz="2400" dirty="0">
                <a:solidFill>
                  <a:srgbClr val="002060"/>
                </a:solidFill>
                <a:latin typeface="+mj-lt"/>
              </a:rPr>
              <a:t> trong java:</a:t>
            </a: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endParaRPr lang="en-US" sz="2400" dirty="0">
              <a:solidFill>
                <a:srgbClr val="002060"/>
              </a:solidFill>
              <a:latin typeface="+mj-lt"/>
            </a:endParaRPr>
          </a:p>
          <a:p>
            <a:pPr marL="457200" lvl="0" indent="-457200">
              <a:lnSpc>
                <a:spcPct val="100000"/>
              </a:lnSpc>
              <a:buClrTx/>
              <a:buSzTx/>
              <a:buAutoNum type="arabicPeriod"/>
            </a:pPr>
            <a:r>
              <a:rPr lang="vi-VN" sz="2400" dirty="0">
                <a:solidFill>
                  <a:srgbClr val="002060"/>
                </a:solidFill>
                <a:latin typeface="+mj-lt"/>
              </a:rPr>
              <a:t>Phương thức delete() của lớp java.io.File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+mj-lt"/>
            </a:endParaRPr>
          </a:p>
          <a:p>
            <a:pPr marL="465138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File(folder);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65138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file.delete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</a:t>
            </a: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</a:rPr>
              <a:t>2. </a:t>
            </a:r>
            <a:r>
              <a:rPr lang="vi-VN" sz="2400" dirty="0">
                <a:solidFill>
                  <a:srgbClr val="002060"/>
                </a:solidFill>
                <a:latin typeface="+mj-lt"/>
              </a:rPr>
              <a:t>Phương thức static delete() của lớp java.nio.file.Files</a:t>
            </a:r>
            <a:endParaRPr lang="en-US" sz="2400" dirty="0">
              <a:solidFill>
                <a:srgbClr val="002060"/>
              </a:solidFill>
              <a:latin typeface="+mj-lt"/>
            </a:endParaRPr>
          </a:p>
          <a:p>
            <a:pPr marL="465138" lvl="0" indent="0">
              <a:lnSpc>
                <a:spcPct val="100000"/>
              </a:lnSpc>
              <a:buClrTx/>
              <a:buSz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Path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path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 </a:t>
            </a:r>
            <a:r>
              <a:rPr lang="en-US" sz="2400" dirty="0" err="1">
                <a:latin typeface="+mj-lt"/>
              </a:rPr>
              <a:t>path.get</a:t>
            </a:r>
            <a:r>
              <a:rPr lang="en-US" sz="2400" dirty="0">
                <a:latin typeface="+mj-lt"/>
              </a:rPr>
              <a:t>(folder)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;</a:t>
            </a:r>
          </a:p>
          <a:p>
            <a:pPr marL="465138" lvl="0" indent="0">
              <a:lnSpc>
                <a:spcPct val="100000"/>
              </a:lnSpc>
              <a:buClrTx/>
              <a:buSzTx/>
              <a:buNone/>
            </a:pPr>
            <a:r>
              <a:rPr lang="en-US" sz="2400" dirty="0" err="1">
                <a:solidFill>
                  <a:srgbClr val="333333"/>
                </a:solidFill>
                <a:latin typeface="+mj-lt"/>
              </a:rPr>
              <a:t>Files.delete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(path);</a:t>
            </a:r>
          </a:p>
        </p:txBody>
      </p:sp>
    </p:spTree>
    <p:extLst>
      <p:ext uri="{BB962C8B-B14F-4D97-AF65-F5344CB8AC3E}">
        <p14:creationId xmlns:p14="http://schemas.microsoft.com/office/powerpoint/2010/main" val="2783043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002060"/>
                </a:solidFill>
              </a:rPr>
              <a:t>Sao </a:t>
            </a:r>
            <a:r>
              <a:rPr lang="en-US" b="0" i="1" dirty="0" err="1">
                <a:solidFill>
                  <a:srgbClr val="002060"/>
                </a:solidFill>
              </a:rPr>
              <a:t>chép</a:t>
            </a:r>
            <a:r>
              <a:rPr lang="en-US" b="0" i="1" dirty="0">
                <a:solidFill>
                  <a:srgbClr val="002060"/>
                </a:solidFill>
              </a:rPr>
              <a:t> thư </a:t>
            </a:r>
            <a:r>
              <a:rPr lang="en-US" b="0" i="1" dirty="0" err="1">
                <a:solidFill>
                  <a:srgbClr val="002060"/>
                </a:solidFill>
              </a:rPr>
              <a:t>mục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45656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Có 2 </a:t>
            </a:r>
            <a:r>
              <a:rPr lang="en-US" dirty="0" err="1">
                <a:solidFill>
                  <a:srgbClr val="002060"/>
                </a:solidFill>
              </a:rPr>
              <a:t>cách</a:t>
            </a:r>
            <a:r>
              <a:rPr lang="en-US" dirty="0">
                <a:solidFill>
                  <a:srgbClr val="002060"/>
                </a:solidFill>
              </a:rPr>
              <a:t> để </a:t>
            </a:r>
            <a:r>
              <a:rPr lang="en-US" dirty="0" err="1">
                <a:solidFill>
                  <a:srgbClr val="002060"/>
                </a:solidFill>
              </a:rPr>
              <a:t>sao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chép</a:t>
            </a:r>
            <a:r>
              <a:rPr lang="en-US" dirty="0">
                <a:solidFill>
                  <a:srgbClr val="002060"/>
                </a:solidFill>
              </a:rPr>
              <a:t> thư </a:t>
            </a:r>
            <a:r>
              <a:rPr lang="en-US" dirty="0" err="1">
                <a:solidFill>
                  <a:srgbClr val="002060"/>
                </a:solidFill>
              </a:rPr>
              <a:t>mục</a:t>
            </a:r>
            <a:r>
              <a:rPr lang="en-US" dirty="0">
                <a:solidFill>
                  <a:srgbClr val="002060"/>
                </a:solidFill>
              </a:rPr>
              <a:t> trong Java:</a:t>
            </a:r>
          </a:p>
          <a:p>
            <a:pPr algn="just"/>
            <a:r>
              <a:rPr lang="en-US" dirty="0" err="1">
                <a:solidFill>
                  <a:srgbClr val="002060"/>
                </a:solidFill>
              </a:rPr>
              <a:t>Sử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dụng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java.nio.file.Files.copy</a:t>
            </a:r>
            <a:r>
              <a:rPr lang="en-US" dirty="0">
                <a:solidFill>
                  <a:srgbClr val="002060"/>
                </a:solidFill>
              </a:rPr>
              <a:t>()</a:t>
            </a:r>
          </a:p>
          <a:p>
            <a:pPr algn="just"/>
            <a:r>
              <a:rPr lang="en-US" dirty="0" err="1">
                <a:solidFill>
                  <a:srgbClr val="002060"/>
                </a:solidFill>
              </a:rPr>
              <a:t>Sử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dụng</a:t>
            </a:r>
            <a:r>
              <a:rPr lang="en-US" dirty="0">
                <a:solidFill>
                  <a:srgbClr val="002060"/>
                </a:solidFill>
              </a:rPr>
              <a:t> </a:t>
            </a:r>
            <a:r>
              <a:rPr lang="en-US" dirty="0" err="1">
                <a:solidFill>
                  <a:srgbClr val="002060"/>
                </a:solidFill>
              </a:rPr>
              <a:t>FileInputStream</a:t>
            </a:r>
            <a:r>
              <a:rPr lang="en-US" dirty="0">
                <a:solidFill>
                  <a:srgbClr val="002060"/>
                </a:solidFill>
              </a:rPr>
              <a:t> và </a:t>
            </a:r>
            <a:r>
              <a:rPr lang="en-US" dirty="0" err="1">
                <a:solidFill>
                  <a:srgbClr val="002060"/>
                </a:solidFill>
              </a:rPr>
              <a:t>FileOutputStream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755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 err="1">
                <a:solidFill>
                  <a:srgbClr val="002060"/>
                </a:solidFill>
              </a:rPr>
              <a:t>Sử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dụng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java.nio.file.Files.copy</a:t>
            </a:r>
            <a:r>
              <a:rPr lang="en-US" b="0" i="1" dirty="0">
                <a:solidFill>
                  <a:srgbClr val="002060"/>
                </a:solidFill>
              </a:rPr>
              <a:t>()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628650" y="1431612"/>
            <a:ext cx="6575518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1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// Import các</a:t>
            </a:r>
            <a:r>
              <a:rPr kumimoji="0" lang="en-US" i="1" u="none" strike="noStrike" cap="none" normalizeH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 thư </a:t>
            </a:r>
            <a:r>
              <a:rPr kumimoji="0" lang="en-US" i="1" u="none" strike="noStrike" cap="none" normalizeH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viện</a:t>
            </a:r>
            <a:endParaRPr kumimoji="0" lang="en-US" i="1" u="none" strike="noStrike" cap="none" normalizeH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java.io.File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java.io.IOException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java.nio.file.Files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java.nio.file.StandardCopyOption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742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 err="1">
                <a:solidFill>
                  <a:srgbClr val="002060"/>
                </a:solidFill>
              </a:rPr>
              <a:t>Sử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dụng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java.nio.file.Files.copy</a:t>
            </a:r>
            <a:r>
              <a:rPr lang="en-US" b="0" i="1" dirty="0">
                <a:solidFill>
                  <a:srgbClr val="002060"/>
                </a:solidFill>
              </a:rPr>
              <a:t>()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" y="1904904"/>
            <a:ext cx="91440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public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static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void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main(String[]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args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throws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IOException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{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lang="en-US" sz="2600" dirty="0" err="1">
                <a:solidFill>
                  <a:srgbClr val="008200"/>
                </a:solidFill>
                <a:latin typeface="+mj-lt"/>
              </a:rPr>
              <a:t>Source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: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nguon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duoc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copy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SourceFolder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"D:\\Project\\Teach\\Java"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TargetFolder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: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dich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duoc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copy den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TargetFolder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"D</a:t>
            </a:r>
            <a:r>
              <a:rPr lang="en-US" sz="2600" dirty="0">
                <a:solidFill>
                  <a:srgbClr val="0000FF"/>
                </a:solidFill>
              </a:rPr>
              <a:t> :\\Java\\Demo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goi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phuong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copy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lang="en-US" sz="2600" dirty="0" err="1">
                <a:solidFill>
                  <a:srgbClr val="000000"/>
                </a:solidFill>
                <a:latin typeface="+mj-lt"/>
              </a:rPr>
              <a:t>C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opyFolder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+mj-lt"/>
              </a:rPr>
              <a:t>S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ourceFolder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+mj-lt"/>
              </a:rPr>
              <a:t>T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argetFolder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18C90E8-CC24-46ED-985C-0A635D00766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824723"/>
                  </p:ext>
                </p:extLst>
              </p:nvPr>
            </p:nvGraphicFramePr>
            <p:xfrm>
              <a:off x="-3359258" y="6000750"/>
              <a:ext cx="2286000" cy="1714500"/>
            </p:xfrm>
            <a:graphic>
              <a:graphicData uri="http://schemas.microsoft.com/office/powerpoint/2016/slidezoom">
                <pslz:sldZm>
                  <pslz:sldZmObj sldId="326" cId="1533760360">
                    <pslz:zmPr id="{94A0F419-C64F-45EF-9B0C-1A188918380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B18C90E8-CC24-46ED-985C-0A635D0076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3359258" y="6000750"/>
                <a:ext cx="2286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536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 err="1">
                <a:solidFill>
                  <a:srgbClr val="002060"/>
                </a:solidFill>
              </a:rPr>
              <a:t>Sử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dụng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java.nio.file.Files.copy</a:t>
            </a:r>
            <a:r>
              <a:rPr lang="en-US" b="0" i="1" dirty="0">
                <a:solidFill>
                  <a:srgbClr val="002060"/>
                </a:solidFill>
              </a:rPr>
              <a:t>()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255006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void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CopyFolder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(File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SourceFolder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, File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TargetFolder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) 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throws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IOException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{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//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neu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SourceFolder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la file thi copy den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thu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muc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dich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if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SourceFolder.isDirectory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()) {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//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Xac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nhan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neu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TargetFolder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chua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ton tai thi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tao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moi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if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(!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TargetFolder.exists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()) {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    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TargetFolder.mkdir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();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    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System.out.println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"Thu </a:t>
            </a:r>
            <a:r>
              <a:rPr lang="en-US" sz="2400" dirty="0" err="1">
                <a:solidFill>
                  <a:srgbClr val="0000FF"/>
                </a:solidFill>
                <a:latin typeface="+mj-lt"/>
              </a:rPr>
              <a:t>muc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 da </a:t>
            </a:r>
            <a:r>
              <a:rPr lang="en-US" sz="2400" dirty="0" err="1">
                <a:solidFill>
                  <a:srgbClr val="0000FF"/>
                </a:solidFill>
                <a:latin typeface="+mj-lt"/>
              </a:rPr>
              <a:t>duoc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+mj-lt"/>
              </a:rPr>
              <a:t>tao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 "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+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targetFolder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);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}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//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Liet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ke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tat ca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cac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file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va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thu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muc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trong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sourceFolder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String files[] =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sourceFolder.list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();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// Code con o slide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tiep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3760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 err="1">
                <a:solidFill>
                  <a:srgbClr val="002060"/>
                </a:solidFill>
              </a:rPr>
              <a:t>Sử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dụng</a:t>
            </a:r>
            <a:r>
              <a:rPr lang="en-US" b="0" i="1" dirty="0">
                <a:solidFill>
                  <a:srgbClr val="002060"/>
                </a:solidFill>
              </a:rPr>
              <a:t> </a:t>
            </a:r>
            <a:r>
              <a:rPr lang="en-US" b="0" i="1" dirty="0" err="1">
                <a:solidFill>
                  <a:srgbClr val="002060"/>
                </a:solidFill>
              </a:rPr>
              <a:t>java.nio.file.Files.copy</a:t>
            </a:r>
            <a:r>
              <a:rPr lang="en-US" b="0" i="1" dirty="0">
                <a:solidFill>
                  <a:srgbClr val="002060"/>
                </a:solidFill>
              </a:rPr>
              <a:t>()</a:t>
            </a:r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378989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for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(String file : files) {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    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File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srcFile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= 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new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File(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SourceFolder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, file);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    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File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tarFile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= 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new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File(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TargetFolder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, file);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    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//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goi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lai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phuong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thuc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copyFolder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    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CopyFolder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srcFile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tarFile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);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}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} </a:t>
            </a:r>
            <a:r>
              <a:rPr lang="en-US" sz="2400" b="1" dirty="0">
                <a:solidFill>
                  <a:srgbClr val="006699"/>
                </a:solidFill>
                <a:latin typeface="+mj-lt"/>
              </a:rPr>
              <a:t>else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{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// copy file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tu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thuc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muc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nguon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den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thu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muc</a:t>
            </a:r>
            <a:r>
              <a:rPr lang="en-US" sz="2400" dirty="0">
                <a:solidFill>
                  <a:srgbClr val="0082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008200"/>
                </a:solidFill>
                <a:latin typeface="+mj-lt"/>
              </a:rPr>
              <a:t>dich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Files.copy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SourceFolder.toPath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(),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TargetFolder.toPath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(), 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        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StandardCopyOption.REPLACE_EXISTING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);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    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System.out.println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"File da </a:t>
            </a:r>
            <a:r>
              <a:rPr lang="en-US" sz="2400" dirty="0" err="1">
                <a:solidFill>
                  <a:srgbClr val="0000FF"/>
                </a:solidFill>
                <a:latin typeface="+mj-lt"/>
              </a:rPr>
              <a:t>duoc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 copy "</a:t>
            </a:r>
            <a:r>
              <a:rPr lang="en-US" sz="2400" dirty="0">
                <a:solidFill>
                  <a:srgbClr val="333333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+ </a:t>
            </a:r>
            <a:r>
              <a:rPr lang="en-US" sz="2400" dirty="0" err="1">
                <a:solidFill>
                  <a:srgbClr val="000000"/>
                </a:solidFill>
                <a:latin typeface="+mj-lt"/>
              </a:rPr>
              <a:t>TargetFolder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);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    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}</a:t>
            </a:r>
            <a:endParaRPr lang="en-US" sz="24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84683"/>
                </a:solidFill>
                <a:latin typeface="+mj-lt"/>
              </a:rPr>
              <a:t>    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}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3803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1" dirty="0" err="1">
                <a:solidFill>
                  <a:srgbClr val="002060"/>
                </a:solidFill>
              </a:rPr>
              <a:t>FileInputStream</a:t>
            </a:r>
            <a:r>
              <a:rPr lang="en-US" sz="3200" b="0" i="1" dirty="0">
                <a:solidFill>
                  <a:srgbClr val="002060"/>
                </a:solidFill>
              </a:rPr>
              <a:t> và </a:t>
            </a:r>
            <a:r>
              <a:rPr lang="en-US" sz="3200" b="0" i="1" dirty="0" err="1">
                <a:solidFill>
                  <a:srgbClr val="002060"/>
                </a:solidFill>
              </a:rPr>
              <a:t>FileOutputStream</a:t>
            </a:r>
            <a:endParaRPr lang="en-US" sz="3200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17</a:t>
            </a:fld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35431" y="1541846"/>
            <a:ext cx="4897174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600" i="1" dirty="0">
                <a:solidFill>
                  <a:schemeClr val="accent6">
                    <a:lumMod val="75000"/>
                  </a:schemeClr>
                </a:solidFill>
              </a:rPr>
              <a:t>// Import các thư </a:t>
            </a:r>
            <a:r>
              <a:rPr lang="en-US" sz="2600" i="1" dirty="0" err="1">
                <a:solidFill>
                  <a:schemeClr val="accent6">
                    <a:lumMod val="75000"/>
                  </a:schemeClr>
                </a:solidFill>
              </a:rPr>
              <a:t>viện</a:t>
            </a:r>
            <a:endParaRPr lang="en-US" sz="2600" i="1" dirty="0">
              <a:solidFill>
                <a:schemeClr val="accent6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1" i="0" u="none" strike="noStrike" cap="none" normalizeH="0" baseline="0" dirty="0">
              <a:ln>
                <a:noFill/>
              </a:ln>
              <a:solidFill>
                <a:srgbClr val="006699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java.io.File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java.io.FileInputStream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java.io.FileOutputStream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java.io.IOException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java.io.InputStream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import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java.io.OutputStream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5349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1" dirty="0" err="1">
                <a:solidFill>
                  <a:srgbClr val="002060"/>
                </a:solidFill>
              </a:rPr>
              <a:t>FileInputStream</a:t>
            </a:r>
            <a:r>
              <a:rPr lang="en-US" sz="3200" b="0" i="1" dirty="0">
                <a:solidFill>
                  <a:srgbClr val="002060"/>
                </a:solidFill>
              </a:rPr>
              <a:t> và </a:t>
            </a:r>
            <a:r>
              <a:rPr lang="en-US" sz="3200" b="0" i="1" dirty="0" err="1">
                <a:solidFill>
                  <a:srgbClr val="002060"/>
                </a:solidFill>
              </a:rPr>
              <a:t>FileOutputStream</a:t>
            </a:r>
            <a:endParaRPr lang="en-US" sz="3200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18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650331"/>
            <a:ext cx="886621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public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static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void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main(String[]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args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throws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IOException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{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lang="en-US" sz="2600" dirty="0" err="1">
                <a:solidFill>
                  <a:srgbClr val="008200"/>
                </a:solidFill>
                <a:latin typeface="+mj-lt"/>
              </a:rPr>
              <a:t>S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ourceFolder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: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nguon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duoc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copy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lang="en-US" sz="2600" dirty="0" err="1">
                <a:solidFill>
                  <a:srgbClr val="000000"/>
                </a:solidFill>
                <a:latin typeface="+mj-lt"/>
              </a:rPr>
              <a:t>S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ourceFolder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"D:\\temp"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lang="en-US" sz="2600" dirty="0" err="1">
                <a:solidFill>
                  <a:srgbClr val="008200"/>
                </a:solidFill>
                <a:latin typeface="+mj-lt"/>
              </a:rPr>
              <a:t>T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argetFolder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: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dich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duoc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copy den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targetFolder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"D:\\tempNew"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goi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phuong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thuc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copy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lang="en-US" sz="2600" dirty="0" err="1">
                <a:solidFill>
                  <a:srgbClr val="000000"/>
                </a:solidFill>
                <a:latin typeface="+mj-lt"/>
              </a:rPr>
              <a:t>C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opyFolder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+mj-lt"/>
              </a:rPr>
              <a:t>S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ourceFolder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+mj-lt"/>
              </a:rPr>
              <a:t>T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argetFolder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3554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1" dirty="0" err="1">
                <a:solidFill>
                  <a:srgbClr val="002060"/>
                </a:solidFill>
              </a:rPr>
              <a:t>FileInputStream</a:t>
            </a:r>
            <a:r>
              <a:rPr lang="en-US" sz="3200" b="0" i="1" dirty="0">
                <a:solidFill>
                  <a:srgbClr val="002060"/>
                </a:solidFill>
              </a:rPr>
              <a:t> và </a:t>
            </a:r>
            <a:r>
              <a:rPr lang="en-US" sz="3200" b="0" i="1" dirty="0" err="1">
                <a:solidFill>
                  <a:srgbClr val="002060"/>
                </a:solidFill>
              </a:rPr>
              <a:t>FileOutputStream</a:t>
            </a:r>
            <a:endParaRPr lang="en-US" sz="3200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19</a:t>
            </a:fld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378052"/>
            <a:ext cx="9144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private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static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void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copyFolder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(File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sourceFolder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, File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targetFolder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 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throws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IOException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{</a:t>
            </a:r>
            <a:endParaRPr lang="en-US" sz="2200" dirty="0">
              <a:solidFill>
                <a:srgbClr val="084683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neu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lang="en-US" sz="2200" dirty="0" err="1">
                <a:solidFill>
                  <a:srgbClr val="008200"/>
                </a:solidFill>
                <a:latin typeface="+mj-lt"/>
              </a:rPr>
              <a:t>S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ourceFolder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la file thi copy den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dich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if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SourceFolder.isDirectory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()) {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Xac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nhan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neu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targetFolder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chua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ton tai thi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tao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moi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if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(!</a:t>
            </a:r>
            <a:r>
              <a:rPr lang="en-US" sz="2200" dirty="0" err="1">
                <a:solidFill>
                  <a:srgbClr val="000000"/>
                </a:solidFill>
                <a:latin typeface="+mj-lt"/>
              </a:rPr>
              <a:t>T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argetFolder.exists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()) {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TargetFolder.mkdir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();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"Thu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muc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da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duoc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tao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"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+ </a:t>
            </a:r>
            <a:r>
              <a:rPr lang="en-US" sz="2200" dirty="0" err="1">
                <a:solidFill>
                  <a:srgbClr val="000000"/>
                </a:solidFill>
                <a:latin typeface="+mj-lt"/>
              </a:rPr>
              <a:t>T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argetFolder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Liet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ke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tat ca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cac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file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va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trong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sourceFolder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String files[] = </a:t>
            </a:r>
            <a:r>
              <a:rPr lang="en-US" sz="2200" dirty="0" err="1">
                <a:solidFill>
                  <a:srgbClr val="000000"/>
                </a:solidFill>
                <a:latin typeface="+mj-lt"/>
              </a:rPr>
              <a:t>S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ourceFolder.list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();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for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(String file : files) {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srcFile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lang="en-US" sz="2200" dirty="0" err="1">
                <a:solidFill>
                  <a:srgbClr val="000000"/>
                </a:solidFill>
                <a:latin typeface="+mj-lt"/>
              </a:rPr>
              <a:t>S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ourceFolder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, file);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tarFile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File(</a:t>
            </a:r>
            <a:r>
              <a:rPr lang="en-US" sz="2200" dirty="0" err="1">
                <a:solidFill>
                  <a:srgbClr val="000000"/>
                </a:solidFill>
                <a:latin typeface="+mj-lt"/>
              </a:rPr>
              <a:t>T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argetFolder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, file);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Code con o slide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tiep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5458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1" dirty="0" err="1">
                <a:solidFill>
                  <a:srgbClr val="002060"/>
                </a:solidFill>
              </a:rPr>
              <a:t>FileInputStream</a:t>
            </a:r>
            <a:r>
              <a:rPr lang="en-US" sz="3200" b="0" i="1" dirty="0">
                <a:solidFill>
                  <a:srgbClr val="002060"/>
                </a:solidFill>
              </a:rPr>
              <a:t> và </a:t>
            </a:r>
            <a:r>
              <a:rPr lang="en-US" sz="3200" b="0" i="1" dirty="0" err="1">
                <a:solidFill>
                  <a:srgbClr val="002060"/>
                </a:solidFill>
              </a:rPr>
              <a:t>FileOutputStream</a:t>
            </a:r>
            <a:endParaRPr lang="en-US" sz="3200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20</a:t>
            </a:fld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170288"/>
            <a:ext cx="7747314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goi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lai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phuong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thuc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lang="en-US" sz="2100" dirty="0" err="1">
                <a:solidFill>
                  <a:srgbClr val="008200"/>
                </a:solidFill>
                <a:latin typeface="+mj-lt"/>
              </a:rPr>
              <a:t>C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opyFolder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lang="en-US" sz="2100" dirty="0" err="1">
                <a:solidFill>
                  <a:srgbClr val="000000"/>
                </a:solidFill>
                <a:latin typeface="+mj-lt"/>
              </a:rPr>
              <a:t>C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opyFolder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srcFile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tarFile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else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{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// copy file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tu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thuc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nguon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den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thu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muc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+mj-lt"/>
              </a:rPr>
              <a:t>dich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InputStream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in =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FileInputStream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lang="en-US" sz="2100" dirty="0" err="1">
                <a:solidFill>
                  <a:srgbClr val="000000"/>
                </a:solidFill>
                <a:latin typeface="+mj-lt"/>
              </a:rPr>
              <a:t>S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ourceFolder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OutputStream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out =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FileOutputStream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TargetFolder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byte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[] buffer =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new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byte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[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+mj-lt"/>
              </a:rPr>
              <a:t>1024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];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int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length;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j-lt"/>
              </a:rPr>
              <a:t>while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((length =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in.read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(buffer)) &gt;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+mj-lt"/>
              </a:rPr>
              <a:t>0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 {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    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out.write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(buffer,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+mj-lt"/>
              </a:rPr>
              <a:t>0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, length);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System.out.println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"File da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duoc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</a:rPr>
              <a:t> copy "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+ </a:t>
            </a:r>
            <a:r>
              <a:rPr lang="en-US" sz="2100" dirty="0" err="1">
                <a:solidFill>
                  <a:srgbClr val="000000"/>
                </a:solidFill>
                <a:latin typeface="+mj-lt"/>
              </a:rPr>
              <a:t>T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argetFolder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);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in.close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    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out.close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();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    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84683"/>
                </a:solidFill>
                <a:effectLst/>
                <a:latin typeface="+mj-lt"/>
              </a:rPr>
              <a:t>    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}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79236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45656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>
                <a:solidFill>
                  <a:srgbClr val="002060"/>
                </a:solidFill>
              </a:rPr>
              <a:t>Ngôn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ngữ</a:t>
            </a:r>
            <a:r>
              <a:rPr lang="en-US" dirty="0">
                <a:solidFill>
                  <a:srgbClr val="002060"/>
                </a:solidFill>
              </a:rPr>
              <a:t> Java có 2 loại file:</a:t>
            </a:r>
          </a:p>
          <a:p>
            <a:pPr algn="just"/>
            <a:r>
              <a:rPr lang="en-US" dirty="0">
                <a:solidFill>
                  <a:srgbClr val="002060"/>
                </a:solidFill>
              </a:rPr>
              <a:t>File </a:t>
            </a:r>
            <a:r>
              <a:rPr lang="en-US" dirty="0" err="1">
                <a:solidFill>
                  <a:srgbClr val="002060"/>
                </a:solidFill>
              </a:rPr>
              <a:t>nhị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phân</a:t>
            </a:r>
            <a:endParaRPr lang="en-US" dirty="0">
              <a:solidFill>
                <a:srgbClr val="002060"/>
              </a:solidFill>
            </a:endParaRPr>
          </a:p>
          <a:p>
            <a:pPr algn="just"/>
            <a:r>
              <a:rPr lang="en-US" dirty="0">
                <a:solidFill>
                  <a:srgbClr val="002060"/>
                </a:solidFill>
              </a:rPr>
              <a:t>File text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84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file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17356"/>
            <a:ext cx="9144000" cy="55406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import</a:t>
            </a:r>
            <a:r>
              <a:rPr lang="en-US" sz="2200" dirty="0"/>
              <a:t> </a:t>
            </a:r>
            <a:r>
              <a:rPr lang="en-US" sz="2200" dirty="0" err="1"/>
              <a:t>java.io.DataInputStream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import</a:t>
            </a:r>
            <a:r>
              <a:rPr lang="en-US" sz="2200" dirty="0"/>
              <a:t> </a:t>
            </a:r>
            <a:r>
              <a:rPr lang="en-US" sz="2200" dirty="0" err="1"/>
              <a:t>java.io.DataOutputStream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import</a:t>
            </a:r>
            <a:r>
              <a:rPr lang="en-US" sz="2200" dirty="0"/>
              <a:t> </a:t>
            </a:r>
            <a:r>
              <a:rPr lang="en-US" sz="2200" dirty="0" err="1"/>
              <a:t>java.io.FileInputStream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import</a:t>
            </a:r>
            <a:r>
              <a:rPr lang="en-US" sz="2200" dirty="0"/>
              <a:t> </a:t>
            </a:r>
            <a:r>
              <a:rPr lang="en-US" sz="2200" dirty="0" err="1"/>
              <a:t>java.io.FileNotFoundException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import</a:t>
            </a:r>
            <a:r>
              <a:rPr lang="en-US" sz="2200" dirty="0"/>
              <a:t> </a:t>
            </a:r>
            <a:r>
              <a:rPr lang="en-US" sz="2200" dirty="0" err="1"/>
              <a:t>java.io.FileOutputStream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import</a:t>
            </a:r>
            <a:r>
              <a:rPr lang="en-US" sz="2200" dirty="0"/>
              <a:t> </a:t>
            </a:r>
            <a:r>
              <a:rPr lang="en-US" sz="2200" dirty="0" err="1"/>
              <a:t>java.io.IOException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import</a:t>
            </a:r>
            <a:r>
              <a:rPr lang="en-US" sz="2200" dirty="0"/>
              <a:t> </a:t>
            </a:r>
            <a:r>
              <a:rPr lang="en-US" sz="2200" dirty="0" err="1"/>
              <a:t>java.util.Scanner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public class</a:t>
            </a:r>
            <a:r>
              <a:rPr lang="en-US" sz="2200" dirty="0"/>
              <a:t> </a:t>
            </a:r>
            <a:r>
              <a:rPr lang="en-US" sz="2200" dirty="0" err="1"/>
              <a:t>BinaryFile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2060"/>
                </a:solidFill>
              </a:rPr>
              <a:t>{</a:t>
            </a:r>
          </a:p>
          <a:p>
            <a:pPr marL="0" indent="465138">
              <a:buNone/>
            </a:pPr>
            <a:r>
              <a:rPr lang="en-US" sz="2200" dirty="0">
                <a:solidFill>
                  <a:srgbClr val="002060"/>
                </a:solidFill>
              </a:rPr>
              <a:t>private static </a:t>
            </a:r>
            <a:r>
              <a:rPr lang="en-US" sz="2200" dirty="0" err="1"/>
              <a:t>DataInputStream</a:t>
            </a:r>
            <a:r>
              <a:rPr lang="en-US" sz="2200" dirty="0"/>
              <a:t> din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</a:p>
          <a:p>
            <a:pPr marL="0" indent="465138">
              <a:buNone/>
            </a:pPr>
            <a:r>
              <a:rPr lang="en-US" sz="2200" dirty="0">
                <a:solidFill>
                  <a:srgbClr val="002060"/>
                </a:solidFill>
              </a:rPr>
              <a:t>private static </a:t>
            </a:r>
            <a:r>
              <a:rPr lang="en-US" sz="2200" dirty="0" err="1"/>
              <a:t>DataOutputStream</a:t>
            </a:r>
            <a:r>
              <a:rPr lang="en-US" sz="2200" dirty="0"/>
              <a:t> </a:t>
            </a:r>
            <a:r>
              <a:rPr lang="en-US" sz="2200" dirty="0" err="1"/>
              <a:t>dout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</a:p>
          <a:p>
            <a:pPr marL="0" indent="465138">
              <a:buNone/>
            </a:pPr>
            <a:r>
              <a:rPr lang="en-US" sz="2200" dirty="0">
                <a:solidFill>
                  <a:srgbClr val="002060"/>
                </a:solidFill>
              </a:rPr>
              <a:t>private static </a:t>
            </a:r>
            <a:r>
              <a:rPr lang="en-US" sz="2200" dirty="0"/>
              <a:t>Scanner </a:t>
            </a:r>
            <a:r>
              <a:rPr lang="en-US" sz="2200" dirty="0" err="1"/>
              <a:t>sc</a:t>
            </a:r>
            <a:r>
              <a:rPr lang="en-US" sz="2200" dirty="0">
                <a:solidFill>
                  <a:srgbClr val="002060"/>
                </a:solidFill>
              </a:rPr>
              <a:t>;</a:t>
            </a:r>
            <a:endParaRPr lang="en-US" sz="2200" dirty="0"/>
          </a:p>
          <a:p>
            <a:pPr marL="0" indent="465138">
              <a:buNone/>
            </a:pPr>
            <a:r>
              <a:rPr lang="en-US" sz="2200" dirty="0"/>
              <a:t>public static void main (String [] </a:t>
            </a:r>
            <a:r>
              <a:rPr lang="en-US" sz="2200" dirty="0" err="1"/>
              <a:t>args</a:t>
            </a:r>
            <a:r>
              <a:rPr lang="en-US" sz="2200" dirty="0"/>
              <a:t>) throws </a:t>
            </a:r>
            <a:r>
              <a:rPr lang="en-US" sz="2200" dirty="0" err="1"/>
              <a:t>FileNotFoundException</a:t>
            </a:r>
            <a:r>
              <a:rPr lang="en-US" sz="2200" dirty="0"/>
              <a:t>, </a:t>
            </a:r>
            <a:r>
              <a:rPr lang="en-US" sz="2200" dirty="0" err="1"/>
              <a:t>IOException</a:t>
            </a:r>
            <a:r>
              <a:rPr lang="en-US" sz="2200" dirty="0"/>
              <a:t>, </a:t>
            </a:r>
            <a:r>
              <a:rPr lang="en-US" sz="2200" dirty="0" err="1"/>
              <a:t>ClassNotFoundException</a:t>
            </a:r>
            <a:r>
              <a:rPr lang="en-US" sz="2200" dirty="0"/>
              <a:t>{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03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file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17356"/>
            <a:ext cx="9144000" cy="5540644"/>
          </a:xfrm>
        </p:spPr>
        <p:txBody>
          <a:bodyPr>
            <a:noAutofit/>
          </a:bodyPr>
          <a:lstStyle/>
          <a:p>
            <a:pPr marL="0" indent="914400">
              <a:buNone/>
            </a:pPr>
            <a:r>
              <a:rPr lang="en-US" sz="2000" dirty="0" err="1"/>
              <a:t>sc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2060"/>
                </a:solidFill>
              </a:rPr>
              <a:t>= new </a:t>
            </a:r>
            <a:r>
              <a:rPr lang="en-US" sz="2000" dirty="0"/>
              <a:t>Scanner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/>
              <a:t>System.in</a:t>
            </a:r>
            <a:r>
              <a:rPr lang="en-US" sz="2000" dirty="0">
                <a:solidFill>
                  <a:srgbClr val="002060"/>
                </a:solidFill>
              </a:rPr>
              <a:t>);</a:t>
            </a:r>
          </a:p>
          <a:p>
            <a:pPr marL="0" indent="914400">
              <a:buNone/>
            </a:pPr>
            <a:r>
              <a:rPr lang="en-US" sz="2000" dirty="0"/>
              <a:t>String </a:t>
            </a:r>
            <a:r>
              <a:rPr lang="en-US" sz="2000" dirty="0" err="1"/>
              <a:t>str</a:t>
            </a:r>
            <a:r>
              <a:rPr lang="en-US" sz="2000" dirty="0"/>
              <a:t>, </a:t>
            </a:r>
            <a:r>
              <a:rPr lang="en-US" sz="2000" dirty="0" err="1"/>
              <a:t>readData</a:t>
            </a:r>
            <a:r>
              <a:rPr lang="en-US" sz="2000" dirty="0">
                <a:solidFill>
                  <a:srgbClr val="002060"/>
                </a:solidFill>
              </a:rPr>
              <a:t>;</a:t>
            </a:r>
          </a:p>
          <a:p>
            <a:pPr marL="0" indent="914400">
              <a:buNone/>
            </a:pPr>
            <a:r>
              <a:rPr lang="en-US" sz="2000" dirty="0" err="1"/>
              <a:t>System.out.println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/>
              <a:t>"</a:t>
            </a:r>
            <a:r>
              <a:rPr lang="en-US" sz="2000" dirty="0" err="1"/>
              <a:t>Nhap</a:t>
            </a:r>
            <a:r>
              <a:rPr lang="en-US" sz="2000" dirty="0"/>
              <a:t> </a:t>
            </a:r>
            <a:r>
              <a:rPr lang="en-US" sz="2000" dirty="0" err="1"/>
              <a:t>noi</a:t>
            </a:r>
            <a:r>
              <a:rPr lang="en-US" sz="2000" dirty="0"/>
              <a:t> dung can </a:t>
            </a:r>
            <a:r>
              <a:rPr lang="en-US" sz="2000" dirty="0" err="1"/>
              <a:t>ghi</a:t>
            </a:r>
            <a:r>
              <a:rPr lang="en-US" sz="2000" dirty="0"/>
              <a:t> </a:t>
            </a:r>
            <a:r>
              <a:rPr lang="en-US" sz="2000" dirty="0" err="1"/>
              <a:t>vao</a:t>
            </a:r>
            <a:r>
              <a:rPr lang="en-US" sz="2000" dirty="0"/>
              <a:t> file: "</a:t>
            </a:r>
            <a:r>
              <a:rPr lang="en-US" sz="2000" dirty="0">
                <a:solidFill>
                  <a:srgbClr val="002060"/>
                </a:solidFill>
              </a:rPr>
              <a:t>);</a:t>
            </a:r>
          </a:p>
          <a:p>
            <a:pPr marL="0" indent="914400">
              <a:buNone/>
            </a:pPr>
            <a:r>
              <a:rPr lang="en-US" sz="2000" dirty="0" err="1"/>
              <a:t>sc.nextLine</a:t>
            </a:r>
            <a:r>
              <a:rPr lang="en-US" sz="2000" dirty="0">
                <a:solidFill>
                  <a:srgbClr val="002060"/>
                </a:solidFill>
              </a:rPr>
              <a:t>();</a:t>
            </a:r>
          </a:p>
          <a:p>
            <a:pPr marL="0" indent="914400">
              <a:buNone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//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Ghi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du lieu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vao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file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nhi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phan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914400">
              <a:buNone/>
            </a:pPr>
            <a:r>
              <a:rPr lang="en-US" sz="2000" dirty="0" err="1"/>
              <a:t>dout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2060"/>
                </a:solidFill>
              </a:rPr>
              <a:t>=</a:t>
            </a:r>
            <a:r>
              <a:rPr lang="en-US" sz="2000" dirty="0"/>
              <a:t> new </a:t>
            </a:r>
            <a:r>
              <a:rPr lang="en-US" sz="2000" dirty="0" err="1"/>
              <a:t>DataOutputStream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/>
              <a:t>new </a:t>
            </a:r>
            <a:r>
              <a:rPr lang="en-US" sz="2000" dirty="0" err="1"/>
              <a:t>FileOutputStream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/>
              <a:t>"Data.dat"</a:t>
            </a:r>
            <a:r>
              <a:rPr lang="en-US" sz="2000" dirty="0">
                <a:solidFill>
                  <a:srgbClr val="002060"/>
                </a:solidFill>
              </a:rPr>
              <a:t>));</a:t>
            </a:r>
          </a:p>
          <a:p>
            <a:pPr marL="0" indent="914400">
              <a:buNone/>
            </a:pPr>
            <a:r>
              <a:rPr lang="en-US" sz="2000" dirty="0" err="1"/>
              <a:t>dout.writeUTF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 err="1"/>
              <a:t>str</a:t>
            </a:r>
            <a:r>
              <a:rPr lang="en-US" sz="2000" dirty="0">
                <a:solidFill>
                  <a:srgbClr val="002060"/>
                </a:solidFill>
              </a:rPr>
              <a:t>);</a:t>
            </a:r>
          </a:p>
          <a:p>
            <a:pPr marL="0" indent="914400">
              <a:buNone/>
            </a:pPr>
            <a:r>
              <a:rPr lang="en-US" sz="2000" dirty="0" err="1"/>
              <a:t>System.out.println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/>
              <a:t>"Write data success."</a:t>
            </a:r>
            <a:r>
              <a:rPr lang="en-US" sz="2000" dirty="0">
                <a:solidFill>
                  <a:srgbClr val="002060"/>
                </a:solidFill>
              </a:rPr>
              <a:t>);</a:t>
            </a:r>
          </a:p>
          <a:p>
            <a:pPr marL="0" indent="914400">
              <a:buNone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//Doc du lieu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tu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file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nhi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phan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914400">
              <a:buNone/>
            </a:pPr>
            <a:r>
              <a:rPr lang="en-US" sz="2000" dirty="0"/>
              <a:t>din </a:t>
            </a:r>
            <a:r>
              <a:rPr lang="en-US" sz="2000" dirty="0">
                <a:solidFill>
                  <a:srgbClr val="002060"/>
                </a:solidFill>
              </a:rPr>
              <a:t>=</a:t>
            </a:r>
            <a:r>
              <a:rPr lang="en-US" sz="2000" dirty="0"/>
              <a:t> new </a:t>
            </a:r>
            <a:r>
              <a:rPr lang="en-US" sz="2000" dirty="0" err="1"/>
              <a:t>DataInputStream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/>
              <a:t>new </a:t>
            </a:r>
            <a:r>
              <a:rPr lang="en-US" sz="2000" dirty="0" err="1"/>
              <a:t>FileInputStream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/>
              <a:t>"Data.dat"</a:t>
            </a:r>
            <a:r>
              <a:rPr lang="en-US" sz="2000" dirty="0">
                <a:solidFill>
                  <a:srgbClr val="002060"/>
                </a:solidFill>
              </a:rPr>
              <a:t>));</a:t>
            </a:r>
          </a:p>
          <a:p>
            <a:pPr marL="0" indent="914400">
              <a:buNone/>
            </a:pPr>
            <a:r>
              <a:rPr lang="en-US" sz="2000" dirty="0" err="1"/>
              <a:t>readData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2060"/>
                </a:solidFill>
              </a:rPr>
              <a:t>=</a:t>
            </a:r>
            <a:r>
              <a:rPr lang="en-US" sz="2000" dirty="0"/>
              <a:t> </a:t>
            </a:r>
            <a:r>
              <a:rPr lang="en-US" sz="2000" dirty="0" err="1"/>
              <a:t>din.readUTF</a:t>
            </a:r>
            <a:r>
              <a:rPr lang="en-US" sz="2000" dirty="0">
                <a:solidFill>
                  <a:srgbClr val="002060"/>
                </a:solidFill>
              </a:rPr>
              <a:t>();</a:t>
            </a:r>
          </a:p>
          <a:p>
            <a:pPr marL="0" indent="914400">
              <a:buNone/>
            </a:pPr>
            <a:r>
              <a:rPr lang="en-US" sz="2000" dirty="0" err="1"/>
              <a:t>System.out.println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/>
              <a:t>"Data is: " + </a:t>
            </a:r>
            <a:r>
              <a:rPr lang="en-US" sz="2000" dirty="0" err="1"/>
              <a:t>readData</a:t>
            </a:r>
            <a:r>
              <a:rPr lang="en-US" sz="2000" dirty="0">
                <a:solidFill>
                  <a:srgbClr val="00206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	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64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file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17356"/>
            <a:ext cx="9144000" cy="55406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import</a:t>
            </a:r>
            <a:r>
              <a:rPr lang="vi-VN" sz="2200" dirty="0"/>
              <a:t> java.io.File</a:t>
            </a:r>
            <a:r>
              <a:rPr lang="vi-VN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import</a:t>
            </a:r>
            <a:r>
              <a:rPr lang="vi-VN" sz="2200" dirty="0"/>
              <a:t> java.io.FileNotFoundException</a:t>
            </a:r>
            <a:r>
              <a:rPr lang="vi-VN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import</a:t>
            </a:r>
            <a:r>
              <a:rPr lang="vi-VN" sz="2200" dirty="0"/>
              <a:t> java.io.FileReader</a:t>
            </a:r>
            <a:r>
              <a:rPr lang="vi-VN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import</a:t>
            </a:r>
            <a:r>
              <a:rPr lang="vi-VN" sz="2200" dirty="0"/>
              <a:t> java.io.FileWriter</a:t>
            </a:r>
            <a:r>
              <a:rPr lang="vi-VN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import</a:t>
            </a:r>
            <a:r>
              <a:rPr lang="vi-VN" sz="2200" dirty="0"/>
              <a:t> java.io.IOException</a:t>
            </a:r>
            <a:r>
              <a:rPr lang="vi-VN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import</a:t>
            </a:r>
            <a:r>
              <a:rPr lang="vi-VN" sz="2200" dirty="0"/>
              <a:t> java.util.Scanner</a:t>
            </a:r>
            <a:r>
              <a:rPr lang="vi-VN" sz="2200" dirty="0">
                <a:solidFill>
                  <a:srgbClr val="002060"/>
                </a:solidFill>
              </a:rPr>
              <a:t>;</a:t>
            </a:r>
          </a:p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public class </a:t>
            </a:r>
            <a:r>
              <a:rPr lang="vi-VN" sz="2200" dirty="0"/>
              <a:t>TextFile {</a:t>
            </a:r>
          </a:p>
          <a:p>
            <a:pPr marL="0" indent="465138">
              <a:buNone/>
            </a:pPr>
            <a:r>
              <a:rPr lang="vi-VN" sz="2200" dirty="0">
                <a:solidFill>
                  <a:srgbClr val="002060"/>
                </a:solidFill>
              </a:rPr>
              <a:t>private static </a:t>
            </a:r>
            <a:r>
              <a:rPr lang="vi-VN" sz="2200" dirty="0"/>
              <a:t>Scanner sc;</a:t>
            </a:r>
            <a:endParaRPr lang="en-US" sz="2200" dirty="0"/>
          </a:p>
          <a:p>
            <a:pPr marL="0" indent="465138">
              <a:buNone/>
            </a:pPr>
            <a:r>
              <a:rPr lang="vi-VN" sz="2200" dirty="0"/>
              <a:t>public static void main (String[] args) </a:t>
            </a:r>
            <a:r>
              <a:rPr lang="vi-VN" sz="2200" dirty="0">
                <a:solidFill>
                  <a:srgbClr val="002060"/>
                </a:solidFill>
              </a:rPr>
              <a:t>throws</a:t>
            </a:r>
            <a:r>
              <a:rPr lang="vi-VN" sz="2200" dirty="0"/>
              <a:t> FileNotFoundException, IOException, ClassNotFoundException {</a:t>
            </a:r>
          </a:p>
          <a:p>
            <a:pPr marL="0" indent="914400">
              <a:buNone/>
            </a:pPr>
            <a:r>
              <a:rPr lang="vi-VN" sz="2200" dirty="0"/>
              <a:t>sc = </a:t>
            </a:r>
            <a:r>
              <a:rPr lang="vi-VN" sz="2200" dirty="0">
                <a:solidFill>
                  <a:srgbClr val="002060"/>
                </a:solidFill>
              </a:rPr>
              <a:t>new</a:t>
            </a:r>
            <a:r>
              <a:rPr lang="vi-VN" sz="2200" dirty="0"/>
              <a:t> Scanner(System.in);</a:t>
            </a:r>
          </a:p>
          <a:p>
            <a:pPr marL="0" indent="914400">
              <a:buNone/>
            </a:pPr>
            <a:r>
              <a:rPr lang="vi-VN" sz="2200" dirty="0"/>
              <a:t>String str;</a:t>
            </a:r>
          </a:p>
          <a:p>
            <a:pPr marL="0" indent="914400">
              <a:buNone/>
            </a:pPr>
            <a:r>
              <a:rPr lang="vi-VN" sz="2200" dirty="0"/>
              <a:t>System.out.println("Nhap noi dung ghi vao file: ");</a:t>
            </a:r>
          </a:p>
          <a:p>
            <a:pPr marL="0" indent="465138">
              <a:buNone/>
            </a:pPr>
            <a:r>
              <a:rPr lang="vi-VN" sz="2200" dirty="0"/>
              <a:t>		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7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file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08292"/>
            <a:ext cx="9144000" cy="5062989"/>
          </a:xfrm>
        </p:spPr>
        <p:txBody>
          <a:bodyPr>
            <a:noAutofit/>
          </a:bodyPr>
          <a:lstStyle/>
          <a:p>
            <a:pPr marL="0" indent="914400">
              <a:buNone/>
            </a:pPr>
            <a:r>
              <a:rPr lang="vi-VN" sz="2200" dirty="0"/>
              <a:t>sc </a:t>
            </a:r>
            <a:r>
              <a:rPr lang="vi-VN" sz="2200" dirty="0">
                <a:solidFill>
                  <a:srgbClr val="002060"/>
                </a:solidFill>
              </a:rPr>
              <a:t>=</a:t>
            </a:r>
            <a:r>
              <a:rPr lang="vi-VN" sz="2200" dirty="0"/>
              <a:t> new Scanner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System.in</a:t>
            </a:r>
            <a:r>
              <a:rPr lang="vi-VN" sz="2200" dirty="0">
                <a:solidFill>
                  <a:srgbClr val="002060"/>
                </a:solidFill>
              </a:rPr>
              <a:t>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/>
              <a:t>String str</a:t>
            </a:r>
            <a:r>
              <a:rPr lang="vi-VN" sz="2200" dirty="0">
                <a:solidFill>
                  <a:srgbClr val="002060"/>
                </a:solidFill>
              </a:rPr>
              <a:t>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/>
              <a:t>System.out.println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"Nhap noi dung ghi vao file: "</a:t>
            </a:r>
            <a:r>
              <a:rPr lang="vi-VN" sz="2200" dirty="0">
                <a:solidFill>
                  <a:srgbClr val="002060"/>
                </a:solidFill>
              </a:rPr>
              <a:t>)</a:t>
            </a:r>
            <a:r>
              <a:rPr lang="vi-VN" sz="2200" dirty="0"/>
              <a:t>;</a:t>
            </a:r>
            <a:endParaRPr lang="en-US" sz="2200" dirty="0"/>
          </a:p>
          <a:p>
            <a:pPr marL="0" indent="914400">
              <a:buNone/>
            </a:pPr>
            <a:r>
              <a:rPr lang="vi-VN" sz="2200" dirty="0"/>
              <a:t>str </a:t>
            </a:r>
            <a:r>
              <a:rPr lang="vi-VN" sz="2200" dirty="0">
                <a:solidFill>
                  <a:srgbClr val="002060"/>
                </a:solidFill>
              </a:rPr>
              <a:t>=</a:t>
            </a:r>
            <a:r>
              <a:rPr lang="vi-VN" sz="2200" dirty="0"/>
              <a:t> sc.nextLine</a:t>
            </a:r>
            <a:r>
              <a:rPr lang="vi-VN" sz="2200" dirty="0">
                <a:solidFill>
                  <a:srgbClr val="002060"/>
                </a:solidFill>
              </a:rPr>
              <a:t>();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>
                <a:solidFill>
                  <a:schemeClr val="accent6">
                    <a:lumMod val="50000"/>
                  </a:schemeClr>
                </a:solidFill>
              </a:rPr>
              <a:t>//Khai bao đoi tượng FileWriter đe Ghi du lieu vao file text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914400">
              <a:buNone/>
            </a:pPr>
            <a:r>
              <a:rPr lang="vi-VN" sz="2200" dirty="0"/>
              <a:t>FileWriter  fw = new FileWriter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new File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"Data.txt")</a:t>
            </a:r>
            <a:r>
              <a:rPr lang="vi-VN" sz="2200" dirty="0">
                <a:solidFill>
                  <a:srgbClr val="002060"/>
                </a:solidFill>
              </a:rPr>
              <a:t>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>
                <a:solidFill>
                  <a:schemeClr val="accent6">
                    <a:lumMod val="50000"/>
                  </a:schemeClr>
                </a:solidFill>
              </a:rPr>
              <a:t>//Ghi du lieu của "str" vào file Data.txt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914400">
              <a:buNone/>
            </a:pPr>
            <a:r>
              <a:rPr lang="vi-VN" sz="2200" dirty="0"/>
              <a:t>fw.write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str</a:t>
            </a:r>
            <a:r>
              <a:rPr lang="vi-VN" sz="2200" dirty="0">
                <a:solidFill>
                  <a:srgbClr val="002060"/>
                </a:solidFill>
              </a:rPr>
              <a:t>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/>
              <a:t>fw.close</a:t>
            </a:r>
            <a:r>
              <a:rPr lang="vi-VN" sz="2200" dirty="0">
                <a:solidFill>
                  <a:srgbClr val="002060"/>
                </a:solidFill>
              </a:rPr>
              <a:t>();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/>
              <a:t>System.out.println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"Write data success."</a:t>
            </a:r>
            <a:r>
              <a:rPr lang="vi-VN" sz="2200" dirty="0">
                <a:solidFill>
                  <a:srgbClr val="002060"/>
                </a:solidFill>
              </a:rPr>
              <a:t>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>
                <a:solidFill>
                  <a:schemeClr val="accent6">
                    <a:lumMod val="50000"/>
                  </a:schemeClr>
                </a:solidFill>
              </a:rPr>
              <a:t>//Khai bao 2 doi tuong de doc du lieu tu file text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914400">
              <a:buNone/>
            </a:pPr>
            <a:r>
              <a:rPr lang="vi-VN" sz="2200" dirty="0"/>
              <a:t>FileReader fr </a:t>
            </a:r>
            <a:r>
              <a:rPr lang="vi-VN" sz="2200" dirty="0">
                <a:solidFill>
                  <a:srgbClr val="002060"/>
                </a:solidFill>
              </a:rPr>
              <a:t>=</a:t>
            </a:r>
            <a:r>
              <a:rPr lang="vi-VN" sz="2200" dirty="0"/>
              <a:t> new FileReader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new File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"Data.txt"</a:t>
            </a:r>
            <a:r>
              <a:rPr lang="vi-VN" sz="2200" dirty="0">
                <a:solidFill>
                  <a:srgbClr val="002060"/>
                </a:solidFill>
              </a:rPr>
              <a:t>));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979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với file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08292"/>
            <a:ext cx="9144000" cy="5062989"/>
          </a:xfrm>
        </p:spPr>
        <p:txBody>
          <a:bodyPr>
            <a:noAutofit/>
          </a:bodyPr>
          <a:lstStyle/>
          <a:p>
            <a:pPr marL="0" indent="914400">
              <a:buNone/>
            </a:pPr>
            <a:r>
              <a:rPr lang="vi-VN" sz="2200" dirty="0"/>
              <a:t>StringBuffer sb </a:t>
            </a:r>
            <a:r>
              <a:rPr lang="vi-VN" sz="2200" dirty="0">
                <a:solidFill>
                  <a:srgbClr val="002060"/>
                </a:solidFill>
              </a:rPr>
              <a:t>= new </a:t>
            </a:r>
            <a:r>
              <a:rPr lang="vi-VN" sz="2200" dirty="0"/>
              <a:t>StringBuffer</a:t>
            </a:r>
            <a:r>
              <a:rPr lang="vi-VN" sz="2200" dirty="0">
                <a:solidFill>
                  <a:srgbClr val="002060"/>
                </a:solidFill>
              </a:rPr>
              <a:t>();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>
                <a:solidFill>
                  <a:schemeClr val="accent6">
                    <a:lumMod val="50000"/>
                  </a:schemeClr>
                </a:solidFill>
              </a:rPr>
              <a:t>//Khai bao mang de chua du lieu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914400">
              <a:buNone/>
            </a:pPr>
            <a:r>
              <a:rPr lang="vi-VN" sz="2200" dirty="0"/>
              <a:t>char ca[] = </a:t>
            </a:r>
            <a:r>
              <a:rPr lang="vi-VN" sz="2200" dirty="0">
                <a:solidFill>
                  <a:srgbClr val="002060"/>
                </a:solidFill>
              </a:rPr>
              <a:t>new</a:t>
            </a:r>
            <a:r>
              <a:rPr lang="vi-VN" sz="2200" dirty="0"/>
              <a:t> char[2];</a:t>
            </a:r>
            <a:endParaRPr lang="en-US" sz="2200" dirty="0"/>
          </a:p>
          <a:p>
            <a:pPr marL="0" indent="914400">
              <a:buNone/>
            </a:pPr>
            <a:r>
              <a:rPr lang="vi-VN" sz="2200" dirty="0">
                <a:solidFill>
                  <a:schemeClr val="accent6">
                    <a:lumMod val="50000"/>
                  </a:schemeClr>
                </a:solidFill>
              </a:rPr>
              <a:t>//Doc du lieu, khi nao doc xong thi ket thuc vong lap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914400">
              <a:buNone/>
            </a:pPr>
            <a:r>
              <a:rPr lang="vi-VN" sz="2200" dirty="0"/>
              <a:t>while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fr.ready</a:t>
            </a:r>
            <a:r>
              <a:rPr lang="vi-VN" sz="2200" dirty="0">
                <a:solidFill>
                  <a:srgbClr val="002060"/>
                </a:solidFill>
              </a:rPr>
              <a:t>()){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1379538">
              <a:buNone/>
            </a:pPr>
            <a:r>
              <a:rPr lang="vi-VN" sz="2200" dirty="0"/>
              <a:t>int len = fr.read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ca</a:t>
            </a:r>
            <a:r>
              <a:rPr lang="vi-VN" sz="2200" dirty="0">
                <a:solidFill>
                  <a:srgbClr val="002060"/>
                </a:solidFill>
              </a:rPr>
              <a:t>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1379538">
              <a:buNone/>
            </a:pPr>
            <a:r>
              <a:rPr lang="vi-VN" sz="2200" dirty="0"/>
              <a:t>sb.append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ca,0,len</a:t>
            </a:r>
            <a:r>
              <a:rPr lang="vi-VN" sz="2200" dirty="0">
                <a:solidFill>
                  <a:srgbClr val="002060"/>
                </a:solidFill>
              </a:rPr>
              <a:t>);</a:t>
            </a:r>
          </a:p>
          <a:p>
            <a:pPr marL="0" indent="914400">
              <a:buNone/>
            </a:pPr>
            <a:r>
              <a:rPr lang="vi-VN" sz="2200" dirty="0">
                <a:solidFill>
                  <a:srgbClr val="002060"/>
                </a:solidFill>
              </a:rPr>
              <a:t>}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/>
              <a:t>fr.close</a:t>
            </a:r>
            <a:r>
              <a:rPr lang="vi-VN" sz="2200" dirty="0">
                <a:solidFill>
                  <a:srgbClr val="002060"/>
                </a:solidFill>
              </a:rPr>
              <a:t>();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914400">
              <a:buNone/>
            </a:pPr>
            <a:r>
              <a:rPr lang="vi-VN" sz="2200" dirty="0"/>
              <a:t>System.out.println</a:t>
            </a:r>
            <a:r>
              <a:rPr lang="vi-VN" sz="2200" dirty="0">
                <a:solidFill>
                  <a:srgbClr val="002060"/>
                </a:solidFill>
              </a:rPr>
              <a:t>(</a:t>
            </a:r>
            <a:r>
              <a:rPr lang="vi-VN" sz="2200" dirty="0"/>
              <a:t>"Du lieu doc duoc la: " + sb</a:t>
            </a:r>
            <a:r>
              <a:rPr lang="vi-VN" sz="2200" dirty="0">
                <a:solidFill>
                  <a:srgbClr val="002060"/>
                </a:solidFill>
              </a:rPr>
              <a:t>);</a:t>
            </a:r>
          </a:p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	}</a:t>
            </a:r>
          </a:p>
          <a:p>
            <a:pPr marL="0" indent="0">
              <a:buNone/>
            </a:pPr>
            <a:r>
              <a:rPr lang="vi-VN" sz="2200" dirty="0">
                <a:solidFill>
                  <a:srgbClr val="002060"/>
                </a:solidFill>
              </a:rPr>
              <a:t>}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98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82320"/>
            <a:ext cx="7886700" cy="622999"/>
          </a:xfrm>
        </p:spPr>
        <p:txBody>
          <a:bodyPr>
            <a:normAutofit fontScale="90000"/>
          </a:bodyPr>
          <a:lstStyle/>
          <a:p>
            <a:r>
              <a:rPr lang="en-US" dirty="0"/>
              <a:t>Bài tập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498B-416A-4F27-9E1B-2DAD6BC6C92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9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725C36023882DE4FB137522A70E4931E" ma:contentTypeVersion="5" ma:contentTypeDescription="Tạo tài liệu mới." ma:contentTypeScope="" ma:versionID="37206308218167f1bcab7ccacbc55a34">
  <xsd:schema xmlns:xsd="http://www.w3.org/2001/XMLSchema" xmlns:xs="http://www.w3.org/2001/XMLSchema" xmlns:p="http://schemas.microsoft.com/office/2006/metadata/properties" xmlns:ns2="786e6eaa-1619-4404-b353-bdcbc5319744" targetNamespace="http://schemas.microsoft.com/office/2006/metadata/properties" ma:root="true" ma:fieldsID="0d24929628809535d89936c78e4ba2a1" ns2:_="">
    <xsd:import namespace="786e6eaa-1619-4404-b353-bdcbc5319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e6eaa-1619-4404-b353-bdcbc53197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2EC5CC-7C6D-4C96-94EE-73A718263BC9}"/>
</file>

<file path=customXml/itemProps2.xml><?xml version="1.0" encoding="utf-8"?>
<ds:datastoreItem xmlns:ds="http://schemas.openxmlformats.org/officeDocument/2006/customXml" ds:itemID="{6437F882-F0B1-4B8C-BA2C-414CD92DDAE3}"/>
</file>

<file path=customXml/itemProps3.xml><?xml version="1.0" encoding="utf-8"?>
<ds:datastoreItem xmlns:ds="http://schemas.openxmlformats.org/officeDocument/2006/customXml" ds:itemID="{327CA441-6E1D-4071-A7EB-408976C6A2F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3031</TotalTime>
  <Words>3037</Words>
  <Application>Microsoft Office PowerPoint</Application>
  <PresentationFormat>On-screen Show (4:3)</PresentationFormat>
  <Paragraphs>295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Trebuchet MS</vt:lpstr>
      <vt:lpstr>Wingdings</vt:lpstr>
      <vt:lpstr>Office Theme</vt:lpstr>
      <vt:lpstr>LẬP TRÌNH  HƯỚNG ĐỐI TƯỢNG  VỚI JAVA</vt:lpstr>
      <vt:lpstr>NỘI DUNG</vt:lpstr>
      <vt:lpstr>Đường dẫn</vt:lpstr>
      <vt:lpstr>Đường dẫn</vt:lpstr>
      <vt:lpstr>Thao tác với thư mục</vt:lpstr>
      <vt:lpstr>Kiểm tra thư mục rỗng</vt:lpstr>
      <vt:lpstr>Tạo thư mục</vt:lpstr>
      <vt:lpstr>Phương thức mkdir()</vt:lpstr>
      <vt:lpstr>Phương thức mkdirs()</vt:lpstr>
      <vt:lpstr>Phương thức static createDictionary()</vt:lpstr>
      <vt:lpstr>Xóa thư mục</vt:lpstr>
      <vt:lpstr>Sao chép thư mục</vt:lpstr>
      <vt:lpstr>Sử dụng java.nio.file.Files.copy()</vt:lpstr>
      <vt:lpstr>Sử dụng java.nio.file.Files.copy()</vt:lpstr>
      <vt:lpstr>Sử dụng java.nio.file.Files.copy()</vt:lpstr>
      <vt:lpstr>Sử dụng java.nio.file.Files.copy()</vt:lpstr>
      <vt:lpstr>FileInputStream và FileOutputStream</vt:lpstr>
      <vt:lpstr>FileInputStream và FileOutputStream</vt:lpstr>
      <vt:lpstr>FileInputStream và FileOutputStream</vt:lpstr>
      <vt:lpstr>FileInputStream và FileOutputStream</vt:lpstr>
      <vt:lpstr>Thao tác với file</vt:lpstr>
      <vt:lpstr>Thao tác với file nhị phân</vt:lpstr>
      <vt:lpstr>Thao tác với file nhị phân</vt:lpstr>
      <vt:lpstr>Thao tác với file text</vt:lpstr>
      <vt:lpstr>Thao tác với file text</vt:lpstr>
      <vt:lpstr>Thao tác với file text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Quang Hien</dc:creator>
  <cp:lastModifiedBy>Le Hong Anh</cp:lastModifiedBy>
  <cp:revision>384</cp:revision>
  <dcterms:created xsi:type="dcterms:W3CDTF">2019-11-25T13:33:31Z</dcterms:created>
  <dcterms:modified xsi:type="dcterms:W3CDTF">2019-12-16T02:30:49Z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0x010100725C36023882DE4FB137522A70E4931E</vt:lpwstr>
  </property>
</Properties>
</file>