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presentation.xml" ContentType="application/vnd.openxmlformats-officedocument.presentationml.presentation.main+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2.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68.xml" ContentType="application/vnd.openxmlformats-officedocument.presentationml.notesSlide+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diagrams/colors1.xml" ContentType="application/vnd.openxmlformats-officedocument.drawingml.diagramColors+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9"/>
  </p:notesMasterIdLst>
  <p:sldIdLst>
    <p:sldId id="256" r:id="rId2"/>
    <p:sldId id="259"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7" r:id="rId20"/>
    <p:sldId id="278" r:id="rId21"/>
    <p:sldId id="282" r:id="rId22"/>
    <p:sldId id="283" r:id="rId23"/>
    <p:sldId id="279" r:id="rId24"/>
    <p:sldId id="280" r:id="rId25"/>
    <p:sldId id="281" r:id="rId26"/>
    <p:sldId id="284" r:id="rId27"/>
    <p:sldId id="285" r:id="rId28"/>
    <p:sldId id="286" r:id="rId29"/>
    <p:sldId id="287" r:id="rId30"/>
    <p:sldId id="365" r:id="rId31"/>
    <p:sldId id="366" r:id="rId32"/>
    <p:sldId id="367" r:id="rId33"/>
    <p:sldId id="340" r:id="rId34"/>
    <p:sldId id="341" r:id="rId35"/>
    <p:sldId id="342" r:id="rId36"/>
    <p:sldId id="343" r:id="rId37"/>
    <p:sldId id="353" r:id="rId38"/>
    <p:sldId id="290" r:id="rId39"/>
    <p:sldId id="288" r:id="rId40"/>
    <p:sldId id="337" r:id="rId41"/>
    <p:sldId id="291" r:id="rId42"/>
    <p:sldId id="292" r:id="rId43"/>
    <p:sldId id="293" r:id="rId44"/>
    <p:sldId id="295" r:id="rId45"/>
    <p:sldId id="294" r:id="rId46"/>
    <p:sldId id="296" r:id="rId47"/>
    <p:sldId id="344" r:id="rId48"/>
    <p:sldId id="345" r:id="rId49"/>
    <p:sldId id="297" r:id="rId50"/>
    <p:sldId id="298" r:id="rId51"/>
    <p:sldId id="346" r:id="rId52"/>
    <p:sldId id="349" r:id="rId53"/>
    <p:sldId id="299" r:id="rId54"/>
    <p:sldId id="300" r:id="rId55"/>
    <p:sldId id="339" r:id="rId56"/>
    <p:sldId id="357" r:id="rId57"/>
    <p:sldId id="301" r:id="rId58"/>
    <p:sldId id="313" r:id="rId59"/>
    <p:sldId id="320" r:id="rId60"/>
    <p:sldId id="321" r:id="rId61"/>
    <p:sldId id="319" r:id="rId62"/>
    <p:sldId id="315" r:id="rId63"/>
    <p:sldId id="316" r:id="rId64"/>
    <p:sldId id="317" r:id="rId65"/>
    <p:sldId id="318" r:id="rId66"/>
    <p:sldId id="322" r:id="rId67"/>
    <p:sldId id="302" r:id="rId68"/>
    <p:sldId id="327" r:id="rId69"/>
    <p:sldId id="303" r:id="rId70"/>
    <p:sldId id="330" r:id="rId71"/>
    <p:sldId id="331" r:id="rId72"/>
    <p:sldId id="305" r:id="rId73"/>
    <p:sldId id="306" r:id="rId74"/>
    <p:sldId id="358" r:id="rId75"/>
    <p:sldId id="332" r:id="rId76"/>
    <p:sldId id="359" r:id="rId77"/>
    <p:sldId id="333" r:id="rId78"/>
    <p:sldId id="334" r:id="rId79"/>
    <p:sldId id="335" r:id="rId80"/>
    <p:sldId id="336" r:id="rId81"/>
    <p:sldId id="360" r:id="rId82"/>
    <p:sldId id="362" r:id="rId83"/>
    <p:sldId id="361" r:id="rId84"/>
    <p:sldId id="307" r:id="rId85"/>
    <p:sldId id="324" r:id="rId86"/>
    <p:sldId id="308" r:id="rId87"/>
    <p:sldId id="310" r:id="rId88"/>
    <p:sldId id="311" r:id="rId89"/>
    <p:sldId id="326" r:id="rId90"/>
    <p:sldId id="363" r:id="rId91"/>
    <p:sldId id="364" r:id="rId92"/>
    <p:sldId id="312" r:id="rId93"/>
    <p:sldId id="369" r:id="rId94"/>
    <p:sldId id="370" r:id="rId95"/>
    <p:sldId id="348" r:id="rId96"/>
    <p:sldId id="368" r:id="rId97"/>
    <p:sldId id="347"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94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6667" autoAdjust="0"/>
  </p:normalViewPr>
  <p:slideViewPr>
    <p:cSldViewPr snapToGrid="0">
      <p:cViewPr varScale="1">
        <p:scale>
          <a:sx n="106" d="100"/>
          <a:sy n="106" d="100"/>
        </p:scale>
        <p:origin x="2288"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3D26F0-E061-4538-88CE-EBB7D96F453E}" type="doc">
      <dgm:prSet loTypeId="urn:microsoft.com/office/officeart/2005/8/layout/orgChart1" loCatId="hierarchy" qsTypeId="urn:microsoft.com/office/officeart/2005/8/quickstyle/simple5" qsCatId="simple" csTypeId="urn:microsoft.com/office/officeart/2005/8/colors/accent1_2" csCatId="accent1" phldr="1"/>
      <dgm:spPr/>
      <dgm:t>
        <a:bodyPr/>
        <a:lstStyle/>
        <a:p>
          <a:endParaRPr lang="en-US"/>
        </a:p>
      </dgm:t>
    </dgm:pt>
    <dgm:pt modelId="{D74D1C55-1B98-4B62-B907-B30FE2BCFC08}">
      <dgm:prSet phldrT="[Text]" custT="1"/>
      <dgm:spPr/>
      <dgm:t>
        <a:bodyPr/>
        <a:lstStyle/>
        <a:p>
          <a:r>
            <a:rPr lang="en-US" sz="1600" b="1" dirty="0"/>
            <a:t>Kiểu nguyên thủy</a:t>
          </a:r>
        </a:p>
      </dgm:t>
    </dgm:pt>
    <dgm:pt modelId="{5AE2C4E9-7D04-4045-9051-82B172DFBE24}" type="parTrans" cxnId="{B8F1F243-E820-4700-84F0-01DCD3B8974C}">
      <dgm:prSet/>
      <dgm:spPr/>
      <dgm:t>
        <a:bodyPr/>
        <a:lstStyle/>
        <a:p>
          <a:endParaRPr lang="en-US"/>
        </a:p>
      </dgm:t>
    </dgm:pt>
    <dgm:pt modelId="{CD7DA6C4-990B-4C40-B082-E4BB738FA6B9}" type="sibTrans" cxnId="{B8F1F243-E820-4700-84F0-01DCD3B8974C}">
      <dgm:prSet/>
      <dgm:spPr/>
      <dgm:t>
        <a:bodyPr/>
        <a:lstStyle/>
        <a:p>
          <a:endParaRPr lang="en-US"/>
        </a:p>
      </dgm:t>
    </dgm:pt>
    <dgm:pt modelId="{6B598A49-6CD9-47E5-9144-80B153D463E5}">
      <dgm:prSet phldrT="[Text]" custT="1"/>
      <dgm:spPr/>
      <dgm:t>
        <a:bodyPr/>
        <a:lstStyle/>
        <a:p>
          <a:r>
            <a:rPr lang="en-US" sz="1600" b="1" dirty="0"/>
            <a:t>Kiểu số</a:t>
          </a:r>
        </a:p>
      </dgm:t>
    </dgm:pt>
    <dgm:pt modelId="{4ACAB21A-ACA2-48A3-83D2-4B12DDC428D9}" type="parTrans" cxnId="{C230833F-78F4-455D-8C0C-A92AE2178105}">
      <dgm:prSet/>
      <dgm:spPr/>
      <dgm:t>
        <a:bodyPr/>
        <a:lstStyle/>
        <a:p>
          <a:endParaRPr lang="en-US"/>
        </a:p>
      </dgm:t>
    </dgm:pt>
    <dgm:pt modelId="{38AC402B-A0FE-42D8-9BBA-E0371CD02B94}" type="sibTrans" cxnId="{C230833F-78F4-455D-8C0C-A92AE2178105}">
      <dgm:prSet/>
      <dgm:spPr/>
      <dgm:t>
        <a:bodyPr/>
        <a:lstStyle/>
        <a:p>
          <a:endParaRPr lang="en-US"/>
        </a:p>
      </dgm:t>
    </dgm:pt>
    <dgm:pt modelId="{2D5183DB-E45E-411A-8015-09CB72F0CB99}">
      <dgm:prSet phldrT="[Text]" custT="1"/>
      <dgm:spPr/>
      <dgm:t>
        <a:bodyPr/>
        <a:lstStyle/>
        <a:p>
          <a:r>
            <a:rPr lang="en-US" sz="1600" b="1" dirty="0"/>
            <a:t>Kiểu nguyên</a:t>
          </a:r>
        </a:p>
      </dgm:t>
    </dgm:pt>
    <dgm:pt modelId="{666F4888-0407-4DCF-8E7A-01C6A8575A0B}" type="parTrans" cxnId="{AA715DF4-0B80-48CC-9877-672119775758}">
      <dgm:prSet/>
      <dgm:spPr/>
      <dgm:t>
        <a:bodyPr/>
        <a:lstStyle/>
        <a:p>
          <a:endParaRPr lang="en-US"/>
        </a:p>
      </dgm:t>
    </dgm:pt>
    <dgm:pt modelId="{4DB63EFE-F610-46D1-B64D-F4F6A4381FB6}" type="sibTrans" cxnId="{AA715DF4-0B80-48CC-9877-672119775758}">
      <dgm:prSet/>
      <dgm:spPr/>
      <dgm:t>
        <a:bodyPr/>
        <a:lstStyle/>
        <a:p>
          <a:endParaRPr lang="en-US"/>
        </a:p>
      </dgm:t>
    </dgm:pt>
    <dgm:pt modelId="{70559E55-B29D-442B-BC9C-D640FBD00182}">
      <dgm:prSet phldrT="[Text]" custT="1"/>
      <dgm:spPr/>
      <dgm:t>
        <a:bodyPr/>
        <a:lstStyle/>
        <a:p>
          <a:r>
            <a:rPr lang="en-US" sz="1600" b="1" dirty="0"/>
            <a:t>Kiểu số thực</a:t>
          </a:r>
        </a:p>
      </dgm:t>
    </dgm:pt>
    <dgm:pt modelId="{D2ED189A-923A-436A-9A45-A3C5561CF06D}" type="parTrans" cxnId="{08B0D838-311E-4961-A9EA-55F8B71C7055}">
      <dgm:prSet/>
      <dgm:spPr/>
      <dgm:t>
        <a:bodyPr/>
        <a:lstStyle/>
        <a:p>
          <a:endParaRPr lang="en-US"/>
        </a:p>
      </dgm:t>
    </dgm:pt>
    <dgm:pt modelId="{335791EE-C53B-4B65-96CD-F053CFB0E16D}" type="sibTrans" cxnId="{08B0D838-311E-4961-A9EA-55F8B71C7055}">
      <dgm:prSet/>
      <dgm:spPr/>
      <dgm:t>
        <a:bodyPr/>
        <a:lstStyle/>
        <a:p>
          <a:endParaRPr lang="en-US"/>
        </a:p>
      </dgm:t>
    </dgm:pt>
    <dgm:pt modelId="{C97E38AF-0568-4233-8A4A-CA8421A3D50B}">
      <dgm:prSet phldrT="[Text]" custT="1"/>
      <dgm:spPr/>
      <dgm:t>
        <a:bodyPr/>
        <a:lstStyle/>
        <a:p>
          <a:r>
            <a:rPr lang="en-US" sz="1600" b="1">
              <a:solidFill>
                <a:srgbClr val="C00000"/>
              </a:solidFill>
            </a:rPr>
            <a:t>boolean</a:t>
          </a:r>
          <a:endParaRPr lang="en-US" sz="1600" b="1" dirty="0">
            <a:solidFill>
              <a:srgbClr val="C00000"/>
            </a:solidFill>
          </a:endParaRPr>
        </a:p>
      </dgm:t>
    </dgm:pt>
    <dgm:pt modelId="{5BF451A8-2C2A-46C3-A157-DBE0A37FC61A}" type="parTrans" cxnId="{EC922DCE-45A3-43BE-AF67-05747B970A25}">
      <dgm:prSet/>
      <dgm:spPr/>
      <dgm:t>
        <a:bodyPr/>
        <a:lstStyle/>
        <a:p>
          <a:endParaRPr lang="en-US"/>
        </a:p>
      </dgm:t>
    </dgm:pt>
    <dgm:pt modelId="{D06888B3-57D1-46E1-9A54-C10D8664F011}" type="sibTrans" cxnId="{EC922DCE-45A3-43BE-AF67-05747B970A25}">
      <dgm:prSet/>
      <dgm:spPr/>
      <dgm:t>
        <a:bodyPr/>
        <a:lstStyle/>
        <a:p>
          <a:endParaRPr lang="en-US"/>
        </a:p>
      </dgm:t>
    </dgm:pt>
    <dgm:pt modelId="{5A441C33-8C94-49D4-A9D6-2E69B45145E4}">
      <dgm:prSet custT="1"/>
      <dgm:spPr/>
      <dgm:t>
        <a:bodyPr/>
        <a:lstStyle/>
        <a:p>
          <a:r>
            <a:rPr lang="en-US" sz="1600" b="1" dirty="0"/>
            <a:t>Kiểu số nguyên</a:t>
          </a:r>
        </a:p>
      </dgm:t>
    </dgm:pt>
    <dgm:pt modelId="{87F7E707-552F-4EB4-ABC4-2EC29A0F6553}" type="parTrans" cxnId="{17693C3A-974B-423D-8DAA-AEFB1BF327C2}">
      <dgm:prSet/>
      <dgm:spPr/>
      <dgm:t>
        <a:bodyPr/>
        <a:lstStyle/>
        <a:p>
          <a:endParaRPr lang="en-US"/>
        </a:p>
      </dgm:t>
    </dgm:pt>
    <dgm:pt modelId="{8D86DDD8-E06D-46D9-9E68-1F4A8A61DD8F}" type="sibTrans" cxnId="{17693C3A-974B-423D-8DAA-AEFB1BF327C2}">
      <dgm:prSet/>
      <dgm:spPr/>
      <dgm:t>
        <a:bodyPr/>
        <a:lstStyle/>
        <a:p>
          <a:endParaRPr lang="en-US"/>
        </a:p>
      </dgm:t>
    </dgm:pt>
    <dgm:pt modelId="{8380DA3D-7F5B-4E29-985B-7ECDB2615A1A}">
      <dgm:prSet custT="1"/>
      <dgm:spPr/>
      <dgm:t>
        <a:bodyPr/>
        <a:lstStyle/>
        <a:p>
          <a:r>
            <a:rPr lang="en-US" sz="1600" b="1" dirty="0"/>
            <a:t>Kiểu ký tự</a:t>
          </a:r>
        </a:p>
      </dgm:t>
    </dgm:pt>
    <dgm:pt modelId="{14B359D2-9676-4212-A699-3D3E18258373}" type="parTrans" cxnId="{8EA60D93-C6EF-48DC-B74B-365FDEF610E7}">
      <dgm:prSet/>
      <dgm:spPr/>
      <dgm:t>
        <a:bodyPr/>
        <a:lstStyle/>
        <a:p>
          <a:endParaRPr lang="en-US"/>
        </a:p>
      </dgm:t>
    </dgm:pt>
    <dgm:pt modelId="{44571B17-08F6-4006-AFB4-00E2050AF22A}" type="sibTrans" cxnId="{8EA60D93-C6EF-48DC-B74B-365FDEF610E7}">
      <dgm:prSet/>
      <dgm:spPr/>
      <dgm:t>
        <a:bodyPr/>
        <a:lstStyle/>
        <a:p>
          <a:endParaRPr lang="en-US"/>
        </a:p>
      </dgm:t>
    </dgm:pt>
    <dgm:pt modelId="{2CC0AD27-AD53-4553-BE13-8B632DBA0E18}">
      <dgm:prSet custT="1"/>
      <dgm:spPr/>
      <dgm:t>
        <a:bodyPr/>
        <a:lstStyle/>
        <a:p>
          <a:r>
            <a:rPr lang="en-US" sz="1600" b="1">
              <a:solidFill>
                <a:srgbClr val="C00000"/>
              </a:solidFill>
            </a:rPr>
            <a:t>float</a:t>
          </a:r>
          <a:endParaRPr lang="en-US" sz="1600" b="1" dirty="0">
            <a:solidFill>
              <a:srgbClr val="C00000"/>
            </a:solidFill>
          </a:endParaRPr>
        </a:p>
      </dgm:t>
    </dgm:pt>
    <dgm:pt modelId="{DB0AF8B8-61D2-4DD2-B23C-5C3A9D2700F9}" type="parTrans" cxnId="{B36E6CD9-1E13-4F98-AFBD-237AF142394A}">
      <dgm:prSet/>
      <dgm:spPr/>
      <dgm:t>
        <a:bodyPr/>
        <a:lstStyle/>
        <a:p>
          <a:endParaRPr lang="en-US"/>
        </a:p>
      </dgm:t>
    </dgm:pt>
    <dgm:pt modelId="{C1E759FA-C6DB-40CD-AA8E-20E3C8C3ED29}" type="sibTrans" cxnId="{B36E6CD9-1E13-4F98-AFBD-237AF142394A}">
      <dgm:prSet/>
      <dgm:spPr/>
      <dgm:t>
        <a:bodyPr/>
        <a:lstStyle/>
        <a:p>
          <a:endParaRPr lang="en-US"/>
        </a:p>
      </dgm:t>
    </dgm:pt>
    <dgm:pt modelId="{16F6564F-F363-432B-891C-4C89BDD1415D}">
      <dgm:prSet custT="1"/>
      <dgm:spPr/>
      <dgm:t>
        <a:bodyPr/>
        <a:lstStyle/>
        <a:p>
          <a:r>
            <a:rPr lang="en-US" sz="1600" b="1">
              <a:solidFill>
                <a:srgbClr val="C00000"/>
              </a:solidFill>
            </a:rPr>
            <a:t>double</a:t>
          </a:r>
          <a:endParaRPr lang="en-US" sz="1600" b="1" dirty="0">
            <a:solidFill>
              <a:srgbClr val="C00000"/>
            </a:solidFill>
          </a:endParaRPr>
        </a:p>
      </dgm:t>
    </dgm:pt>
    <dgm:pt modelId="{AD5CD173-5F33-4543-BEA6-51EC9AFBF9F9}" type="parTrans" cxnId="{C9AD678D-3FCE-4F35-9913-4E1E0775E8A2}">
      <dgm:prSet/>
      <dgm:spPr/>
      <dgm:t>
        <a:bodyPr/>
        <a:lstStyle/>
        <a:p>
          <a:endParaRPr lang="en-US"/>
        </a:p>
      </dgm:t>
    </dgm:pt>
    <dgm:pt modelId="{62E98E27-BFE6-4748-9EA5-E20B7BD068C2}" type="sibTrans" cxnId="{C9AD678D-3FCE-4F35-9913-4E1E0775E8A2}">
      <dgm:prSet/>
      <dgm:spPr/>
      <dgm:t>
        <a:bodyPr/>
        <a:lstStyle/>
        <a:p>
          <a:endParaRPr lang="en-US"/>
        </a:p>
      </dgm:t>
    </dgm:pt>
    <dgm:pt modelId="{D1807710-5775-4952-A0C1-0E3D724CA219}">
      <dgm:prSet custT="1"/>
      <dgm:spPr/>
      <dgm:t>
        <a:bodyPr/>
        <a:lstStyle/>
        <a:p>
          <a:r>
            <a:rPr lang="en-US" sz="1600" b="1" dirty="0"/>
            <a:t>Kiểu Boolean</a:t>
          </a:r>
        </a:p>
      </dgm:t>
    </dgm:pt>
    <dgm:pt modelId="{06808131-FA4B-4B99-98E8-4C7341E80AD1}" type="sibTrans" cxnId="{09B6C146-CA7F-422E-8A0A-B72ED1A688CD}">
      <dgm:prSet/>
      <dgm:spPr/>
      <dgm:t>
        <a:bodyPr/>
        <a:lstStyle/>
        <a:p>
          <a:endParaRPr lang="en-US"/>
        </a:p>
      </dgm:t>
    </dgm:pt>
    <dgm:pt modelId="{95A017C3-E0A2-48D5-B39B-471B9724745E}" type="parTrans" cxnId="{09B6C146-CA7F-422E-8A0A-B72ED1A688CD}">
      <dgm:prSet/>
      <dgm:spPr/>
      <dgm:t>
        <a:bodyPr/>
        <a:lstStyle/>
        <a:p>
          <a:endParaRPr lang="en-US"/>
        </a:p>
      </dgm:t>
    </dgm:pt>
    <dgm:pt modelId="{9478EA42-309E-4953-A720-ECF9E91475D4}">
      <dgm:prSet custT="1"/>
      <dgm:spPr/>
      <dgm:t>
        <a:bodyPr/>
        <a:lstStyle/>
        <a:p>
          <a:r>
            <a:rPr lang="en-US" sz="1600" b="1">
              <a:solidFill>
                <a:srgbClr val="C00000"/>
              </a:solidFill>
            </a:rPr>
            <a:t>char</a:t>
          </a:r>
          <a:endParaRPr lang="en-US" sz="1600" b="1" dirty="0">
            <a:solidFill>
              <a:srgbClr val="C00000"/>
            </a:solidFill>
          </a:endParaRPr>
        </a:p>
      </dgm:t>
    </dgm:pt>
    <dgm:pt modelId="{88C3A260-757F-45F8-A8E3-19176ECAFAB2}" type="parTrans" cxnId="{5148245A-3888-46AA-86C3-2E2FD8602F56}">
      <dgm:prSet/>
      <dgm:spPr/>
      <dgm:t>
        <a:bodyPr/>
        <a:lstStyle/>
        <a:p>
          <a:endParaRPr lang="en-US"/>
        </a:p>
      </dgm:t>
    </dgm:pt>
    <dgm:pt modelId="{05B75920-5C06-44BD-B3B5-BEAA481DD74D}" type="sibTrans" cxnId="{5148245A-3888-46AA-86C3-2E2FD8602F56}">
      <dgm:prSet/>
      <dgm:spPr/>
      <dgm:t>
        <a:bodyPr/>
        <a:lstStyle/>
        <a:p>
          <a:endParaRPr lang="en-US"/>
        </a:p>
      </dgm:t>
    </dgm:pt>
    <dgm:pt modelId="{3772E9C8-B00B-4252-88B9-A820753B5071}">
      <dgm:prSet custT="1"/>
      <dgm:spPr/>
      <dgm:t>
        <a:bodyPr/>
        <a:lstStyle/>
        <a:p>
          <a:r>
            <a:rPr lang="en-US" sz="1600" b="1" dirty="0">
              <a:solidFill>
                <a:srgbClr val="C00000"/>
              </a:solidFill>
            </a:rPr>
            <a:t>byte</a:t>
          </a:r>
        </a:p>
      </dgm:t>
    </dgm:pt>
    <dgm:pt modelId="{308E8E58-ADDA-4C4C-90DB-19C3C6286BDB}" type="parTrans" cxnId="{4CD0CD04-8B4A-47C8-946C-A16D60C888B2}">
      <dgm:prSet/>
      <dgm:spPr/>
      <dgm:t>
        <a:bodyPr/>
        <a:lstStyle/>
        <a:p>
          <a:endParaRPr lang="en-US"/>
        </a:p>
      </dgm:t>
    </dgm:pt>
    <dgm:pt modelId="{364384C0-5FDA-4DDF-AF72-46ABE5319177}" type="sibTrans" cxnId="{4CD0CD04-8B4A-47C8-946C-A16D60C888B2}">
      <dgm:prSet/>
      <dgm:spPr/>
      <dgm:t>
        <a:bodyPr/>
        <a:lstStyle/>
        <a:p>
          <a:endParaRPr lang="en-US"/>
        </a:p>
      </dgm:t>
    </dgm:pt>
    <dgm:pt modelId="{2817555B-21FD-4612-B6F6-B07F2CB6EC58}">
      <dgm:prSet custT="1"/>
      <dgm:spPr/>
      <dgm:t>
        <a:bodyPr/>
        <a:lstStyle/>
        <a:p>
          <a:r>
            <a:rPr lang="en-US" sz="1600" b="1" dirty="0">
              <a:solidFill>
                <a:srgbClr val="C00000"/>
              </a:solidFill>
            </a:rPr>
            <a:t>short</a:t>
          </a:r>
        </a:p>
      </dgm:t>
    </dgm:pt>
    <dgm:pt modelId="{D0B5EB9E-F1A1-4B2A-BE20-CB068CF47300}" type="parTrans" cxnId="{A5BEB8F9-9819-4249-A3E8-3557BAC1DBCE}">
      <dgm:prSet/>
      <dgm:spPr/>
      <dgm:t>
        <a:bodyPr/>
        <a:lstStyle/>
        <a:p>
          <a:endParaRPr lang="en-US"/>
        </a:p>
      </dgm:t>
    </dgm:pt>
    <dgm:pt modelId="{C6995DE3-24D0-4127-BC91-00A91D47B84D}" type="sibTrans" cxnId="{A5BEB8F9-9819-4249-A3E8-3557BAC1DBCE}">
      <dgm:prSet/>
      <dgm:spPr/>
      <dgm:t>
        <a:bodyPr/>
        <a:lstStyle/>
        <a:p>
          <a:endParaRPr lang="en-US"/>
        </a:p>
      </dgm:t>
    </dgm:pt>
    <dgm:pt modelId="{327946E0-7310-442F-A722-206E04A9AAFC}">
      <dgm:prSet custT="1"/>
      <dgm:spPr/>
      <dgm:t>
        <a:bodyPr/>
        <a:lstStyle/>
        <a:p>
          <a:r>
            <a:rPr lang="en-US" sz="1600" b="1">
              <a:solidFill>
                <a:srgbClr val="C00000"/>
              </a:solidFill>
            </a:rPr>
            <a:t>int</a:t>
          </a:r>
          <a:endParaRPr lang="en-US" sz="1600" b="1" dirty="0">
            <a:solidFill>
              <a:srgbClr val="C00000"/>
            </a:solidFill>
          </a:endParaRPr>
        </a:p>
      </dgm:t>
    </dgm:pt>
    <dgm:pt modelId="{96FED68B-2B01-40D6-AD6F-39B275E72AE4}" type="parTrans" cxnId="{19170A79-B33F-4195-AB02-E03C3DC508B0}">
      <dgm:prSet/>
      <dgm:spPr/>
      <dgm:t>
        <a:bodyPr/>
        <a:lstStyle/>
        <a:p>
          <a:endParaRPr lang="en-US"/>
        </a:p>
      </dgm:t>
    </dgm:pt>
    <dgm:pt modelId="{322EE6A8-0924-484D-ADDC-7D84F57982DF}" type="sibTrans" cxnId="{19170A79-B33F-4195-AB02-E03C3DC508B0}">
      <dgm:prSet/>
      <dgm:spPr/>
      <dgm:t>
        <a:bodyPr/>
        <a:lstStyle/>
        <a:p>
          <a:endParaRPr lang="en-US"/>
        </a:p>
      </dgm:t>
    </dgm:pt>
    <dgm:pt modelId="{7A5576F6-DED0-4284-B998-8E540B6E9EB4}">
      <dgm:prSet custT="1"/>
      <dgm:spPr/>
      <dgm:t>
        <a:bodyPr/>
        <a:lstStyle/>
        <a:p>
          <a:r>
            <a:rPr lang="en-US" sz="1600" b="1">
              <a:solidFill>
                <a:srgbClr val="C00000"/>
              </a:solidFill>
            </a:rPr>
            <a:t>long</a:t>
          </a:r>
          <a:endParaRPr lang="en-US" sz="1600" b="1" dirty="0">
            <a:solidFill>
              <a:srgbClr val="C00000"/>
            </a:solidFill>
          </a:endParaRPr>
        </a:p>
      </dgm:t>
    </dgm:pt>
    <dgm:pt modelId="{1695ACE3-E2D3-4CA7-9AF8-B45781707ACA}" type="parTrans" cxnId="{C917C276-D354-4D5F-B749-D024166C70A5}">
      <dgm:prSet/>
      <dgm:spPr/>
      <dgm:t>
        <a:bodyPr/>
        <a:lstStyle/>
        <a:p>
          <a:endParaRPr lang="en-US"/>
        </a:p>
      </dgm:t>
    </dgm:pt>
    <dgm:pt modelId="{229914BD-0B0F-4A9B-96E7-7485BAE31B1E}" type="sibTrans" cxnId="{C917C276-D354-4D5F-B749-D024166C70A5}">
      <dgm:prSet/>
      <dgm:spPr/>
      <dgm:t>
        <a:bodyPr/>
        <a:lstStyle/>
        <a:p>
          <a:endParaRPr lang="en-US"/>
        </a:p>
      </dgm:t>
    </dgm:pt>
    <dgm:pt modelId="{E5C39938-94AD-44F1-88E9-63C20BC392B0}" type="pres">
      <dgm:prSet presAssocID="{6B3D26F0-E061-4538-88CE-EBB7D96F453E}" presName="hierChild1" presStyleCnt="0">
        <dgm:presLayoutVars>
          <dgm:orgChart val="1"/>
          <dgm:chPref val="1"/>
          <dgm:dir/>
          <dgm:animOne val="branch"/>
          <dgm:animLvl val="lvl"/>
          <dgm:resizeHandles/>
        </dgm:presLayoutVars>
      </dgm:prSet>
      <dgm:spPr/>
    </dgm:pt>
    <dgm:pt modelId="{1138A4CA-C032-4B2C-AB4B-A6B41BCBECE9}" type="pres">
      <dgm:prSet presAssocID="{D74D1C55-1B98-4B62-B907-B30FE2BCFC08}" presName="hierRoot1" presStyleCnt="0">
        <dgm:presLayoutVars>
          <dgm:hierBranch val="init"/>
        </dgm:presLayoutVars>
      </dgm:prSet>
      <dgm:spPr/>
    </dgm:pt>
    <dgm:pt modelId="{228E3C54-0C64-46AB-AD36-DC15710259DC}" type="pres">
      <dgm:prSet presAssocID="{D74D1C55-1B98-4B62-B907-B30FE2BCFC08}" presName="rootComposite1" presStyleCnt="0"/>
      <dgm:spPr/>
    </dgm:pt>
    <dgm:pt modelId="{970FC6CC-8957-4481-9214-7F2D5CFD7CD2}" type="pres">
      <dgm:prSet presAssocID="{D74D1C55-1B98-4B62-B907-B30FE2BCFC08}" presName="rootText1" presStyleLbl="node0" presStyleIdx="0" presStyleCnt="1" custScaleX="259403" custScaleY="131200" custLinFactNeighborX="-2302" custLinFactNeighborY="5354">
        <dgm:presLayoutVars>
          <dgm:chPref val="3"/>
        </dgm:presLayoutVars>
      </dgm:prSet>
      <dgm:spPr/>
    </dgm:pt>
    <dgm:pt modelId="{1EA4D4B7-2725-44E3-B74B-8AC2283982DE}" type="pres">
      <dgm:prSet presAssocID="{D74D1C55-1B98-4B62-B907-B30FE2BCFC08}" presName="rootConnector1" presStyleLbl="node1" presStyleIdx="0" presStyleCnt="0"/>
      <dgm:spPr/>
    </dgm:pt>
    <dgm:pt modelId="{354D0B5F-34CA-4540-A104-DCAAD9C5CEAB}" type="pres">
      <dgm:prSet presAssocID="{D74D1C55-1B98-4B62-B907-B30FE2BCFC08}" presName="hierChild2" presStyleCnt="0"/>
      <dgm:spPr/>
    </dgm:pt>
    <dgm:pt modelId="{0E63ECD5-86D0-4256-BF66-C471FBDB0A1E}" type="pres">
      <dgm:prSet presAssocID="{4ACAB21A-ACA2-48A3-83D2-4B12DDC428D9}" presName="Name37" presStyleLbl="parChTrans1D2" presStyleIdx="0" presStyleCnt="2"/>
      <dgm:spPr/>
    </dgm:pt>
    <dgm:pt modelId="{9D14F230-E6FD-488A-96C0-38E597DC4BA0}" type="pres">
      <dgm:prSet presAssocID="{6B598A49-6CD9-47E5-9144-80B153D463E5}" presName="hierRoot2" presStyleCnt="0">
        <dgm:presLayoutVars>
          <dgm:hierBranch val="init"/>
        </dgm:presLayoutVars>
      </dgm:prSet>
      <dgm:spPr/>
    </dgm:pt>
    <dgm:pt modelId="{7D1B4DA2-E7ED-40F4-9285-9F1491596E62}" type="pres">
      <dgm:prSet presAssocID="{6B598A49-6CD9-47E5-9144-80B153D463E5}" presName="rootComposite" presStyleCnt="0"/>
      <dgm:spPr/>
    </dgm:pt>
    <dgm:pt modelId="{2D965D50-27FE-4C8C-A35A-1CBD353E3D9C}" type="pres">
      <dgm:prSet presAssocID="{6B598A49-6CD9-47E5-9144-80B153D463E5}" presName="rootText" presStyleLbl="node2" presStyleIdx="0" presStyleCnt="2" custScaleX="181074" custScaleY="101157" custLinFactNeighborX="-15768" custLinFactNeighborY="5256">
        <dgm:presLayoutVars>
          <dgm:chPref val="3"/>
        </dgm:presLayoutVars>
      </dgm:prSet>
      <dgm:spPr/>
    </dgm:pt>
    <dgm:pt modelId="{AD73E074-6EDB-4D82-AE74-137743B04A50}" type="pres">
      <dgm:prSet presAssocID="{6B598A49-6CD9-47E5-9144-80B153D463E5}" presName="rootConnector" presStyleLbl="node2" presStyleIdx="0" presStyleCnt="2"/>
      <dgm:spPr/>
    </dgm:pt>
    <dgm:pt modelId="{4376DA2F-39BD-4BAD-88D0-27AF15802DCD}" type="pres">
      <dgm:prSet presAssocID="{6B598A49-6CD9-47E5-9144-80B153D463E5}" presName="hierChild4" presStyleCnt="0"/>
      <dgm:spPr/>
    </dgm:pt>
    <dgm:pt modelId="{047B581E-D3FA-4242-8DCC-18FB270B9E27}" type="pres">
      <dgm:prSet presAssocID="{666F4888-0407-4DCF-8E7A-01C6A8575A0B}" presName="Name37" presStyleLbl="parChTrans1D3" presStyleIdx="0" presStyleCnt="3"/>
      <dgm:spPr/>
    </dgm:pt>
    <dgm:pt modelId="{592AF50A-EF4F-45CC-8D46-26D8F699BDDF}" type="pres">
      <dgm:prSet presAssocID="{2D5183DB-E45E-411A-8015-09CB72F0CB99}" presName="hierRoot2" presStyleCnt="0">
        <dgm:presLayoutVars>
          <dgm:hierBranch val="init"/>
        </dgm:presLayoutVars>
      </dgm:prSet>
      <dgm:spPr/>
    </dgm:pt>
    <dgm:pt modelId="{22CE5E84-D2BC-4DB5-AAD5-34E380B59532}" type="pres">
      <dgm:prSet presAssocID="{2D5183DB-E45E-411A-8015-09CB72F0CB99}" presName="rootComposite" presStyleCnt="0"/>
      <dgm:spPr/>
    </dgm:pt>
    <dgm:pt modelId="{49521B4C-A83A-437E-86CD-0D7C9565BF5E}" type="pres">
      <dgm:prSet presAssocID="{2D5183DB-E45E-411A-8015-09CB72F0CB99}" presName="rootText" presStyleLbl="node3" presStyleIdx="0" presStyleCnt="3" custScaleX="159231" custLinFactNeighborX="-47303">
        <dgm:presLayoutVars>
          <dgm:chPref val="3"/>
        </dgm:presLayoutVars>
      </dgm:prSet>
      <dgm:spPr/>
    </dgm:pt>
    <dgm:pt modelId="{E0F10338-E5EF-420A-8A84-E9B7C54800DE}" type="pres">
      <dgm:prSet presAssocID="{2D5183DB-E45E-411A-8015-09CB72F0CB99}" presName="rootConnector" presStyleLbl="node3" presStyleIdx="0" presStyleCnt="3"/>
      <dgm:spPr/>
    </dgm:pt>
    <dgm:pt modelId="{48111ADA-A5E1-438B-99A9-61274A18BFB7}" type="pres">
      <dgm:prSet presAssocID="{2D5183DB-E45E-411A-8015-09CB72F0CB99}" presName="hierChild4" presStyleCnt="0"/>
      <dgm:spPr/>
    </dgm:pt>
    <dgm:pt modelId="{CAC31CD6-E031-4510-83FE-9118A47CF787}" type="pres">
      <dgm:prSet presAssocID="{87F7E707-552F-4EB4-ABC4-2EC29A0F6553}" presName="Name37" presStyleLbl="parChTrans1D4" presStyleIdx="0" presStyleCnt="9"/>
      <dgm:spPr/>
    </dgm:pt>
    <dgm:pt modelId="{67A1173C-3B3E-496A-AA22-EE24CE0F16E1}" type="pres">
      <dgm:prSet presAssocID="{5A441C33-8C94-49D4-A9D6-2E69B45145E4}" presName="hierRoot2" presStyleCnt="0">
        <dgm:presLayoutVars>
          <dgm:hierBranch val="init"/>
        </dgm:presLayoutVars>
      </dgm:prSet>
      <dgm:spPr/>
    </dgm:pt>
    <dgm:pt modelId="{438740E3-B0E1-4944-A2C9-748CEA5B867C}" type="pres">
      <dgm:prSet presAssocID="{5A441C33-8C94-49D4-A9D6-2E69B45145E4}" presName="rootComposite" presStyleCnt="0"/>
      <dgm:spPr/>
    </dgm:pt>
    <dgm:pt modelId="{4F3CC745-4A24-4270-BF7D-9DAC8D3119F6}" type="pres">
      <dgm:prSet presAssocID="{5A441C33-8C94-49D4-A9D6-2E69B45145E4}" presName="rootText" presStyleLbl="node4" presStyleIdx="0" presStyleCnt="9" custScaleX="216333" custScaleY="120664" custLinFactNeighborX="-83561" custLinFactNeighborY="-2479">
        <dgm:presLayoutVars>
          <dgm:chPref val="3"/>
        </dgm:presLayoutVars>
      </dgm:prSet>
      <dgm:spPr/>
    </dgm:pt>
    <dgm:pt modelId="{0563388B-56F5-4A92-A11E-35B16EDC4655}" type="pres">
      <dgm:prSet presAssocID="{5A441C33-8C94-49D4-A9D6-2E69B45145E4}" presName="rootConnector" presStyleLbl="node4" presStyleIdx="0" presStyleCnt="9"/>
      <dgm:spPr/>
    </dgm:pt>
    <dgm:pt modelId="{EAA5067A-AB55-4428-9034-394AF096C86B}" type="pres">
      <dgm:prSet presAssocID="{5A441C33-8C94-49D4-A9D6-2E69B45145E4}" presName="hierChild4" presStyleCnt="0"/>
      <dgm:spPr/>
    </dgm:pt>
    <dgm:pt modelId="{DE5BDCEF-0F7F-4E72-ABD0-A0A5B199763D}" type="pres">
      <dgm:prSet presAssocID="{308E8E58-ADDA-4C4C-90DB-19C3C6286BDB}" presName="Name37" presStyleLbl="parChTrans1D4" presStyleIdx="1" presStyleCnt="9"/>
      <dgm:spPr/>
    </dgm:pt>
    <dgm:pt modelId="{B654C100-77FA-4CA6-9C73-76A7F733B737}" type="pres">
      <dgm:prSet presAssocID="{3772E9C8-B00B-4252-88B9-A820753B5071}" presName="hierRoot2" presStyleCnt="0">
        <dgm:presLayoutVars>
          <dgm:hierBranch val="init"/>
        </dgm:presLayoutVars>
      </dgm:prSet>
      <dgm:spPr/>
    </dgm:pt>
    <dgm:pt modelId="{20BEC40F-8AC5-4243-BB33-B6CFCF341964}" type="pres">
      <dgm:prSet presAssocID="{3772E9C8-B00B-4252-88B9-A820753B5071}" presName="rootComposite" presStyleCnt="0"/>
      <dgm:spPr/>
    </dgm:pt>
    <dgm:pt modelId="{5820D28A-8FC8-4C0C-B7A1-942E79DE55F6}" type="pres">
      <dgm:prSet presAssocID="{3772E9C8-B00B-4252-88B9-A820753B5071}" presName="rootText" presStyleLbl="node4" presStyleIdx="1" presStyleCnt="9" custLinFactNeighborX="-91979" custLinFactNeighborY="-32196">
        <dgm:presLayoutVars>
          <dgm:chPref val="3"/>
        </dgm:presLayoutVars>
      </dgm:prSet>
      <dgm:spPr/>
    </dgm:pt>
    <dgm:pt modelId="{05ADF5E0-7CC7-4238-BC40-B2AB4138D5D3}" type="pres">
      <dgm:prSet presAssocID="{3772E9C8-B00B-4252-88B9-A820753B5071}" presName="rootConnector" presStyleLbl="node4" presStyleIdx="1" presStyleCnt="9"/>
      <dgm:spPr/>
    </dgm:pt>
    <dgm:pt modelId="{DBFA8040-BF10-434C-833C-74324BA3016F}" type="pres">
      <dgm:prSet presAssocID="{3772E9C8-B00B-4252-88B9-A820753B5071}" presName="hierChild4" presStyleCnt="0"/>
      <dgm:spPr/>
    </dgm:pt>
    <dgm:pt modelId="{D647F9DB-A1CF-4248-8F99-8A13F89904D9}" type="pres">
      <dgm:prSet presAssocID="{3772E9C8-B00B-4252-88B9-A820753B5071}" presName="hierChild5" presStyleCnt="0"/>
      <dgm:spPr/>
    </dgm:pt>
    <dgm:pt modelId="{F6D665DD-8570-4CE0-A842-75123709BB4C}" type="pres">
      <dgm:prSet presAssocID="{D0B5EB9E-F1A1-4B2A-BE20-CB068CF47300}" presName="Name37" presStyleLbl="parChTrans1D4" presStyleIdx="2" presStyleCnt="9"/>
      <dgm:spPr/>
    </dgm:pt>
    <dgm:pt modelId="{6047EC80-3305-4EA7-8DD8-2676568178EF}" type="pres">
      <dgm:prSet presAssocID="{2817555B-21FD-4612-B6F6-B07F2CB6EC58}" presName="hierRoot2" presStyleCnt="0">
        <dgm:presLayoutVars>
          <dgm:hierBranch val="init"/>
        </dgm:presLayoutVars>
      </dgm:prSet>
      <dgm:spPr/>
    </dgm:pt>
    <dgm:pt modelId="{8A226202-02C8-4A27-9EAA-832318150100}" type="pres">
      <dgm:prSet presAssocID="{2817555B-21FD-4612-B6F6-B07F2CB6EC58}" presName="rootComposite" presStyleCnt="0"/>
      <dgm:spPr/>
    </dgm:pt>
    <dgm:pt modelId="{5D93734A-ED83-4472-B45A-566212F469DA}" type="pres">
      <dgm:prSet presAssocID="{2817555B-21FD-4612-B6F6-B07F2CB6EC58}" presName="rootText" presStyleLbl="node4" presStyleIdx="2" presStyleCnt="9" custLinFactNeighborX="-91979" custLinFactNeighborY="-32196">
        <dgm:presLayoutVars>
          <dgm:chPref val="3"/>
        </dgm:presLayoutVars>
      </dgm:prSet>
      <dgm:spPr/>
    </dgm:pt>
    <dgm:pt modelId="{1346D1D0-AEE1-4BFD-A4F3-8EC3B1F148ED}" type="pres">
      <dgm:prSet presAssocID="{2817555B-21FD-4612-B6F6-B07F2CB6EC58}" presName="rootConnector" presStyleLbl="node4" presStyleIdx="2" presStyleCnt="9"/>
      <dgm:spPr/>
    </dgm:pt>
    <dgm:pt modelId="{2C47CF80-A19E-448C-A16C-F14CF08E568F}" type="pres">
      <dgm:prSet presAssocID="{2817555B-21FD-4612-B6F6-B07F2CB6EC58}" presName="hierChild4" presStyleCnt="0"/>
      <dgm:spPr/>
    </dgm:pt>
    <dgm:pt modelId="{26EE8FCC-2E5C-4B05-BABA-EA432F4F3646}" type="pres">
      <dgm:prSet presAssocID="{2817555B-21FD-4612-B6F6-B07F2CB6EC58}" presName="hierChild5" presStyleCnt="0"/>
      <dgm:spPr/>
    </dgm:pt>
    <dgm:pt modelId="{7D10B0DB-4274-42DC-AFC6-237DCB7F7654}" type="pres">
      <dgm:prSet presAssocID="{96FED68B-2B01-40D6-AD6F-39B275E72AE4}" presName="Name37" presStyleLbl="parChTrans1D4" presStyleIdx="3" presStyleCnt="9"/>
      <dgm:spPr/>
    </dgm:pt>
    <dgm:pt modelId="{5A18DE2B-8534-4087-A854-7AA26B63528C}" type="pres">
      <dgm:prSet presAssocID="{327946E0-7310-442F-A722-206E04A9AAFC}" presName="hierRoot2" presStyleCnt="0">
        <dgm:presLayoutVars>
          <dgm:hierBranch val="init"/>
        </dgm:presLayoutVars>
      </dgm:prSet>
      <dgm:spPr/>
    </dgm:pt>
    <dgm:pt modelId="{B7B48580-C53F-461A-82DA-6A149CAC2DC8}" type="pres">
      <dgm:prSet presAssocID="{327946E0-7310-442F-A722-206E04A9AAFC}" presName="rootComposite" presStyleCnt="0"/>
      <dgm:spPr/>
    </dgm:pt>
    <dgm:pt modelId="{83E99D6C-1DFE-4021-A958-E32010AB3588}" type="pres">
      <dgm:prSet presAssocID="{327946E0-7310-442F-A722-206E04A9AAFC}" presName="rootText" presStyleLbl="node4" presStyleIdx="3" presStyleCnt="9" custLinFactNeighborX="-91979" custLinFactNeighborY="-32196">
        <dgm:presLayoutVars>
          <dgm:chPref val="3"/>
        </dgm:presLayoutVars>
      </dgm:prSet>
      <dgm:spPr/>
    </dgm:pt>
    <dgm:pt modelId="{19987F53-EAF0-4547-9B63-638D7D8AEBBF}" type="pres">
      <dgm:prSet presAssocID="{327946E0-7310-442F-A722-206E04A9AAFC}" presName="rootConnector" presStyleLbl="node4" presStyleIdx="3" presStyleCnt="9"/>
      <dgm:spPr/>
    </dgm:pt>
    <dgm:pt modelId="{0E302076-C4F9-4C44-8FC2-CC32DD8BDCFC}" type="pres">
      <dgm:prSet presAssocID="{327946E0-7310-442F-A722-206E04A9AAFC}" presName="hierChild4" presStyleCnt="0"/>
      <dgm:spPr/>
    </dgm:pt>
    <dgm:pt modelId="{F202026E-4A6C-472C-B200-75CAE445917E}" type="pres">
      <dgm:prSet presAssocID="{327946E0-7310-442F-A722-206E04A9AAFC}" presName="hierChild5" presStyleCnt="0"/>
      <dgm:spPr/>
    </dgm:pt>
    <dgm:pt modelId="{BE7D4833-F3E4-44FF-80ED-B9723830D697}" type="pres">
      <dgm:prSet presAssocID="{1695ACE3-E2D3-4CA7-9AF8-B45781707ACA}" presName="Name37" presStyleLbl="parChTrans1D4" presStyleIdx="4" presStyleCnt="9"/>
      <dgm:spPr/>
    </dgm:pt>
    <dgm:pt modelId="{5500212E-739F-4820-ABC7-AD974D8520BF}" type="pres">
      <dgm:prSet presAssocID="{7A5576F6-DED0-4284-B998-8E540B6E9EB4}" presName="hierRoot2" presStyleCnt="0">
        <dgm:presLayoutVars>
          <dgm:hierBranch val="init"/>
        </dgm:presLayoutVars>
      </dgm:prSet>
      <dgm:spPr/>
    </dgm:pt>
    <dgm:pt modelId="{81377BCF-EF55-4FCD-B9BA-02EFC18AC2A3}" type="pres">
      <dgm:prSet presAssocID="{7A5576F6-DED0-4284-B998-8E540B6E9EB4}" presName="rootComposite" presStyleCnt="0"/>
      <dgm:spPr/>
    </dgm:pt>
    <dgm:pt modelId="{DB734AA1-8F95-4B18-B67A-FEF28361D979}" type="pres">
      <dgm:prSet presAssocID="{7A5576F6-DED0-4284-B998-8E540B6E9EB4}" presName="rootText" presStyleLbl="node4" presStyleIdx="4" presStyleCnt="9" custLinFactNeighborX="-91979" custLinFactNeighborY="-32196">
        <dgm:presLayoutVars>
          <dgm:chPref val="3"/>
        </dgm:presLayoutVars>
      </dgm:prSet>
      <dgm:spPr/>
    </dgm:pt>
    <dgm:pt modelId="{1ED7C10D-C2B6-4CB1-82CC-AFBC25E1B8D1}" type="pres">
      <dgm:prSet presAssocID="{7A5576F6-DED0-4284-B998-8E540B6E9EB4}" presName="rootConnector" presStyleLbl="node4" presStyleIdx="4" presStyleCnt="9"/>
      <dgm:spPr/>
    </dgm:pt>
    <dgm:pt modelId="{A1850A1F-1BE5-4C0C-97BA-91D32899C37E}" type="pres">
      <dgm:prSet presAssocID="{7A5576F6-DED0-4284-B998-8E540B6E9EB4}" presName="hierChild4" presStyleCnt="0"/>
      <dgm:spPr/>
    </dgm:pt>
    <dgm:pt modelId="{D26E3DD7-717C-4814-B940-9E996F72F6E2}" type="pres">
      <dgm:prSet presAssocID="{7A5576F6-DED0-4284-B998-8E540B6E9EB4}" presName="hierChild5" presStyleCnt="0"/>
      <dgm:spPr/>
    </dgm:pt>
    <dgm:pt modelId="{BF8EAF31-E0F1-47F3-BAAA-998EDCF141FE}" type="pres">
      <dgm:prSet presAssocID="{5A441C33-8C94-49D4-A9D6-2E69B45145E4}" presName="hierChild5" presStyleCnt="0"/>
      <dgm:spPr/>
    </dgm:pt>
    <dgm:pt modelId="{D6A3C098-9658-41AE-9CDD-5CAEF7D0DA0C}" type="pres">
      <dgm:prSet presAssocID="{14B359D2-9676-4212-A699-3D3E18258373}" presName="Name37" presStyleLbl="parChTrans1D4" presStyleIdx="5" presStyleCnt="9"/>
      <dgm:spPr/>
    </dgm:pt>
    <dgm:pt modelId="{3BAECA2E-789F-47CF-AFE5-54B28F89A0D8}" type="pres">
      <dgm:prSet presAssocID="{8380DA3D-7F5B-4E29-985B-7ECDB2615A1A}" presName="hierRoot2" presStyleCnt="0">
        <dgm:presLayoutVars>
          <dgm:hierBranch val="init"/>
        </dgm:presLayoutVars>
      </dgm:prSet>
      <dgm:spPr/>
    </dgm:pt>
    <dgm:pt modelId="{26ACDDDA-1BA2-4DF2-B494-4E6FD4F84356}" type="pres">
      <dgm:prSet presAssocID="{8380DA3D-7F5B-4E29-985B-7ECDB2615A1A}" presName="rootComposite" presStyleCnt="0"/>
      <dgm:spPr/>
    </dgm:pt>
    <dgm:pt modelId="{BB37D211-8215-4468-8334-882C3C9D45BB}" type="pres">
      <dgm:prSet presAssocID="{8380DA3D-7F5B-4E29-985B-7ECDB2615A1A}" presName="rootText" presStyleLbl="node4" presStyleIdx="5" presStyleCnt="9" custScaleX="154830" custScaleY="121023" custLinFactNeighborX="-18396" custLinFactNeighborY="7884">
        <dgm:presLayoutVars>
          <dgm:chPref val="3"/>
        </dgm:presLayoutVars>
      </dgm:prSet>
      <dgm:spPr/>
    </dgm:pt>
    <dgm:pt modelId="{9F3E8519-3018-45D0-A807-86DF68FEE61E}" type="pres">
      <dgm:prSet presAssocID="{8380DA3D-7F5B-4E29-985B-7ECDB2615A1A}" presName="rootConnector" presStyleLbl="node4" presStyleIdx="5" presStyleCnt="9"/>
      <dgm:spPr/>
    </dgm:pt>
    <dgm:pt modelId="{ADF5DA86-0B28-4452-834D-8642D5524493}" type="pres">
      <dgm:prSet presAssocID="{8380DA3D-7F5B-4E29-985B-7ECDB2615A1A}" presName="hierChild4" presStyleCnt="0"/>
      <dgm:spPr/>
    </dgm:pt>
    <dgm:pt modelId="{FDABFFFB-42F3-4E81-81DA-637D7C475466}" type="pres">
      <dgm:prSet presAssocID="{88C3A260-757F-45F8-A8E3-19176ECAFAB2}" presName="Name37" presStyleLbl="parChTrans1D4" presStyleIdx="6" presStyleCnt="9"/>
      <dgm:spPr/>
    </dgm:pt>
    <dgm:pt modelId="{ABDF6E5F-6205-4466-B31D-D1C6D375F538}" type="pres">
      <dgm:prSet presAssocID="{9478EA42-309E-4953-A720-ECF9E91475D4}" presName="hierRoot2" presStyleCnt="0">
        <dgm:presLayoutVars>
          <dgm:hierBranch val="init"/>
        </dgm:presLayoutVars>
      </dgm:prSet>
      <dgm:spPr/>
    </dgm:pt>
    <dgm:pt modelId="{EC9EFF60-A6BF-4EFC-A76E-A6C27AE0E2DA}" type="pres">
      <dgm:prSet presAssocID="{9478EA42-309E-4953-A720-ECF9E91475D4}" presName="rootComposite" presStyleCnt="0"/>
      <dgm:spPr/>
    </dgm:pt>
    <dgm:pt modelId="{F0BFED66-C63B-40F8-B7AD-D7372E3D63D0}" type="pres">
      <dgm:prSet presAssocID="{9478EA42-309E-4953-A720-ECF9E91475D4}" presName="rootText" presStyleLbl="node4" presStyleIdx="6" presStyleCnt="9">
        <dgm:presLayoutVars>
          <dgm:chPref val="3"/>
        </dgm:presLayoutVars>
      </dgm:prSet>
      <dgm:spPr/>
    </dgm:pt>
    <dgm:pt modelId="{B04E87E0-E721-4016-8E14-907A3188032F}" type="pres">
      <dgm:prSet presAssocID="{9478EA42-309E-4953-A720-ECF9E91475D4}" presName="rootConnector" presStyleLbl="node4" presStyleIdx="6" presStyleCnt="9"/>
      <dgm:spPr/>
    </dgm:pt>
    <dgm:pt modelId="{FC567BE1-7484-4BB4-9B97-6678043BBC49}" type="pres">
      <dgm:prSet presAssocID="{9478EA42-309E-4953-A720-ECF9E91475D4}" presName="hierChild4" presStyleCnt="0"/>
      <dgm:spPr/>
    </dgm:pt>
    <dgm:pt modelId="{183B953C-D7CD-498C-A0E4-B70E1B26D224}" type="pres">
      <dgm:prSet presAssocID="{9478EA42-309E-4953-A720-ECF9E91475D4}" presName="hierChild5" presStyleCnt="0"/>
      <dgm:spPr/>
    </dgm:pt>
    <dgm:pt modelId="{C60DCBBE-0758-4E43-AF6C-58ED35D1480E}" type="pres">
      <dgm:prSet presAssocID="{8380DA3D-7F5B-4E29-985B-7ECDB2615A1A}" presName="hierChild5" presStyleCnt="0"/>
      <dgm:spPr/>
    </dgm:pt>
    <dgm:pt modelId="{F4E0D9E7-0128-4B0B-B320-E28088683724}" type="pres">
      <dgm:prSet presAssocID="{2D5183DB-E45E-411A-8015-09CB72F0CB99}" presName="hierChild5" presStyleCnt="0"/>
      <dgm:spPr/>
    </dgm:pt>
    <dgm:pt modelId="{5B7615A3-571D-427D-81DB-9CC082A2B289}" type="pres">
      <dgm:prSet presAssocID="{D2ED189A-923A-436A-9A45-A3C5561CF06D}" presName="Name37" presStyleLbl="parChTrans1D3" presStyleIdx="1" presStyleCnt="3"/>
      <dgm:spPr/>
    </dgm:pt>
    <dgm:pt modelId="{1A76D4CA-EA66-4E33-A594-1867959938EF}" type="pres">
      <dgm:prSet presAssocID="{70559E55-B29D-442B-BC9C-D640FBD00182}" presName="hierRoot2" presStyleCnt="0">
        <dgm:presLayoutVars>
          <dgm:hierBranch val="init"/>
        </dgm:presLayoutVars>
      </dgm:prSet>
      <dgm:spPr/>
    </dgm:pt>
    <dgm:pt modelId="{92AB6129-18AA-4E3F-B322-91197DD899C4}" type="pres">
      <dgm:prSet presAssocID="{70559E55-B29D-442B-BC9C-D640FBD00182}" presName="rootComposite" presStyleCnt="0"/>
      <dgm:spPr/>
    </dgm:pt>
    <dgm:pt modelId="{D18085CE-4D41-4C0E-A17D-5F1928EB2207}" type="pres">
      <dgm:prSet presAssocID="{70559E55-B29D-442B-BC9C-D640FBD00182}" presName="rootText" presStyleLbl="node3" presStyleIdx="1" presStyleCnt="3" custScaleX="174883" custScaleY="115588" custLinFactNeighborX="11826">
        <dgm:presLayoutVars>
          <dgm:chPref val="3"/>
        </dgm:presLayoutVars>
      </dgm:prSet>
      <dgm:spPr/>
    </dgm:pt>
    <dgm:pt modelId="{21DCA754-1F7F-4FA1-A83D-061EDFBAF146}" type="pres">
      <dgm:prSet presAssocID="{70559E55-B29D-442B-BC9C-D640FBD00182}" presName="rootConnector" presStyleLbl="node3" presStyleIdx="1" presStyleCnt="3"/>
      <dgm:spPr/>
    </dgm:pt>
    <dgm:pt modelId="{FD9B792E-E7EF-4B74-975A-9C884EC290AF}" type="pres">
      <dgm:prSet presAssocID="{70559E55-B29D-442B-BC9C-D640FBD00182}" presName="hierChild4" presStyleCnt="0"/>
      <dgm:spPr/>
    </dgm:pt>
    <dgm:pt modelId="{C2D8B590-DD53-4460-96BB-82EFD2A5CA1D}" type="pres">
      <dgm:prSet presAssocID="{DB0AF8B8-61D2-4DD2-B23C-5C3A9D2700F9}" presName="Name37" presStyleLbl="parChTrans1D4" presStyleIdx="7" presStyleCnt="9"/>
      <dgm:spPr/>
    </dgm:pt>
    <dgm:pt modelId="{942CC5B6-22FE-4415-911B-68F47A4EA2C7}" type="pres">
      <dgm:prSet presAssocID="{2CC0AD27-AD53-4553-BE13-8B632DBA0E18}" presName="hierRoot2" presStyleCnt="0">
        <dgm:presLayoutVars>
          <dgm:hierBranch val="init"/>
        </dgm:presLayoutVars>
      </dgm:prSet>
      <dgm:spPr/>
    </dgm:pt>
    <dgm:pt modelId="{5587BF83-885E-4649-A6EC-5824405A3697}" type="pres">
      <dgm:prSet presAssocID="{2CC0AD27-AD53-4553-BE13-8B632DBA0E18}" presName="rootComposite" presStyleCnt="0"/>
      <dgm:spPr/>
    </dgm:pt>
    <dgm:pt modelId="{D9FB34C9-9EFF-48DE-AEDA-B2B4F1FF7548}" type="pres">
      <dgm:prSet presAssocID="{2CC0AD27-AD53-4553-BE13-8B632DBA0E18}" presName="rootText" presStyleLbl="node4" presStyleIdx="7" presStyleCnt="9">
        <dgm:presLayoutVars>
          <dgm:chPref val="3"/>
        </dgm:presLayoutVars>
      </dgm:prSet>
      <dgm:spPr/>
    </dgm:pt>
    <dgm:pt modelId="{EE394C05-AF88-4DFB-94C5-64125D152A39}" type="pres">
      <dgm:prSet presAssocID="{2CC0AD27-AD53-4553-BE13-8B632DBA0E18}" presName="rootConnector" presStyleLbl="node4" presStyleIdx="7" presStyleCnt="9"/>
      <dgm:spPr/>
    </dgm:pt>
    <dgm:pt modelId="{41D00496-4E92-4B81-9A12-662CCAFD67E1}" type="pres">
      <dgm:prSet presAssocID="{2CC0AD27-AD53-4553-BE13-8B632DBA0E18}" presName="hierChild4" presStyleCnt="0"/>
      <dgm:spPr/>
    </dgm:pt>
    <dgm:pt modelId="{3401044C-AA45-48E7-A647-F6AF03C1EEA5}" type="pres">
      <dgm:prSet presAssocID="{2CC0AD27-AD53-4553-BE13-8B632DBA0E18}" presName="hierChild5" presStyleCnt="0"/>
      <dgm:spPr/>
    </dgm:pt>
    <dgm:pt modelId="{980435D6-EE9A-4847-BD25-59A20FC7F6CF}" type="pres">
      <dgm:prSet presAssocID="{AD5CD173-5F33-4543-BEA6-51EC9AFBF9F9}" presName="Name37" presStyleLbl="parChTrans1D4" presStyleIdx="8" presStyleCnt="9"/>
      <dgm:spPr/>
    </dgm:pt>
    <dgm:pt modelId="{BF13FEBD-E1AD-47BD-AB11-2D48D12FB8EA}" type="pres">
      <dgm:prSet presAssocID="{16F6564F-F363-432B-891C-4C89BDD1415D}" presName="hierRoot2" presStyleCnt="0">
        <dgm:presLayoutVars>
          <dgm:hierBranch val="init"/>
        </dgm:presLayoutVars>
      </dgm:prSet>
      <dgm:spPr/>
    </dgm:pt>
    <dgm:pt modelId="{972D338F-6BC3-4157-8AB1-F0BAF92D9F37}" type="pres">
      <dgm:prSet presAssocID="{16F6564F-F363-432B-891C-4C89BDD1415D}" presName="rootComposite" presStyleCnt="0"/>
      <dgm:spPr/>
    </dgm:pt>
    <dgm:pt modelId="{5765E174-4C44-46B4-85E7-8FD5F7470A11}" type="pres">
      <dgm:prSet presAssocID="{16F6564F-F363-432B-891C-4C89BDD1415D}" presName="rootText" presStyleLbl="node4" presStyleIdx="8" presStyleCnt="9">
        <dgm:presLayoutVars>
          <dgm:chPref val="3"/>
        </dgm:presLayoutVars>
      </dgm:prSet>
      <dgm:spPr/>
    </dgm:pt>
    <dgm:pt modelId="{06502DBB-8D59-419E-9FB0-CCB0DF77E64B}" type="pres">
      <dgm:prSet presAssocID="{16F6564F-F363-432B-891C-4C89BDD1415D}" presName="rootConnector" presStyleLbl="node4" presStyleIdx="8" presStyleCnt="9"/>
      <dgm:spPr/>
    </dgm:pt>
    <dgm:pt modelId="{0ACA7634-ABB1-4853-8CCD-EF5F30072840}" type="pres">
      <dgm:prSet presAssocID="{16F6564F-F363-432B-891C-4C89BDD1415D}" presName="hierChild4" presStyleCnt="0"/>
      <dgm:spPr/>
    </dgm:pt>
    <dgm:pt modelId="{7C2BF6A1-4FA9-44D4-B9B7-1D206F378263}" type="pres">
      <dgm:prSet presAssocID="{16F6564F-F363-432B-891C-4C89BDD1415D}" presName="hierChild5" presStyleCnt="0"/>
      <dgm:spPr/>
    </dgm:pt>
    <dgm:pt modelId="{C6530768-CD4A-476F-94A3-F15F95459DF6}" type="pres">
      <dgm:prSet presAssocID="{70559E55-B29D-442B-BC9C-D640FBD00182}" presName="hierChild5" presStyleCnt="0"/>
      <dgm:spPr/>
    </dgm:pt>
    <dgm:pt modelId="{87797CB8-0C25-41EE-ACD1-6B59626373EC}" type="pres">
      <dgm:prSet presAssocID="{6B598A49-6CD9-47E5-9144-80B153D463E5}" presName="hierChild5" presStyleCnt="0"/>
      <dgm:spPr/>
    </dgm:pt>
    <dgm:pt modelId="{654FF6DA-A8C7-459F-8EDE-20AA4ECE9E95}" type="pres">
      <dgm:prSet presAssocID="{95A017C3-E0A2-48D5-B39B-471B9724745E}" presName="Name37" presStyleLbl="parChTrans1D2" presStyleIdx="1" presStyleCnt="2"/>
      <dgm:spPr/>
    </dgm:pt>
    <dgm:pt modelId="{B0519F93-79E1-4CDA-AE93-236092975C6F}" type="pres">
      <dgm:prSet presAssocID="{D1807710-5775-4952-A0C1-0E3D724CA219}" presName="hierRoot2" presStyleCnt="0">
        <dgm:presLayoutVars>
          <dgm:hierBranch val="init"/>
        </dgm:presLayoutVars>
      </dgm:prSet>
      <dgm:spPr/>
    </dgm:pt>
    <dgm:pt modelId="{5C73D284-EA56-46FA-81AE-4A5C6F401C97}" type="pres">
      <dgm:prSet presAssocID="{D1807710-5775-4952-A0C1-0E3D724CA219}" presName="rootComposite" presStyleCnt="0"/>
      <dgm:spPr/>
    </dgm:pt>
    <dgm:pt modelId="{92783CAA-A081-4EA9-86D5-4801B0CF8B0C}" type="pres">
      <dgm:prSet presAssocID="{D1807710-5775-4952-A0C1-0E3D724CA219}" presName="rootText" presStyleLbl="node2" presStyleIdx="1" presStyleCnt="2" custScaleX="218879" custScaleY="122181" custLinFactNeighborX="59404" custLinFactNeighborY="-5256">
        <dgm:presLayoutVars>
          <dgm:chPref val="3"/>
        </dgm:presLayoutVars>
      </dgm:prSet>
      <dgm:spPr/>
    </dgm:pt>
    <dgm:pt modelId="{5982FEDD-92E1-4830-9939-AC5071714E30}" type="pres">
      <dgm:prSet presAssocID="{D1807710-5775-4952-A0C1-0E3D724CA219}" presName="rootConnector" presStyleLbl="node2" presStyleIdx="1" presStyleCnt="2"/>
      <dgm:spPr/>
    </dgm:pt>
    <dgm:pt modelId="{EFB0329A-3E32-4D46-AC7C-67005F239E92}" type="pres">
      <dgm:prSet presAssocID="{D1807710-5775-4952-A0C1-0E3D724CA219}" presName="hierChild4" presStyleCnt="0"/>
      <dgm:spPr/>
    </dgm:pt>
    <dgm:pt modelId="{31274228-648A-442C-AC6F-134DDB2694C6}" type="pres">
      <dgm:prSet presAssocID="{5BF451A8-2C2A-46C3-A157-DBE0A37FC61A}" presName="Name37" presStyleLbl="parChTrans1D3" presStyleIdx="2" presStyleCnt="3"/>
      <dgm:spPr/>
    </dgm:pt>
    <dgm:pt modelId="{56153E80-07F7-4254-8B82-35C79C6AB748}" type="pres">
      <dgm:prSet presAssocID="{C97E38AF-0568-4233-8A4A-CA8421A3D50B}" presName="hierRoot2" presStyleCnt="0">
        <dgm:presLayoutVars>
          <dgm:hierBranch val="init"/>
        </dgm:presLayoutVars>
      </dgm:prSet>
      <dgm:spPr/>
    </dgm:pt>
    <dgm:pt modelId="{8F600C71-4A3C-4605-99C6-D05A80F9C6D6}" type="pres">
      <dgm:prSet presAssocID="{C97E38AF-0568-4233-8A4A-CA8421A3D50B}" presName="rootComposite" presStyleCnt="0"/>
      <dgm:spPr/>
    </dgm:pt>
    <dgm:pt modelId="{692E5295-F703-4F47-9497-F584B2FC87CD}" type="pres">
      <dgm:prSet presAssocID="{C97E38AF-0568-4233-8A4A-CA8421A3D50B}" presName="rootText" presStyleLbl="node3" presStyleIdx="2" presStyleCnt="3" custLinFactNeighborX="35674" custLinFactNeighborY="2301">
        <dgm:presLayoutVars>
          <dgm:chPref val="3"/>
        </dgm:presLayoutVars>
      </dgm:prSet>
      <dgm:spPr/>
    </dgm:pt>
    <dgm:pt modelId="{514B5AB6-BB00-4E49-8526-DFD2A659FE3B}" type="pres">
      <dgm:prSet presAssocID="{C97E38AF-0568-4233-8A4A-CA8421A3D50B}" presName="rootConnector" presStyleLbl="node3" presStyleIdx="2" presStyleCnt="3"/>
      <dgm:spPr/>
    </dgm:pt>
    <dgm:pt modelId="{68CBE1BC-AEF7-4312-B29C-CE5EF0B71C5D}" type="pres">
      <dgm:prSet presAssocID="{C97E38AF-0568-4233-8A4A-CA8421A3D50B}" presName="hierChild4" presStyleCnt="0"/>
      <dgm:spPr/>
    </dgm:pt>
    <dgm:pt modelId="{069B416A-F282-48EC-9638-6E3037166717}" type="pres">
      <dgm:prSet presAssocID="{C97E38AF-0568-4233-8A4A-CA8421A3D50B}" presName="hierChild5" presStyleCnt="0"/>
      <dgm:spPr/>
    </dgm:pt>
    <dgm:pt modelId="{55575F01-8D69-43C4-BEB9-F61DD67444A4}" type="pres">
      <dgm:prSet presAssocID="{D1807710-5775-4952-A0C1-0E3D724CA219}" presName="hierChild5" presStyleCnt="0"/>
      <dgm:spPr/>
    </dgm:pt>
    <dgm:pt modelId="{88E6A947-0DFB-4A13-81B9-21F2FA65844C}" type="pres">
      <dgm:prSet presAssocID="{D74D1C55-1B98-4B62-B907-B30FE2BCFC08}" presName="hierChild3" presStyleCnt="0"/>
      <dgm:spPr/>
    </dgm:pt>
  </dgm:ptLst>
  <dgm:cxnLst>
    <dgm:cxn modelId="{F5305604-CF84-44BC-9322-2AC5049665D2}" type="presOf" srcId="{88C3A260-757F-45F8-A8E3-19176ECAFAB2}" destId="{FDABFFFB-42F3-4E81-81DA-637D7C475466}" srcOrd="0" destOrd="0" presId="urn:microsoft.com/office/officeart/2005/8/layout/orgChart1"/>
    <dgm:cxn modelId="{4CD0CD04-8B4A-47C8-946C-A16D60C888B2}" srcId="{5A441C33-8C94-49D4-A9D6-2E69B45145E4}" destId="{3772E9C8-B00B-4252-88B9-A820753B5071}" srcOrd="0" destOrd="0" parTransId="{308E8E58-ADDA-4C4C-90DB-19C3C6286BDB}" sibTransId="{364384C0-5FDA-4DDF-AF72-46ABE5319177}"/>
    <dgm:cxn modelId="{46522407-6F9F-40D8-8FFC-DFB0B6114AE9}" type="presOf" srcId="{D1807710-5775-4952-A0C1-0E3D724CA219}" destId="{92783CAA-A081-4EA9-86D5-4801B0CF8B0C}" srcOrd="0" destOrd="0" presId="urn:microsoft.com/office/officeart/2005/8/layout/orgChart1"/>
    <dgm:cxn modelId="{4CD0620B-1639-42BD-A2D4-468E9FFA5482}" type="presOf" srcId="{D2ED189A-923A-436A-9A45-A3C5561CF06D}" destId="{5B7615A3-571D-427D-81DB-9CC082A2B289}" srcOrd="0" destOrd="0" presId="urn:microsoft.com/office/officeart/2005/8/layout/orgChart1"/>
    <dgm:cxn modelId="{1AC60E17-9CA1-43A7-98E8-62A43DD306B8}" type="presOf" srcId="{6B598A49-6CD9-47E5-9144-80B153D463E5}" destId="{2D965D50-27FE-4C8C-A35A-1CBD353E3D9C}" srcOrd="0" destOrd="0" presId="urn:microsoft.com/office/officeart/2005/8/layout/orgChart1"/>
    <dgm:cxn modelId="{C8732B20-A7F3-4764-97C4-D53889BB06E9}" type="presOf" srcId="{C97E38AF-0568-4233-8A4A-CA8421A3D50B}" destId="{514B5AB6-BB00-4E49-8526-DFD2A659FE3B}" srcOrd="1" destOrd="0" presId="urn:microsoft.com/office/officeart/2005/8/layout/orgChart1"/>
    <dgm:cxn modelId="{4E937936-80DB-4D79-BABB-897F054401C3}" type="presOf" srcId="{2CC0AD27-AD53-4553-BE13-8B632DBA0E18}" destId="{D9FB34C9-9EFF-48DE-AEDA-B2B4F1FF7548}" srcOrd="0" destOrd="0" presId="urn:microsoft.com/office/officeart/2005/8/layout/orgChart1"/>
    <dgm:cxn modelId="{8DFDAC36-E299-4D54-9875-DF3EAE44DA00}" type="presOf" srcId="{2817555B-21FD-4612-B6F6-B07F2CB6EC58}" destId="{5D93734A-ED83-4472-B45A-566212F469DA}" srcOrd="0" destOrd="0" presId="urn:microsoft.com/office/officeart/2005/8/layout/orgChart1"/>
    <dgm:cxn modelId="{7DDDC436-2A41-4D27-A60B-93C022523979}" type="presOf" srcId="{7A5576F6-DED0-4284-B998-8E540B6E9EB4}" destId="{DB734AA1-8F95-4B18-B67A-FEF28361D979}" srcOrd="0" destOrd="0" presId="urn:microsoft.com/office/officeart/2005/8/layout/orgChart1"/>
    <dgm:cxn modelId="{08B0D838-311E-4961-A9EA-55F8B71C7055}" srcId="{6B598A49-6CD9-47E5-9144-80B153D463E5}" destId="{70559E55-B29D-442B-BC9C-D640FBD00182}" srcOrd="1" destOrd="0" parTransId="{D2ED189A-923A-436A-9A45-A3C5561CF06D}" sibTransId="{335791EE-C53B-4B65-96CD-F053CFB0E16D}"/>
    <dgm:cxn modelId="{17693C3A-974B-423D-8DAA-AEFB1BF327C2}" srcId="{2D5183DB-E45E-411A-8015-09CB72F0CB99}" destId="{5A441C33-8C94-49D4-A9D6-2E69B45145E4}" srcOrd="0" destOrd="0" parTransId="{87F7E707-552F-4EB4-ABC4-2EC29A0F6553}" sibTransId="{8D86DDD8-E06D-46D9-9E68-1F4A8A61DD8F}"/>
    <dgm:cxn modelId="{5CE0EB3D-40BF-47C0-9460-3D4DA1C8E2A0}" type="presOf" srcId="{5A441C33-8C94-49D4-A9D6-2E69B45145E4}" destId="{4F3CC745-4A24-4270-BF7D-9DAC8D3119F6}" srcOrd="0" destOrd="0" presId="urn:microsoft.com/office/officeart/2005/8/layout/orgChart1"/>
    <dgm:cxn modelId="{C230833F-78F4-455D-8C0C-A92AE2178105}" srcId="{D74D1C55-1B98-4B62-B907-B30FE2BCFC08}" destId="{6B598A49-6CD9-47E5-9144-80B153D463E5}" srcOrd="0" destOrd="0" parTransId="{4ACAB21A-ACA2-48A3-83D2-4B12DDC428D9}" sibTransId="{38AC402B-A0FE-42D8-9BBA-E0371CD02B94}"/>
    <dgm:cxn modelId="{B8F1F243-E820-4700-84F0-01DCD3B8974C}" srcId="{6B3D26F0-E061-4538-88CE-EBB7D96F453E}" destId="{D74D1C55-1B98-4B62-B907-B30FE2BCFC08}" srcOrd="0" destOrd="0" parTransId="{5AE2C4E9-7D04-4045-9051-82B172DFBE24}" sibTransId="{CD7DA6C4-990B-4C40-B082-E4BB738FA6B9}"/>
    <dgm:cxn modelId="{09B6C146-CA7F-422E-8A0A-B72ED1A688CD}" srcId="{D74D1C55-1B98-4B62-B907-B30FE2BCFC08}" destId="{D1807710-5775-4952-A0C1-0E3D724CA219}" srcOrd="1" destOrd="0" parTransId="{95A017C3-E0A2-48D5-B39B-471B9724745E}" sibTransId="{06808131-FA4B-4B99-98E8-4C7341E80AD1}"/>
    <dgm:cxn modelId="{39C98253-6BDF-4977-808D-22C7D0C01C33}" type="presOf" srcId="{16F6564F-F363-432B-891C-4C89BDD1415D}" destId="{06502DBB-8D59-419E-9FB0-CCB0DF77E64B}" srcOrd="1" destOrd="0" presId="urn:microsoft.com/office/officeart/2005/8/layout/orgChart1"/>
    <dgm:cxn modelId="{5148245A-3888-46AA-86C3-2E2FD8602F56}" srcId="{8380DA3D-7F5B-4E29-985B-7ECDB2615A1A}" destId="{9478EA42-309E-4953-A720-ECF9E91475D4}" srcOrd="0" destOrd="0" parTransId="{88C3A260-757F-45F8-A8E3-19176ECAFAB2}" sibTransId="{05B75920-5C06-44BD-B3B5-BEAA481DD74D}"/>
    <dgm:cxn modelId="{5795E15C-669B-4CE6-A808-FF9D47EC9936}" type="presOf" srcId="{6B598A49-6CD9-47E5-9144-80B153D463E5}" destId="{AD73E074-6EDB-4D82-AE74-137743B04A50}" srcOrd="1" destOrd="0" presId="urn:microsoft.com/office/officeart/2005/8/layout/orgChart1"/>
    <dgm:cxn modelId="{97F3665F-9CEA-4733-97EB-8DE86AE60A87}" type="presOf" srcId="{8380DA3D-7F5B-4E29-985B-7ECDB2615A1A}" destId="{BB37D211-8215-4468-8334-882C3C9D45BB}" srcOrd="0" destOrd="0" presId="urn:microsoft.com/office/officeart/2005/8/layout/orgChart1"/>
    <dgm:cxn modelId="{60D3E660-3051-4C10-B747-E0FA859D4440}" type="presOf" srcId="{D1807710-5775-4952-A0C1-0E3D724CA219}" destId="{5982FEDD-92E1-4830-9939-AC5071714E30}" srcOrd="1" destOrd="0" presId="urn:microsoft.com/office/officeart/2005/8/layout/orgChart1"/>
    <dgm:cxn modelId="{3ED7A963-8824-433B-A494-AD1B0A9B11EC}" type="presOf" srcId="{70559E55-B29D-442B-BC9C-D640FBD00182}" destId="{D18085CE-4D41-4C0E-A17D-5F1928EB2207}" srcOrd="0" destOrd="0" presId="urn:microsoft.com/office/officeart/2005/8/layout/orgChart1"/>
    <dgm:cxn modelId="{D5CEB663-B73F-484C-8E8E-EB887D5BE291}" type="presOf" srcId="{AD5CD173-5F33-4543-BEA6-51EC9AFBF9F9}" destId="{980435D6-EE9A-4847-BD25-59A20FC7F6CF}" srcOrd="0" destOrd="0" presId="urn:microsoft.com/office/officeart/2005/8/layout/orgChart1"/>
    <dgm:cxn modelId="{4DC54668-B168-4ED1-B6F7-2560AE6D87FF}" type="presOf" srcId="{327946E0-7310-442F-A722-206E04A9AAFC}" destId="{19987F53-EAF0-4547-9B63-638D7D8AEBBF}" srcOrd="1" destOrd="0" presId="urn:microsoft.com/office/officeart/2005/8/layout/orgChart1"/>
    <dgm:cxn modelId="{54EE766C-D5EA-4ECC-9578-F52752F3992D}" type="presOf" srcId="{5A441C33-8C94-49D4-A9D6-2E69B45145E4}" destId="{0563388B-56F5-4A92-A11E-35B16EDC4655}" srcOrd="1" destOrd="0" presId="urn:microsoft.com/office/officeart/2005/8/layout/orgChart1"/>
    <dgm:cxn modelId="{C917C276-D354-4D5F-B749-D024166C70A5}" srcId="{5A441C33-8C94-49D4-A9D6-2E69B45145E4}" destId="{7A5576F6-DED0-4284-B998-8E540B6E9EB4}" srcOrd="3" destOrd="0" parTransId="{1695ACE3-E2D3-4CA7-9AF8-B45781707ACA}" sibTransId="{229914BD-0B0F-4A9B-96E7-7485BAE31B1E}"/>
    <dgm:cxn modelId="{26F62A77-4D4A-4C24-A6E0-3596B0A4ED7F}" type="presOf" srcId="{8380DA3D-7F5B-4E29-985B-7ECDB2615A1A}" destId="{9F3E8519-3018-45D0-A807-86DF68FEE61E}" srcOrd="1" destOrd="0" presId="urn:microsoft.com/office/officeart/2005/8/layout/orgChart1"/>
    <dgm:cxn modelId="{19170A79-B33F-4195-AB02-E03C3DC508B0}" srcId="{5A441C33-8C94-49D4-A9D6-2E69B45145E4}" destId="{327946E0-7310-442F-A722-206E04A9AAFC}" srcOrd="2" destOrd="0" parTransId="{96FED68B-2B01-40D6-AD6F-39B275E72AE4}" sibTransId="{322EE6A8-0924-484D-ADDC-7D84F57982DF}"/>
    <dgm:cxn modelId="{039EF582-0642-4C9D-A05A-9DA832A0F781}" type="presOf" srcId="{5BF451A8-2C2A-46C3-A157-DBE0A37FC61A}" destId="{31274228-648A-442C-AC6F-134DDB2694C6}" srcOrd="0" destOrd="0" presId="urn:microsoft.com/office/officeart/2005/8/layout/orgChart1"/>
    <dgm:cxn modelId="{F8818889-439D-41BC-9CBA-B4E63E53E055}" type="presOf" srcId="{95A017C3-E0A2-48D5-B39B-471B9724745E}" destId="{654FF6DA-A8C7-459F-8EDE-20AA4ECE9E95}" srcOrd="0" destOrd="0" presId="urn:microsoft.com/office/officeart/2005/8/layout/orgChart1"/>
    <dgm:cxn modelId="{32CAAE8B-3740-4B7E-919E-B099D87C096E}" type="presOf" srcId="{C97E38AF-0568-4233-8A4A-CA8421A3D50B}" destId="{692E5295-F703-4F47-9497-F584B2FC87CD}" srcOrd="0" destOrd="0" presId="urn:microsoft.com/office/officeart/2005/8/layout/orgChart1"/>
    <dgm:cxn modelId="{C9AD678D-3FCE-4F35-9913-4E1E0775E8A2}" srcId="{70559E55-B29D-442B-BC9C-D640FBD00182}" destId="{16F6564F-F363-432B-891C-4C89BDD1415D}" srcOrd="1" destOrd="0" parTransId="{AD5CD173-5F33-4543-BEA6-51EC9AFBF9F9}" sibTransId="{62E98E27-BFE6-4748-9EA5-E20B7BD068C2}"/>
    <dgm:cxn modelId="{8EA60D93-C6EF-48DC-B74B-365FDEF610E7}" srcId="{2D5183DB-E45E-411A-8015-09CB72F0CB99}" destId="{8380DA3D-7F5B-4E29-985B-7ECDB2615A1A}" srcOrd="1" destOrd="0" parTransId="{14B359D2-9676-4212-A699-3D3E18258373}" sibTransId="{44571B17-08F6-4006-AFB4-00E2050AF22A}"/>
    <dgm:cxn modelId="{70491A98-8CA6-4257-912F-7F051794B536}" type="presOf" srcId="{14B359D2-9676-4212-A699-3D3E18258373}" destId="{D6A3C098-9658-41AE-9CDD-5CAEF7D0DA0C}" srcOrd="0" destOrd="0" presId="urn:microsoft.com/office/officeart/2005/8/layout/orgChart1"/>
    <dgm:cxn modelId="{543FF698-A70A-4107-8F46-7C8298AADBCC}" type="presOf" srcId="{2D5183DB-E45E-411A-8015-09CB72F0CB99}" destId="{49521B4C-A83A-437E-86CD-0D7C9565BF5E}" srcOrd="0" destOrd="0" presId="urn:microsoft.com/office/officeart/2005/8/layout/orgChart1"/>
    <dgm:cxn modelId="{9909149D-5E19-4755-926B-65CD23F27B4A}" type="presOf" srcId="{4ACAB21A-ACA2-48A3-83D2-4B12DDC428D9}" destId="{0E63ECD5-86D0-4256-BF66-C471FBDB0A1E}" srcOrd="0" destOrd="0" presId="urn:microsoft.com/office/officeart/2005/8/layout/orgChart1"/>
    <dgm:cxn modelId="{F59AA99E-DDF5-4034-95FD-54DD9B99B0EC}" type="presOf" srcId="{DB0AF8B8-61D2-4DD2-B23C-5C3A9D2700F9}" destId="{C2D8B590-DD53-4460-96BB-82EFD2A5CA1D}" srcOrd="0" destOrd="0" presId="urn:microsoft.com/office/officeart/2005/8/layout/orgChart1"/>
    <dgm:cxn modelId="{BAF899A0-8CB2-4EB6-8FDB-53B94B4B6378}" type="presOf" srcId="{2CC0AD27-AD53-4553-BE13-8B632DBA0E18}" destId="{EE394C05-AF88-4DFB-94C5-64125D152A39}" srcOrd="1" destOrd="0" presId="urn:microsoft.com/office/officeart/2005/8/layout/orgChart1"/>
    <dgm:cxn modelId="{A952D6A1-753E-4231-947A-AD68DBDE585A}" type="presOf" srcId="{D74D1C55-1B98-4B62-B907-B30FE2BCFC08}" destId="{1EA4D4B7-2725-44E3-B74B-8AC2283982DE}" srcOrd="1" destOrd="0" presId="urn:microsoft.com/office/officeart/2005/8/layout/orgChart1"/>
    <dgm:cxn modelId="{5B5DDEA2-0BB8-49DB-8A22-74A42B3505B9}" type="presOf" srcId="{1695ACE3-E2D3-4CA7-9AF8-B45781707ACA}" destId="{BE7D4833-F3E4-44FF-80ED-B9723830D697}" srcOrd="0" destOrd="0" presId="urn:microsoft.com/office/officeart/2005/8/layout/orgChart1"/>
    <dgm:cxn modelId="{7E85B1A7-F046-41D8-AD7C-F4B8E7A861AD}" type="presOf" srcId="{308E8E58-ADDA-4C4C-90DB-19C3C6286BDB}" destId="{DE5BDCEF-0F7F-4E72-ABD0-A0A5B199763D}" srcOrd="0" destOrd="0" presId="urn:microsoft.com/office/officeart/2005/8/layout/orgChart1"/>
    <dgm:cxn modelId="{77204FAD-1A53-4251-96B3-4B7DB7D42463}" type="presOf" srcId="{7A5576F6-DED0-4284-B998-8E540B6E9EB4}" destId="{1ED7C10D-C2B6-4CB1-82CC-AFBC25E1B8D1}" srcOrd="1" destOrd="0" presId="urn:microsoft.com/office/officeart/2005/8/layout/orgChart1"/>
    <dgm:cxn modelId="{9498CFAD-2F6E-4A03-AC2F-EF33B800AACC}" type="presOf" srcId="{96FED68B-2B01-40D6-AD6F-39B275E72AE4}" destId="{7D10B0DB-4274-42DC-AFC6-237DCB7F7654}" srcOrd="0" destOrd="0" presId="urn:microsoft.com/office/officeart/2005/8/layout/orgChart1"/>
    <dgm:cxn modelId="{24CDBDB7-C405-4380-B69C-CFE57769E57C}" type="presOf" srcId="{D0B5EB9E-F1A1-4B2A-BE20-CB068CF47300}" destId="{F6D665DD-8570-4CE0-A842-75123709BB4C}" srcOrd="0" destOrd="0" presId="urn:microsoft.com/office/officeart/2005/8/layout/orgChart1"/>
    <dgm:cxn modelId="{9711D5B7-90FB-4BD8-B30A-8FDC5F9A1C8F}" type="presOf" srcId="{327946E0-7310-442F-A722-206E04A9AAFC}" destId="{83E99D6C-1DFE-4021-A958-E32010AB3588}" srcOrd="0" destOrd="0" presId="urn:microsoft.com/office/officeart/2005/8/layout/orgChart1"/>
    <dgm:cxn modelId="{4AFA6FC8-0E17-4E4B-AB76-623F832BEDA1}" type="presOf" srcId="{2D5183DB-E45E-411A-8015-09CB72F0CB99}" destId="{E0F10338-E5EF-420A-8A84-E9B7C54800DE}" srcOrd="1" destOrd="0" presId="urn:microsoft.com/office/officeart/2005/8/layout/orgChart1"/>
    <dgm:cxn modelId="{8EF944CB-81D4-46B1-BC23-2DB1F7CDC42F}" type="presOf" srcId="{70559E55-B29D-442B-BC9C-D640FBD00182}" destId="{21DCA754-1F7F-4FA1-A83D-061EDFBAF146}" srcOrd="1" destOrd="0" presId="urn:microsoft.com/office/officeart/2005/8/layout/orgChart1"/>
    <dgm:cxn modelId="{6A4AB3CB-E10A-4119-B0E4-EA1FF2A8BC0E}" type="presOf" srcId="{D74D1C55-1B98-4B62-B907-B30FE2BCFC08}" destId="{970FC6CC-8957-4481-9214-7F2D5CFD7CD2}" srcOrd="0" destOrd="0" presId="urn:microsoft.com/office/officeart/2005/8/layout/orgChart1"/>
    <dgm:cxn modelId="{B4BEEBCC-E467-4E67-B4A5-53CAF33D752E}" type="presOf" srcId="{2817555B-21FD-4612-B6F6-B07F2CB6EC58}" destId="{1346D1D0-AEE1-4BFD-A4F3-8EC3B1F148ED}" srcOrd="1" destOrd="0" presId="urn:microsoft.com/office/officeart/2005/8/layout/orgChart1"/>
    <dgm:cxn modelId="{EC922DCE-45A3-43BE-AF67-05747B970A25}" srcId="{D1807710-5775-4952-A0C1-0E3D724CA219}" destId="{C97E38AF-0568-4233-8A4A-CA8421A3D50B}" srcOrd="0" destOrd="0" parTransId="{5BF451A8-2C2A-46C3-A157-DBE0A37FC61A}" sibTransId="{D06888B3-57D1-46E1-9A54-C10D8664F011}"/>
    <dgm:cxn modelId="{E547C6D2-5DC8-4551-A9C7-E17E60D6F368}" type="presOf" srcId="{9478EA42-309E-4953-A720-ECF9E91475D4}" destId="{B04E87E0-E721-4016-8E14-907A3188032F}" srcOrd="1" destOrd="0" presId="urn:microsoft.com/office/officeart/2005/8/layout/orgChart1"/>
    <dgm:cxn modelId="{DFCAD0D5-8B56-46B0-BBEA-4D17B13BBC6E}" type="presOf" srcId="{87F7E707-552F-4EB4-ABC4-2EC29A0F6553}" destId="{CAC31CD6-E031-4510-83FE-9118A47CF787}" srcOrd="0" destOrd="0" presId="urn:microsoft.com/office/officeart/2005/8/layout/orgChart1"/>
    <dgm:cxn modelId="{B36E6CD9-1E13-4F98-AFBD-237AF142394A}" srcId="{70559E55-B29D-442B-BC9C-D640FBD00182}" destId="{2CC0AD27-AD53-4553-BE13-8B632DBA0E18}" srcOrd="0" destOrd="0" parTransId="{DB0AF8B8-61D2-4DD2-B23C-5C3A9D2700F9}" sibTransId="{C1E759FA-C6DB-40CD-AA8E-20E3C8C3ED29}"/>
    <dgm:cxn modelId="{8BB345E4-20D1-46D8-A9D7-8F46F4774BA4}" type="presOf" srcId="{9478EA42-309E-4953-A720-ECF9E91475D4}" destId="{F0BFED66-C63B-40F8-B7AD-D7372E3D63D0}" srcOrd="0" destOrd="0" presId="urn:microsoft.com/office/officeart/2005/8/layout/orgChart1"/>
    <dgm:cxn modelId="{58E257E5-83E1-420F-87CB-23F304B92C3A}" type="presOf" srcId="{3772E9C8-B00B-4252-88B9-A820753B5071}" destId="{05ADF5E0-7CC7-4238-BC40-B2AB4138D5D3}" srcOrd="1" destOrd="0" presId="urn:microsoft.com/office/officeart/2005/8/layout/orgChart1"/>
    <dgm:cxn modelId="{876CCFE9-2AE0-40A1-9BCB-6EF133435210}" type="presOf" srcId="{6B3D26F0-E061-4538-88CE-EBB7D96F453E}" destId="{E5C39938-94AD-44F1-88E9-63C20BC392B0}" srcOrd="0" destOrd="0" presId="urn:microsoft.com/office/officeart/2005/8/layout/orgChart1"/>
    <dgm:cxn modelId="{D99D15EE-2356-4140-A35C-29A0AA149F21}" type="presOf" srcId="{16F6564F-F363-432B-891C-4C89BDD1415D}" destId="{5765E174-4C44-46B4-85E7-8FD5F7470A11}" srcOrd="0" destOrd="0" presId="urn:microsoft.com/office/officeart/2005/8/layout/orgChart1"/>
    <dgm:cxn modelId="{AA715DF4-0B80-48CC-9877-672119775758}" srcId="{6B598A49-6CD9-47E5-9144-80B153D463E5}" destId="{2D5183DB-E45E-411A-8015-09CB72F0CB99}" srcOrd="0" destOrd="0" parTransId="{666F4888-0407-4DCF-8E7A-01C6A8575A0B}" sibTransId="{4DB63EFE-F610-46D1-B64D-F4F6A4381FB6}"/>
    <dgm:cxn modelId="{815475F7-0C3F-451C-810D-7B52621A1B0F}" type="presOf" srcId="{3772E9C8-B00B-4252-88B9-A820753B5071}" destId="{5820D28A-8FC8-4C0C-B7A1-942E79DE55F6}" srcOrd="0" destOrd="0" presId="urn:microsoft.com/office/officeart/2005/8/layout/orgChart1"/>
    <dgm:cxn modelId="{A5BEB8F9-9819-4249-A3E8-3557BAC1DBCE}" srcId="{5A441C33-8C94-49D4-A9D6-2E69B45145E4}" destId="{2817555B-21FD-4612-B6F6-B07F2CB6EC58}" srcOrd="1" destOrd="0" parTransId="{D0B5EB9E-F1A1-4B2A-BE20-CB068CF47300}" sibTransId="{C6995DE3-24D0-4127-BC91-00A91D47B84D}"/>
    <dgm:cxn modelId="{B1FAD6FF-4CE6-43D3-B6A3-D3AB22C7BA2D}" type="presOf" srcId="{666F4888-0407-4DCF-8E7A-01C6A8575A0B}" destId="{047B581E-D3FA-4242-8DCC-18FB270B9E27}" srcOrd="0" destOrd="0" presId="urn:microsoft.com/office/officeart/2005/8/layout/orgChart1"/>
    <dgm:cxn modelId="{E5B202F8-C532-4D37-8DE0-337D6CAA3E0E}" type="presParOf" srcId="{E5C39938-94AD-44F1-88E9-63C20BC392B0}" destId="{1138A4CA-C032-4B2C-AB4B-A6B41BCBECE9}" srcOrd="0" destOrd="0" presId="urn:microsoft.com/office/officeart/2005/8/layout/orgChart1"/>
    <dgm:cxn modelId="{210E1FF0-17DC-4100-8827-69ED0EB59E0F}" type="presParOf" srcId="{1138A4CA-C032-4B2C-AB4B-A6B41BCBECE9}" destId="{228E3C54-0C64-46AB-AD36-DC15710259DC}" srcOrd="0" destOrd="0" presId="urn:microsoft.com/office/officeart/2005/8/layout/orgChart1"/>
    <dgm:cxn modelId="{DA243313-BF91-486A-9A90-489EBA7B40B5}" type="presParOf" srcId="{228E3C54-0C64-46AB-AD36-DC15710259DC}" destId="{970FC6CC-8957-4481-9214-7F2D5CFD7CD2}" srcOrd="0" destOrd="0" presId="urn:microsoft.com/office/officeart/2005/8/layout/orgChart1"/>
    <dgm:cxn modelId="{A80AFDF1-A45A-44A8-BDB7-2953508CD1DD}" type="presParOf" srcId="{228E3C54-0C64-46AB-AD36-DC15710259DC}" destId="{1EA4D4B7-2725-44E3-B74B-8AC2283982DE}" srcOrd="1" destOrd="0" presId="urn:microsoft.com/office/officeart/2005/8/layout/orgChart1"/>
    <dgm:cxn modelId="{6F214E0D-D104-44F7-9A16-DA4FB79349F0}" type="presParOf" srcId="{1138A4CA-C032-4B2C-AB4B-A6B41BCBECE9}" destId="{354D0B5F-34CA-4540-A104-DCAAD9C5CEAB}" srcOrd="1" destOrd="0" presId="urn:microsoft.com/office/officeart/2005/8/layout/orgChart1"/>
    <dgm:cxn modelId="{0B5BB8E7-AC37-42AE-9F42-660ACF65BE9B}" type="presParOf" srcId="{354D0B5F-34CA-4540-A104-DCAAD9C5CEAB}" destId="{0E63ECD5-86D0-4256-BF66-C471FBDB0A1E}" srcOrd="0" destOrd="0" presId="urn:microsoft.com/office/officeart/2005/8/layout/orgChart1"/>
    <dgm:cxn modelId="{503EE3A9-BB62-407B-863C-8AF0D927A8FA}" type="presParOf" srcId="{354D0B5F-34CA-4540-A104-DCAAD9C5CEAB}" destId="{9D14F230-E6FD-488A-96C0-38E597DC4BA0}" srcOrd="1" destOrd="0" presId="urn:microsoft.com/office/officeart/2005/8/layout/orgChart1"/>
    <dgm:cxn modelId="{B98B1BF7-AD54-47E2-985D-E46E7A837FC4}" type="presParOf" srcId="{9D14F230-E6FD-488A-96C0-38E597DC4BA0}" destId="{7D1B4DA2-E7ED-40F4-9285-9F1491596E62}" srcOrd="0" destOrd="0" presId="urn:microsoft.com/office/officeart/2005/8/layout/orgChart1"/>
    <dgm:cxn modelId="{561A4003-63EA-44D2-AC9B-31D65956EC41}" type="presParOf" srcId="{7D1B4DA2-E7ED-40F4-9285-9F1491596E62}" destId="{2D965D50-27FE-4C8C-A35A-1CBD353E3D9C}" srcOrd="0" destOrd="0" presId="urn:microsoft.com/office/officeart/2005/8/layout/orgChart1"/>
    <dgm:cxn modelId="{04C3168E-221B-4A69-932A-AFAAC4B5654A}" type="presParOf" srcId="{7D1B4DA2-E7ED-40F4-9285-9F1491596E62}" destId="{AD73E074-6EDB-4D82-AE74-137743B04A50}" srcOrd="1" destOrd="0" presId="urn:microsoft.com/office/officeart/2005/8/layout/orgChart1"/>
    <dgm:cxn modelId="{5F8B6499-C29D-4484-B667-C116FCE9C6D2}" type="presParOf" srcId="{9D14F230-E6FD-488A-96C0-38E597DC4BA0}" destId="{4376DA2F-39BD-4BAD-88D0-27AF15802DCD}" srcOrd="1" destOrd="0" presId="urn:microsoft.com/office/officeart/2005/8/layout/orgChart1"/>
    <dgm:cxn modelId="{697C418C-1361-44C6-8730-08A3997A3203}" type="presParOf" srcId="{4376DA2F-39BD-4BAD-88D0-27AF15802DCD}" destId="{047B581E-D3FA-4242-8DCC-18FB270B9E27}" srcOrd="0" destOrd="0" presId="urn:microsoft.com/office/officeart/2005/8/layout/orgChart1"/>
    <dgm:cxn modelId="{AC452ED2-0AE3-4DA6-9E9B-AC70ECC1ACCC}" type="presParOf" srcId="{4376DA2F-39BD-4BAD-88D0-27AF15802DCD}" destId="{592AF50A-EF4F-45CC-8D46-26D8F699BDDF}" srcOrd="1" destOrd="0" presId="urn:microsoft.com/office/officeart/2005/8/layout/orgChart1"/>
    <dgm:cxn modelId="{C7306273-24D8-4A55-BA8D-5DFC81A226DF}" type="presParOf" srcId="{592AF50A-EF4F-45CC-8D46-26D8F699BDDF}" destId="{22CE5E84-D2BC-4DB5-AAD5-34E380B59532}" srcOrd="0" destOrd="0" presId="urn:microsoft.com/office/officeart/2005/8/layout/orgChart1"/>
    <dgm:cxn modelId="{600D5D9F-E837-4D77-AA07-B9F37386B2B4}" type="presParOf" srcId="{22CE5E84-D2BC-4DB5-AAD5-34E380B59532}" destId="{49521B4C-A83A-437E-86CD-0D7C9565BF5E}" srcOrd="0" destOrd="0" presId="urn:microsoft.com/office/officeart/2005/8/layout/orgChart1"/>
    <dgm:cxn modelId="{F05DB589-F520-4650-944F-3207465B9CFF}" type="presParOf" srcId="{22CE5E84-D2BC-4DB5-AAD5-34E380B59532}" destId="{E0F10338-E5EF-420A-8A84-E9B7C54800DE}" srcOrd="1" destOrd="0" presId="urn:microsoft.com/office/officeart/2005/8/layout/orgChart1"/>
    <dgm:cxn modelId="{2FD37EA6-F0E0-47A9-A738-8F357F0CF215}" type="presParOf" srcId="{592AF50A-EF4F-45CC-8D46-26D8F699BDDF}" destId="{48111ADA-A5E1-438B-99A9-61274A18BFB7}" srcOrd="1" destOrd="0" presId="urn:microsoft.com/office/officeart/2005/8/layout/orgChart1"/>
    <dgm:cxn modelId="{CE158080-8863-4276-B04F-AE84FBA8639E}" type="presParOf" srcId="{48111ADA-A5E1-438B-99A9-61274A18BFB7}" destId="{CAC31CD6-E031-4510-83FE-9118A47CF787}" srcOrd="0" destOrd="0" presId="urn:microsoft.com/office/officeart/2005/8/layout/orgChart1"/>
    <dgm:cxn modelId="{88BE1E47-B989-4867-A718-07E87471CD45}" type="presParOf" srcId="{48111ADA-A5E1-438B-99A9-61274A18BFB7}" destId="{67A1173C-3B3E-496A-AA22-EE24CE0F16E1}" srcOrd="1" destOrd="0" presId="urn:microsoft.com/office/officeart/2005/8/layout/orgChart1"/>
    <dgm:cxn modelId="{BB8098F6-7474-4C5C-AB43-A53CC2F86E35}" type="presParOf" srcId="{67A1173C-3B3E-496A-AA22-EE24CE0F16E1}" destId="{438740E3-B0E1-4944-A2C9-748CEA5B867C}" srcOrd="0" destOrd="0" presId="urn:microsoft.com/office/officeart/2005/8/layout/orgChart1"/>
    <dgm:cxn modelId="{DF6C6AA6-D110-40C6-886D-68B115765131}" type="presParOf" srcId="{438740E3-B0E1-4944-A2C9-748CEA5B867C}" destId="{4F3CC745-4A24-4270-BF7D-9DAC8D3119F6}" srcOrd="0" destOrd="0" presId="urn:microsoft.com/office/officeart/2005/8/layout/orgChart1"/>
    <dgm:cxn modelId="{EF959808-3A4E-4200-A8EA-56BB581948D0}" type="presParOf" srcId="{438740E3-B0E1-4944-A2C9-748CEA5B867C}" destId="{0563388B-56F5-4A92-A11E-35B16EDC4655}" srcOrd="1" destOrd="0" presId="urn:microsoft.com/office/officeart/2005/8/layout/orgChart1"/>
    <dgm:cxn modelId="{291591A9-4692-4444-83CE-FF3CC154CFF4}" type="presParOf" srcId="{67A1173C-3B3E-496A-AA22-EE24CE0F16E1}" destId="{EAA5067A-AB55-4428-9034-394AF096C86B}" srcOrd="1" destOrd="0" presId="urn:microsoft.com/office/officeart/2005/8/layout/orgChart1"/>
    <dgm:cxn modelId="{0291B9BE-5658-456C-8FDE-9032D7876A77}" type="presParOf" srcId="{EAA5067A-AB55-4428-9034-394AF096C86B}" destId="{DE5BDCEF-0F7F-4E72-ABD0-A0A5B199763D}" srcOrd="0" destOrd="0" presId="urn:microsoft.com/office/officeart/2005/8/layout/orgChart1"/>
    <dgm:cxn modelId="{01179371-6142-4657-A908-E3C5C6287AE5}" type="presParOf" srcId="{EAA5067A-AB55-4428-9034-394AF096C86B}" destId="{B654C100-77FA-4CA6-9C73-76A7F733B737}" srcOrd="1" destOrd="0" presId="urn:microsoft.com/office/officeart/2005/8/layout/orgChart1"/>
    <dgm:cxn modelId="{C5CCC5F0-A028-4DA2-A644-49B9404C7244}" type="presParOf" srcId="{B654C100-77FA-4CA6-9C73-76A7F733B737}" destId="{20BEC40F-8AC5-4243-BB33-B6CFCF341964}" srcOrd="0" destOrd="0" presId="urn:microsoft.com/office/officeart/2005/8/layout/orgChart1"/>
    <dgm:cxn modelId="{34F9E9E0-F5B2-4B55-A94E-61BEF3AEC70F}" type="presParOf" srcId="{20BEC40F-8AC5-4243-BB33-B6CFCF341964}" destId="{5820D28A-8FC8-4C0C-B7A1-942E79DE55F6}" srcOrd="0" destOrd="0" presId="urn:microsoft.com/office/officeart/2005/8/layout/orgChart1"/>
    <dgm:cxn modelId="{8B566574-88E0-46A3-A09E-D0955914CCFB}" type="presParOf" srcId="{20BEC40F-8AC5-4243-BB33-B6CFCF341964}" destId="{05ADF5E0-7CC7-4238-BC40-B2AB4138D5D3}" srcOrd="1" destOrd="0" presId="urn:microsoft.com/office/officeart/2005/8/layout/orgChart1"/>
    <dgm:cxn modelId="{55B8DB80-E64A-4913-81ED-9CFBBCEA3538}" type="presParOf" srcId="{B654C100-77FA-4CA6-9C73-76A7F733B737}" destId="{DBFA8040-BF10-434C-833C-74324BA3016F}" srcOrd="1" destOrd="0" presId="urn:microsoft.com/office/officeart/2005/8/layout/orgChart1"/>
    <dgm:cxn modelId="{97B9860C-AF8E-4F5E-B7E3-8036296663D8}" type="presParOf" srcId="{B654C100-77FA-4CA6-9C73-76A7F733B737}" destId="{D647F9DB-A1CF-4248-8F99-8A13F89904D9}" srcOrd="2" destOrd="0" presId="urn:microsoft.com/office/officeart/2005/8/layout/orgChart1"/>
    <dgm:cxn modelId="{A2B53937-4A4E-48E6-B929-CE7434A40ED0}" type="presParOf" srcId="{EAA5067A-AB55-4428-9034-394AF096C86B}" destId="{F6D665DD-8570-4CE0-A842-75123709BB4C}" srcOrd="2" destOrd="0" presId="urn:microsoft.com/office/officeart/2005/8/layout/orgChart1"/>
    <dgm:cxn modelId="{D92F6AC8-3F04-4C48-88C8-086E5F595081}" type="presParOf" srcId="{EAA5067A-AB55-4428-9034-394AF096C86B}" destId="{6047EC80-3305-4EA7-8DD8-2676568178EF}" srcOrd="3" destOrd="0" presId="urn:microsoft.com/office/officeart/2005/8/layout/orgChart1"/>
    <dgm:cxn modelId="{36004902-6D3C-4190-880F-8D0231C178A9}" type="presParOf" srcId="{6047EC80-3305-4EA7-8DD8-2676568178EF}" destId="{8A226202-02C8-4A27-9EAA-832318150100}" srcOrd="0" destOrd="0" presId="urn:microsoft.com/office/officeart/2005/8/layout/orgChart1"/>
    <dgm:cxn modelId="{C752201A-9C5D-4C42-8E15-12ADBF299345}" type="presParOf" srcId="{8A226202-02C8-4A27-9EAA-832318150100}" destId="{5D93734A-ED83-4472-B45A-566212F469DA}" srcOrd="0" destOrd="0" presId="urn:microsoft.com/office/officeart/2005/8/layout/orgChart1"/>
    <dgm:cxn modelId="{B626418D-0821-4746-94E8-044A542C4079}" type="presParOf" srcId="{8A226202-02C8-4A27-9EAA-832318150100}" destId="{1346D1D0-AEE1-4BFD-A4F3-8EC3B1F148ED}" srcOrd="1" destOrd="0" presId="urn:microsoft.com/office/officeart/2005/8/layout/orgChart1"/>
    <dgm:cxn modelId="{02B24D73-BC63-4BF1-A114-08EE76E6BBB7}" type="presParOf" srcId="{6047EC80-3305-4EA7-8DD8-2676568178EF}" destId="{2C47CF80-A19E-448C-A16C-F14CF08E568F}" srcOrd="1" destOrd="0" presId="urn:microsoft.com/office/officeart/2005/8/layout/orgChart1"/>
    <dgm:cxn modelId="{C985E347-9909-41EF-BF61-E5086E5AE0EE}" type="presParOf" srcId="{6047EC80-3305-4EA7-8DD8-2676568178EF}" destId="{26EE8FCC-2E5C-4B05-BABA-EA432F4F3646}" srcOrd="2" destOrd="0" presId="urn:microsoft.com/office/officeart/2005/8/layout/orgChart1"/>
    <dgm:cxn modelId="{80A1AE77-C925-454D-BF4F-953DFEDCCCA0}" type="presParOf" srcId="{EAA5067A-AB55-4428-9034-394AF096C86B}" destId="{7D10B0DB-4274-42DC-AFC6-237DCB7F7654}" srcOrd="4" destOrd="0" presId="urn:microsoft.com/office/officeart/2005/8/layout/orgChart1"/>
    <dgm:cxn modelId="{98E56DC0-D636-4DF7-AF6D-31EEEF1EFACE}" type="presParOf" srcId="{EAA5067A-AB55-4428-9034-394AF096C86B}" destId="{5A18DE2B-8534-4087-A854-7AA26B63528C}" srcOrd="5" destOrd="0" presId="urn:microsoft.com/office/officeart/2005/8/layout/orgChart1"/>
    <dgm:cxn modelId="{1266E861-3B02-4903-BDE9-6EE97B98AEF7}" type="presParOf" srcId="{5A18DE2B-8534-4087-A854-7AA26B63528C}" destId="{B7B48580-C53F-461A-82DA-6A149CAC2DC8}" srcOrd="0" destOrd="0" presId="urn:microsoft.com/office/officeart/2005/8/layout/orgChart1"/>
    <dgm:cxn modelId="{EEA51825-5AED-483F-9B2A-281323696C25}" type="presParOf" srcId="{B7B48580-C53F-461A-82DA-6A149CAC2DC8}" destId="{83E99D6C-1DFE-4021-A958-E32010AB3588}" srcOrd="0" destOrd="0" presId="urn:microsoft.com/office/officeart/2005/8/layout/orgChart1"/>
    <dgm:cxn modelId="{33630093-433B-4CE0-A8A7-1A827813447B}" type="presParOf" srcId="{B7B48580-C53F-461A-82DA-6A149CAC2DC8}" destId="{19987F53-EAF0-4547-9B63-638D7D8AEBBF}" srcOrd="1" destOrd="0" presId="urn:microsoft.com/office/officeart/2005/8/layout/orgChart1"/>
    <dgm:cxn modelId="{1C8718A1-2C52-4584-9AFB-574EE9AD9006}" type="presParOf" srcId="{5A18DE2B-8534-4087-A854-7AA26B63528C}" destId="{0E302076-C4F9-4C44-8FC2-CC32DD8BDCFC}" srcOrd="1" destOrd="0" presId="urn:microsoft.com/office/officeart/2005/8/layout/orgChart1"/>
    <dgm:cxn modelId="{7F0009B4-0AB0-4C73-BC31-632828BDA3AC}" type="presParOf" srcId="{5A18DE2B-8534-4087-A854-7AA26B63528C}" destId="{F202026E-4A6C-472C-B200-75CAE445917E}" srcOrd="2" destOrd="0" presId="urn:microsoft.com/office/officeart/2005/8/layout/orgChart1"/>
    <dgm:cxn modelId="{9948F49F-BFD2-4CE7-9F83-01AD9F3D508A}" type="presParOf" srcId="{EAA5067A-AB55-4428-9034-394AF096C86B}" destId="{BE7D4833-F3E4-44FF-80ED-B9723830D697}" srcOrd="6" destOrd="0" presId="urn:microsoft.com/office/officeart/2005/8/layout/orgChart1"/>
    <dgm:cxn modelId="{BFC6BDFB-962F-49B6-8EB5-66A9EDBACD0F}" type="presParOf" srcId="{EAA5067A-AB55-4428-9034-394AF096C86B}" destId="{5500212E-739F-4820-ABC7-AD974D8520BF}" srcOrd="7" destOrd="0" presId="urn:microsoft.com/office/officeart/2005/8/layout/orgChart1"/>
    <dgm:cxn modelId="{822CC9AD-C9FC-4592-AA37-229758681E54}" type="presParOf" srcId="{5500212E-739F-4820-ABC7-AD974D8520BF}" destId="{81377BCF-EF55-4FCD-B9BA-02EFC18AC2A3}" srcOrd="0" destOrd="0" presId="urn:microsoft.com/office/officeart/2005/8/layout/orgChart1"/>
    <dgm:cxn modelId="{55B1F91C-5A72-4566-8FFC-F050AE20F4B5}" type="presParOf" srcId="{81377BCF-EF55-4FCD-B9BA-02EFC18AC2A3}" destId="{DB734AA1-8F95-4B18-B67A-FEF28361D979}" srcOrd="0" destOrd="0" presId="urn:microsoft.com/office/officeart/2005/8/layout/orgChart1"/>
    <dgm:cxn modelId="{628D53AA-1355-46B1-8484-4C098FD7179A}" type="presParOf" srcId="{81377BCF-EF55-4FCD-B9BA-02EFC18AC2A3}" destId="{1ED7C10D-C2B6-4CB1-82CC-AFBC25E1B8D1}" srcOrd="1" destOrd="0" presId="urn:microsoft.com/office/officeart/2005/8/layout/orgChart1"/>
    <dgm:cxn modelId="{EC2B18AD-0AB0-49A0-9795-96990575AB59}" type="presParOf" srcId="{5500212E-739F-4820-ABC7-AD974D8520BF}" destId="{A1850A1F-1BE5-4C0C-97BA-91D32899C37E}" srcOrd="1" destOrd="0" presId="urn:microsoft.com/office/officeart/2005/8/layout/orgChart1"/>
    <dgm:cxn modelId="{28E9A35C-8269-4513-AD82-D2C331ED3483}" type="presParOf" srcId="{5500212E-739F-4820-ABC7-AD974D8520BF}" destId="{D26E3DD7-717C-4814-B940-9E996F72F6E2}" srcOrd="2" destOrd="0" presId="urn:microsoft.com/office/officeart/2005/8/layout/orgChart1"/>
    <dgm:cxn modelId="{92B814A8-0107-4D67-A709-53F7E7ADEF20}" type="presParOf" srcId="{67A1173C-3B3E-496A-AA22-EE24CE0F16E1}" destId="{BF8EAF31-E0F1-47F3-BAAA-998EDCF141FE}" srcOrd="2" destOrd="0" presId="urn:microsoft.com/office/officeart/2005/8/layout/orgChart1"/>
    <dgm:cxn modelId="{0D58C6B5-C887-4C1E-8788-11F500F9691E}" type="presParOf" srcId="{48111ADA-A5E1-438B-99A9-61274A18BFB7}" destId="{D6A3C098-9658-41AE-9CDD-5CAEF7D0DA0C}" srcOrd="2" destOrd="0" presId="urn:microsoft.com/office/officeart/2005/8/layout/orgChart1"/>
    <dgm:cxn modelId="{E6A36990-EA59-45C7-A00C-EC1148C9BBE2}" type="presParOf" srcId="{48111ADA-A5E1-438B-99A9-61274A18BFB7}" destId="{3BAECA2E-789F-47CF-AFE5-54B28F89A0D8}" srcOrd="3" destOrd="0" presId="urn:microsoft.com/office/officeart/2005/8/layout/orgChart1"/>
    <dgm:cxn modelId="{AC342E29-C51B-4776-9607-EA6C4128730F}" type="presParOf" srcId="{3BAECA2E-789F-47CF-AFE5-54B28F89A0D8}" destId="{26ACDDDA-1BA2-4DF2-B494-4E6FD4F84356}" srcOrd="0" destOrd="0" presId="urn:microsoft.com/office/officeart/2005/8/layout/orgChart1"/>
    <dgm:cxn modelId="{1C6ACC49-C00B-4730-B265-9FE4DB873653}" type="presParOf" srcId="{26ACDDDA-1BA2-4DF2-B494-4E6FD4F84356}" destId="{BB37D211-8215-4468-8334-882C3C9D45BB}" srcOrd="0" destOrd="0" presId="urn:microsoft.com/office/officeart/2005/8/layout/orgChart1"/>
    <dgm:cxn modelId="{E880A2D1-9C05-4308-956B-82B63A6866D0}" type="presParOf" srcId="{26ACDDDA-1BA2-4DF2-B494-4E6FD4F84356}" destId="{9F3E8519-3018-45D0-A807-86DF68FEE61E}" srcOrd="1" destOrd="0" presId="urn:microsoft.com/office/officeart/2005/8/layout/orgChart1"/>
    <dgm:cxn modelId="{60D49871-B9A1-4B0C-A0F8-68A5224B77F4}" type="presParOf" srcId="{3BAECA2E-789F-47CF-AFE5-54B28F89A0D8}" destId="{ADF5DA86-0B28-4452-834D-8642D5524493}" srcOrd="1" destOrd="0" presId="urn:microsoft.com/office/officeart/2005/8/layout/orgChart1"/>
    <dgm:cxn modelId="{25E9BA41-5AE6-4E1D-96BF-40E1DDC70B2C}" type="presParOf" srcId="{ADF5DA86-0B28-4452-834D-8642D5524493}" destId="{FDABFFFB-42F3-4E81-81DA-637D7C475466}" srcOrd="0" destOrd="0" presId="urn:microsoft.com/office/officeart/2005/8/layout/orgChart1"/>
    <dgm:cxn modelId="{B916B308-E4F2-485B-9D09-A04747FEF71B}" type="presParOf" srcId="{ADF5DA86-0B28-4452-834D-8642D5524493}" destId="{ABDF6E5F-6205-4466-B31D-D1C6D375F538}" srcOrd="1" destOrd="0" presId="urn:microsoft.com/office/officeart/2005/8/layout/orgChart1"/>
    <dgm:cxn modelId="{DD7B101A-3017-482E-8459-DC2D5F61923C}" type="presParOf" srcId="{ABDF6E5F-6205-4466-B31D-D1C6D375F538}" destId="{EC9EFF60-A6BF-4EFC-A76E-A6C27AE0E2DA}" srcOrd="0" destOrd="0" presId="urn:microsoft.com/office/officeart/2005/8/layout/orgChart1"/>
    <dgm:cxn modelId="{2BCAB39F-9903-48B3-B204-942F17D1DCE1}" type="presParOf" srcId="{EC9EFF60-A6BF-4EFC-A76E-A6C27AE0E2DA}" destId="{F0BFED66-C63B-40F8-B7AD-D7372E3D63D0}" srcOrd="0" destOrd="0" presId="urn:microsoft.com/office/officeart/2005/8/layout/orgChart1"/>
    <dgm:cxn modelId="{9572C170-8B8C-4005-AE3A-D91659FAD755}" type="presParOf" srcId="{EC9EFF60-A6BF-4EFC-A76E-A6C27AE0E2DA}" destId="{B04E87E0-E721-4016-8E14-907A3188032F}" srcOrd="1" destOrd="0" presId="urn:microsoft.com/office/officeart/2005/8/layout/orgChart1"/>
    <dgm:cxn modelId="{DDD524AB-92B6-4ACA-A8DD-CCCF9865D865}" type="presParOf" srcId="{ABDF6E5F-6205-4466-B31D-D1C6D375F538}" destId="{FC567BE1-7484-4BB4-9B97-6678043BBC49}" srcOrd="1" destOrd="0" presId="urn:microsoft.com/office/officeart/2005/8/layout/orgChart1"/>
    <dgm:cxn modelId="{47AFCB40-C6DF-471A-8843-FC9111125D0D}" type="presParOf" srcId="{ABDF6E5F-6205-4466-B31D-D1C6D375F538}" destId="{183B953C-D7CD-498C-A0E4-B70E1B26D224}" srcOrd="2" destOrd="0" presId="urn:microsoft.com/office/officeart/2005/8/layout/orgChart1"/>
    <dgm:cxn modelId="{673A2AA9-54D5-439D-9E40-F76BA493F459}" type="presParOf" srcId="{3BAECA2E-789F-47CF-AFE5-54B28F89A0D8}" destId="{C60DCBBE-0758-4E43-AF6C-58ED35D1480E}" srcOrd="2" destOrd="0" presId="urn:microsoft.com/office/officeart/2005/8/layout/orgChart1"/>
    <dgm:cxn modelId="{DFD68AED-7A04-433D-9E5A-DDFAD09C9B9B}" type="presParOf" srcId="{592AF50A-EF4F-45CC-8D46-26D8F699BDDF}" destId="{F4E0D9E7-0128-4B0B-B320-E28088683724}" srcOrd="2" destOrd="0" presId="urn:microsoft.com/office/officeart/2005/8/layout/orgChart1"/>
    <dgm:cxn modelId="{C71A1C96-C971-4329-9F34-1F6D2E5AC62A}" type="presParOf" srcId="{4376DA2F-39BD-4BAD-88D0-27AF15802DCD}" destId="{5B7615A3-571D-427D-81DB-9CC082A2B289}" srcOrd="2" destOrd="0" presId="urn:microsoft.com/office/officeart/2005/8/layout/orgChart1"/>
    <dgm:cxn modelId="{4ED7E91B-130E-47EC-9C9A-F240F2D2483E}" type="presParOf" srcId="{4376DA2F-39BD-4BAD-88D0-27AF15802DCD}" destId="{1A76D4CA-EA66-4E33-A594-1867959938EF}" srcOrd="3" destOrd="0" presId="urn:microsoft.com/office/officeart/2005/8/layout/orgChart1"/>
    <dgm:cxn modelId="{E0BDBD9E-AD00-4988-8099-E86CF4765454}" type="presParOf" srcId="{1A76D4CA-EA66-4E33-A594-1867959938EF}" destId="{92AB6129-18AA-4E3F-B322-91197DD899C4}" srcOrd="0" destOrd="0" presId="urn:microsoft.com/office/officeart/2005/8/layout/orgChart1"/>
    <dgm:cxn modelId="{B1B1274A-EC86-4518-9CDC-D13D1A88EBC2}" type="presParOf" srcId="{92AB6129-18AA-4E3F-B322-91197DD899C4}" destId="{D18085CE-4D41-4C0E-A17D-5F1928EB2207}" srcOrd="0" destOrd="0" presId="urn:microsoft.com/office/officeart/2005/8/layout/orgChart1"/>
    <dgm:cxn modelId="{F6B5D953-15F3-4246-B8AE-4C1ACDBFE8A6}" type="presParOf" srcId="{92AB6129-18AA-4E3F-B322-91197DD899C4}" destId="{21DCA754-1F7F-4FA1-A83D-061EDFBAF146}" srcOrd="1" destOrd="0" presId="urn:microsoft.com/office/officeart/2005/8/layout/orgChart1"/>
    <dgm:cxn modelId="{5E91EE4A-F81A-41B2-906D-078A50319917}" type="presParOf" srcId="{1A76D4CA-EA66-4E33-A594-1867959938EF}" destId="{FD9B792E-E7EF-4B74-975A-9C884EC290AF}" srcOrd="1" destOrd="0" presId="urn:microsoft.com/office/officeart/2005/8/layout/orgChart1"/>
    <dgm:cxn modelId="{9638C83F-9E6B-4599-B67C-07FC6BF9D3D1}" type="presParOf" srcId="{FD9B792E-E7EF-4B74-975A-9C884EC290AF}" destId="{C2D8B590-DD53-4460-96BB-82EFD2A5CA1D}" srcOrd="0" destOrd="0" presId="urn:microsoft.com/office/officeart/2005/8/layout/orgChart1"/>
    <dgm:cxn modelId="{84DE1909-2756-46B9-8BD7-75E34CFE83CC}" type="presParOf" srcId="{FD9B792E-E7EF-4B74-975A-9C884EC290AF}" destId="{942CC5B6-22FE-4415-911B-68F47A4EA2C7}" srcOrd="1" destOrd="0" presId="urn:microsoft.com/office/officeart/2005/8/layout/orgChart1"/>
    <dgm:cxn modelId="{B9CB43CB-39AC-462E-ACB5-59E73D95A291}" type="presParOf" srcId="{942CC5B6-22FE-4415-911B-68F47A4EA2C7}" destId="{5587BF83-885E-4649-A6EC-5824405A3697}" srcOrd="0" destOrd="0" presId="urn:microsoft.com/office/officeart/2005/8/layout/orgChart1"/>
    <dgm:cxn modelId="{08D60B76-D73E-40A1-A5D6-A1838E7F2AD0}" type="presParOf" srcId="{5587BF83-885E-4649-A6EC-5824405A3697}" destId="{D9FB34C9-9EFF-48DE-AEDA-B2B4F1FF7548}" srcOrd="0" destOrd="0" presId="urn:microsoft.com/office/officeart/2005/8/layout/orgChart1"/>
    <dgm:cxn modelId="{3F113F1D-EBED-4C53-9558-391265CF5B20}" type="presParOf" srcId="{5587BF83-885E-4649-A6EC-5824405A3697}" destId="{EE394C05-AF88-4DFB-94C5-64125D152A39}" srcOrd="1" destOrd="0" presId="urn:microsoft.com/office/officeart/2005/8/layout/orgChart1"/>
    <dgm:cxn modelId="{96DA0BAF-DB6D-4BDD-AC03-91D32FCF2956}" type="presParOf" srcId="{942CC5B6-22FE-4415-911B-68F47A4EA2C7}" destId="{41D00496-4E92-4B81-9A12-662CCAFD67E1}" srcOrd="1" destOrd="0" presId="urn:microsoft.com/office/officeart/2005/8/layout/orgChart1"/>
    <dgm:cxn modelId="{B6D61242-01AD-422B-B29D-19412EEF4683}" type="presParOf" srcId="{942CC5B6-22FE-4415-911B-68F47A4EA2C7}" destId="{3401044C-AA45-48E7-A647-F6AF03C1EEA5}" srcOrd="2" destOrd="0" presId="urn:microsoft.com/office/officeart/2005/8/layout/orgChart1"/>
    <dgm:cxn modelId="{B58AF6D8-665D-4F16-8A29-4059E080A0CF}" type="presParOf" srcId="{FD9B792E-E7EF-4B74-975A-9C884EC290AF}" destId="{980435D6-EE9A-4847-BD25-59A20FC7F6CF}" srcOrd="2" destOrd="0" presId="urn:microsoft.com/office/officeart/2005/8/layout/orgChart1"/>
    <dgm:cxn modelId="{C2F949A2-D281-4C58-9FAC-8849B29AE937}" type="presParOf" srcId="{FD9B792E-E7EF-4B74-975A-9C884EC290AF}" destId="{BF13FEBD-E1AD-47BD-AB11-2D48D12FB8EA}" srcOrd="3" destOrd="0" presId="urn:microsoft.com/office/officeart/2005/8/layout/orgChart1"/>
    <dgm:cxn modelId="{5A40F3A6-ACBA-4726-95BD-13B68D1AB86B}" type="presParOf" srcId="{BF13FEBD-E1AD-47BD-AB11-2D48D12FB8EA}" destId="{972D338F-6BC3-4157-8AB1-F0BAF92D9F37}" srcOrd="0" destOrd="0" presId="urn:microsoft.com/office/officeart/2005/8/layout/orgChart1"/>
    <dgm:cxn modelId="{6615F47D-6026-486C-8D2A-5D5990293583}" type="presParOf" srcId="{972D338F-6BC3-4157-8AB1-F0BAF92D9F37}" destId="{5765E174-4C44-46B4-85E7-8FD5F7470A11}" srcOrd="0" destOrd="0" presId="urn:microsoft.com/office/officeart/2005/8/layout/orgChart1"/>
    <dgm:cxn modelId="{70C201B8-1D04-4D97-A675-CB36AAEBA66F}" type="presParOf" srcId="{972D338F-6BC3-4157-8AB1-F0BAF92D9F37}" destId="{06502DBB-8D59-419E-9FB0-CCB0DF77E64B}" srcOrd="1" destOrd="0" presId="urn:microsoft.com/office/officeart/2005/8/layout/orgChart1"/>
    <dgm:cxn modelId="{38EB019C-4E86-4840-9CA6-2F36AA032FD8}" type="presParOf" srcId="{BF13FEBD-E1AD-47BD-AB11-2D48D12FB8EA}" destId="{0ACA7634-ABB1-4853-8CCD-EF5F30072840}" srcOrd="1" destOrd="0" presId="urn:microsoft.com/office/officeart/2005/8/layout/orgChart1"/>
    <dgm:cxn modelId="{6F128204-5B32-4D67-B6B0-9C90D7608046}" type="presParOf" srcId="{BF13FEBD-E1AD-47BD-AB11-2D48D12FB8EA}" destId="{7C2BF6A1-4FA9-44D4-B9B7-1D206F378263}" srcOrd="2" destOrd="0" presId="urn:microsoft.com/office/officeart/2005/8/layout/orgChart1"/>
    <dgm:cxn modelId="{FA34DFEA-57FD-4E11-BB9D-9CB7F8D2243B}" type="presParOf" srcId="{1A76D4CA-EA66-4E33-A594-1867959938EF}" destId="{C6530768-CD4A-476F-94A3-F15F95459DF6}" srcOrd="2" destOrd="0" presId="urn:microsoft.com/office/officeart/2005/8/layout/orgChart1"/>
    <dgm:cxn modelId="{954D1897-97AB-44AC-8C57-058D4A173DF5}" type="presParOf" srcId="{9D14F230-E6FD-488A-96C0-38E597DC4BA0}" destId="{87797CB8-0C25-41EE-ACD1-6B59626373EC}" srcOrd="2" destOrd="0" presId="urn:microsoft.com/office/officeart/2005/8/layout/orgChart1"/>
    <dgm:cxn modelId="{FF1A0A65-FBDB-4A59-A361-786FE7B2E703}" type="presParOf" srcId="{354D0B5F-34CA-4540-A104-DCAAD9C5CEAB}" destId="{654FF6DA-A8C7-459F-8EDE-20AA4ECE9E95}" srcOrd="2" destOrd="0" presId="urn:microsoft.com/office/officeart/2005/8/layout/orgChart1"/>
    <dgm:cxn modelId="{7C02F1FC-EDA7-417B-9EF3-CA85B7FEB0BF}" type="presParOf" srcId="{354D0B5F-34CA-4540-A104-DCAAD9C5CEAB}" destId="{B0519F93-79E1-4CDA-AE93-236092975C6F}" srcOrd="3" destOrd="0" presId="urn:microsoft.com/office/officeart/2005/8/layout/orgChart1"/>
    <dgm:cxn modelId="{21106498-EBA0-4678-B070-2602F3CA09F9}" type="presParOf" srcId="{B0519F93-79E1-4CDA-AE93-236092975C6F}" destId="{5C73D284-EA56-46FA-81AE-4A5C6F401C97}" srcOrd="0" destOrd="0" presId="urn:microsoft.com/office/officeart/2005/8/layout/orgChart1"/>
    <dgm:cxn modelId="{E563AFF2-7F00-4D2F-9665-1CA17730A94F}" type="presParOf" srcId="{5C73D284-EA56-46FA-81AE-4A5C6F401C97}" destId="{92783CAA-A081-4EA9-86D5-4801B0CF8B0C}" srcOrd="0" destOrd="0" presId="urn:microsoft.com/office/officeart/2005/8/layout/orgChart1"/>
    <dgm:cxn modelId="{E4CBAE76-8EE7-4941-B8F0-94B93546E27A}" type="presParOf" srcId="{5C73D284-EA56-46FA-81AE-4A5C6F401C97}" destId="{5982FEDD-92E1-4830-9939-AC5071714E30}" srcOrd="1" destOrd="0" presId="urn:microsoft.com/office/officeart/2005/8/layout/orgChart1"/>
    <dgm:cxn modelId="{CED989FF-C2E0-44A5-993C-23597638963A}" type="presParOf" srcId="{B0519F93-79E1-4CDA-AE93-236092975C6F}" destId="{EFB0329A-3E32-4D46-AC7C-67005F239E92}" srcOrd="1" destOrd="0" presId="urn:microsoft.com/office/officeart/2005/8/layout/orgChart1"/>
    <dgm:cxn modelId="{FC8E8D2E-5CAC-4C83-9274-63D15A7AE917}" type="presParOf" srcId="{EFB0329A-3E32-4D46-AC7C-67005F239E92}" destId="{31274228-648A-442C-AC6F-134DDB2694C6}" srcOrd="0" destOrd="0" presId="urn:microsoft.com/office/officeart/2005/8/layout/orgChart1"/>
    <dgm:cxn modelId="{685ABF2B-DF85-43C0-9344-E93EE5EF9893}" type="presParOf" srcId="{EFB0329A-3E32-4D46-AC7C-67005F239E92}" destId="{56153E80-07F7-4254-8B82-35C79C6AB748}" srcOrd="1" destOrd="0" presId="urn:microsoft.com/office/officeart/2005/8/layout/orgChart1"/>
    <dgm:cxn modelId="{AF28F4C5-07B6-4675-B643-00D35A6B03EC}" type="presParOf" srcId="{56153E80-07F7-4254-8B82-35C79C6AB748}" destId="{8F600C71-4A3C-4605-99C6-D05A80F9C6D6}" srcOrd="0" destOrd="0" presId="urn:microsoft.com/office/officeart/2005/8/layout/orgChart1"/>
    <dgm:cxn modelId="{D1D52123-EDD7-42A2-B098-02B26D9E4DFF}" type="presParOf" srcId="{8F600C71-4A3C-4605-99C6-D05A80F9C6D6}" destId="{692E5295-F703-4F47-9497-F584B2FC87CD}" srcOrd="0" destOrd="0" presId="urn:microsoft.com/office/officeart/2005/8/layout/orgChart1"/>
    <dgm:cxn modelId="{40DCF73E-465C-42CB-AF6E-0E64C1ADCC32}" type="presParOf" srcId="{8F600C71-4A3C-4605-99C6-D05A80F9C6D6}" destId="{514B5AB6-BB00-4E49-8526-DFD2A659FE3B}" srcOrd="1" destOrd="0" presId="urn:microsoft.com/office/officeart/2005/8/layout/orgChart1"/>
    <dgm:cxn modelId="{40068034-BAD1-40E6-9535-5F71763334CF}" type="presParOf" srcId="{56153E80-07F7-4254-8B82-35C79C6AB748}" destId="{68CBE1BC-AEF7-4312-B29C-CE5EF0B71C5D}" srcOrd="1" destOrd="0" presId="urn:microsoft.com/office/officeart/2005/8/layout/orgChart1"/>
    <dgm:cxn modelId="{411BC968-AA39-47E1-9771-C1B9E03C6EA8}" type="presParOf" srcId="{56153E80-07F7-4254-8B82-35C79C6AB748}" destId="{069B416A-F282-48EC-9638-6E3037166717}" srcOrd="2" destOrd="0" presId="urn:microsoft.com/office/officeart/2005/8/layout/orgChart1"/>
    <dgm:cxn modelId="{F4A8D9C0-51E4-46E3-B3F1-ABCA59F5BF2E}" type="presParOf" srcId="{B0519F93-79E1-4CDA-AE93-236092975C6F}" destId="{55575F01-8D69-43C4-BEB9-F61DD67444A4}" srcOrd="2" destOrd="0" presId="urn:microsoft.com/office/officeart/2005/8/layout/orgChart1"/>
    <dgm:cxn modelId="{4E29B32A-6C60-4762-AAD8-23032E7A44FE}" type="presParOf" srcId="{1138A4CA-C032-4B2C-AB4B-A6B41BCBECE9}" destId="{88E6A947-0DFB-4A13-81B9-21F2FA65844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2434BB-4AA2-4B0A-8589-6F86E78EF52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048498EC-974B-4643-865D-011CCA685105}">
      <dgm:prSet phldrT="[Text]"/>
      <dgm:spPr/>
      <dgm:t>
        <a:bodyPr/>
        <a:lstStyle/>
        <a:p>
          <a:r>
            <a:rPr lang="en-US" b="1" dirty="0"/>
            <a:t>Toán tử</a:t>
          </a:r>
          <a:endParaRPr lang="en-US" dirty="0"/>
        </a:p>
      </dgm:t>
    </dgm:pt>
    <dgm:pt modelId="{10A7731A-7D25-4D6A-9ACC-7C41E46C3830}" type="parTrans" cxnId="{3BA6B095-F2AA-4403-9213-8BE5B9994B77}">
      <dgm:prSet/>
      <dgm:spPr/>
      <dgm:t>
        <a:bodyPr/>
        <a:lstStyle/>
        <a:p>
          <a:endParaRPr lang="en-US"/>
        </a:p>
      </dgm:t>
    </dgm:pt>
    <dgm:pt modelId="{5DB43A49-96E8-49E4-88FF-95743D6AC058}" type="sibTrans" cxnId="{3BA6B095-F2AA-4403-9213-8BE5B9994B77}">
      <dgm:prSet/>
      <dgm:spPr/>
      <dgm:t>
        <a:bodyPr/>
        <a:lstStyle/>
        <a:p>
          <a:endParaRPr lang="en-US"/>
        </a:p>
      </dgm:t>
    </dgm:pt>
    <dgm:pt modelId="{F81825FA-E318-4D1F-8ED4-AFE98BEE431C}">
      <dgm:prSet phldrT="[Text]"/>
      <dgm:spPr/>
      <dgm:t>
        <a:bodyPr/>
        <a:lstStyle/>
        <a:p>
          <a:r>
            <a:rPr lang="en-US" b="1" dirty="0"/>
            <a:t>Số học</a:t>
          </a:r>
          <a:endParaRPr lang="en-US" dirty="0"/>
        </a:p>
      </dgm:t>
    </dgm:pt>
    <dgm:pt modelId="{26350AC8-7AA7-4A7F-B1BD-D4FDB89F8E9A}" type="parTrans" cxnId="{8AB775C9-05C6-427A-9E37-EA5C4CC45537}">
      <dgm:prSet/>
      <dgm:spPr/>
      <dgm:t>
        <a:bodyPr/>
        <a:lstStyle/>
        <a:p>
          <a:endParaRPr lang="en-US"/>
        </a:p>
      </dgm:t>
    </dgm:pt>
    <dgm:pt modelId="{A9A418D4-C4FF-4692-90F9-316836E49681}" type="sibTrans" cxnId="{8AB775C9-05C6-427A-9E37-EA5C4CC45537}">
      <dgm:prSet/>
      <dgm:spPr/>
      <dgm:t>
        <a:bodyPr/>
        <a:lstStyle/>
        <a:p>
          <a:endParaRPr lang="en-US"/>
        </a:p>
      </dgm:t>
    </dgm:pt>
    <dgm:pt modelId="{0D06EC13-A159-4EE4-81EB-54CE06E08A40}">
      <dgm:prSet phldrT="[Text]"/>
      <dgm:spPr/>
      <dgm:t>
        <a:bodyPr/>
        <a:lstStyle/>
        <a:p>
          <a:r>
            <a:rPr lang="en-US" b="1" dirty="0"/>
            <a:t>So sánh</a:t>
          </a:r>
          <a:endParaRPr lang="en-US" dirty="0"/>
        </a:p>
      </dgm:t>
    </dgm:pt>
    <dgm:pt modelId="{327BC233-733F-4C68-A747-FA122DA8F6B9}" type="parTrans" cxnId="{DE86CC0E-33B2-49D2-9B1A-5CAF2C7F896E}">
      <dgm:prSet/>
      <dgm:spPr/>
      <dgm:t>
        <a:bodyPr/>
        <a:lstStyle/>
        <a:p>
          <a:endParaRPr lang="en-US"/>
        </a:p>
      </dgm:t>
    </dgm:pt>
    <dgm:pt modelId="{127ACB42-4E07-4A89-AF4B-2834A4565A89}" type="sibTrans" cxnId="{DE86CC0E-33B2-49D2-9B1A-5CAF2C7F896E}">
      <dgm:prSet/>
      <dgm:spPr/>
      <dgm:t>
        <a:bodyPr/>
        <a:lstStyle/>
        <a:p>
          <a:endParaRPr lang="en-US"/>
        </a:p>
      </dgm:t>
    </dgm:pt>
    <dgm:pt modelId="{4E7DA41B-871B-4479-BFCE-036A2B8198A7}">
      <dgm:prSet phldrT="[Text]"/>
      <dgm:spPr/>
      <dgm:t>
        <a:bodyPr/>
        <a:lstStyle/>
        <a:p>
          <a:r>
            <a:rPr lang="en-US" b="1" dirty="0"/>
            <a:t>Logic</a:t>
          </a:r>
          <a:endParaRPr lang="en-US" dirty="0"/>
        </a:p>
      </dgm:t>
    </dgm:pt>
    <dgm:pt modelId="{6DC10CFF-CD84-498B-9B50-5F5BE4638D21}" type="parTrans" cxnId="{3DE6D5BD-D53C-4EB5-8FCC-97399BAE7F96}">
      <dgm:prSet/>
      <dgm:spPr/>
      <dgm:t>
        <a:bodyPr/>
        <a:lstStyle/>
        <a:p>
          <a:endParaRPr lang="en-US"/>
        </a:p>
      </dgm:t>
    </dgm:pt>
    <dgm:pt modelId="{C364B14F-B276-4294-870D-E578D11A0553}" type="sibTrans" cxnId="{3DE6D5BD-D53C-4EB5-8FCC-97399BAE7F96}">
      <dgm:prSet/>
      <dgm:spPr/>
      <dgm:t>
        <a:bodyPr/>
        <a:lstStyle/>
        <a:p>
          <a:endParaRPr lang="en-US"/>
        </a:p>
      </dgm:t>
    </dgm:pt>
    <dgm:pt modelId="{CD16646E-E00D-4B1E-B325-DC4E8FE3500C}">
      <dgm:prSet/>
      <dgm:spPr/>
      <dgm:t>
        <a:bodyPr/>
        <a:lstStyle/>
        <a:p>
          <a:r>
            <a:rPr lang="en-US" b="1" dirty="0"/>
            <a:t>Gán</a:t>
          </a:r>
        </a:p>
      </dgm:t>
    </dgm:pt>
    <dgm:pt modelId="{E94E393D-EEB8-45F2-B1EA-A18B2DEC6629}" type="parTrans" cxnId="{3860F041-B3A8-46B2-86C6-BC0068444C64}">
      <dgm:prSet/>
      <dgm:spPr/>
      <dgm:t>
        <a:bodyPr/>
        <a:lstStyle/>
        <a:p>
          <a:endParaRPr lang="en-US"/>
        </a:p>
      </dgm:t>
    </dgm:pt>
    <dgm:pt modelId="{C8A454BE-57EF-4528-B86D-EA6D7D45F200}" type="sibTrans" cxnId="{3860F041-B3A8-46B2-86C6-BC0068444C64}">
      <dgm:prSet/>
      <dgm:spPr/>
      <dgm:t>
        <a:bodyPr/>
        <a:lstStyle/>
        <a:p>
          <a:endParaRPr lang="en-US"/>
        </a:p>
      </dgm:t>
    </dgm:pt>
    <dgm:pt modelId="{3BFC0F55-C752-4D6F-8A93-FC8992D790FB}" type="pres">
      <dgm:prSet presAssocID="{062434BB-4AA2-4B0A-8589-6F86E78EF52F}" presName="hierChild1" presStyleCnt="0">
        <dgm:presLayoutVars>
          <dgm:orgChart val="1"/>
          <dgm:chPref val="1"/>
          <dgm:dir/>
          <dgm:animOne val="branch"/>
          <dgm:animLvl val="lvl"/>
          <dgm:resizeHandles/>
        </dgm:presLayoutVars>
      </dgm:prSet>
      <dgm:spPr/>
    </dgm:pt>
    <dgm:pt modelId="{84CC9344-BD09-41E5-9182-8156412D308C}" type="pres">
      <dgm:prSet presAssocID="{048498EC-974B-4643-865D-011CCA685105}" presName="hierRoot1" presStyleCnt="0">
        <dgm:presLayoutVars>
          <dgm:hierBranch val="init"/>
        </dgm:presLayoutVars>
      </dgm:prSet>
      <dgm:spPr/>
    </dgm:pt>
    <dgm:pt modelId="{55946779-4226-4950-A4AD-EE8DF829A8BE}" type="pres">
      <dgm:prSet presAssocID="{048498EC-974B-4643-865D-011CCA685105}" presName="rootComposite1" presStyleCnt="0"/>
      <dgm:spPr/>
    </dgm:pt>
    <dgm:pt modelId="{B70E5259-A20B-451B-A890-A874C0A89878}" type="pres">
      <dgm:prSet presAssocID="{048498EC-974B-4643-865D-011CCA685105}" presName="rootText1" presStyleLbl="node0" presStyleIdx="0" presStyleCnt="1" custLinFactY="-32749" custLinFactNeighborX="-5418" custLinFactNeighborY="-100000">
        <dgm:presLayoutVars>
          <dgm:chPref val="3"/>
        </dgm:presLayoutVars>
      </dgm:prSet>
      <dgm:spPr/>
    </dgm:pt>
    <dgm:pt modelId="{EC78D55C-3DC4-486B-B3CE-41E81BE281AC}" type="pres">
      <dgm:prSet presAssocID="{048498EC-974B-4643-865D-011CCA685105}" presName="rootConnector1" presStyleLbl="node1" presStyleIdx="0" presStyleCnt="0"/>
      <dgm:spPr/>
    </dgm:pt>
    <dgm:pt modelId="{B41EBD41-FBE4-43D8-9247-E09072FBD7B2}" type="pres">
      <dgm:prSet presAssocID="{048498EC-974B-4643-865D-011CCA685105}" presName="hierChild2" presStyleCnt="0"/>
      <dgm:spPr/>
    </dgm:pt>
    <dgm:pt modelId="{AB01B760-22ED-48FA-A1F7-E3571474E211}" type="pres">
      <dgm:prSet presAssocID="{26350AC8-7AA7-4A7F-B1BD-D4FDB89F8E9A}" presName="Name37" presStyleLbl="parChTrans1D2" presStyleIdx="0" presStyleCnt="4"/>
      <dgm:spPr/>
    </dgm:pt>
    <dgm:pt modelId="{E1540ADB-F1E5-4AE1-8606-A843D8BA8B09}" type="pres">
      <dgm:prSet presAssocID="{F81825FA-E318-4D1F-8ED4-AFE98BEE431C}" presName="hierRoot2" presStyleCnt="0">
        <dgm:presLayoutVars>
          <dgm:hierBranch val="init"/>
        </dgm:presLayoutVars>
      </dgm:prSet>
      <dgm:spPr/>
    </dgm:pt>
    <dgm:pt modelId="{5420231C-0E6B-40E7-9E76-788D8E21ADD1}" type="pres">
      <dgm:prSet presAssocID="{F81825FA-E318-4D1F-8ED4-AFE98BEE431C}" presName="rootComposite" presStyleCnt="0"/>
      <dgm:spPr/>
    </dgm:pt>
    <dgm:pt modelId="{0504C8F2-F2F6-4F37-B281-D2874FB94D27}" type="pres">
      <dgm:prSet presAssocID="{F81825FA-E318-4D1F-8ED4-AFE98BEE431C}" presName="rootText" presStyleLbl="node2" presStyleIdx="0" presStyleCnt="4" custLinFactNeighborX="240" custLinFactNeighborY="-97530">
        <dgm:presLayoutVars>
          <dgm:chPref val="3"/>
        </dgm:presLayoutVars>
      </dgm:prSet>
      <dgm:spPr/>
    </dgm:pt>
    <dgm:pt modelId="{34EB6AFB-5562-4429-9425-84D42168817E}" type="pres">
      <dgm:prSet presAssocID="{F81825FA-E318-4D1F-8ED4-AFE98BEE431C}" presName="rootConnector" presStyleLbl="node2" presStyleIdx="0" presStyleCnt="4"/>
      <dgm:spPr/>
    </dgm:pt>
    <dgm:pt modelId="{B03FABCC-9DCB-4233-AA06-CF8DD7EB5BF0}" type="pres">
      <dgm:prSet presAssocID="{F81825FA-E318-4D1F-8ED4-AFE98BEE431C}" presName="hierChild4" presStyleCnt="0"/>
      <dgm:spPr/>
    </dgm:pt>
    <dgm:pt modelId="{A7F8EEB5-B5CA-463F-A793-858C7DCA20E4}" type="pres">
      <dgm:prSet presAssocID="{F81825FA-E318-4D1F-8ED4-AFE98BEE431C}" presName="hierChild5" presStyleCnt="0"/>
      <dgm:spPr/>
    </dgm:pt>
    <dgm:pt modelId="{2D65702C-9BE7-43D7-BB90-8DAF533B536A}" type="pres">
      <dgm:prSet presAssocID="{327BC233-733F-4C68-A747-FA122DA8F6B9}" presName="Name37" presStyleLbl="parChTrans1D2" presStyleIdx="1" presStyleCnt="4"/>
      <dgm:spPr/>
    </dgm:pt>
    <dgm:pt modelId="{8A17D18B-29D3-490C-B19A-795E240EB40A}" type="pres">
      <dgm:prSet presAssocID="{0D06EC13-A159-4EE4-81EB-54CE06E08A40}" presName="hierRoot2" presStyleCnt="0">
        <dgm:presLayoutVars>
          <dgm:hierBranch val="init"/>
        </dgm:presLayoutVars>
      </dgm:prSet>
      <dgm:spPr/>
    </dgm:pt>
    <dgm:pt modelId="{833FD6CF-5D5B-43DD-A9F1-A01D887ACFC9}" type="pres">
      <dgm:prSet presAssocID="{0D06EC13-A159-4EE4-81EB-54CE06E08A40}" presName="rootComposite" presStyleCnt="0"/>
      <dgm:spPr/>
    </dgm:pt>
    <dgm:pt modelId="{A22D3B31-DDDF-4479-AC1B-55DA07ADE7F6}" type="pres">
      <dgm:prSet presAssocID="{0D06EC13-A159-4EE4-81EB-54CE06E08A40}" presName="rootText" presStyleLbl="node2" presStyleIdx="1" presStyleCnt="4" custLinFactNeighborX="240" custLinFactNeighborY="-97530">
        <dgm:presLayoutVars>
          <dgm:chPref val="3"/>
        </dgm:presLayoutVars>
      </dgm:prSet>
      <dgm:spPr/>
    </dgm:pt>
    <dgm:pt modelId="{ACFA241E-DE3B-4653-93B5-C8BCB5258DD0}" type="pres">
      <dgm:prSet presAssocID="{0D06EC13-A159-4EE4-81EB-54CE06E08A40}" presName="rootConnector" presStyleLbl="node2" presStyleIdx="1" presStyleCnt="4"/>
      <dgm:spPr/>
    </dgm:pt>
    <dgm:pt modelId="{EEEA2534-C40A-42DF-924F-5855B3C2BA16}" type="pres">
      <dgm:prSet presAssocID="{0D06EC13-A159-4EE4-81EB-54CE06E08A40}" presName="hierChild4" presStyleCnt="0"/>
      <dgm:spPr/>
    </dgm:pt>
    <dgm:pt modelId="{8927A2EF-AE24-4B3A-9FEB-31470A5A3FFC}" type="pres">
      <dgm:prSet presAssocID="{0D06EC13-A159-4EE4-81EB-54CE06E08A40}" presName="hierChild5" presStyleCnt="0"/>
      <dgm:spPr/>
    </dgm:pt>
    <dgm:pt modelId="{999BC56A-C02E-410E-BB2D-C83438405694}" type="pres">
      <dgm:prSet presAssocID="{6DC10CFF-CD84-498B-9B50-5F5BE4638D21}" presName="Name37" presStyleLbl="parChTrans1D2" presStyleIdx="2" presStyleCnt="4"/>
      <dgm:spPr/>
    </dgm:pt>
    <dgm:pt modelId="{F08613B2-753F-40C3-B2E8-12883892F6EC}" type="pres">
      <dgm:prSet presAssocID="{4E7DA41B-871B-4479-BFCE-036A2B8198A7}" presName="hierRoot2" presStyleCnt="0">
        <dgm:presLayoutVars>
          <dgm:hierBranch val="init"/>
        </dgm:presLayoutVars>
      </dgm:prSet>
      <dgm:spPr/>
    </dgm:pt>
    <dgm:pt modelId="{C3C052DD-5589-4419-8857-B1FFD40720FE}" type="pres">
      <dgm:prSet presAssocID="{4E7DA41B-871B-4479-BFCE-036A2B8198A7}" presName="rootComposite" presStyleCnt="0"/>
      <dgm:spPr/>
    </dgm:pt>
    <dgm:pt modelId="{314969D2-5458-4FB2-9AF0-D66202A34227}" type="pres">
      <dgm:prSet presAssocID="{4E7DA41B-871B-4479-BFCE-036A2B8198A7}" presName="rootText" presStyleLbl="node2" presStyleIdx="2" presStyleCnt="4" custLinFactNeighborX="240" custLinFactNeighborY="-97530">
        <dgm:presLayoutVars>
          <dgm:chPref val="3"/>
        </dgm:presLayoutVars>
      </dgm:prSet>
      <dgm:spPr/>
    </dgm:pt>
    <dgm:pt modelId="{E6F49B11-2130-4912-B391-F3C6798D0BCC}" type="pres">
      <dgm:prSet presAssocID="{4E7DA41B-871B-4479-BFCE-036A2B8198A7}" presName="rootConnector" presStyleLbl="node2" presStyleIdx="2" presStyleCnt="4"/>
      <dgm:spPr/>
    </dgm:pt>
    <dgm:pt modelId="{F3F9B683-9699-4508-B9A3-972A902033BA}" type="pres">
      <dgm:prSet presAssocID="{4E7DA41B-871B-4479-BFCE-036A2B8198A7}" presName="hierChild4" presStyleCnt="0"/>
      <dgm:spPr/>
    </dgm:pt>
    <dgm:pt modelId="{92D4AF69-0245-42DA-9F24-EEB958AF31C0}" type="pres">
      <dgm:prSet presAssocID="{4E7DA41B-871B-4479-BFCE-036A2B8198A7}" presName="hierChild5" presStyleCnt="0"/>
      <dgm:spPr/>
    </dgm:pt>
    <dgm:pt modelId="{B91BF2AA-CDD0-4DD4-8A38-B26080D7DA19}" type="pres">
      <dgm:prSet presAssocID="{E94E393D-EEB8-45F2-B1EA-A18B2DEC6629}" presName="Name37" presStyleLbl="parChTrans1D2" presStyleIdx="3" presStyleCnt="4"/>
      <dgm:spPr/>
    </dgm:pt>
    <dgm:pt modelId="{FE53444D-47BF-41E0-A132-4E483EEDFE46}" type="pres">
      <dgm:prSet presAssocID="{CD16646E-E00D-4B1E-B325-DC4E8FE3500C}" presName="hierRoot2" presStyleCnt="0">
        <dgm:presLayoutVars>
          <dgm:hierBranch val="init"/>
        </dgm:presLayoutVars>
      </dgm:prSet>
      <dgm:spPr/>
    </dgm:pt>
    <dgm:pt modelId="{E12B3035-8A04-4D17-A78C-07E58ECDC8B2}" type="pres">
      <dgm:prSet presAssocID="{CD16646E-E00D-4B1E-B325-DC4E8FE3500C}" presName="rootComposite" presStyleCnt="0"/>
      <dgm:spPr/>
    </dgm:pt>
    <dgm:pt modelId="{7619F154-5542-427E-904F-21B30CD7354A}" type="pres">
      <dgm:prSet presAssocID="{CD16646E-E00D-4B1E-B325-DC4E8FE3500C}" presName="rootText" presStyleLbl="node2" presStyleIdx="3" presStyleCnt="4" custLinFactNeighborX="240" custLinFactNeighborY="-97530">
        <dgm:presLayoutVars>
          <dgm:chPref val="3"/>
        </dgm:presLayoutVars>
      </dgm:prSet>
      <dgm:spPr/>
    </dgm:pt>
    <dgm:pt modelId="{DB3110B2-E203-4F53-8B9F-0C35A1A4756C}" type="pres">
      <dgm:prSet presAssocID="{CD16646E-E00D-4B1E-B325-DC4E8FE3500C}" presName="rootConnector" presStyleLbl="node2" presStyleIdx="3" presStyleCnt="4"/>
      <dgm:spPr/>
    </dgm:pt>
    <dgm:pt modelId="{EF2E9CDA-B9EE-4120-948B-CD2E20129ADA}" type="pres">
      <dgm:prSet presAssocID="{CD16646E-E00D-4B1E-B325-DC4E8FE3500C}" presName="hierChild4" presStyleCnt="0"/>
      <dgm:spPr/>
    </dgm:pt>
    <dgm:pt modelId="{637D11A9-FFE7-4193-9695-051119734B6E}" type="pres">
      <dgm:prSet presAssocID="{CD16646E-E00D-4B1E-B325-DC4E8FE3500C}" presName="hierChild5" presStyleCnt="0"/>
      <dgm:spPr/>
    </dgm:pt>
    <dgm:pt modelId="{C8021D2E-BB0C-4FF5-81FE-F71AC76C757F}" type="pres">
      <dgm:prSet presAssocID="{048498EC-974B-4643-865D-011CCA685105}" presName="hierChild3" presStyleCnt="0"/>
      <dgm:spPr/>
    </dgm:pt>
  </dgm:ptLst>
  <dgm:cxnLst>
    <dgm:cxn modelId="{E7DA6F05-70A4-4693-BE01-C00D6961A082}" type="presOf" srcId="{327BC233-733F-4C68-A747-FA122DA8F6B9}" destId="{2D65702C-9BE7-43D7-BB90-8DAF533B536A}" srcOrd="0" destOrd="0" presId="urn:microsoft.com/office/officeart/2005/8/layout/orgChart1"/>
    <dgm:cxn modelId="{DE86CC0E-33B2-49D2-9B1A-5CAF2C7F896E}" srcId="{048498EC-974B-4643-865D-011CCA685105}" destId="{0D06EC13-A159-4EE4-81EB-54CE06E08A40}" srcOrd="1" destOrd="0" parTransId="{327BC233-733F-4C68-A747-FA122DA8F6B9}" sibTransId="{127ACB42-4E07-4A89-AF4B-2834A4565A89}"/>
    <dgm:cxn modelId="{00DEA714-52DE-4FEE-B25B-96502899AB6C}" type="presOf" srcId="{048498EC-974B-4643-865D-011CCA685105}" destId="{EC78D55C-3DC4-486B-B3CE-41E81BE281AC}" srcOrd="1" destOrd="0" presId="urn:microsoft.com/office/officeart/2005/8/layout/orgChart1"/>
    <dgm:cxn modelId="{83685A19-50B4-4C03-946A-FC5234EDDA99}" type="presOf" srcId="{048498EC-974B-4643-865D-011CCA685105}" destId="{B70E5259-A20B-451B-A890-A874C0A89878}" srcOrd="0" destOrd="0" presId="urn:microsoft.com/office/officeart/2005/8/layout/orgChart1"/>
    <dgm:cxn modelId="{8A556C39-98B9-4B78-8733-34DF0D795429}" type="presOf" srcId="{F81825FA-E318-4D1F-8ED4-AFE98BEE431C}" destId="{0504C8F2-F2F6-4F37-B281-D2874FB94D27}" srcOrd="0" destOrd="0" presId="urn:microsoft.com/office/officeart/2005/8/layout/orgChart1"/>
    <dgm:cxn modelId="{3860F041-B3A8-46B2-86C6-BC0068444C64}" srcId="{048498EC-974B-4643-865D-011CCA685105}" destId="{CD16646E-E00D-4B1E-B325-DC4E8FE3500C}" srcOrd="3" destOrd="0" parTransId="{E94E393D-EEB8-45F2-B1EA-A18B2DEC6629}" sibTransId="{C8A454BE-57EF-4528-B86D-EA6D7D45F200}"/>
    <dgm:cxn modelId="{99038062-8073-45F2-AAA3-8B20EDCE5CBE}" type="presOf" srcId="{CD16646E-E00D-4B1E-B325-DC4E8FE3500C}" destId="{DB3110B2-E203-4F53-8B9F-0C35A1A4756C}" srcOrd="1" destOrd="0" presId="urn:microsoft.com/office/officeart/2005/8/layout/orgChart1"/>
    <dgm:cxn modelId="{3CAD0677-B57C-4FBD-BB69-A45BA8354D75}" type="presOf" srcId="{26350AC8-7AA7-4A7F-B1BD-D4FDB89F8E9A}" destId="{AB01B760-22ED-48FA-A1F7-E3571474E211}" srcOrd="0" destOrd="0" presId="urn:microsoft.com/office/officeart/2005/8/layout/orgChart1"/>
    <dgm:cxn modelId="{68353679-1355-442D-A7A1-A9F5C966374B}" type="presOf" srcId="{CD16646E-E00D-4B1E-B325-DC4E8FE3500C}" destId="{7619F154-5542-427E-904F-21B30CD7354A}" srcOrd="0" destOrd="0" presId="urn:microsoft.com/office/officeart/2005/8/layout/orgChart1"/>
    <dgm:cxn modelId="{3BA6B095-F2AA-4403-9213-8BE5B9994B77}" srcId="{062434BB-4AA2-4B0A-8589-6F86E78EF52F}" destId="{048498EC-974B-4643-865D-011CCA685105}" srcOrd="0" destOrd="0" parTransId="{10A7731A-7D25-4D6A-9ACC-7C41E46C3830}" sibTransId="{5DB43A49-96E8-49E4-88FF-95743D6AC058}"/>
    <dgm:cxn modelId="{132793A1-D6E2-489F-9923-9F378BF988EB}" type="presOf" srcId="{E94E393D-EEB8-45F2-B1EA-A18B2DEC6629}" destId="{B91BF2AA-CDD0-4DD4-8A38-B26080D7DA19}" srcOrd="0" destOrd="0" presId="urn:microsoft.com/office/officeart/2005/8/layout/orgChart1"/>
    <dgm:cxn modelId="{000992A2-4F4A-44F8-A13F-FC3027A031CA}" type="presOf" srcId="{F81825FA-E318-4D1F-8ED4-AFE98BEE431C}" destId="{34EB6AFB-5562-4429-9425-84D42168817E}" srcOrd="1" destOrd="0" presId="urn:microsoft.com/office/officeart/2005/8/layout/orgChart1"/>
    <dgm:cxn modelId="{E45E52A9-2FE5-4B86-997F-BF53B80ECCD4}" type="presOf" srcId="{062434BB-4AA2-4B0A-8589-6F86E78EF52F}" destId="{3BFC0F55-C752-4D6F-8A93-FC8992D790FB}" srcOrd="0" destOrd="0" presId="urn:microsoft.com/office/officeart/2005/8/layout/orgChart1"/>
    <dgm:cxn modelId="{3DE6D5BD-D53C-4EB5-8FCC-97399BAE7F96}" srcId="{048498EC-974B-4643-865D-011CCA685105}" destId="{4E7DA41B-871B-4479-BFCE-036A2B8198A7}" srcOrd="2" destOrd="0" parTransId="{6DC10CFF-CD84-498B-9B50-5F5BE4638D21}" sibTransId="{C364B14F-B276-4294-870D-E578D11A0553}"/>
    <dgm:cxn modelId="{8AB775C9-05C6-427A-9E37-EA5C4CC45537}" srcId="{048498EC-974B-4643-865D-011CCA685105}" destId="{F81825FA-E318-4D1F-8ED4-AFE98BEE431C}" srcOrd="0" destOrd="0" parTransId="{26350AC8-7AA7-4A7F-B1BD-D4FDB89F8E9A}" sibTransId="{A9A418D4-C4FF-4692-90F9-316836E49681}"/>
    <dgm:cxn modelId="{EE8164CC-631E-4358-86AB-404B513B37D0}" type="presOf" srcId="{4E7DA41B-871B-4479-BFCE-036A2B8198A7}" destId="{314969D2-5458-4FB2-9AF0-D66202A34227}" srcOrd="0" destOrd="0" presId="urn:microsoft.com/office/officeart/2005/8/layout/orgChart1"/>
    <dgm:cxn modelId="{4970D6DA-F917-4BA3-8E89-7D9269D6023B}" type="presOf" srcId="{4E7DA41B-871B-4479-BFCE-036A2B8198A7}" destId="{E6F49B11-2130-4912-B391-F3C6798D0BCC}" srcOrd="1" destOrd="0" presId="urn:microsoft.com/office/officeart/2005/8/layout/orgChart1"/>
    <dgm:cxn modelId="{0C1C1FE2-D27E-4772-9D24-C9EEA65C4048}" type="presOf" srcId="{0D06EC13-A159-4EE4-81EB-54CE06E08A40}" destId="{A22D3B31-DDDF-4479-AC1B-55DA07ADE7F6}" srcOrd="0" destOrd="0" presId="urn:microsoft.com/office/officeart/2005/8/layout/orgChart1"/>
    <dgm:cxn modelId="{163A61E9-A55C-4B13-B5CA-6FDE42CAE852}" type="presOf" srcId="{0D06EC13-A159-4EE4-81EB-54CE06E08A40}" destId="{ACFA241E-DE3B-4653-93B5-C8BCB5258DD0}" srcOrd="1" destOrd="0" presId="urn:microsoft.com/office/officeart/2005/8/layout/orgChart1"/>
    <dgm:cxn modelId="{4205FBFC-0FF3-41F2-A42F-76A4CF29E9F9}" type="presOf" srcId="{6DC10CFF-CD84-498B-9B50-5F5BE4638D21}" destId="{999BC56A-C02E-410E-BB2D-C83438405694}" srcOrd="0" destOrd="0" presId="urn:microsoft.com/office/officeart/2005/8/layout/orgChart1"/>
    <dgm:cxn modelId="{066CB326-2A9B-4A7B-85C9-7AA042FF1B4F}" type="presParOf" srcId="{3BFC0F55-C752-4D6F-8A93-FC8992D790FB}" destId="{84CC9344-BD09-41E5-9182-8156412D308C}" srcOrd="0" destOrd="0" presId="urn:microsoft.com/office/officeart/2005/8/layout/orgChart1"/>
    <dgm:cxn modelId="{16B52017-5BD6-43BA-8213-28FEECD22C28}" type="presParOf" srcId="{84CC9344-BD09-41E5-9182-8156412D308C}" destId="{55946779-4226-4950-A4AD-EE8DF829A8BE}" srcOrd="0" destOrd="0" presId="urn:microsoft.com/office/officeart/2005/8/layout/orgChart1"/>
    <dgm:cxn modelId="{2CEA9565-69B9-466A-86C6-4F44170E4EB5}" type="presParOf" srcId="{55946779-4226-4950-A4AD-EE8DF829A8BE}" destId="{B70E5259-A20B-451B-A890-A874C0A89878}" srcOrd="0" destOrd="0" presId="urn:microsoft.com/office/officeart/2005/8/layout/orgChart1"/>
    <dgm:cxn modelId="{C6CD4938-C720-442B-8DD1-3527559CBF90}" type="presParOf" srcId="{55946779-4226-4950-A4AD-EE8DF829A8BE}" destId="{EC78D55C-3DC4-486B-B3CE-41E81BE281AC}" srcOrd="1" destOrd="0" presId="urn:microsoft.com/office/officeart/2005/8/layout/orgChart1"/>
    <dgm:cxn modelId="{EC2AE39C-5FBA-4DB8-A4DB-3115CC6540ED}" type="presParOf" srcId="{84CC9344-BD09-41E5-9182-8156412D308C}" destId="{B41EBD41-FBE4-43D8-9247-E09072FBD7B2}" srcOrd="1" destOrd="0" presId="urn:microsoft.com/office/officeart/2005/8/layout/orgChart1"/>
    <dgm:cxn modelId="{702C975E-8C9F-43CE-8030-DFF3159BE15D}" type="presParOf" srcId="{B41EBD41-FBE4-43D8-9247-E09072FBD7B2}" destId="{AB01B760-22ED-48FA-A1F7-E3571474E211}" srcOrd="0" destOrd="0" presId="urn:microsoft.com/office/officeart/2005/8/layout/orgChart1"/>
    <dgm:cxn modelId="{AC32CAE3-A3DE-4B96-85A8-B6264FBA6ED3}" type="presParOf" srcId="{B41EBD41-FBE4-43D8-9247-E09072FBD7B2}" destId="{E1540ADB-F1E5-4AE1-8606-A843D8BA8B09}" srcOrd="1" destOrd="0" presId="urn:microsoft.com/office/officeart/2005/8/layout/orgChart1"/>
    <dgm:cxn modelId="{4304711E-5E82-44A4-A572-FCB887239B22}" type="presParOf" srcId="{E1540ADB-F1E5-4AE1-8606-A843D8BA8B09}" destId="{5420231C-0E6B-40E7-9E76-788D8E21ADD1}" srcOrd="0" destOrd="0" presId="urn:microsoft.com/office/officeart/2005/8/layout/orgChart1"/>
    <dgm:cxn modelId="{3FA1852B-F3F5-4E61-AAAA-8B7383F5A09B}" type="presParOf" srcId="{5420231C-0E6B-40E7-9E76-788D8E21ADD1}" destId="{0504C8F2-F2F6-4F37-B281-D2874FB94D27}" srcOrd="0" destOrd="0" presId="urn:microsoft.com/office/officeart/2005/8/layout/orgChart1"/>
    <dgm:cxn modelId="{6FA74247-A551-404F-ACF6-3861BC587C00}" type="presParOf" srcId="{5420231C-0E6B-40E7-9E76-788D8E21ADD1}" destId="{34EB6AFB-5562-4429-9425-84D42168817E}" srcOrd="1" destOrd="0" presId="urn:microsoft.com/office/officeart/2005/8/layout/orgChart1"/>
    <dgm:cxn modelId="{7EEF7F0E-C397-479C-8945-21FA10CFB47F}" type="presParOf" srcId="{E1540ADB-F1E5-4AE1-8606-A843D8BA8B09}" destId="{B03FABCC-9DCB-4233-AA06-CF8DD7EB5BF0}" srcOrd="1" destOrd="0" presId="urn:microsoft.com/office/officeart/2005/8/layout/orgChart1"/>
    <dgm:cxn modelId="{E714ABC4-41FA-4EE4-A199-F0080600A1B5}" type="presParOf" srcId="{E1540ADB-F1E5-4AE1-8606-A843D8BA8B09}" destId="{A7F8EEB5-B5CA-463F-A793-858C7DCA20E4}" srcOrd="2" destOrd="0" presId="urn:microsoft.com/office/officeart/2005/8/layout/orgChart1"/>
    <dgm:cxn modelId="{FDBCD9D6-0664-4F4E-A5FA-A297944116D1}" type="presParOf" srcId="{B41EBD41-FBE4-43D8-9247-E09072FBD7B2}" destId="{2D65702C-9BE7-43D7-BB90-8DAF533B536A}" srcOrd="2" destOrd="0" presId="urn:microsoft.com/office/officeart/2005/8/layout/orgChart1"/>
    <dgm:cxn modelId="{A9915F5E-1DA1-4C2F-B37C-457848065542}" type="presParOf" srcId="{B41EBD41-FBE4-43D8-9247-E09072FBD7B2}" destId="{8A17D18B-29D3-490C-B19A-795E240EB40A}" srcOrd="3" destOrd="0" presId="urn:microsoft.com/office/officeart/2005/8/layout/orgChart1"/>
    <dgm:cxn modelId="{915B5595-0542-47EF-907F-FFCBFB61E6DB}" type="presParOf" srcId="{8A17D18B-29D3-490C-B19A-795E240EB40A}" destId="{833FD6CF-5D5B-43DD-A9F1-A01D887ACFC9}" srcOrd="0" destOrd="0" presId="urn:microsoft.com/office/officeart/2005/8/layout/orgChart1"/>
    <dgm:cxn modelId="{D1417F2A-2F0C-47ED-985D-4B6F220D9221}" type="presParOf" srcId="{833FD6CF-5D5B-43DD-A9F1-A01D887ACFC9}" destId="{A22D3B31-DDDF-4479-AC1B-55DA07ADE7F6}" srcOrd="0" destOrd="0" presId="urn:microsoft.com/office/officeart/2005/8/layout/orgChart1"/>
    <dgm:cxn modelId="{ED19ADBD-98B1-4735-9DE3-727EE5D668AE}" type="presParOf" srcId="{833FD6CF-5D5B-43DD-A9F1-A01D887ACFC9}" destId="{ACFA241E-DE3B-4653-93B5-C8BCB5258DD0}" srcOrd="1" destOrd="0" presId="urn:microsoft.com/office/officeart/2005/8/layout/orgChart1"/>
    <dgm:cxn modelId="{B21F4551-62C9-49A8-87A8-E228671C80E4}" type="presParOf" srcId="{8A17D18B-29D3-490C-B19A-795E240EB40A}" destId="{EEEA2534-C40A-42DF-924F-5855B3C2BA16}" srcOrd="1" destOrd="0" presId="urn:microsoft.com/office/officeart/2005/8/layout/orgChart1"/>
    <dgm:cxn modelId="{7CB9A3E5-F347-424D-967A-1709D1A512EA}" type="presParOf" srcId="{8A17D18B-29D3-490C-B19A-795E240EB40A}" destId="{8927A2EF-AE24-4B3A-9FEB-31470A5A3FFC}" srcOrd="2" destOrd="0" presId="urn:microsoft.com/office/officeart/2005/8/layout/orgChart1"/>
    <dgm:cxn modelId="{63F7D501-6302-4705-955D-8B53656B2381}" type="presParOf" srcId="{B41EBD41-FBE4-43D8-9247-E09072FBD7B2}" destId="{999BC56A-C02E-410E-BB2D-C83438405694}" srcOrd="4" destOrd="0" presId="urn:microsoft.com/office/officeart/2005/8/layout/orgChart1"/>
    <dgm:cxn modelId="{4DC746B2-6917-490A-A5B4-6F6DD19A0B8D}" type="presParOf" srcId="{B41EBD41-FBE4-43D8-9247-E09072FBD7B2}" destId="{F08613B2-753F-40C3-B2E8-12883892F6EC}" srcOrd="5" destOrd="0" presId="urn:microsoft.com/office/officeart/2005/8/layout/orgChart1"/>
    <dgm:cxn modelId="{AC452A23-FD15-4ECB-9E6E-95B0F19DEBD7}" type="presParOf" srcId="{F08613B2-753F-40C3-B2E8-12883892F6EC}" destId="{C3C052DD-5589-4419-8857-B1FFD40720FE}" srcOrd="0" destOrd="0" presId="urn:microsoft.com/office/officeart/2005/8/layout/orgChart1"/>
    <dgm:cxn modelId="{E3000BF8-EA88-4C4C-A16D-83C13F5C3B12}" type="presParOf" srcId="{C3C052DD-5589-4419-8857-B1FFD40720FE}" destId="{314969D2-5458-4FB2-9AF0-D66202A34227}" srcOrd="0" destOrd="0" presId="urn:microsoft.com/office/officeart/2005/8/layout/orgChart1"/>
    <dgm:cxn modelId="{E6D6DE8C-0BA9-4C7D-B7F7-7C389993D169}" type="presParOf" srcId="{C3C052DD-5589-4419-8857-B1FFD40720FE}" destId="{E6F49B11-2130-4912-B391-F3C6798D0BCC}" srcOrd="1" destOrd="0" presId="urn:microsoft.com/office/officeart/2005/8/layout/orgChart1"/>
    <dgm:cxn modelId="{7293F1F9-2DE9-453A-BDE3-80408982F94C}" type="presParOf" srcId="{F08613B2-753F-40C3-B2E8-12883892F6EC}" destId="{F3F9B683-9699-4508-B9A3-972A902033BA}" srcOrd="1" destOrd="0" presId="urn:microsoft.com/office/officeart/2005/8/layout/orgChart1"/>
    <dgm:cxn modelId="{4CED0C1A-903E-451A-853F-FB43D8F94BB5}" type="presParOf" srcId="{F08613B2-753F-40C3-B2E8-12883892F6EC}" destId="{92D4AF69-0245-42DA-9F24-EEB958AF31C0}" srcOrd="2" destOrd="0" presId="urn:microsoft.com/office/officeart/2005/8/layout/orgChart1"/>
    <dgm:cxn modelId="{F29F8D28-F034-4B65-8757-26C2EF9EB3CA}" type="presParOf" srcId="{B41EBD41-FBE4-43D8-9247-E09072FBD7B2}" destId="{B91BF2AA-CDD0-4DD4-8A38-B26080D7DA19}" srcOrd="6" destOrd="0" presId="urn:microsoft.com/office/officeart/2005/8/layout/orgChart1"/>
    <dgm:cxn modelId="{3255DE8A-1059-45E6-97CB-BC57326F9E51}" type="presParOf" srcId="{B41EBD41-FBE4-43D8-9247-E09072FBD7B2}" destId="{FE53444D-47BF-41E0-A132-4E483EEDFE46}" srcOrd="7" destOrd="0" presId="urn:microsoft.com/office/officeart/2005/8/layout/orgChart1"/>
    <dgm:cxn modelId="{21CB41E3-C568-49BC-A75A-4A21B55E047A}" type="presParOf" srcId="{FE53444D-47BF-41E0-A132-4E483EEDFE46}" destId="{E12B3035-8A04-4D17-A78C-07E58ECDC8B2}" srcOrd="0" destOrd="0" presId="urn:microsoft.com/office/officeart/2005/8/layout/orgChart1"/>
    <dgm:cxn modelId="{1EA1D877-40B9-4936-8CDD-515D16A0BA19}" type="presParOf" srcId="{E12B3035-8A04-4D17-A78C-07E58ECDC8B2}" destId="{7619F154-5542-427E-904F-21B30CD7354A}" srcOrd="0" destOrd="0" presId="urn:microsoft.com/office/officeart/2005/8/layout/orgChart1"/>
    <dgm:cxn modelId="{AB4FD7B9-98DF-4F30-BD59-C928A2811A10}" type="presParOf" srcId="{E12B3035-8A04-4D17-A78C-07E58ECDC8B2}" destId="{DB3110B2-E203-4F53-8B9F-0C35A1A4756C}" srcOrd="1" destOrd="0" presId="urn:microsoft.com/office/officeart/2005/8/layout/orgChart1"/>
    <dgm:cxn modelId="{60D9E6E4-18A5-400E-A505-7794AC47DE25}" type="presParOf" srcId="{FE53444D-47BF-41E0-A132-4E483EEDFE46}" destId="{EF2E9CDA-B9EE-4120-948B-CD2E20129ADA}" srcOrd="1" destOrd="0" presId="urn:microsoft.com/office/officeart/2005/8/layout/orgChart1"/>
    <dgm:cxn modelId="{6D630D26-6E66-4504-836F-D6BCCDFDA8FD}" type="presParOf" srcId="{FE53444D-47BF-41E0-A132-4E483EEDFE46}" destId="{637D11A9-FFE7-4193-9695-051119734B6E}" srcOrd="2" destOrd="0" presId="urn:microsoft.com/office/officeart/2005/8/layout/orgChart1"/>
    <dgm:cxn modelId="{4249FA1A-E497-46F2-BEC2-2DEDD28992F9}" type="presParOf" srcId="{84CC9344-BD09-41E5-9182-8156412D308C}" destId="{C8021D2E-BB0C-4FF5-81FE-F71AC76C757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FE36A1-2C85-4698-BA1B-35D0036B45D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8518A2B-D0C3-4172-B27A-FBF45EB67091}">
      <dgm:prSet phldrT="[Text]" custT="1"/>
      <dgm:spPr/>
      <dgm:t>
        <a:bodyPr/>
        <a:lstStyle/>
        <a:p>
          <a:r>
            <a:rPr lang="en-US" sz="2800" dirty="0"/>
            <a:t>Cấu trúc điều khiển</a:t>
          </a:r>
        </a:p>
      </dgm:t>
    </dgm:pt>
    <dgm:pt modelId="{15BB3295-6E75-4518-81AA-E41296B47BA5}" type="parTrans" cxnId="{843A5286-CA72-485C-88D3-05D04A23E32D}">
      <dgm:prSet/>
      <dgm:spPr/>
      <dgm:t>
        <a:bodyPr/>
        <a:lstStyle/>
        <a:p>
          <a:endParaRPr lang="en-US"/>
        </a:p>
      </dgm:t>
    </dgm:pt>
    <dgm:pt modelId="{ECEFB1A1-D935-451E-8BC3-9D1A1D80C43B}" type="sibTrans" cxnId="{843A5286-CA72-485C-88D3-05D04A23E32D}">
      <dgm:prSet/>
      <dgm:spPr/>
      <dgm:t>
        <a:bodyPr/>
        <a:lstStyle/>
        <a:p>
          <a:endParaRPr lang="en-US"/>
        </a:p>
      </dgm:t>
    </dgm:pt>
    <dgm:pt modelId="{DA949A99-9073-491E-A32C-944A606AF5B4}">
      <dgm:prSet phldrT="[Text]" custT="1"/>
      <dgm:spPr/>
      <dgm:t>
        <a:bodyPr/>
        <a:lstStyle/>
        <a:p>
          <a:r>
            <a:rPr lang="en-US" sz="2600" dirty="0"/>
            <a:t>Tuần tự (Sequence structure)</a:t>
          </a:r>
        </a:p>
      </dgm:t>
    </dgm:pt>
    <dgm:pt modelId="{ECAD1533-3727-4400-9B8F-D6CA07F2AAD8}" type="parTrans" cxnId="{40AE9310-F2D6-4BD9-ACFA-DA9EB1B9BEA7}">
      <dgm:prSet/>
      <dgm:spPr/>
      <dgm:t>
        <a:bodyPr/>
        <a:lstStyle/>
        <a:p>
          <a:endParaRPr lang="en-US"/>
        </a:p>
      </dgm:t>
    </dgm:pt>
    <dgm:pt modelId="{6B5031E8-CF18-4159-8BB9-5F6368167196}" type="sibTrans" cxnId="{40AE9310-F2D6-4BD9-ACFA-DA9EB1B9BEA7}">
      <dgm:prSet/>
      <dgm:spPr/>
      <dgm:t>
        <a:bodyPr/>
        <a:lstStyle/>
        <a:p>
          <a:endParaRPr lang="en-US"/>
        </a:p>
      </dgm:t>
    </dgm:pt>
    <dgm:pt modelId="{F00D35E1-9F30-4907-8C3B-575B55DBCA8B}">
      <dgm:prSet phldrT="[Text]" custT="1"/>
      <dgm:spPr/>
      <dgm:t>
        <a:bodyPr/>
        <a:lstStyle/>
        <a:p>
          <a:r>
            <a:rPr lang="en-US" sz="2600" dirty="0"/>
            <a:t>Tuyển chọn (Selection structure)</a:t>
          </a:r>
        </a:p>
      </dgm:t>
    </dgm:pt>
    <dgm:pt modelId="{360E3A57-31AA-407E-9592-260B890950D7}" type="parTrans" cxnId="{98DFF45F-26F1-42CB-970A-4292BB3829B9}">
      <dgm:prSet/>
      <dgm:spPr/>
      <dgm:t>
        <a:bodyPr/>
        <a:lstStyle/>
        <a:p>
          <a:endParaRPr lang="en-US"/>
        </a:p>
      </dgm:t>
    </dgm:pt>
    <dgm:pt modelId="{A310946D-DFC4-4C9C-AFBE-F830CA92B659}" type="sibTrans" cxnId="{98DFF45F-26F1-42CB-970A-4292BB3829B9}">
      <dgm:prSet/>
      <dgm:spPr/>
      <dgm:t>
        <a:bodyPr/>
        <a:lstStyle/>
        <a:p>
          <a:endParaRPr lang="en-US"/>
        </a:p>
      </dgm:t>
    </dgm:pt>
    <dgm:pt modelId="{DD4FE761-D6C1-4852-B191-F75675FCD857}">
      <dgm:prSet phldrT="[Text]" custT="1"/>
      <dgm:spPr/>
      <dgm:t>
        <a:bodyPr/>
        <a:lstStyle/>
        <a:p>
          <a:r>
            <a:rPr lang="en-US" sz="2600" dirty="0"/>
            <a:t>Cấu trúc lặp (Repretition structure)</a:t>
          </a:r>
        </a:p>
      </dgm:t>
    </dgm:pt>
    <dgm:pt modelId="{73CD3CE4-939E-4492-9D37-810424E08CBC}" type="parTrans" cxnId="{8392C056-1149-4565-85B6-8BA1E266964F}">
      <dgm:prSet/>
      <dgm:spPr/>
      <dgm:t>
        <a:bodyPr/>
        <a:lstStyle/>
        <a:p>
          <a:endParaRPr lang="en-US"/>
        </a:p>
      </dgm:t>
    </dgm:pt>
    <dgm:pt modelId="{94463A58-455A-49C6-95F0-0B614D5735E8}" type="sibTrans" cxnId="{8392C056-1149-4565-85B6-8BA1E266964F}">
      <dgm:prSet/>
      <dgm:spPr/>
      <dgm:t>
        <a:bodyPr/>
        <a:lstStyle/>
        <a:p>
          <a:endParaRPr lang="en-US"/>
        </a:p>
      </dgm:t>
    </dgm:pt>
    <dgm:pt modelId="{6699E460-AC16-4330-A7BB-CFC1E2597E98}" type="pres">
      <dgm:prSet presAssocID="{3DFE36A1-2C85-4698-BA1B-35D0036B45D8}" presName="hierChild1" presStyleCnt="0">
        <dgm:presLayoutVars>
          <dgm:orgChart val="1"/>
          <dgm:chPref val="1"/>
          <dgm:dir/>
          <dgm:animOne val="branch"/>
          <dgm:animLvl val="lvl"/>
          <dgm:resizeHandles/>
        </dgm:presLayoutVars>
      </dgm:prSet>
      <dgm:spPr/>
    </dgm:pt>
    <dgm:pt modelId="{3215D8BC-D4B8-4C6E-A208-BA53F3039227}" type="pres">
      <dgm:prSet presAssocID="{E8518A2B-D0C3-4172-B27A-FBF45EB67091}" presName="hierRoot1" presStyleCnt="0">
        <dgm:presLayoutVars>
          <dgm:hierBranch val="init"/>
        </dgm:presLayoutVars>
      </dgm:prSet>
      <dgm:spPr/>
    </dgm:pt>
    <dgm:pt modelId="{36C5E563-7290-475B-AB61-101995CF6997}" type="pres">
      <dgm:prSet presAssocID="{E8518A2B-D0C3-4172-B27A-FBF45EB67091}" presName="rootComposite1" presStyleCnt="0"/>
      <dgm:spPr/>
    </dgm:pt>
    <dgm:pt modelId="{1AAC8748-25CD-4C28-B70F-0D71A83E3311}" type="pres">
      <dgm:prSet presAssocID="{E8518A2B-D0C3-4172-B27A-FBF45EB67091}" presName="rootText1" presStyleLbl="node0" presStyleIdx="0" presStyleCnt="1" custScaleX="162500" custScaleY="64309" custLinFactY="-8329" custLinFactNeighborX="-4353" custLinFactNeighborY="-100000">
        <dgm:presLayoutVars>
          <dgm:chPref val="3"/>
        </dgm:presLayoutVars>
      </dgm:prSet>
      <dgm:spPr/>
    </dgm:pt>
    <dgm:pt modelId="{A7B2A3AA-4829-4883-8798-7B9CF81F050E}" type="pres">
      <dgm:prSet presAssocID="{E8518A2B-D0C3-4172-B27A-FBF45EB67091}" presName="rootConnector1" presStyleLbl="node1" presStyleIdx="0" presStyleCnt="0"/>
      <dgm:spPr/>
    </dgm:pt>
    <dgm:pt modelId="{557EAB33-5113-4185-A9E7-1CF362D9440F}" type="pres">
      <dgm:prSet presAssocID="{E8518A2B-D0C3-4172-B27A-FBF45EB67091}" presName="hierChild2" presStyleCnt="0"/>
      <dgm:spPr/>
    </dgm:pt>
    <dgm:pt modelId="{7C47201C-D5C5-45AD-BD45-730480F6E524}" type="pres">
      <dgm:prSet presAssocID="{ECAD1533-3727-4400-9B8F-D6CA07F2AAD8}" presName="Name37" presStyleLbl="parChTrans1D2" presStyleIdx="0" presStyleCnt="3"/>
      <dgm:spPr/>
    </dgm:pt>
    <dgm:pt modelId="{BF2CA928-6EFB-4917-957C-149E530A8592}" type="pres">
      <dgm:prSet presAssocID="{DA949A99-9073-491E-A32C-944A606AF5B4}" presName="hierRoot2" presStyleCnt="0">
        <dgm:presLayoutVars>
          <dgm:hierBranch val="init"/>
        </dgm:presLayoutVars>
      </dgm:prSet>
      <dgm:spPr/>
    </dgm:pt>
    <dgm:pt modelId="{635300B9-F35A-4FE3-9267-EEFCA87AF370}" type="pres">
      <dgm:prSet presAssocID="{DA949A99-9073-491E-A32C-944A606AF5B4}" presName="rootComposite" presStyleCnt="0"/>
      <dgm:spPr/>
    </dgm:pt>
    <dgm:pt modelId="{DF633714-4D47-4175-A480-AC9D336DFC07}" type="pres">
      <dgm:prSet presAssocID="{DA949A99-9073-491E-A32C-944A606AF5B4}" presName="rootText" presStyleLbl="node2" presStyleIdx="0" presStyleCnt="3" custScaleY="96547" custLinFactY="-8329" custLinFactNeighborX="-23" custLinFactNeighborY="-100000">
        <dgm:presLayoutVars>
          <dgm:chPref val="3"/>
        </dgm:presLayoutVars>
      </dgm:prSet>
      <dgm:spPr/>
    </dgm:pt>
    <dgm:pt modelId="{FA096271-D3A2-4E59-85E1-BE20B6C7A84D}" type="pres">
      <dgm:prSet presAssocID="{DA949A99-9073-491E-A32C-944A606AF5B4}" presName="rootConnector" presStyleLbl="node2" presStyleIdx="0" presStyleCnt="3"/>
      <dgm:spPr/>
    </dgm:pt>
    <dgm:pt modelId="{8AE1C01B-A1C0-4637-B278-A0B2367D1B3D}" type="pres">
      <dgm:prSet presAssocID="{DA949A99-9073-491E-A32C-944A606AF5B4}" presName="hierChild4" presStyleCnt="0"/>
      <dgm:spPr/>
    </dgm:pt>
    <dgm:pt modelId="{56625CD3-BC91-4ECF-A338-3D93CF9106BB}" type="pres">
      <dgm:prSet presAssocID="{DA949A99-9073-491E-A32C-944A606AF5B4}" presName="hierChild5" presStyleCnt="0"/>
      <dgm:spPr/>
    </dgm:pt>
    <dgm:pt modelId="{698ABF5C-F42B-4CFA-BF2D-530EA700F1AA}" type="pres">
      <dgm:prSet presAssocID="{360E3A57-31AA-407E-9592-260B890950D7}" presName="Name37" presStyleLbl="parChTrans1D2" presStyleIdx="1" presStyleCnt="3"/>
      <dgm:spPr/>
    </dgm:pt>
    <dgm:pt modelId="{0BEAC961-25BA-4A94-805C-1197795ACE3B}" type="pres">
      <dgm:prSet presAssocID="{F00D35E1-9F30-4907-8C3B-575B55DBCA8B}" presName="hierRoot2" presStyleCnt="0">
        <dgm:presLayoutVars>
          <dgm:hierBranch val="init"/>
        </dgm:presLayoutVars>
      </dgm:prSet>
      <dgm:spPr/>
    </dgm:pt>
    <dgm:pt modelId="{D5955045-9AC1-448E-8DA4-1C12C11DEF1A}" type="pres">
      <dgm:prSet presAssocID="{F00D35E1-9F30-4907-8C3B-575B55DBCA8B}" presName="rootComposite" presStyleCnt="0"/>
      <dgm:spPr/>
    </dgm:pt>
    <dgm:pt modelId="{036CF34B-40CF-445D-983E-9439E0A58658}" type="pres">
      <dgm:prSet presAssocID="{F00D35E1-9F30-4907-8C3B-575B55DBCA8B}" presName="rootText" presStyleLbl="node2" presStyleIdx="1" presStyleCnt="3" custScaleX="104433" custScaleY="96547" custLinFactY="-8329" custLinFactNeighborX="-3347" custLinFactNeighborY="-100000">
        <dgm:presLayoutVars>
          <dgm:chPref val="3"/>
        </dgm:presLayoutVars>
      </dgm:prSet>
      <dgm:spPr/>
    </dgm:pt>
    <dgm:pt modelId="{B0115FD8-A8EE-4FCA-B81F-5FD29FB4CF50}" type="pres">
      <dgm:prSet presAssocID="{F00D35E1-9F30-4907-8C3B-575B55DBCA8B}" presName="rootConnector" presStyleLbl="node2" presStyleIdx="1" presStyleCnt="3"/>
      <dgm:spPr/>
    </dgm:pt>
    <dgm:pt modelId="{0D3BD0B5-B5E6-44FB-8844-795F3B698DD0}" type="pres">
      <dgm:prSet presAssocID="{F00D35E1-9F30-4907-8C3B-575B55DBCA8B}" presName="hierChild4" presStyleCnt="0"/>
      <dgm:spPr/>
    </dgm:pt>
    <dgm:pt modelId="{22057FDA-1F4C-42DA-A891-F2E111E9D85D}" type="pres">
      <dgm:prSet presAssocID="{F00D35E1-9F30-4907-8C3B-575B55DBCA8B}" presName="hierChild5" presStyleCnt="0"/>
      <dgm:spPr/>
    </dgm:pt>
    <dgm:pt modelId="{D1C4604A-5A4D-4E51-9EB2-BD22403BF472}" type="pres">
      <dgm:prSet presAssocID="{73CD3CE4-939E-4492-9D37-810424E08CBC}" presName="Name37" presStyleLbl="parChTrans1D2" presStyleIdx="2" presStyleCnt="3"/>
      <dgm:spPr/>
    </dgm:pt>
    <dgm:pt modelId="{06211C45-F13E-407C-A2A4-58D23D4CB553}" type="pres">
      <dgm:prSet presAssocID="{DD4FE761-D6C1-4852-B191-F75675FCD857}" presName="hierRoot2" presStyleCnt="0">
        <dgm:presLayoutVars>
          <dgm:hierBranch val="init"/>
        </dgm:presLayoutVars>
      </dgm:prSet>
      <dgm:spPr/>
    </dgm:pt>
    <dgm:pt modelId="{961C726D-F0A8-4E75-8711-6761B9930C90}" type="pres">
      <dgm:prSet presAssocID="{DD4FE761-D6C1-4852-B191-F75675FCD857}" presName="rootComposite" presStyleCnt="0"/>
      <dgm:spPr/>
    </dgm:pt>
    <dgm:pt modelId="{2176DBFB-9280-4E7D-A548-08F0EBE4A38F}" type="pres">
      <dgm:prSet presAssocID="{DD4FE761-D6C1-4852-B191-F75675FCD857}" presName="rootText" presStyleLbl="node2" presStyleIdx="2" presStyleCnt="3" custScaleX="108752" custScaleY="96547" custLinFactY="-8329" custLinFactNeighborX="538" custLinFactNeighborY="-100000">
        <dgm:presLayoutVars>
          <dgm:chPref val="3"/>
        </dgm:presLayoutVars>
      </dgm:prSet>
      <dgm:spPr/>
    </dgm:pt>
    <dgm:pt modelId="{0E97F828-86A0-4C46-948D-9E25E20B293D}" type="pres">
      <dgm:prSet presAssocID="{DD4FE761-D6C1-4852-B191-F75675FCD857}" presName="rootConnector" presStyleLbl="node2" presStyleIdx="2" presStyleCnt="3"/>
      <dgm:spPr/>
    </dgm:pt>
    <dgm:pt modelId="{D29174A9-F2B0-44B1-80A8-F73B724CC635}" type="pres">
      <dgm:prSet presAssocID="{DD4FE761-D6C1-4852-B191-F75675FCD857}" presName="hierChild4" presStyleCnt="0"/>
      <dgm:spPr/>
    </dgm:pt>
    <dgm:pt modelId="{582103F2-901A-49AA-9AA1-9E2B844C3F76}" type="pres">
      <dgm:prSet presAssocID="{DD4FE761-D6C1-4852-B191-F75675FCD857}" presName="hierChild5" presStyleCnt="0"/>
      <dgm:spPr/>
    </dgm:pt>
    <dgm:pt modelId="{DD1D10A5-D45D-4A68-B2AC-E544A399A57A}" type="pres">
      <dgm:prSet presAssocID="{E8518A2B-D0C3-4172-B27A-FBF45EB67091}" presName="hierChild3" presStyleCnt="0"/>
      <dgm:spPr/>
    </dgm:pt>
  </dgm:ptLst>
  <dgm:cxnLst>
    <dgm:cxn modelId="{CE4E1707-D87F-4D9F-93EF-FB50E5912A9A}" type="presOf" srcId="{3DFE36A1-2C85-4698-BA1B-35D0036B45D8}" destId="{6699E460-AC16-4330-A7BB-CFC1E2597E98}" srcOrd="0" destOrd="0" presId="urn:microsoft.com/office/officeart/2005/8/layout/orgChart1"/>
    <dgm:cxn modelId="{40AE9310-F2D6-4BD9-ACFA-DA9EB1B9BEA7}" srcId="{E8518A2B-D0C3-4172-B27A-FBF45EB67091}" destId="{DA949A99-9073-491E-A32C-944A606AF5B4}" srcOrd="0" destOrd="0" parTransId="{ECAD1533-3727-4400-9B8F-D6CA07F2AAD8}" sibTransId="{6B5031E8-CF18-4159-8BB9-5F6368167196}"/>
    <dgm:cxn modelId="{99666B15-AE52-4CCB-BD00-0F2B4847EA00}" type="presOf" srcId="{F00D35E1-9F30-4907-8C3B-575B55DBCA8B}" destId="{B0115FD8-A8EE-4FCA-B81F-5FD29FB4CF50}" srcOrd="1" destOrd="0" presId="urn:microsoft.com/office/officeart/2005/8/layout/orgChart1"/>
    <dgm:cxn modelId="{F802B217-7004-4BEF-90A1-A63DD0E49643}" type="presOf" srcId="{F00D35E1-9F30-4907-8C3B-575B55DBCA8B}" destId="{036CF34B-40CF-445D-983E-9439E0A58658}" srcOrd="0" destOrd="0" presId="urn:microsoft.com/office/officeart/2005/8/layout/orgChart1"/>
    <dgm:cxn modelId="{D29EC920-4D49-4870-8967-834C3A833D48}" type="presOf" srcId="{ECAD1533-3727-4400-9B8F-D6CA07F2AAD8}" destId="{7C47201C-D5C5-45AD-BD45-730480F6E524}" srcOrd="0" destOrd="0" presId="urn:microsoft.com/office/officeart/2005/8/layout/orgChart1"/>
    <dgm:cxn modelId="{83A65051-15A4-4165-9887-EECEB2D2D6BD}" type="presOf" srcId="{E8518A2B-D0C3-4172-B27A-FBF45EB67091}" destId="{1AAC8748-25CD-4C28-B70F-0D71A83E3311}" srcOrd="0" destOrd="0" presId="urn:microsoft.com/office/officeart/2005/8/layout/orgChart1"/>
    <dgm:cxn modelId="{8392C056-1149-4565-85B6-8BA1E266964F}" srcId="{E8518A2B-D0C3-4172-B27A-FBF45EB67091}" destId="{DD4FE761-D6C1-4852-B191-F75675FCD857}" srcOrd="2" destOrd="0" parTransId="{73CD3CE4-939E-4492-9D37-810424E08CBC}" sibTransId="{94463A58-455A-49C6-95F0-0B614D5735E8}"/>
    <dgm:cxn modelId="{98DFF45F-26F1-42CB-970A-4292BB3829B9}" srcId="{E8518A2B-D0C3-4172-B27A-FBF45EB67091}" destId="{F00D35E1-9F30-4907-8C3B-575B55DBCA8B}" srcOrd="1" destOrd="0" parTransId="{360E3A57-31AA-407E-9592-260B890950D7}" sibTransId="{A310946D-DFC4-4C9C-AFBE-F830CA92B659}"/>
    <dgm:cxn modelId="{843A5286-CA72-485C-88D3-05D04A23E32D}" srcId="{3DFE36A1-2C85-4698-BA1B-35D0036B45D8}" destId="{E8518A2B-D0C3-4172-B27A-FBF45EB67091}" srcOrd="0" destOrd="0" parTransId="{15BB3295-6E75-4518-81AA-E41296B47BA5}" sibTransId="{ECEFB1A1-D935-451E-8BC3-9D1A1D80C43B}"/>
    <dgm:cxn modelId="{4C697C9A-20BE-4AD9-B292-FF46330EB038}" type="presOf" srcId="{E8518A2B-D0C3-4172-B27A-FBF45EB67091}" destId="{A7B2A3AA-4829-4883-8798-7B9CF81F050E}" srcOrd="1" destOrd="0" presId="urn:microsoft.com/office/officeart/2005/8/layout/orgChart1"/>
    <dgm:cxn modelId="{A9462DA7-9956-486C-92B4-592DF5E6AD6E}" type="presOf" srcId="{DA949A99-9073-491E-A32C-944A606AF5B4}" destId="{DF633714-4D47-4175-A480-AC9D336DFC07}" srcOrd="0" destOrd="0" presId="urn:microsoft.com/office/officeart/2005/8/layout/orgChart1"/>
    <dgm:cxn modelId="{DCF896BE-5760-431C-A11D-229F5DF4113D}" type="presOf" srcId="{360E3A57-31AA-407E-9592-260B890950D7}" destId="{698ABF5C-F42B-4CFA-BF2D-530EA700F1AA}" srcOrd="0" destOrd="0" presId="urn:microsoft.com/office/officeart/2005/8/layout/orgChart1"/>
    <dgm:cxn modelId="{952124C2-A30B-4571-B42B-269BB1178320}" type="presOf" srcId="{73CD3CE4-939E-4492-9D37-810424E08CBC}" destId="{D1C4604A-5A4D-4E51-9EB2-BD22403BF472}" srcOrd="0" destOrd="0" presId="urn:microsoft.com/office/officeart/2005/8/layout/orgChart1"/>
    <dgm:cxn modelId="{86BDAEDC-BF46-410C-A625-2FE319D708E2}" type="presOf" srcId="{DD4FE761-D6C1-4852-B191-F75675FCD857}" destId="{0E97F828-86A0-4C46-948D-9E25E20B293D}" srcOrd="1" destOrd="0" presId="urn:microsoft.com/office/officeart/2005/8/layout/orgChart1"/>
    <dgm:cxn modelId="{5AAD5FE5-38A2-42B6-9904-0DC5AE09077F}" type="presOf" srcId="{DD4FE761-D6C1-4852-B191-F75675FCD857}" destId="{2176DBFB-9280-4E7D-A548-08F0EBE4A38F}" srcOrd="0" destOrd="0" presId="urn:microsoft.com/office/officeart/2005/8/layout/orgChart1"/>
    <dgm:cxn modelId="{A88A72E8-9218-456E-9DC8-39388EDBDD64}" type="presOf" srcId="{DA949A99-9073-491E-A32C-944A606AF5B4}" destId="{FA096271-D3A2-4E59-85E1-BE20B6C7A84D}" srcOrd="1" destOrd="0" presId="urn:microsoft.com/office/officeart/2005/8/layout/orgChart1"/>
    <dgm:cxn modelId="{391A0020-D38D-4402-A400-601D0F88E1EA}" type="presParOf" srcId="{6699E460-AC16-4330-A7BB-CFC1E2597E98}" destId="{3215D8BC-D4B8-4C6E-A208-BA53F3039227}" srcOrd="0" destOrd="0" presId="urn:microsoft.com/office/officeart/2005/8/layout/orgChart1"/>
    <dgm:cxn modelId="{9E22B24A-9533-4678-AD85-56F19DEEBDF5}" type="presParOf" srcId="{3215D8BC-D4B8-4C6E-A208-BA53F3039227}" destId="{36C5E563-7290-475B-AB61-101995CF6997}" srcOrd="0" destOrd="0" presId="urn:microsoft.com/office/officeart/2005/8/layout/orgChart1"/>
    <dgm:cxn modelId="{448614F5-845F-46B5-B157-C4CEA037A06C}" type="presParOf" srcId="{36C5E563-7290-475B-AB61-101995CF6997}" destId="{1AAC8748-25CD-4C28-B70F-0D71A83E3311}" srcOrd="0" destOrd="0" presId="urn:microsoft.com/office/officeart/2005/8/layout/orgChart1"/>
    <dgm:cxn modelId="{C7EEDD15-5B27-4064-B0B4-545E89FEA13F}" type="presParOf" srcId="{36C5E563-7290-475B-AB61-101995CF6997}" destId="{A7B2A3AA-4829-4883-8798-7B9CF81F050E}" srcOrd="1" destOrd="0" presId="urn:microsoft.com/office/officeart/2005/8/layout/orgChart1"/>
    <dgm:cxn modelId="{DEDBCB83-567A-4897-8CEE-1509C0A94CE7}" type="presParOf" srcId="{3215D8BC-D4B8-4C6E-A208-BA53F3039227}" destId="{557EAB33-5113-4185-A9E7-1CF362D9440F}" srcOrd="1" destOrd="0" presId="urn:microsoft.com/office/officeart/2005/8/layout/orgChart1"/>
    <dgm:cxn modelId="{C5861849-B027-46F8-965B-DFCE3B1AB7B5}" type="presParOf" srcId="{557EAB33-5113-4185-A9E7-1CF362D9440F}" destId="{7C47201C-D5C5-45AD-BD45-730480F6E524}" srcOrd="0" destOrd="0" presId="urn:microsoft.com/office/officeart/2005/8/layout/orgChart1"/>
    <dgm:cxn modelId="{3531B28C-7B29-4E17-AE3B-2119ED3C5EAE}" type="presParOf" srcId="{557EAB33-5113-4185-A9E7-1CF362D9440F}" destId="{BF2CA928-6EFB-4917-957C-149E530A8592}" srcOrd="1" destOrd="0" presId="urn:microsoft.com/office/officeart/2005/8/layout/orgChart1"/>
    <dgm:cxn modelId="{A3F32456-9AD8-4A0A-899C-92820C8C317F}" type="presParOf" srcId="{BF2CA928-6EFB-4917-957C-149E530A8592}" destId="{635300B9-F35A-4FE3-9267-EEFCA87AF370}" srcOrd="0" destOrd="0" presId="urn:microsoft.com/office/officeart/2005/8/layout/orgChart1"/>
    <dgm:cxn modelId="{293D8A5B-30AC-4DEB-B92A-3BBE4BE6BB6D}" type="presParOf" srcId="{635300B9-F35A-4FE3-9267-EEFCA87AF370}" destId="{DF633714-4D47-4175-A480-AC9D336DFC07}" srcOrd="0" destOrd="0" presId="urn:microsoft.com/office/officeart/2005/8/layout/orgChart1"/>
    <dgm:cxn modelId="{2877E08F-80DD-4192-90A6-1F6456D10BD0}" type="presParOf" srcId="{635300B9-F35A-4FE3-9267-EEFCA87AF370}" destId="{FA096271-D3A2-4E59-85E1-BE20B6C7A84D}" srcOrd="1" destOrd="0" presId="urn:microsoft.com/office/officeart/2005/8/layout/orgChart1"/>
    <dgm:cxn modelId="{2D0BC632-4618-409C-88EA-04B55B1F445A}" type="presParOf" srcId="{BF2CA928-6EFB-4917-957C-149E530A8592}" destId="{8AE1C01B-A1C0-4637-B278-A0B2367D1B3D}" srcOrd="1" destOrd="0" presId="urn:microsoft.com/office/officeart/2005/8/layout/orgChart1"/>
    <dgm:cxn modelId="{40E5EE5E-2DB8-47D7-B753-55B9A437BCE2}" type="presParOf" srcId="{BF2CA928-6EFB-4917-957C-149E530A8592}" destId="{56625CD3-BC91-4ECF-A338-3D93CF9106BB}" srcOrd="2" destOrd="0" presId="urn:microsoft.com/office/officeart/2005/8/layout/orgChart1"/>
    <dgm:cxn modelId="{0BADA308-8EC8-4EC0-8CA2-DE2A6FC834B3}" type="presParOf" srcId="{557EAB33-5113-4185-A9E7-1CF362D9440F}" destId="{698ABF5C-F42B-4CFA-BF2D-530EA700F1AA}" srcOrd="2" destOrd="0" presId="urn:microsoft.com/office/officeart/2005/8/layout/orgChart1"/>
    <dgm:cxn modelId="{DAA85E1C-7E99-42BE-AA86-CFABA4A0EBE2}" type="presParOf" srcId="{557EAB33-5113-4185-A9E7-1CF362D9440F}" destId="{0BEAC961-25BA-4A94-805C-1197795ACE3B}" srcOrd="3" destOrd="0" presId="urn:microsoft.com/office/officeart/2005/8/layout/orgChart1"/>
    <dgm:cxn modelId="{EBB284DE-412D-417E-A1F3-423A332C7837}" type="presParOf" srcId="{0BEAC961-25BA-4A94-805C-1197795ACE3B}" destId="{D5955045-9AC1-448E-8DA4-1C12C11DEF1A}" srcOrd="0" destOrd="0" presId="urn:microsoft.com/office/officeart/2005/8/layout/orgChart1"/>
    <dgm:cxn modelId="{EB3C51BF-D64C-4B7B-87D7-B96F6AEFA27D}" type="presParOf" srcId="{D5955045-9AC1-448E-8DA4-1C12C11DEF1A}" destId="{036CF34B-40CF-445D-983E-9439E0A58658}" srcOrd="0" destOrd="0" presId="urn:microsoft.com/office/officeart/2005/8/layout/orgChart1"/>
    <dgm:cxn modelId="{692D9B23-83FE-47D4-B300-6ED4C110654C}" type="presParOf" srcId="{D5955045-9AC1-448E-8DA4-1C12C11DEF1A}" destId="{B0115FD8-A8EE-4FCA-B81F-5FD29FB4CF50}" srcOrd="1" destOrd="0" presId="urn:microsoft.com/office/officeart/2005/8/layout/orgChart1"/>
    <dgm:cxn modelId="{F43FBA77-054E-4AC1-A279-672ED32FF06F}" type="presParOf" srcId="{0BEAC961-25BA-4A94-805C-1197795ACE3B}" destId="{0D3BD0B5-B5E6-44FB-8844-795F3B698DD0}" srcOrd="1" destOrd="0" presId="urn:microsoft.com/office/officeart/2005/8/layout/orgChart1"/>
    <dgm:cxn modelId="{C738ECA2-46F3-4BED-AB6A-B18EDB5B5CC7}" type="presParOf" srcId="{0BEAC961-25BA-4A94-805C-1197795ACE3B}" destId="{22057FDA-1F4C-42DA-A891-F2E111E9D85D}" srcOrd="2" destOrd="0" presId="urn:microsoft.com/office/officeart/2005/8/layout/orgChart1"/>
    <dgm:cxn modelId="{89531276-48E0-40D7-B7C9-E8D9B039B928}" type="presParOf" srcId="{557EAB33-5113-4185-A9E7-1CF362D9440F}" destId="{D1C4604A-5A4D-4E51-9EB2-BD22403BF472}" srcOrd="4" destOrd="0" presId="urn:microsoft.com/office/officeart/2005/8/layout/orgChart1"/>
    <dgm:cxn modelId="{41DA987E-CF2E-4277-9F6A-2DE64852A481}" type="presParOf" srcId="{557EAB33-5113-4185-A9E7-1CF362D9440F}" destId="{06211C45-F13E-407C-A2A4-58D23D4CB553}" srcOrd="5" destOrd="0" presId="urn:microsoft.com/office/officeart/2005/8/layout/orgChart1"/>
    <dgm:cxn modelId="{5E1A1383-0D23-48AF-BBB0-80CE6D75900F}" type="presParOf" srcId="{06211C45-F13E-407C-A2A4-58D23D4CB553}" destId="{961C726D-F0A8-4E75-8711-6761B9930C90}" srcOrd="0" destOrd="0" presId="urn:microsoft.com/office/officeart/2005/8/layout/orgChart1"/>
    <dgm:cxn modelId="{3A804F4B-606B-437A-A15E-ED3F8CA3A810}" type="presParOf" srcId="{961C726D-F0A8-4E75-8711-6761B9930C90}" destId="{2176DBFB-9280-4E7D-A548-08F0EBE4A38F}" srcOrd="0" destOrd="0" presId="urn:microsoft.com/office/officeart/2005/8/layout/orgChart1"/>
    <dgm:cxn modelId="{2A808348-268A-447D-8EEF-39D5EFFB54CE}" type="presParOf" srcId="{961C726D-F0A8-4E75-8711-6761B9930C90}" destId="{0E97F828-86A0-4C46-948D-9E25E20B293D}" srcOrd="1" destOrd="0" presId="urn:microsoft.com/office/officeart/2005/8/layout/orgChart1"/>
    <dgm:cxn modelId="{9973F823-10AE-4C07-8E8D-3032CF35B5B4}" type="presParOf" srcId="{06211C45-F13E-407C-A2A4-58D23D4CB553}" destId="{D29174A9-F2B0-44B1-80A8-F73B724CC635}" srcOrd="1" destOrd="0" presId="urn:microsoft.com/office/officeart/2005/8/layout/orgChart1"/>
    <dgm:cxn modelId="{FB308E34-123A-4352-ADB5-1140621A1F29}" type="presParOf" srcId="{06211C45-F13E-407C-A2A4-58D23D4CB553}" destId="{582103F2-901A-49AA-9AA1-9E2B844C3F76}" srcOrd="2" destOrd="0" presId="urn:microsoft.com/office/officeart/2005/8/layout/orgChart1"/>
    <dgm:cxn modelId="{C87ED011-BC4F-48EE-9EC0-5D073A2FFEF0}" type="presParOf" srcId="{3215D8BC-D4B8-4C6E-A208-BA53F3039227}" destId="{DD1D10A5-D45D-4A68-B2AC-E544A399A57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74228-648A-442C-AC6F-134DDB2694C6}">
      <dsp:nvSpPr>
        <dsp:cNvPr id="0" name=""/>
        <dsp:cNvSpPr/>
      </dsp:nvSpPr>
      <dsp:spPr>
        <a:xfrm>
          <a:off x="5500838" y="1209615"/>
          <a:ext cx="91440" cy="414677"/>
        </a:xfrm>
        <a:custGeom>
          <a:avLst/>
          <a:gdLst/>
          <a:ahLst/>
          <a:cxnLst/>
          <a:rect l="0" t="0" r="0" b="0"/>
          <a:pathLst>
            <a:path>
              <a:moveTo>
                <a:pt x="45720" y="0"/>
              </a:moveTo>
              <a:lnTo>
                <a:pt x="45720" y="414677"/>
              </a:lnTo>
              <a:lnTo>
                <a:pt x="121542" y="4146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4FF6DA-A8C7-459F-8EDE-20AA4ECE9E95}">
      <dsp:nvSpPr>
        <dsp:cNvPr id="0" name=""/>
        <dsp:cNvSpPr/>
      </dsp:nvSpPr>
      <dsp:spPr>
        <a:xfrm>
          <a:off x="4634140" y="569956"/>
          <a:ext cx="1641762" cy="130746"/>
        </a:xfrm>
        <a:custGeom>
          <a:avLst/>
          <a:gdLst/>
          <a:ahLst/>
          <a:cxnLst/>
          <a:rect l="0" t="0" r="0" b="0"/>
          <a:pathLst>
            <a:path>
              <a:moveTo>
                <a:pt x="0" y="0"/>
              </a:moveTo>
              <a:lnTo>
                <a:pt x="0" y="43276"/>
              </a:lnTo>
              <a:lnTo>
                <a:pt x="1641762" y="43276"/>
              </a:lnTo>
              <a:lnTo>
                <a:pt x="1641762" y="1307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0435D6-EE9A-4847-BD25-59A20FC7F6CF}">
      <dsp:nvSpPr>
        <dsp:cNvPr id="0" name=""/>
        <dsp:cNvSpPr/>
      </dsp:nvSpPr>
      <dsp:spPr>
        <a:xfrm>
          <a:off x="3937605" y="1800328"/>
          <a:ext cx="120012" cy="974663"/>
        </a:xfrm>
        <a:custGeom>
          <a:avLst/>
          <a:gdLst/>
          <a:ahLst/>
          <a:cxnLst/>
          <a:rect l="0" t="0" r="0" b="0"/>
          <a:pathLst>
            <a:path>
              <a:moveTo>
                <a:pt x="0" y="0"/>
              </a:moveTo>
              <a:lnTo>
                <a:pt x="0" y="974663"/>
              </a:lnTo>
              <a:lnTo>
                <a:pt x="120012" y="9746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D8B590-DD53-4460-96BB-82EFD2A5CA1D}">
      <dsp:nvSpPr>
        <dsp:cNvPr id="0" name=""/>
        <dsp:cNvSpPr/>
      </dsp:nvSpPr>
      <dsp:spPr>
        <a:xfrm>
          <a:off x="3937605" y="1800328"/>
          <a:ext cx="120012" cy="383201"/>
        </a:xfrm>
        <a:custGeom>
          <a:avLst/>
          <a:gdLst/>
          <a:ahLst/>
          <a:cxnLst/>
          <a:rect l="0" t="0" r="0" b="0"/>
          <a:pathLst>
            <a:path>
              <a:moveTo>
                <a:pt x="0" y="0"/>
              </a:moveTo>
              <a:lnTo>
                <a:pt x="0" y="383201"/>
              </a:lnTo>
              <a:lnTo>
                <a:pt x="120012" y="3832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7615A3-571D-427D-81DB-9CC082A2B289}">
      <dsp:nvSpPr>
        <dsp:cNvPr id="0" name=""/>
        <dsp:cNvSpPr/>
      </dsp:nvSpPr>
      <dsp:spPr>
        <a:xfrm>
          <a:off x="3236773" y="1165830"/>
          <a:ext cx="1283575" cy="153047"/>
        </a:xfrm>
        <a:custGeom>
          <a:avLst/>
          <a:gdLst/>
          <a:ahLst/>
          <a:cxnLst/>
          <a:rect l="0" t="0" r="0" b="0"/>
          <a:pathLst>
            <a:path>
              <a:moveTo>
                <a:pt x="0" y="0"/>
              </a:moveTo>
              <a:lnTo>
                <a:pt x="0" y="65577"/>
              </a:lnTo>
              <a:lnTo>
                <a:pt x="1283575" y="65577"/>
              </a:lnTo>
              <a:lnTo>
                <a:pt x="1283575" y="15304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ABFFFB-42F3-4E81-81DA-637D7C475466}">
      <dsp:nvSpPr>
        <dsp:cNvPr id="0" name=""/>
        <dsp:cNvSpPr/>
      </dsp:nvSpPr>
      <dsp:spPr>
        <a:xfrm>
          <a:off x="2568606" y="2447267"/>
          <a:ext cx="346717" cy="350362"/>
        </a:xfrm>
        <a:custGeom>
          <a:avLst/>
          <a:gdLst/>
          <a:ahLst/>
          <a:cxnLst/>
          <a:rect l="0" t="0" r="0" b="0"/>
          <a:pathLst>
            <a:path>
              <a:moveTo>
                <a:pt x="0" y="0"/>
              </a:moveTo>
              <a:lnTo>
                <a:pt x="0" y="350362"/>
              </a:lnTo>
              <a:lnTo>
                <a:pt x="346717" y="3503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A3C098-9658-41AE-9CDD-5CAEF7D0DA0C}">
      <dsp:nvSpPr>
        <dsp:cNvPr id="0" name=""/>
        <dsp:cNvSpPr/>
      </dsp:nvSpPr>
      <dsp:spPr>
        <a:xfrm>
          <a:off x="1855173" y="1735400"/>
          <a:ext cx="1229355" cy="207778"/>
        </a:xfrm>
        <a:custGeom>
          <a:avLst/>
          <a:gdLst/>
          <a:ahLst/>
          <a:cxnLst/>
          <a:rect l="0" t="0" r="0" b="0"/>
          <a:pathLst>
            <a:path>
              <a:moveTo>
                <a:pt x="0" y="0"/>
              </a:moveTo>
              <a:lnTo>
                <a:pt x="0" y="120308"/>
              </a:lnTo>
              <a:lnTo>
                <a:pt x="1229355" y="120308"/>
              </a:lnTo>
              <a:lnTo>
                <a:pt x="1229355" y="2077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7D4833-F3E4-44FF-80ED-B9723830D697}">
      <dsp:nvSpPr>
        <dsp:cNvPr id="0" name=""/>
        <dsp:cNvSpPr/>
      </dsp:nvSpPr>
      <dsp:spPr>
        <a:xfrm>
          <a:off x="180215" y="2402608"/>
          <a:ext cx="119875" cy="2033811"/>
        </a:xfrm>
        <a:custGeom>
          <a:avLst/>
          <a:gdLst/>
          <a:ahLst/>
          <a:cxnLst/>
          <a:rect l="0" t="0" r="0" b="0"/>
          <a:pathLst>
            <a:path>
              <a:moveTo>
                <a:pt x="0" y="0"/>
              </a:moveTo>
              <a:lnTo>
                <a:pt x="0" y="2033811"/>
              </a:lnTo>
              <a:lnTo>
                <a:pt x="119875" y="2033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10B0DB-4274-42DC-AFC6-237DCB7F7654}">
      <dsp:nvSpPr>
        <dsp:cNvPr id="0" name=""/>
        <dsp:cNvSpPr/>
      </dsp:nvSpPr>
      <dsp:spPr>
        <a:xfrm>
          <a:off x="180215" y="2402608"/>
          <a:ext cx="119875" cy="1442348"/>
        </a:xfrm>
        <a:custGeom>
          <a:avLst/>
          <a:gdLst/>
          <a:ahLst/>
          <a:cxnLst/>
          <a:rect l="0" t="0" r="0" b="0"/>
          <a:pathLst>
            <a:path>
              <a:moveTo>
                <a:pt x="0" y="0"/>
              </a:moveTo>
              <a:lnTo>
                <a:pt x="0" y="1442348"/>
              </a:lnTo>
              <a:lnTo>
                <a:pt x="119875" y="1442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D665DD-8570-4CE0-A842-75123709BB4C}">
      <dsp:nvSpPr>
        <dsp:cNvPr id="0" name=""/>
        <dsp:cNvSpPr/>
      </dsp:nvSpPr>
      <dsp:spPr>
        <a:xfrm>
          <a:off x="180215" y="2402608"/>
          <a:ext cx="119875" cy="850885"/>
        </a:xfrm>
        <a:custGeom>
          <a:avLst/>
          <a:gdLst/>
          <a:ahLst/>
          <a:cxnLst/>
          <a:rect l="0" t="0" r="0" b="0"/>
          <a:pathLst>
            <a:path>
              <a:moveTo>
                <a:pt x="0" y="0"/>
              </a:moveTo>
              <a:lnTo>
                <a:pt x="0" y="850885"/>
              </a:lnTo>
              <a:lnTo>
                <a:pt x="119875" y="8508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5BDCEF-0F7F-4E72-ABD0-A0A5B199763D}">
      <dsp:nvSpPr>
        <dsp:cNvPr id="0" name=""/>
        <dsp:cNvSpPr/>
      </dsp:nvSpPr>
      <dsp:spPr>
        <a:xfrm>
          <a:off x="180215" y="2402608"/>
          <a:ext cx="119875" cy="259423"/>
        </a:xfrm>
        <a:custGeom>
          <a:avLst/>
          <a:gdLst/>
          <a:ahLst/>
          <a:cxnLst/>
          <a:rect l="0" t="0" r="0" b="0"/>
          <a:pathLst>
            <a:path>
              <a:moveTo>
                <a:pt x="0" y="0"/>
              </a:moveTo>
              <a:lnTo>
                <a:pt x="0" y="259423"/>
              </a:lnTo>
              <a:lnTo>
                <a:pt x="119875" y="2594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C31CD6-E031-4510-83FE-9118A47CF787}">
      <dsp:nvSpPr>
        <dsp:cNvPr id="0" name=""/>
        <dsp:cNvSpPr/>
      </dsp:nvSpPr>
      <dsp:spPr>
        <a:xfrm>
          <a:off x="901076" y="1735400"/>
          <a:ext cx="954096" cy="164614"/>
        </a:xfrm>
        <a:custGeom>
          <a:avLst/>
          <a:gdLst/>
          <a:ahLst/>
          <a:cxnLst/>
          <a:rect l="0" t="0" r="0" b="0"/>
          <a:pathLst>
            <a:path>
              <a:moveTo>
                <a:pt x="954096" y="0"/>
              </a:moveTo>
              <a:lnTo>
                <a:pt x="954096" y="77144"/>
              </a:lnTo>
              <a:lnTo>
                <a:pt x="0" y="77144"/>
              </a:lnTo>
              <a:lnTo>
                <a:pt x="0" y="1646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7B581E-D3FA-4242-8DCC-18FB270B9E27}">
      <dsp:nvSpPr>
        <dsp:cNvPr id="0" name=""/>
        <dsp:cNvSpPr/>
      </dsp:nvSpPr>
      <dsp:spPr>
        <a:xfrm>
          <a:off x="1855173" y="1165830"/>
          <a:ext cx="1381599" cy="153047"/>
        </a:xfrm>
        <a:custGeom>
          <a:avLst/>
          <a:gdLst/>
          <a:ahLst/>
          <a:cxnLst/>
          <a:rect l="0" t="0" r="0" b="0"/>
          <a:pathLst>
            <a:path>
              <a:moveTo>
                <a:pt x="1381599" y="0"/>
              </a:moveTo>
              <a:lnTo>
                <a:pt x="1381599" y="65577"/>
              </a:lnTo>
              <a:lnTo>
                <a:pt x="0" y="65577"/>
              </a:lnTo>
              <a:lnTo>
                <a:pt x="0" y="15304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63ECD5-86D0-4256-BF66-C471FBDB0A1E}">
      <dsp:nvSpPr>
        <dsp:cNvPr id="0" name=""/>
        <dsp:cNvSpPr/>
      </dsp:nvSpPr>
      <dsp:spPr>
        <a:xfrm>
          <a:off x="3236773" y="569956"/>
          <a:ext cx="1397367" cy="174531"/>
        </a:xfrm>
        <a:custGeom>
          <a:avLst/>
          <a:gdLst/>
          <a:ahLst/>
          <a:cxnLst/>
          <a:rect l="0" t="0" r="0" b="0"/>
          <a:pathLst>
            <a:path>
              <a:moveTo>
                <a:pt x="1397367" y="0"/>
              </a:moveTo>
              <a:lnTo>
                <a:pt x="1397367" y="87061"/>
              </a:lnTo>
              <a:lnTo>
                <a:pt x="0" y="87061"/>
              </a:lnTo>
              <a:lnTo>
                <a:pt x="0" y="1745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0FC6CC-8957-4481-9214-7F2D5CFD7CD2}">
      <dsp:nvSpPr>
        <dsp:cNvPr id="0" name=""/>
        <dsp:cNvSpPr/>
      </dsp:nvSpPr>
      <dsp:spPr>
        <a:xfrm>
          <a:off x="3553667" y="23478"/>
          <a:ext cx="2160946" cy="54647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nguyên thủy</a:t>
          </a:r>
        </a:p>
      </dsp:txBody>
      <dsp:txXfrm>
        <a:off x="3553667" y="23478"/>
        <a:ext cx="2160946" cy="546478"/>
      </dsp:txXfrm>
    </dsp:sp>
    <dsp:sp modelId="{2D965D50-27FE-4C8C-A35A-1CBD353E3D9C}">
      <dsp:nvSpPr>
        <dsp:cNvPr id="0" name=""/>
        <dsp:cNvSpPr/>
      </dsp:nvSpPr>
      <dsp:spPr>
        <a:xfrm>
          <a:off x="2482558" y="744488"/>
          <a:ext cx="1508429" cy="42134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số</a:t>
          </a:r>
        </a:p>
      </dsp:txBody>
      <dsp:txXfrm>
        <a:off x="2482558" y="744488"/>
        <a:ext cx="1508429" cy="421342"/>
      </dsp:txXfrm>
    </dsp:sp>
    <dsp:sp modelId="{49521B4C-A83A-437E-86CD-0D7C9565BF5E}">
      <dsp:nvSpPr>
        <dsp:cNvPr id="0" name=""/>
        <dsp:cNvSpPr/>
      </dsp:nvSpPr>
      <dsp:spPr>
        <a:xfrm>
          <a:off x="1191939" y="1318877"/>
          <a:ext cx="1326467"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nguyên</a:t>
          </a:r>
        </a:p>
      </dsp:txBody>
      <dsp:txXfrm>
        <a:off x="1191939" y="1318877"/>
        <a:ext cx="1326467" cy="416523"/>
      </dsp:txXfrm>
    </dsp:sp>
    <dsp:sp modelId="{4F3CC745-4A24-4270-BF7D-9DAC8D3119F6}">
      <dsp:nvSpPr>
        <dsp:cNvPr id="0" name=""/>
        <dsp:cNvSpPr/>
      </dsp:nvSpPr>
      <dsp:spPr>
        <a:xfrm>
          <a:off x="0" y="1900015"/>
          <a:ext cx="1802153" cy="50259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số nguyên</a:t>
          </a:r>
        </a:p>
      </dsp:txBody>
      <dsp:txXfrm>
        <a:off x="0" y="1900015"/>
        <a:ext cx="1802153" cy="502593"/>
      </dsp:txXfrm>
    </dsp:sp>
    <dsp:sp modelId="{5820D28A-8FC8-4C0C-B7A1-942E79DE55F6}">
      <dsp:nvSpPr>
        <dsp:cNvPr id="0" name=""/>
        <dsp:cNvSpPr/>
      </dsp:nvSpPr>
      <dsp:spPr>
        <a:xfrm>
          <a:off x="300090" y="2453769"/>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C00000"/>
              </a:solidFill>
            </a:rPr>
            <a:t>byte</a:t>
          </a:r>
        </a:p>
      </dsp:txBody>
      <dsp:txXfrm>
        <a:off x="300090" y="2453769"/>
        <a:ext cx="833046" cy="416523"/>
      </dsp:txXfrm>
    </dsp:sp>
    <dsp:sp modelId="{5D93734A-ED83-4472-B45A-566212F469DA}">
      <dsp:nvSpPr>
        <dsp:cNvPr id="0" name=""/>
        <dsp:cNvSpPr/>
      </dsp:nvSpPr>
      <dsp:spPr>
        <a:xfrm>
          <a:off x="300090" y="3045232"/>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C00000"/>
              </a:solidFill>
            </a:rPr>
            <a:t>short</a:t>
          </a:r>
        </a:p>
      </dsp:txBody>
      <dsp:txXfrm>
        <a:off x="300090" y="3045232"/>
        <a:ext cx="833046" cy="416523"/>
      </dsp:txXfrm>
    </dsp:sp>
    <dsp:sp modelId="{83E99D6C-1DFE-4021-A958-E32010AB3588}">
      <dsp:nvSpPr>
        <dsp:cNvPr id="0" name=""/>
        <dsp:cNvSpPr/>
      </dsp:nvSpPr>
      <dsp:spPr>
        <a:xfrm>
          <a:off x="300090" y="3636695"/>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int</a:t>
          </a:r>
          <a:endParaRPr lang="en-US" sz="1600" b="1" kern="1200" dirty="0">
            <a:solidFill>
              <a:srgbClr val="C00000"/>
            </a:solidFill>
          </a:endParaRPr>
        </a:p>
      </dsp:txBody>
      <dsp:txXfrm>
        <a:off x="300090" y="3636695"/>
        <a:ext cx="833046" cy="416523"/>
      </dsp:txXfrm>
    </dsp:sp>
    <dsp:sp modelId="{DB734AA1-8F95-4B18-B67A-FEF28361D979}">
      <dsp:nvSpPr>
        <dsp:cNvPr id="0" name=""/>
        <dsp:cNvSpPr/>
      </dsp:nvSpPr>
      <dsp:spPr>
        <a:xfrm>
          <a:off x="300090" y="4228158"/>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long</a:t>
          </a:r>
          <a:endParaRPr lang="en-US" sz="1600" b="1" kern="1200" dirty="0">
            <a:solidFill>
              <a:srgbClr val="C00000"/>
            </a:solidFill>
          </a:endParaRPr>
        </a:p>
      </dsp:txBody>
      <dsp:txXfrm>
        <a:off x="300090" y="4228158"/>
        <a:ext cx="833046" cy="416523"/>
      </dsp:txXfrm>
    </dsp:sp>
    <dsp:sp modelId="{BB37D211-8215-4468-8334-882C3C9D45BB}">
      <dsp:nvSpPr>
        <dsp:cNvPr id="0" name=""/>
        <dsp:cNvSpPr/>
      </dsp:nvSpPr>
      <dsp:spPr>
        <a:xfrm>
          <a:off x="2439626" y="1943179"/>
          <a:ext cx="1289805" cy="50408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ký tự</a:t>
          </a:r>
        </a:p>
      </dsp:txBody>
      <dsp:txXfrm>
        <a:off x="2439626" y="1943179"/>
        <a:ext cx="1289805" cy="504088"/>
      </dsp:txXfrm>
    </dsp:sp>
    <dsp:sp modelId="{F0BFED66-C63B-40F8-B7AD-D7372E3D63D0}">
      <dsp:nvSpPr>
        <dsp:cNvPr id="0" name=""/>
        <dsp:cNvSpPr/>
      </dsp:nvSpPr>
      <dsp:spPr>
        <a:xfrm>
          <a:off x="2915324" y="2589369"/>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char</a:t>
          </a:r>
          <a:endParaRPr lang="en-US" sz="1600" b="1" kern="1200" dirty="0">
            <a:solidFill>
              <a:srgbClr val="C00000"/>
            </a:solidFill>
          </a:endParaRPr>
        </a:p>
      </dsp:txBody>
      <dsp:txXfrm>
        <a:off x="2915324" y="2589369"/>
        <a:ext cx="833046" cy="416523"/>
      </dsp:txXfrm>
    </dsp:sp>
    <dsp:sp modelId="{D18085CE-4D41-4C0E-A17D-5F1928EB2207}">
      <dsp:nvSpPr>
        <dsp:cNvPr id="0" name=""/>
        <dsp:cNvSpPr/>
      </dsp:nvSpPr>
      <dsp:spPr>
        <a:xfrm>
          <a:off x="3791920" y="1318877"/>
          <a:ext cx="1456856" cy="48145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số thực</a:t>
          </a:r>
        </a:p>
      </dsp:txBody>
      <dsp:txXfrm>
        <a:off x="3791920" y="1318877"/>
        <a:ext cx="1456856" cy="481450"/>
      </dsp:txXfrm>
    </dsp:sp>
    <dsp:sp modelId="{D9FB34C9-9EFF-48DE-AEDA-B2B4F1FF7548}">
      <dsp:nvSpPr>
        <dsp:cNvPr id="0" name=""/>
        <dsp:cNvSpPr/>
      </dsp:nvSpPr>
      <dsp:spPr>
        <a:xfrm>
          <a:off x="4057618" y="1975268"/>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float</a:t>
          </a:r>
          <a:endParaRPr lang="en-US" sz="1600" b="1" kern="1200" dirty="0">
            <a:solidFill>
              <a:srgbClr val="C00000"/>
            </a:solidFill>
          </a:endParaRPr>
        </a:p>
      </dsp:txBody>
      <dsp:txXfrm>
        <a:off x="4057618" y="1975268"/>
        <a:ext cx="833046" cy="416523"/>
      </dsp:txXfrm>
    </dsp:sp>
    <dsp:sp modelId="{5765E174-4C44-46B4-85E7-8FD5F7470A11}">
      <dsp:nvSpPr>
        <dsp:cNvPr id="0" name=""/>
        <dsp:cNvSpPr/>
      </dsp:nvSpPr>
      <dsp:spPr>
        <a:xfrm>
          <a:off x="4057618" y="2566730"/>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double</a:t>
          </a:r>
          <a:endParaRPr lang="en-US" sz="1600" b="1" kern="1200" dirty="0">
            <a:solidFill>
              <a:srgbClr val="C00000"/>
            </a:solidFill>
          </a:endParaRPr>
        </a:p>
      </dsp:txBody>
      <dsp:txXfrm>
        <a:off x="4057618" y="2566730"/>
        <a:ext cx="833046" cy="416523"/>
      </dsp:txXfrm>
    </dsp:sp>
    <dsp:sp modelId="{92783CAA-A081-4EA9-86D5-4801B0CF8B0C}">
      <dsp:nvSpPr>
        <dsp:cNvPr id="0" name=""/>
        <dsp:cNvSpPr/>
      </dsp:nvSpPr>
      <dsp:spPr>
        <a:xfrm>
          <a:off x="5364221" y="700703"/>
          <a:ext cx="1823362" cy="50891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Kiểu Boolean</a:t>
          </a:r>
        </a:p>
      </dsp:txBody>
      <dsp:txXfrm>
        <a:off x="5364221" y="700703"/>
        <a:ext cx="1823362" cy="508912"/>
      </dsp:txXfrm>
    </dsp:sp>
    <dsp:sp modelId="{692E5295-F703-4F47-9497-F584B2FC87CD}">
      <dsp:nvSpPr>
        <dsp:cNvPr id="0" name=""/>
        <dsp:cNvSpPr/>
      </dsp:nvSpPr>
      <dsp:spPr>
        <a:xfrm>
          <a:off x="5622380" y="1416031"/>
          <a:ext cx="833046" cy="4165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C00000"/>
              </a:solidFill>
            </a:rPr>
            <a:t>boolean</a:t>
          </a:r>
          <a:endParaRPr lang="en-US" sz="1600" b="1" kern="1200" dirty="0">
            <a:solidFill>
              <a:srgbClr val="C00000"/>
            </a:solidFill>
          </a:endParaRPr>
        </a:p>
      </dsp:txBody>
      <dsp:txXfrm>
        <a:off x="5622380" y="1416031"/>
        <a:ext cx="833046" cy="4165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BF2AA-CDD0-4DD4-8A38-B26080D7DA19}">
      <dsp:nvSpPr>
        <dsp:cNvPr id="0" name=""/>
        <dsp:cNvSpPr/>
      </dsp:nvSpPr>
      <dsp:spPr>
        <a:xfrm>
          <a:off x="3772258" y="1011736"/>
          <a:ext cx="3119485" cy="643530"/>
        </a:xfrm>
        <a:custGeom>
          <a:avLst/>
          <a:gdLst/>
          <a:ahLst/>
          <a:cxnLst/>
          <a:rect l="0" t="0" r="0" b="0"/>
          <a:pathLst>
            <a:path>
              <a:moveTo>
                <a:pt x="0" y="0"/>
              </a:moveTo>
              <a:lnTo>
                <a:pt x="0" y="468520"/>
              </a:lnTo>
              <a:lnTo>
                <a:pt x="3119485" y="468520"/>
              </a:lnTo>
              <a:lnTo>
                <a:pt x="3119485" y="6435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9BC56A-C02E-410E-BB2D-C83438405694}">
      <dsp:nvSpPr>
        <dsp:cNvPr id="0" name=""/>
        <dsp:cNvSpPr/>
      </dsp:nvSpPr>
      <dsp:spPr>
        <a:xfrm>
          <a:off x="3772258" y="1011736"/>
          <a:ext cx="1102700" cy="643530"/>
        </a:xfrm>
        <a:custGeom>
          <a:avLst/>
          <a:gdLst/>
          <a:ahLst/>
          <a:cxnLst/>
          <a:rect l="0" t="0" r="0" b="0"/>
          <a:pathLst>
            <a:path>
              <a:moveTo>
                <a:pt x="0" y="0"/>
              </a:moveTo>
              <a:lnTo>
                <a:pt x="0" y="468520"/>
              </a:lnTo>
              <a:lnTo>
                <a:pt x="1102700" y="468520"/>
              </a:lnTo>
              <a:lnTo>
                <a:pt x="1102700" y="6435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65702C-9BE7-43D7-BB90-8DAF533B536A}">
      <dsp:nvSpPr>
        <dsp:cNvPr id="0" name=""/>
        <dsp:cNvSpPr/>
      </dsp:nvSpPr>
      <dsp:spPr>
        <a:xfrm>
          <a:off x="2858169" y="1011736"/>
          <a:ext cx="914088" cy="643530"/>
        </a:xfrm>
        <a:custGeom>
          <a:avLst/>
          <a:gdLst/>
          <a:ahLst/>
          <a:cxnLst/>
          <a:rect l="0" t="0" r="0" b="0"/>
          <a:pathLst>
            <a:path>
              <a:moveTo>
                <a:pt x="914088" y="0"/>
              </a:moveTo>
              <a:lnTo>
                <a:pt x="914088" y="468520"/>
              </a:lnTo>
              <a:lnTo>
                <a:pt x="0" y="468520"/>
              </a:lnTo>
              <a:lnTo>
                <a:pt x="0" y="6435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01B760-22ED-48FA-A1F7-E3571474E211}">
      <dsp:nvSpPr>
        <dsp:cNvPr id="0" name=""/>
        <dsp:cNvSpPr/>
      </dsp:nvSpPr>
      <dsp:spPr>
        <a:xfrm>
          <a:off x="841380" y="1011736"/>
          <a:ext cx="2930878" cy="643530"/>
        </a:xfrm>
        <a:custGeom>
          <a:avLst/>
          <a:gdLst/>
          <a:ahLst/>
          <a:cxnLst/>
          <a:rect l="0" t="0" r="0" b="0"/>
          <a:pathLst>
            <a:path>
              <a:moveTo>
                <a:pt x="2930878" y="0"/>
              </a:moveTo>
              <a:lnTo>
                <a:pt x="2930878" y="468520"/>
              </a:lnTo>
              <a:lnTo>
                <a:pt x="0" y="468520"/>
              </a:lnTo>
              <a:lnTo>
                <a:pt x="0" y="6435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0E5259-A20B-451B-A890-A874C0A89878}">
      <dsp:nvSpPr>
        <dsp:cNvPr id="0" name=""/>
        <dsp:cNvSpPr/>
      </dsp:nvSpPr>
      <dsp:spPr>
        <a:xfrm>
          <a:off x="2938874" y="178352"/>
          <a:ext cx="1666768" cy="8333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Toán tử</a:t>
          </a:r>
          <a:endParaRPr lang="en-US" sz="3200" kern="1200" dirty="0"/>
        </a:p>
      </dsp:txBody>
      <dsp:txXfrm>
        <a:off x="2938874" y="178352"/>
        <a:ext cx="1666768" cy="833384"/>
      </dsp:txXfrm>
    </dsp:sp>
    <dsp:sp modelId="{0504C8F2-F2F6-4F37-B281-D2874FB94D27}">
      <dsp:nvSpPr>
        <dsp:cNvPr id="0" name=""/>
        <dsp:cNvSpPr/>
      </dsp:nvSpPr>
      <dsp:spPr>
        <a:xfrm>
          <a:off x="7996" y="1655267"/>
          <a:ext cx="1666768" cy="8333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Số học</a:t>
          </a:r>
          <a:endParaRPr lang="en-US" sz="3200" kern="1200" dirty="0"/>
        </a:p>
      </dsp:txBody>
      <dsp:txXfrm>
        <a:off x="7996" y="1655267"/>
        <a:ext cx="1666768" cy="833384"/>
      </dsp:txXfrm>
    </dsp:sp>
    <dsp:sp modelId="{A22D3B31-DDDF-4479-AC1B-55DA07ADE7F6}">
      <dsp:nvSpPr>
        <dsp:cNvPr id="0" name=""/>
        <dsp:cNvSpPr/>
      </dsp:nvSpPr>
      <dsp:spPr>
        <a:xfrm>
          <a:off x="2024785" y="1655267"/>
          <a:ext cx="1666768" cy="8333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So sánh</a:t>
          </a:r>
          <a:endParaRPr lang="en-US" sz="3200" kern="1200" dirty="0"/>
        </a:p>
      </dsp:txBody>
      <dsp:txXfrm>
        <a:off x="2024785" y="1655267"/>
        <a:ext cx="1666768" cy="833384"/>
      </dsp:txXfrm>
    </dsp:sp>
    <dsp:sp modelId="{314969D2-5458-4FB2-9AF0-D66202A34227}">
      <dsp:nvSpPr>
        <dsp:cNvPr id="0" name=""/>
        <dsp:cNvSpPr/>
      </dsp:nvSpPr>
      <dsp:spPr>
        <a:xfrm>
          <a:off x="4041574" y="1655267"/>
          <a:ext cx="1666768" cy="8333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Logic</a:t>
          </a:r>
          <a:endParaRPr lang="en-US" sz="3200" kern="1200" dirty="0"/>
        </a:p>
      </dsp:txBody>
      <dsp:txXfrm>
        <a:off x="4041574" y="1655267"/>
        <a:ext cx="1666768" cy="833384"/>
      </dsp:txXfrm>
    </dsp:sp>
    <dsp:sp modelId="{7619F154-5542-427E-904F-21B30CD7354A}">
      <dsp:nvSpPr>
        <dsp:cNvPr id="0" name=""/>
        <dsp:cNvSpPr/>
      </dsp:nvSpPr>
      <dsp:spPr>
        <a:xfrm>
          <a:off x="6058359" y="1655267"/>
          <a:ext cx="1666768" cy="8333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Gán</a:t>
          </a:r>
        </a:p>
      </dsp:txBody>
      <dsp:txXfrm>
        <a:off x="6058359" y="1655267"/>
        <a:ext cx="1666768" cy="8333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C4604A-5A4D-4E51-9EB2-BD22403BF472}">
      <dsp:nvSpPr>
        <dsp:cNvPr id="0" name=""/>
        <dsp:cNvSpPr/>
      </dsp:nvSpPr>
      <dsp:spPr>
        <a:xfrm>
          <a:off x="3846752" y="815600"/>
          <a:ext cx="2833291" cy="466010"/>
        </a:xfrm>
        <a:custGeom>
          <a:avLst/>
          <a:gdLst/>
          <a:ahLst/>
          <a:cxnLst/>
          <a:rect l="0" t="0" r="0" b="0"/>
          <a:pathLst>
            <a:path>
              <a:moveTo>
                <a:pt x="0" y="0"/>
              </a:moveTo>
              <a:lnTo>
                <a:pt x="0" y="233005"/>
              </a:lnTo>
              <a:lnTo>
                <a:pt x="2833291" y="233005"/>
              </a:lnTo>
              <a:lnTo>
                <a:pt x="2833291" y="4660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8ABF5C-F42B-4CFA-BF2D-530EA700F1AA}">
      <dsp:nvSpPr>
        <dsp:cNvPr id="0" name=""/>
        <dsp:cNvSpPr/>
      </dsp:nvSpPr>
      <dsp:spPr>
        <a:xfrm>
          <a:off x="3726249" y="815600"/>
          <a:ext cx="91440" cy="466010"/>
        </a:xfrm>
        <a:custGeom>
          <a:avLst/>
          <a:gdLst/>
          <a:ahLst/>
          <a:cxnLst/>
          <a:rect l="0" t="0" r="0" b="0"/>
          <a:pathLst>
            <a:path>
              <a:moveTo>
                <a:pt x="120503" y="0"/>
              </a:moveTo>
              <a:lnTo>
                <a:pt x="120503" y="233005"/>
              </a:lnTo>
              <a:lnTo>
                <a:pt x="45720" y="233005"/>
              </a:lnTo>
              <a:lnTo>
                <a:pt x="45720" y="4660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47201C-D5C5-45AD-BD45-730480F6E524}">
      <dsp:nvSpPr>
        <dsp:cNvPr id="0" name=""/>
        <dsp:cNvSpPr/>
      </dsp:nvSpPr>
      <dsp:spPr>
        <a:xfrm>
          <a:off x="1111438" y="815600"/>
          <a:ext cx="2735314" cy="466010"/>
        </a:xfrm>
        <a:custGeom>
          <a:avLst/>
          <a:gdLst/>
          <a:ahLst/>
          <a:cxnLst/>
          <a:rect l="0" t="0" r="0" b="0"/>
          <a:pathLst>
            <a:path>
              <a:moveTo>
                <a:pt x="2735314" y="0"/>
              </a:moveTo>
              <a:lnTo>
                <a:pt x="2735314" y="233005"/>
              </a:lnTo>
              <a:lnTo>
                <a:pt x="0" y="233005"/>
              </a:lnTo>
              <a:lnTo>
                <a:pt x="0" y="4660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AC8748-25CD-4C28-B70F-0D71A83E3311}">
      <dsp:nvSpPr>
        <dsp:cNvPr id="0" name=""/>
        <dsp:cNvSpPr/>
      </dsp:nvSpPr>
      <dsp:spPr>
        <a:xfrm>
          <a:off x="2043736" y="102061"/>
          <a:ext cx="3606032" cy="7135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Cấu trúc điều khiển</a:t>
          </a:r>
        </a:p>
      </dsp:txBody>
      <dsp:txXfrm>
        <a:off x="2043736" y="102061"/>
        <a:ext cx="3606032" cy="713539"/>
      </dsp:txXfrm>
    </dsp:sp>
    <dsp:sp modelId="{DF633714-4D47-4175-A480-AC9D336DFC07}">
      <dsp:nvSpPr>
        <dsp:cNvPr id="0" name=""/>
        <dsp:cNvSpPr/>
      </dsp:nvSpPr>
      <dsp:spPr>
        <a:xfrm>
          <a:off x="1889" y="1281611"/>
          <a:ext cx="2219097" cy="10712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Tuần tự (Sequence structure)</a:t>
          </a:r>
        </a:p>
      </dsp:txBody>
      <dsp:txXfrm>
        <a:off x="1889" y="1281611"/>
        <a:ext cx="2219097" cy="1071235"/>
      </dsp:txXfrm>
    </dsp:sp>
    <dsp:sp modelId="{036CF34B-40CF-445D-983E-9439E0A58658}">
      <dsp:nvSpPr>
        <dsp:cNvPr id="0" name=""/>
        <dsp:cNvSpPr/>
      </dsp:nvSpPr>
      <dsp:spPr>
        <a:xfrm>
          <a:off x="2613234" y="1281611"/>
          <a:ext cx="2317469" cy="10712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Tuyển chọn (Selection structure)</a:t>
          </a:r>
        </a:p>
      </dsp:txBody>
      <dsp:txXfrm>
        <a:off x="2613234" y="1281611"/>
        <a:ext cx="2317469" cy="1071235"/>
      </dsp:txXfrm>
    </dsp:sp>
    <dsp:sp modelId="{2176DBFB-9280-4E7D-A548-08F0EBE4A38F}">
      <dsp:nvSpPr>
        <dsp:cNvPr id="0" name=""/>
        <dsp:cNvSpPr/>
      </dsp:nvSpPr>
      <dsp:spPr>
        <a:xfrm>
          <a:off x="5473387" y="1281611"/>
          <a:ext cx="2413312" cy="10712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Cấu trúc lặp (Repretition structure)</a:t>
          </a:r>
        </a:p>
      </dsp:txBody>
      <dsp:txXfrm>
        <a:off x="5473387" y="1281611"/>
        <a:ext cx="2413312" cy="107123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FB1A2-A4F7-4A3F-B7DC-204A2DFF796F}" type="datetimeFigureOut">
              <a:rPr lang="en-US" smtClean="0"/>
              <a:t>1/14/21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31EB2-A354-4C69-9822-F7F23F730F42}" type="slidenum">
              <a:rPr lang="en-US" smtClean="0"/>
              <a:t>‹#›</a:t>
            </a:fld>
            <a:endParaRPr lang="en-US"/>
          </a:p>
        </p:txBody>
      </p:sp>
    </p:spTree>
    <p:extLst>
      <p:ext uri="{BB962C8B-B14F-4D97-AF65-F5344CB8AC3E}">
        <p14:creationId xmlns:p14="http://schemas.microsoft.com/office/powerpoint/2010/main" val="3007097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Mỗi ngôn ngữ lập trình đều định nghĩa sẵn một số kiểu dữ liệu cơ bản được gọi là kiểu nguyên thủy (primitive type). Java có 8 kiểu nguyên thủy được phân chia theo nhóm như sau:</a:t>
            </a:r>
          </a:p>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4</a:t>
            </a:fld>
            <a:endParaRPr lang="en-US"/>
          </a:p>
        </p:txBody>
      </p:sp>
    </p:spTree>
    <p:extLst>
      <p:ext uri="{BB962C8B-B14F-4D97-AF65-F5344CB8AC3E}">
        <p14:creationId xmlns:p14="http://schemas.microsoft.com/office/powerpoint/2010/main" val="277954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Giá trị mặc định là giá trị sẽ được gán cho biến khi khai báo không khởi đầu giá trị cho biến.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Giá trị hằng là dữ liệu có kiểu là một trong các kiểu nguyên thủy: int, float, double, boolean,</a:t>
            </a:r>
            <a:r>
              <a:rPr lang="en-US" sz="1200" kern="1200" baseline="0" dirty="0">
                <a:solidFill>
                  <a:schemeClr val="tx1"/>
                </a:solidFill>
                <a:effectLst/>
                <a:latin typeface="+mn-lt"/>
                <a:ea typeface="+mn-ea"/>
                <a:cs typeface="+mn-cs"/>
              </a:rPr>
              <a:t> char</a:t>
            </a:r>
            <a:r>
              <a:rPr lang="en-US" sz="1200" kern="1200" dirty="0">
                <a:solidFill>
                  <a:schemeClr val="tx1"/>
                </a:solidFill>
                <a:effectLst/>
                <a:latin typeface="+mn-lt"/>
                <a:ea typeface="+mn-ea"/>
                <a:cs typeface="+mn-cs"/>
              </a:rPr>
              <a:t>. Ví dụ: int i =3; long l = 12L; float 10.19F.</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5</a:t>
            </a:fld>
            <a:endParaRPr lang="en-US"/>
          </a:p>
        </p:txBody>
      </p:sp>
    </p:spTree>
    <p:extLst>
      <p:ext uri="{BB962C8B-B14F-4D97-AF65-F5344CB8AC3E}">
        <p14:creationId xmlns:p14="http://schemas.microsoft.com/office/powerpoint/2010/main" val="3531163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a:t>
            </a:fld>
            <a:endParaRPr lang="en-US"/>
          </a:p>
        </p:txBody>
      </p:sp>
    </p:spTree>
    <p:extLst>
      <p:ext uri="{BB962C8B-B14F-4D97-AF65-F5344CB8AC3E}">
        <p14:creationId xmlns:p14="http://schemas.microsoft.com/office/powerpoint/2010/main" val="3408173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a:t>
            </a:fld>
            <a:endParaRPr lang="en-US"/>
          </a:p>
        </p:txBody>
      </p:sp>
    </p:spTree>
    <p:extLst>
      <p:ext uri="{BB962C8B-B14F-4D97-AF65-F5344CB8AC3E}">
        <p14:creationId xmlns:p14="http://schemas.microsoft.com/office/powerpoint/2010/main" val="2943382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Các kiểu dữ liệu byte và short được chuyển lên kiểu int.</a:t>
            </a:r>
          </a:p>
          <a:p>
            <a:r>
              <a:rPr lang="vi-VN" sz="1200" b="0" i="0" kern="1200" dirty="0">
                <a:solidFill>
                  <a:schemeClr val="tx1"/>
                </a:solidFill>
                <a:effectLst/>
                <a:latin typeface="+mn-lt"/>
                <a:ea typeface="+mn-ea"/>
                <a:cs typeface="+mn-cs"/>
              </a:rPr>
              <a:t>Nếu có một toán hạng có kiểu dữ liệu long thì toàn bộ biểu thức chứa toán hạng này sẽ được chuyển về kiểu long.</a:t>
            </a:r>
          </a:p>
          <a:p>
            <a:r>
              <a:rPr lang="vi-VN" sz="1200" b="0" i="0" kern="1200" dirty="0">
                <a:solidFill>
                  <a:schemeClr val="tx1"/>
                </a:solidFill>
                <a:effectLst/>
                <a:latin typeface="+mn-lt"/>
                <a:ea typeface="+mn-ea"/>
                <a:cs typeface="+mn-cs"/>
              </a:rPr>
              <a:t>Nếu có một toán hạng có kiểu dữ liệu float thì toàn bộ biểu thức chứa toán hạng này sẽ được chuyển về kiểu float.</a:t>
            </a:r>
          </a:p>
          <a:p>
            <a:r>
              <a:rPr lang="vi-VN" sz="1200" b="0" i="0" kern="1200" dirty="0">
                <a:solidFill>
                  <a:schemeClr val="tx1"/>
                </a:solidFill>
                <a:effectLst/>
                <a:latin typeface="+mn-lt"/>
                <a:ea typeface="+mn-ea"/>
                <a:cs typeface="+mn-cs"/>
              </a:rPr>
              <a:t>Nếu có một toán hạng có kiểu dữ liệu double</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thì toàn bộ biểu thức chứa toán hạng này sẽ được chuyển về kiểu double.</a:t>
            </a:r>
          </a:p>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a:t>
            </a:fld>
            <a:endParaRPr lang="en-US"/>
          </a:p>
        </p:txBody>
      </p:sp>
    </p:spTree>
    <p:extLst>
      <p:ext uri="{BB962C8B-B14F-4D97-AF65-F5344CB8AC3E}">
        <p14:creationId xmlns:p14="http://schemas.microsoft.com/office/powerpoint/2010/main" val="330328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a:t>
            </a:fld>
            <a:endParaRPr lang="en-US"/>
          </a:p>
        </p:txBody>
      </p:sp>
    </p:spTree>
    <p:extLst>
      <p:ext uri="{BB962C8B-B14F-4D97-AF65-F5344CB8AC3E}">
        <p14:creationId xmlns:p14="http://schemas.microsoft.com/office/powerpoint/2010/main" val="2745938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10</a:t>
            </a:fld>
            <a:endParaRPr lang="en-US"/>
          </a:p>
        </p:txBody>
      </p:sp>
    </p:spTree>
    <p:extLst>
      <p:ext uri="{BB962C8B-B14F-4D97-AF65-F5344CB8AC3E}">
        <p14:creationId xmlns:p14="http://schemas.microsoft.com/office/powerpoint/2010/main" val="179234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11</a:t>
            </a:fld>
            <a:endParaRPr lang="en-US"/>
          </a:p>
        </p:txBody>
      </p:sp>
    </p:spTree>
    <p:extLst>
      <p:ext uri="{BB962C8B-B14F-4D97-AF65-F5344CB8AC3E}">
        <p14:creationId xmlns:p14="http://schemas.microsoft.com/office/powerpoint/2010/main" val="3176608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Đoạn mã trên gán các giá trị 5 cho a, 7 cho b và tổng a + b cho c sau đó xuất tổng ra màn hình. a, b và c gọi là biến số nguyên.</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12</a:t>
            </a:fld>
            <a:endParaRPr lang="en-US"/>
          </a:p>
        </p:txBody>
      </p:sp>
    </p:spTree>
    <p:extLst>
      <p:ext uri="{BB962C8B-B14F-4D97-AF65-F5344CB8AC3E}">
        <p14:creationId xmlns:p14="http://schemas.microsoft.com/office/powerpoint/2010/main" val="4155550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13</a:t>
            </a:fld>
            <a:endParaRPr lang="en-US"/>
          </a:p>
        </p:txBody>
      </p:sp>
    </p:spTree>
    <p:extLst>
      <p:ext uri="{BB962C8B-B14F-4D97-AF65-F5344CB8AC3E}">
        <p14:creationId xmlns:p14="http://schemas.microsoft.com/office/powerpoint/2010/main" val="871256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14</a:t>
            </a:fld>
            <a:endParaRPr lang="en-US"/>
          </a:p>
        </p:txBody>
      </p:sp>
    </p:spTree>
    <p:extLst>
      <p:ext uri="{BB962C8B-B14F-4D97-AF65-F5344CB8AC3E}">
        <p14:creationId xmlns:p14="http://schemas.microsoft.com/office/powerpoint/2010/main" val="4060679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15</a:t>
            </a:fld>
            <a:endParaRPr lang="en-US"/>
          </a:p>
        </p:txBody>
      </p:sp>
    </p:spTree>
    <p:extLst>
      <p:ext uri="{BB962C8B-B14F-4D97-AF65-F5344CB8AC3E}">
        <p14:creationId xmlns:p14="http://schemas.microsoft.com/office/powerpoint/2010/main" val="3351863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16</a:t>
            </a:fld>
            <a:endParaRPr lang="en-US"/>
          </a:p>
        </p:txBody>
      </p:sp>
    </p:spTree>
    <p:extLst>
      <p:ext uri="{BB962C8B-B14F-4D97-AF65-F5344CB8AC3E}">
        <p14:creationId xmlns:p14="http://schemas.microsoft.com/office/powerpoint/2010/main" val="2399681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Các biến cục bộ thường được sử dụng trong thân phương thức để định nghĩa nội dung công việc cần thực hiện của chương trình.</a:t>
            </a:r>
          </a:p>
        </p:txBody>
      </p:sp>
      <p:sp>
        <p:nvSpPr>
          <p:cNvPr id="4" name="Slide Number Placeholder 3"/>
          <p:cNvSpPr>
            <a:spLocks noGrp="1"/>
          </p:cNvSpPr>
          <p:nvPr>
            <p:ph type="sldNum" sz="quarter" idx="10"/>
          </p:nvPr>
        </p:nvSpPr>
        <p:spPr/>
        <p:txBody>
          <a:bodyPr/>
          <a:lstStyle/>
          <a:p>
            <a:fld id="{99131EB2-A354-4C69-9822-F7F23F730F42}" type="slidenum">
              <a:rPr lang="en-US" smtClean="0"/>
              <a:t>17</a:t>
            </a:fld>
            <a:endParaRPr lang="en-US"/>
          </a:p>
        </p:txBody>
      </p:sp>
    </p:spTree>
    <p:extLst>
      <p:ext uri="{BB962C8B-B14F-4D97-AF65-F5344CB8AC3E}">
        <p14:creationId xmlns:p14="http://schemas.microsoft.com/office/powerpoint/2010/main" val="877105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18</a:t>
            </a:fld>
            <a:endParaRPr lang="en-US"/>
          </a:p>
        </p:txBody>
      </p:sp>
    </p:spTree>
    <p:extLst>
      <p:ext uri="{BB962C8B-B14F-4D97-AF65-F5344CB8AC3E}">
        <p14:creationId xmlns:p14="http://schemas.microsoft.com/office/powerpoint/2010/main" val="3472137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Ngoài</a:t>
            </a:r>
            <a:r>
              <a:rPr lang="en-US" baseline="0" dirty="0"/>
              <a:t> ra </a:t>
            </a:r>
            <a:r>
              <a:rPr lang="en-US" dirty="0"/>
              <a:t>Java cung cấp các</a:t>
            </a:r>
            <a:r>
              <a:rPr lang="en-US" baseline="0" dirty="0"/>
              <a:t> toán tử bit và toán tử điều kiện</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19</a:t>
            </a:fld>
            <a:endParaRPr lang="en-US"/>
          </a:p>
        </p:txBody>
      </p:sp>
    </p:spTree>
    <p:extLst>
      <p:ext uri="{BB962C8B-B14F-4D97-AF65-F5344CB8AC3E}">
        <p14:creationId xmlns:p14="http://schemas.microsoft.com/office/powerpoint/2010/main" val="2487242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20</a:t>
            </a:fld>
            <a:endParaRPr lang="en-US"/>
          </a:p>
        </p:txBody>
      </p:sp>
    </p:spTree>
    <p:extLst>
      <p:ext uri="{BB962C8B-B14F-4D97-AF65-F5344CB8AC3E}">
        <p14:creationId xmlns:p14="http://schemas.microsoft.com/office/powerpoint/2010/main" val="25145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Phép chia này luôn xác định và cho kết quả là một số thực. </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21</a:t>
            </a:fld>
            <a:endParaRPr lang="en-US"/>
          </a:p>
        </p:txBody>
      </p:sp>
    </p:spTree>
    <p:extLst>
      <p:ext uri="{BB962C8B-B14F-4D97-AF65-F5344CB8AC3E}">
        <p14:creationId xmlns:p14="http://schemas.microsoft.com/office/powerpoint/2010/main" val="600171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22</a:t>
            </a:fld>
            <a:endParaRPr lang="en-US"/>
          </a:p>
        </p:txBody>
      </p:sp>
    </p:spTree>
    <p:extLst>
      <p:ext uri="{BB962C8B-B14F-4D97-AF65-F5344CB8AC3E}">
        <p14:creationId xmlns:p14="http://schemas.microsoft.com/office/powerpoint/2010/main" val="582692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Chúng</a:t>
            </a:r>
            <a:r>
              <a:rPr lang="en-US" baseline="0" dirty="0"/>
              <a:t> ta tìm hiểu 4 dạng toán tử đầu: số học, quan hệ, logic và gán.</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23</a:t>
            </a:fld>
            <a:endParaRPr lang="en-US"/>
          </a:p>
        </p:txBody>
      </p:sp>
    </p:spTree>
    <p:extLst>
      <p:ext uri="{BB962C8B-B14F-4D97-AF65-F5344CB8AC3E}">
        <p14:creationId xmlns:p14="http://schemas.microsoft.com/office/powerpoint/2010/main" val="4190726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Chúng</a:t>
            </a:r>
            <a:r>
              <a:rPr lang="en-US" baseline="0" dirty="0"/>
              <a:t> ta tìm hiểu 4 dạng toán tử đầu: số học, quan hệ, logic và gán.</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24</a:t>
            </a:fld>
            <a:endParaRPr lang="en-US"/>
          </a:p>
        </p:txBody>
      </p:sp>
    </p:spTree>
    <p:extLst>
      <p:ext uri="{BB962C8B-B14F-4D97-AF65-F5344CB8AC3E}">
        <p14:creationId xmlns:p14="http://schemas.microsoft.com/office/powerpoint/2010/main" val="4177906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pc="40" dirty="0">
                <a:latin typeface="Arial"/>
                <a:cs typeface="Arial"/>
              </a:rPr>
              <a:t>T</a:t>
            </a:r>
            <a:r>
              <a:rPr lang="vi-VN" spc="40" dirty="0">
                <a:latin typeface="Arial"/>
                <a:cs typeface="Arial"/>
              </a:rPr>
              <a:t>ìm </a:t>
            </a:r>
            <a:r>
              <a:rPr lang="vi-VN" spc="-70" dirty="0">
                <a:latin typeface="Arial"/>
                <a:cs typeface="Arial"/>
              </a:rPr>
              <a:t>số </a:t>
            </a:r>
            <a:r>
              <a:rPr lang="vi-VN" spc="-35" dirty="0">
                <a:latin typeface="Arial"/>
                <a:cs typeface="Arial"/>
              </a:rPr>
              <a:t>lớn </a:t>
            </a:r>
            <a:r>
              <a:rPr lang="vi-VN" spc="20" dirty="0">
                <a:latin typeface="Arial"/>
                <a:cs typeface="Arial"/>
              </a:rPr>
              <a:t>nhất </a:t>
            </a:r>
            <a:r>
              <a:rPr lang="vi-VN" spc="-75" dirty="0">
                <a:latin typeface="Arial"/>
                <a:cs typeface="Arial"/>
              </a:rPr>
              <a:t>của </a:t>
            </a:r>
            <a:r>
              <a:rPr lang="en-US" spc="-50" dirty="0">
                <a:latin typeface="Arial"/>
                <a:cs typeface="Arial"/>
              </a:rPr>
              <a:t>3</a:t>
            </a:r>
            <a:r>
              <a:rPr lang="vi-VN" spc="-50" dirty="0">
                <a:latin typeface="Arial"/>
                <a:cs typeface="Arial"/>
              </a:rPr>
              <a:t> </a:t>
            </a:r>
            <a:r>
              <a:rPr lang="vi-VN" spc="-70" dirty="0">
                <a:latin typeface="Arial"/>
                <a:cs typeface="Arial"/>
              </a:rPr>
              <a:t>số </a:t>
            </a:r>
            <a:r>
              <a:rPr lang="vi-VN" spc="-135" dirty="0">
                <a:latin typeface="Arial"/>
                <a:cs typeface="Arial"/>
              </a:rPr>
              <a:t>a </a:t>
            </a:r>
            <a:r>
              <a:rPr lang="en-US" spc="-135" dirty="0">
                <a:latin typeface="Arial"/>
                <a:cs typeface="Arial"/>
              </a:rPr>
              <a:t>,</a:t>
            </a:r>
            <a:r>
              <a:rPr lang="en-US" spc="-135" baseline="0" dirty="0">
                <a:latin typeface="Arial"/>
                <a:cs typeface="Arial"/>
              </a:rPr>
              <a:t> b  </a:t>
            </a:r>
            <a:r>
              <a:rPr lang="vi-VN" spc="-125" dirty="0">
                <a:latin typeface="Arial"/>
                <a:cs typeface="Arial"/>
              </a:rPr>
              <a:t>và</a:t>
            </a:r>
            <a:r>
              <a:rPr lang="vi-VN" spc="360" dirty="0">
                <a:latin typeface="Arial"/>
                <a:cs typeface="Arial"/>
              </a:rPr>
              <a:t> </a:t>
            </a:r>
            <a:r>
              <a:rPr lang="en-US" spc="85" dirty="0">
                <a:latin typeface="Arial"/>
                <a:cs typeface="Arial"/>
              </a:rPr>
              <a:t>c?</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25</a:t>
            </a:fld>
            <a:endParaRPr lang="en-US"/>
          </a:p>
        </p:txBody>
      </p:sp>
    </p:spTree>
    <p:extLst>
      <p:ext uri="{BB962C8B-B14F-4D97-AF65-F5344CB8AC3E}">
        <p14:creationId xmlns:p14="http://schemas.microsoft.com/office/powerpoint/2010/main" val="4281284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26</a:t>
            </a:fld>
            <a:endParaRPr lang="en-US"/>
          </a:p>
        </p:txBody>
      </p:sp>
    </p:spTree>
    <p:extLst>
      <p:ext uri="{BB962C8B-B14F-4D97-AF65-F5344CB8AC3E}">
        <p14:creationId xmlns:p14="http://schemas.microsoft.com/office/powerpoint/2010/main" val="21520125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27</a:t>
            </a:fld>
            <a:endParaRPr lang="en-US"/>
          </a:p>
        </p:txBody>
      </p:sp>
    </p:spTree>
    <p:extLst>
      <p:ext uri="{BB962C8B-B14F-4D97-AF65-F5344CB8AC3E}">
        <p14:creationId xmlns:p14="http://schemas.microsoft.com/office/powerpoint/2010/main" val="2853549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28</a:t>
            </a:fld>
            <a:endParaRPr lang="en-US"/>
          </a:p>
        </p:txBody>
      </p:sp>
    </p:spTree>
    <p:extLst>
      <p:ext uri="{BB962C8B-B14F-4D97-AF65-F5344CB8AC3E}">
        <p14:creationId xmlns:p14="http://schemas.microsoft.com/office/powerpoint/2010/main" val="1596958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29</a:t>
            </a:fld>
            <a:endParaRPr lang="en-US"/>
          </a:p>
        </p:txBody>
      </p:sp>
    </p:spTree>
    <p:extLst>
      <p:ext uri="{BB962C8B-B14F-4D97-AF65-F5344CB8AC3E}">
        <p14:creationId xmlns:p14="http://schemas.microsoft.com/office/powerpoint/2010/main" val="27637879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pc="40" dirty="0">
                <a:latin typeface="Arial"/>
                <a:cs typeface="Arial"/>
              </a:rPr>
              <a:t>T</a:t>
            </a:r>
            <a:r>
              <a:rPr lang="vi-VN" spc="40" dirty="0">
                <a:latin typeface="Arial"/>
                <a:cs typeface="Arial"/>
              </a:rPr>
              <a:t>ìm </a:t>
            </a:r>
            <a:r>
              <a:rPr lang="vi-VN" spc="-70" dirty="0">
                <a:latin typeface="Arial"/>
                <a:cs typeface="Arial"/>
              </a:rPr>
              <a:t>số </a:t>
            </a:r>
            <a:r>
              <a:rPr lang="vi-VN" spc="-35" dirty="0">
                <a:latin typeface="Arial"/>
                <a:cs typeface="Arial"/>
              </a:rPr>
              <a:t>lớn </a:t>
            </a:r>
            <a:r>
              <a:rPr lang="vi-VN" spc="20" dirty="0">
                <a:latin typeface="Arial"/>
                <a:cs typeface="Arial"/>
              </a:rPr>
              <a:t>nhất </a:t>
            </a:r>
            <a:r>
              <a:rPr lang="vi-VN" spc="-75" dirty="0">
                <a:latin typeface="Arial"/>
                <a:cs typeface="Arial"/>
              </a:rPr>
              <a:t>của </a:t>
            </a:r>
            <a:r>
              <a:rPr lang="en-US" spc="-50" dirty="0">
                <a:latin typeface="Arial"/>
                <a:cs typeface="Arial"/>
              </a:rPr>
              <a:t>3</a:t>
            </a:r>
            <a:r>
              <a:rPr lang="vi-VN" spc="-50" dirty="0">
                <a:latin typeface="Arial"/>
                <a:cs typeface="Arial"/>
              </a:rPr>
              <a:t> </a:t>
            </a:r>
            <a:r>
              <a:rPr lang="vi-VN" spc="-70" dirty="0">
                <a:latin typeface="Arial"/>
                <a:cs typeface="Arial"/>
              </a:rPr>
              <a:t>số </a:t>
            </a:r>
            <a:r>
              <a:rPr lang="vi-VN" spc="-135" dirty="0">
                <a:latin typeface="Arial"/>
                <a:cs typeface="Arial"/>
              </a:rPr>
              <a:t>a </a:t>
            </a:r>
            <a:r>
              <a:rPr lang="en-US" spc="-135" dirty="0">
                <a:latin typeface="Arial"/>
                <a:cs typeface="Arial"/>
              </a:rPr>
              <a:t>,</a:t>
            </a:r>
            <a:r>
              <a:rPr lang="en-US" spc="-135" baseline="0" dirty="0">
                <a:latin typeface="Arial"/>
                <a:cs typeface="Arial"/>
              </a:rPr>
              <a:t> b  </a:t>
            </a:r>
            <a:r>
              <a:rPr lang="vi-VN" spc="-125" dirty="0">
                <a:latin typeface="Arial"/>
                <a:cs typeface="Arial"/>
              </a:rPr>
              <a:t>và</a:t>
            </a:r>
            <a:r>
              <a:rPr lang="vi-VN" spc="360" dirty="0">
                <a:latin typeface="Arial"/>
                <a:cs typeface="Arial"/>
              </a:rPr>
              <a:t> </a:t>
            </a:r>
            <a:r>
              <a:rPr lang="en-US" spc="85" dirty="0">
                <a:latin typeface="Arial"/>
                <a:cs typeface="Arial"/>
              </a:rPr>
              <a:t>c?</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31</a:t>
            </a:fld>
            <a:endParaRPr lang="en-US"/>
          </a:p>
        </p:txBody>
      </p:sp>
    </p:spTree>
    <p:extLst>
      <p:ext uri="{BB962C8B-B14F-4D97-AF65-F5344CB8AC3E}">
        <p14:creationId xmlns:p14="http://schemas.microsoft.com/office/powerpoint/2010/main" val="25011762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pc="40" dirty="0">
                <a:latin typeface="Arial"/>
                <a:cs typeface="Arial"/>
              </a:rPr>
              <a:t>T</a:t>
            </a:r>
            <a:r>
              <a:rPr lang="vi-VN" spc="40" dirty="0">
                <a:latin typeface="Arial"/>
                <a:cs typeface="Arial"/>
              </a:rPr>
              <a:t>ìm </a:t>
            </a:r>
            <a:r>
              <a:rPr lang="vi-VN" spc="-70" dirty="0">
                <a:latin typeface="Arial"/>
                <a:cs typeface="Arial"/>
              </a:rPr>
              <a:t>số </a:t>
            </a:r>
            <a:r>
              <a:rPr lang="vi-VN" spc="-35" dirty="0">
                <a:latin typeface="Arial"/>
                <a:cs typeface="Arial"/>
              </a:rPr>
              <a:t>lớn </a:t>
            </a:r>
            <a:r>
              <a:rPr lang="vi-VN" spc="20" dirty="0">
                <a:latin typeface="Arial"/>
                <a:cs typeface="Arial"/>
              </a:rPr>
              <a:t>nhất </a:t>
            </a:r>
            <a:r>
              <a:rPr lang="vi-VN" spc="-75" dirty="0">
                <a:latin typeface="Arial"/>
                <a:cs typeface="Arial"/>
              </a:rPr>
              <a:t>của </a:t>
            </a:r>
            <a:r>
              <a:rPr lang="en-US" spc="-50" dirty="0">
                <a:latin typeface="Arial"/>
                <a:cs typeface="Arial"/>
              </a:rPr>
              <a:t>3</a:t>
            </a:r>
            <a:r>
              <a:rPr lang="vi-VN" spc="-50" dirty="0">
                <a:latin typeface="Arial"/>
                <a:cs typeface="Arial"/>
              </a:rPr>
              <a:t> </a:t>
            </a:r>
            <a:r>
              <a:rPr lang="vi-VN" spc="-70" dirty="0">
                <a:latin typeface="Arial"/>
                <a:cs typeface="Arial"/>
              </a:rPr>
              <a:t>số </a:t>
            </a:r>
            <a:r>
              <a:rPr lang="vi-VN" spc="-135" dirty="0">
                <a:latin typeface="Arial"/>
                <a:cs typeface="Arial"/>
              </a:rPr>
              <a:t>a </a:t>
            </a:r>
            <a:r>
              <a:rPr lang="en-US" spc="-135" dirty="0">
                <a:latin typeface="Arial"/>
                <a:cs typeface="Arial"/>
              </a:rPr>
              <a:t>,</a:t>
            </a:r>
            <a:r>
              <a:rPr lang="en-US" spc="-135" baseline="0" dirty="0">
                <a:latin typeface="Arial"/>
                <a:cs typeface="Arial"/>
              </a:rPr>
              <a:t> b  </a:t>
            </a:r>
            <a:r>
              <a:rPr lang="vi-VN" spc="-125" dirty="0">
                <a:latin typeface="Arial"/>
                <a:cs typeface="Arial"/>
              </a:rPr>
              <a:t>và</a:t>
            </a:r>
            <a:r>
              <a:rPr lang="vi-VN" spc="360" dirty="0">
                <a:latin typeface="Arial"/>
                <a:cs typeface="Arial"/>
              </a:rPr>
              <a:t> </a:t>
            </a:r>
            <a:r>
              <a:rPr lang="en-US" spc="85" dirty="0">
                <a:latin typeface="Arial"/>
                <a:cs typeface="Arial"/>
              </a:rPr>
              <a:t>c?</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32</a:t>
            </a:fld>
            <a:endParaRPr lang="en-US"/>
          </a:p>
        </p:txBody>
      </p:sp>
    </p:spTree>
    <p:extLst>
      <p:ext uri="{BB962C8B-B14F-4D97-AF65-F5344CB8AC3E}">
        <p14:creationId xmlns:p14="http://schemas.microsoft.com/office/powerpoint/2010/main" val="3378126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9900" marR="5080" lvl="1" indent="0" algn="just">
              <a:lnSpc>
                <a:spcPts val="2380"/>
              </a:lnSpc>
              <a:spcBef>
                <a:spcPts val="575"/>
              </a:spcBef>
              <a:buClr>
                <a:srgbClr val="FF5A33"/>
              </a:buClr>
              <a:buFont typeface="Wingdings"/>
              <a:buNone/>
              <a:tabLst>
                <a:tab pos="756920" algn="l"/>
              </a:tabLst>
            </a:pPr>
            <a:r>
              <a:rPr lang="vi-VN" sz="2200" spc="-75" dirty="0">
                <a:latin typeface="Arial"/>
                <a:cs typeface="Arial"/>
              </a:rPr>
              <a:t>Chương </a:t>
            </a:r>
            <a:r>
              <a:rPr lang="vi-VN" sz="2200" spc="20" dirty="0">
                <a:latin typeface="Arial"/>
                <a:cs typeface="Arial"/>
              </a:rPr>
              <a:t>trình </a:t>
            </a:r>
            <a:r>
              <a:rPr lang="vi-VN" sz="2200" spc="-125" dirty="0">
                <a:latin typeface="Arial"/>
                <a:cs typeface="Arial"/>
              </a:rPr>
              <a:t>sẽ </a:t>
            </a:r>
            <a:r>
              <a:rPr lang="vi-VN" sz="2200" dirty="0">
                <a:latin typeface="Arial"/>
                <a:cs typeface="Arial"/>
              </a:rPr>
              <a:t>kiểm </a:t>
            </a:r>
            <a:r>
              <a:rPr lang="vi-VN" sz="2200" spc="15" dirty="0">
                <a:latin typeface="Arial"/>
                <a:cs typeface="Arial"/>
              </a:rPr>
              <a:t>tra </a:t>
            </a:r>
            <a:r>
              <a:rPr lang="vi-VN" sz="2200" spc="-25" dirty="0">
                <a:latin typeface="Arial"/>
                <a:cs typeface="Arial"/>
              </a:rPr>
              <a:t>từ </a:t>
            </a:r>
            <a:r>
              <a:rPr lang="vi-VN" sz="2200" b="1" spc="-5" dirty="0">
                <a:solidFill>
                  <a:srgbClr val="FF0000"/>
                </a:solidFill>
                <a:latin typeface="Arial"/>
                <a:cs typeface="Arial"/>
              </a:rPr>
              <a:t>điều </a:t>
            </a:r>
            <a:r>
              <a:rPr lang="vi-VN" sz="2200" b="1" spc="-15" dirty="0">
                <a:solidFill>
                  <a:srgbClr val="FF0000"/>
                </a:solidFill>
                <a:latin typeface="Arial"/>
                <a:cs typeface="Arial"/>
              </a:rPr>
              <a:t>kiện </a:t>
            </a:r>
            <a:r>
              <a:rPr lang="vi-VN" sz="2200" b="1" spc="35" dirty="0">
                <a:solidFill>
                  <a:srgbClr val="FF0000"/>
                </a:solidFill>
                <a:latin typeface="Arial"/>
                <a:cs typeface="Arial"/>
              </a:rPr>
              <a:t>1 </a:t>
            </a:r>
            <a:r>
              <a:rPr lang="vi-VN" sz="2200" b="1" spc="-5" dirty="0">
                <a:solidFill>
                  <a:srgbClr val="FF0000"/>
                </a:solidFill>
                <a:latin typeface="Arial"/>
                <a:cs typeface="Arial"/>
              </a:rPr>
              <a:t>đến </a:t>
            </a:r>
            <a:r>
              <a:rPr lang="vi-VN" sz="2200" b="1" spc="145" dirty="0">
                <a:solidFill>
                  <a:srgbClr val="FF0000"/>
                </a:solidFill>
                <a:latin typeface="Arial"/>
                <a:cs typeface="Arial"/>
              </a:rPr>
              <a:t>N </a:t>
            </a:r>
            <a:r>
              <a:rPr lang="vi-VN" sz="2200" spc="-15" dirty="0">
                <a:latin typeface="Arial"/>
                <a:cs typeface="Arial"/>
              </a:rPr>
              <a:t>nếu </a:t>
            </a:r>
            <a:r>
              <a:rPr lang="vi-VN" sz="2200" spc="5" dirty="0">
                <a:latin typeface="Arial"/>
                <a:cs typeface="Arial"/>
              </a:rPr>
              <a:t>gặp </a:t>
            </a:r>
            <a:r>
              <a:rPr lang="vi-VN" sz="2200" spc="5" dirty="0">
                <a:solidFill>
                  <a:srgbClr val="FF0000"/>
                </a:solidFill>
                <a:latin typeface="Arial"/>
                <a:cs typeface="Arial"/>
              </a:rPr>
              <a:t> </a:t>
            </a:r>
            <a:r>
              <a:rPr lang="vi-VN" sz="2200" b="1" spc="-5" dirty="0">
                <a:solidFill>
                  <a:srgbClr val="FF0000"/>
                </a:solidFill>
                <a:latin typeface="Arial"/>
                <a:cs typeface="Arial"/>
              </a:rPr>
              <a:t>điều </a:t>
            </a:r>
            <a:r>
              <a:rPr lang="vi-VN" sz="2200" b="1" spc="-15" dirty="0">
                <a:solidFill>
                  <a:srgbClr val="FF0000"/>
                </a:solidFill>
                <a:latin typeface="Arial"/>
                <a:cs typeface="Arial"/>
              </a:rPr>
              <a:t>kiện </a:t>
            </a:r>
            <a:r>
              <a:rPr lang="vi-VN" sz="2200" b="1" spc="10" dirty="0">
                <a:solidFill>
                  <a:srgbClr val="FF0000"/>
                </a:solidFill>
                <a:latin typeface="Arial"/>
                <a:cs typeface="Arial"/>
              </a:rPr>
              <a:t>i </a:t>
            </a:r>
            <a:r>
              <a:rPr lang="vi-VN" sz="2200" spc="-10" dirty="0">
                <a:latin typeface="Arial"/>
                <a:cs typeface="Arial"/>
              </a:rPr>
              <a:t>đầu </a:t>
            </a:r>
            <a:r>
              <a:rPr lang="vi-VN" sz="2200" spc="25" dirty="0">
                <a:latin typeface="Arial"/>
                <a:cs typeface="Arial"/>
              </a:rPr>
              <a:t>tiên </a:t>
            </a:r>
            <a:r>
              <a:rPr lang="vi-VN" sz="2200" spc="-15" dirty="0">
                <a:latin typeface="Arial"/>
                <a:cs typeface="Arial"/>
              </a:rPr>
              <a:t>có </a:t>
            </a:r>
            <a:r>
              <a:rPr lang="vi-VN" sz="2200" dirty="0">
                <a:latin typeface="Arial"/>
                <a:cs typeface="Arial"/>
              </a:rPr>
              <a:t>giá </a:t>
            </a:r>
            <a:r>
              <a:rPr lang="vi-VN" sz="2200" spc="65" dirty="0">
                <a:latin typeface="Arial"/>
                <a:cs typeface="Arial"/>
              </a:rPr>
              <a:t>trị </a:t>
            </a:r>
            <a:r>
              <a:rPr lang="vi-VN" sz="2200" spc="25" dirty="0">
                <a:latin typeface="Arial"/>
                <a:cs typeface="Arial"/>
              </a:rPr>
              <a:t>true </a:t>
            </a:r>
            <a:r>
              <a:rPr lang="vi-VN" sz="2200" spc="20" dirty="0">
                <a:latin typeface="Arial"/>
                <a:cs typeface="Arial"/>
              </a:rPr>
              <a:t>thì </a:t>
            </a:r>
            <a:r>
              <a:rPr lang="vi-VN" sz="2200" spc="-125" dirty="0">
                <a:latin typeface="Arial"/>
                <a:cs typeface="Arial"/>
              </a:rPr>
              <a:t>sẽ </a:t>
            </a:r>
            <a:r>
              <a:rPr lang="vi-VN" sz="2200" spc="-30" dirty="0">
                <a:latin typeface="Arial"/>
                <a:cs typeface="Arial"/>
              </a:rPr>
              <a:t>thực </a:t>
            </a:r>
            <a:r>
              <a:rPr lang="vi-VN" sz="2200" dirty="0">
                <a:latin typeface="Arial"/>
                <a:cs typeface="Arial"/>
              </a:rPr>
              <a:t>hiện </a:t>
            </a:r>
            <a:r>
              <a:rPr lang="vi-VN" sz="2200" b="1" spc="-45" dirty="0">
                <a:solidFill>
                  <a:srgbClr val="FF0000"/>
                </a:solidFill>
                <a:latin typeface="Arial"/>
                <a:cs typeface="Arial"/>
              </a:rPr>
              <a:t>công  </a:t>
            </a:r>
            <a:r>
              <a:rPr lang="vi-VN" sz="2200" b="1" spc="-65" dirty="0">
                <a:solidFill>
                  <a:srgbClr val="FF0000"/>
                </a:solidFill>
                <a:latin typeface="Arial"/>
                <a:cs typeface="Arial"/>
              </a:rPr>
              <a:t>việc i</a:t>
            </a:r>
            <a:r>
              <a:rPr lang="vi-VN" sz="2200" spc="-65" dirty="0">
                <a:latin typeface="Arial"/>
                <a:cs typeface="Arial"/>
              </a:rPr>
              <a:t>, ngược </a:t>
            </a:r>
            <a:r>
              <a:rPr lang="vi-VN" sz="2200" spc="-10" dirty="0">
                <a:latin typeface="Arial"/>
                <a:cs typeface="Arial"/>
              </a:rPr>
              <a:t>lại </a:t>
            </a:r>
            <a:r>
              <a:rPr lang="vi-VN" sz="2200" spc="-125" dirty="0">
                <a:latin typeface="Arial"/>
                <a:cs typeface="Arial"/>
              </a:rPr>
              <a:t>sẽ </a:t>
            </a:r>
            <a:r>
              <a:rPr lang="vi-VN" sz="2200" spc="-30" dirty="0">
                <a:latin typeface="Arial"/>
                <a:cs typeface="Arial"/>
              </a:rPr>
              <a:t>thực </a:t>
            </a:r>
            <a:r>
              <a:rPr lang="vi-VN" sz="2200" dirty="0">
                <a:latin typeface="Arial"/>
                <a:cs typeface="Arial"/>
              </a:rPr>
              <a:t>hiện </a:t>
            </a:r>
            <a:r>
              <a:rPr lang="vi-VN" sz="2200" b="1" spc="-45" dirty="0">
                <a:solidFill>
                  <a:srgbClr val="FF0000"/>
                </a:solidFill>
                <a:latin typeface="Arial"/>
                <a:cs typeface="Arial"/>
              </a:rPr>
              <a:t>công </a:t>
            </a:r>
            <a:r>
              <a:rPr lang="vi-VN" sz="2200" b="1" spc="-65" dirty="0">
                <a:solidFill>
                  <a:srgbClr val="FF0000"/>
                </a:solidFill>
                <a:latin typeface="Arial"/>
                <a:cs typeface="Arial"/>
              </a:rPr>
              <a:t>việc</a:t>
            </a:r>
            <a:r>
              <a:rPr lang="vi-VN" sz="2200" b="1" spc="340" dirty="0">
                <a:solidFill>
                  <a:srgbClr val="FF0000"/>
                </a:solidFill>
                <a:latin typeface="Arial"/>
                <a:cs typeface="Arial"/>
              </a:rPr>
              <a:t> </a:t>
            </a:r>
            <a:r>
              <a:rPr lang="vi-VN" sz="2200" b="1" spc="145" dirty="0">
                <a:solidFill>
                  <a:srgbClr val="FF0000"/>
                </a:solidFill>
                <a:latin typeface="Arial"/>
                <a:cs typeface="Arial"/>
              </a:rPr>
              <a:t>N+1</a:t>
            </a:r>
            <a:endParaRPr lang="vi-VN" sz="2200"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33</a:t>
            </a:fld>
            <a:endParaRPr lang="en-US"/>
          </a:p>
        </p:txBody>
      </p:sp>
    </p:spTree>
    <p:extLst>
      <p:ext uri="{BB962C8B-B14F-4D97-AF65-F5344CB8AC3E}">
        <p14:creationId xmlns:p14="http://schemas.microsoft.com/office/powerpoint/2010/main" val="708366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9900" lvl="1" indent="0">
              <a:lnSpc>
                <a:spcPct val="100000"/>
              </a:lnSpc>
              <a:spcBef>
                <a:spcPts val="305"/>
              </a:spcBef>
              <a:buClr>
                <a:srgbClr val="FF5A33"/>
              </a:buClr>
              <a:buFont typeface="Wingdings"/>
              <a:buNone/>
              <a:tabLst>
                <a:tab pos="756920" algn="l"/>
              </a:tabLst>
            </a:pPr>
            <a:r>
              <a:rPr lang="vi-VN" sz="2400" spc="-20" dirty="0">
                <a:latin typeface="Arial"/>
                <a:cs typeface="Arial"/>
              </a:rPr>
              <a:t>Đoạn </a:t>
            </a:r>
            <a:r>
              <a:rPr lang="vi-VN" sz="2400" spc="-30" dirty="0">
                <a:latin typeface="Arial"/>
                <a:cs typeface="Arial"/>
              </a:rPr>
              <a:t>mã </a:t>
            </a:r>
            <a:r>
              <a:rPr lang="vi-VN" sz="2400" spc="20" dirty="0">
                <a:latin typeface="Arial"/>
                <a:cs typeface="Arial"/>
              </a:rPr>
              <a:t>trên </a:t>
            </a:r>
            <a:r>
              <a:rPr lang="vi-VN" sz="2400" spc="15" dirty="0">
                <a:latin typeface="Arial"/>
                <a:cs typeface="Arial"/>
              </a:rPr>
              <a:t>biện </a:t>
            </a:r>
            <a:r>
              <a:rPr lang="vi-VN" sz="2400" spc="-10" dirty="0">
                <a:latin typeface="Arial"/>
                <a:cs typeface="Arial"/>
              </a:rPr>
              <a:t>luận </a:t>
            </a:r>
            <a:r>
              <a:rPr lang="vi-VN" sz="2400" spc="-110" dirty="0">
                <a:latin typeface="Arial"/>
                <a:cs typeface="Arial"/>
              </a:rPr>
              <a:t>và </a:t>
            </a:r>
            <a:r>
              <a:rPr lang="vi-VN" sz="2400" spc="10" dirty="0">
                <a:latin typeface="Arial"/>
                <a:cs typeface="Arial"/>
              </a:rPr>
              <a:t>giải </a:t>
            </a:r>
            <a:r>
              <a:rPr lang="vi-VN" sz="2400" spc="-25" dirty="0">
                <a:latin typeface="Arial"/>
                <a:cs typeface="Arial"/>
              </a:rPr>
              <a:t>phương </a:t>
            </a:r>
            <a:r>
              <a:rPr lang="vi-VN" sz="2400" spc="25" dirty="0">
                <a:latin typeface="Arial"/>
                <a:cs typeface="Arial"/>
              </a:rPr>
              <a:t>trình </a:t>
            </a:r>
            <a:r>
              <a:rPr lang="vi-VN" sz="2400" spc="-45" dirty="0">
                <a:latin typeface="Arial"/>
                <a:cs typeface="Arial"/>
              </a:rPr>
              <a:t>bậc</a:t>
            </a:r>
            <a:r>
              <a:rPr lang="vi-VN" sz="2400" spc="150" dirty="0">
                <a:latin typeface="Arial"/>
                <a:cs typeface="Arial"/>
              </a:rPr>
              <a:t> </a:t>
            </a:r>
            <a:r>
              <a:rPr lang="vi-VN" sz="2400" spc="-45" dirty="0">
                <a:latin typeface="Arial"/>
                <a:cs typeface="Arial"/>
              </a:rPr>
              <a:t>2</a:t>
            </a:r>
            <a:endParaRPr lang="vi-VN" sz="2400"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34</a:t>
            </a:fld>
            <a:endParaRPr lang="en-US"/>
          </a:p>
        </p:txBody>
      </p:sp>
    </p:spTree>
    <p:extLst>
      <p:ext uri="{BB962C8B-B14F-4D97-AF65-F5344CB8AC3E}">
        <p14:creationId xmlns:p14="http://schemas.microsoft.com/office/powerpoint/2010/main" val="3280704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9900" lvl="1" indent="0">
              <a:lnSpc>
                <a:spcPct val="100000"/>
              </a:lnSpc>
              <a:spcBef>
                <a:spcPts val="305"/>
              </a:spcBef>
              <a:buClr>
                <a:srgbClr val="FF5A33"/>
              </a:buClr>
              <a:buFont typeface="Wingdings"/>
              <a:buNone/>
              <a:tabLst>
                <a:tab pos="756920" algn="l"/>
              </a:tabLst>
            </a:pPr>
            <a:endParaRPr lang="vi-VN" sz="2400"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36</a:t>
            </a:fld>
            <a:endParaRPr lang="en-US"/>
          </a:p>
        </p:txBody>
      </p:sp>
    </p:spTree>
    <p:extLst>
      <p:ext uri="{BB962C8B-B14F-4D97-AF65-F5344CB8AC3E}">
        <p14:creationId xmlns:p14="http://schemas.microsoft.com/office/powerpoint/2010/main" val="769399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3400"/>
              </a:lnSpc>
              <a:spcBef>
                <a:spcPts val="0"/>
              </a:spcBef>
              <a:buNone/>
            </a:pPr>
            <a:r>
              <a:rPr lang="vi-VN" sz="2400" b="0" dirty="0">
                <a:latin typeface="Courier" panose="02020500000000000000" pitchFamily="18" charset="0"/>
                <a:ea typeface="Courier" panose="02020500000000000000" pitchFamily="18" charset="0"/>
                <a:cs typeface="Courier" panose="02020500000000000000" pitchFamily="18" charset="0"/>
              </a:rPr>
              <a:t>/*So sánh firstNumber với secondNumber</a:t>
            </a:r>
            <a:r>
              <a:rPr lang="en-US" sz="2400" b="0" dirty="0">
                <a:latin typeface="Courier" panose="02020500000000000000" pitchFamily="18" charset="0"/>
                <a:ea typeface="Courier" panose="02020500000000000000" pitchFamily="18" charset="0"/>
                <a:cs typeface="Courier" panose="02020500000000000000" pitchFamily="18" charset="0"/>
              </a:rPr>
              <a:t>. </a:t>
            </a:r>
            <a:r>
              <a:rPr lang="vi-VN" sz="2400" b="0" dirty="0">
                <a:latin typeface="Courier" panose="02020500000000000000" pitchFamily="18" charset="0"/>
                <a:ea typeface="Courier" panose="02020500000000000000" pitchFamily="18" charset="0"/>
                <a:cs typeface="Courier" panose="02020500000000000000" pitchFamily="18" charset="0"/>
              </a:rPr>
              <a:t>Nếu firstNumber lớn hơn secondNumber thì sẽ gán giá trị của secondNumber cho minNumber</a:t>
            </a:r>
            <a:r>
              <a:rPr lang="en-US" sz="2400" b="0" dirty="0">
                <a:latin typeface="Courier" panose="02020500000000000000" pitchFamily="18" charset="0"/>
                <a:ea typeface="Courier" panose="02020500000000000000" pitchFamily="18" charset="0"/>
                <a:cs typeface="Courier" panose="02020500000000000000" pitchFamily="18" charset="0"/>
              </a:rPr>
              <a:t>. </a:t>
            </a:r>
            <a:r>
              <a:rPr lang="vi-VN" sz="2400" b="0" dirty="0">
                <a:latin typeface="Courier" panose="02020500000000000000" pitchFamily="18" charset="0"/>
                <a:ea typeface="Courier" panose="02020500000000000000" pitchFamily="18" charset="0"/>
                <a:cs typeface="Courier" panose="02020500000000000000" pitchFamily="18" charset="0"/>
              </a:rPr>
              <a:t>Còn không thì không làm gì cả và kết thúc câu lệnh điều khiển.</a:t>
            </a:r>
          </a:p>
          <a:p>
            <a:pPr marL="0" indent="0" algn="just">
              <a:lnSpc>
                <a:spcPts val="3400"/>
              </a:lnSpc>
              <a:spcBef>
                <a:spcPts val="0"/>
              </a:spcBef>
              <a:buNone/>
            </a:pPr>
            <a:r>
              <a:rPr lang="vi-VN" sz="2400" b="0" dirty="0">
                <a:latin typeface="Courier" panose="02020500000000000000" pitchFamily="18" charset="0"/>
                <a:ea typeface="Courier" panose="02020500000000000000" pitchFamily="18" charset="0"/>
                <a:cs typeface="Courier" panose="02020500000000000000" pitchFamily="18" charset="0"/>
              </a:rPr>
              <a:t>   */</a:t>
            </a:r>
          </a:p>
        </p:txBody>
      </p:sp>
      <p:sp>
        <p:nvSpPr>
          <p:cNvPr id="4" name="Slide Number Placeholder 3"/>
          <p:cNvSpPr>
            <a:spLocks noGrp="1"/>
          </p:cNvSpPr>
          <p:nvPr>
            <p:ph type="sldNum" sz="quarter" idx="10"/>
          </p:nvPr>
        </p:nvSpPr>
        <p:spPr/>
        <p:txBody>
          <a:bodyPr/>
          <a:lstStyle/>
          <a:p>
            <a:fld id="{99131EB2-A354-4C69-9822-F7F23F730F42}" type="slidenum">
              <a:rPr lang="en-US" smtClean="0"/>
              <a:t>37</a:t>
            </a:fld>
            <a:endParaRPr lang="en-US"/>
          </a:p>
        </p:txBody>
      </p:sp>
    </p:spTree>
    <p:extLst>
      <p:ext uri="{BB962C8B-B14F-4D97-AF65-F5344CB8AC3E}">
        <p14:creationId xmlns:p14="http://schemas.microsoft.com/office/powerpoint/2010/main" val="31591513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38</a:t>
            </a:fld>
            <a:endParaRPr lang="en-US"/>
          </a:p>
        </p:txBody>
      </p:sp>
    </p:spTree>
    <p:extLst>
      <p:ext uri="{BB962C8B-B14F-4D97-AF65-F5344CB8AC3E}">
        <p14:creationId xmlns:p14="http://schemas.microsoft.com/office/powerpoint/2010/main" val="1024918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39</a:t>
            </a:fld>
            <a:endParaRPr lang="en-US"/>
          </a:p>
        </p:txBody>
      </p:sp>
    </p:spTree>
    <p:extLst>
      <p:ext uri="{BB962C8B-B14F-4D97-AF65-F5344CB8AC3E}">
        <p14:creationId xmlns:p14="http://schemas.microsoft.com/office/powerpoint/2010/main" val="2566508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41</a:t>
            </a:fld>
            <a:endParaRPr lang="en-US"/>
          </a:p>
        </p:txBody>
      </p:sp>
    </p:spTree>
    <p:extLst>
      <p:ext uri="{BB962C8B-B14F-4D97-AF65-F5344CB8AC3E}">
        <p14:creationId xmlns:p14="http://schemas.microsoft.com/office/powerpoint/2010/main" val="36329209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indent="0">
              <a:lnSpc>
                <a:spcPct val="100000"/>
              </a:lnSpc>
              <a:spcBef>
                <a:spcPts val="660"/>
              </a:spcBef>
              <a:buClr>
                <a:srgbClr val="FF5A33"/>
              </a:buClr>
              <a:buNone/>
              <a:tabLst>
                <a:tab pos="356235" algn="l"/>
              </a:tabLst>
            </a:pPr>
            <a:r>
              <a:rPr lang="en-US" sz="1200" kern="1200" dirty="0">
                <a:solidFill>
                  <a:schemeClr val="tx1"/>
                </a:solidFill>
                <a:effectLst/>
                <a:latin typeface="+mn-lt"/>
                <a:ea typeface="+mn-ea"/>
                <a:cs typeface="+mn-cs"/>
              </a:rPr>
              <a:t>Câu lệnh phức là một khối lệnh cắt đầu bằng “{“ và kết thúc bằng “}”.</a:t>
            </a:r>
            <a:endParaRPr lang="vi-VN" dirty="0">
              <a:latin typeface="Arial"/>
              <a:cs typeface="Arial"/>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42</a:t>
            </a:fld>
            <a:endParaRPr lang="en-US"/>
          </a:p>
        </p:txBody>
      </p:sp>
    </p:spTree>
    <p:extLst>
      <p:ext uri="{BB962C8B-B14F-4D97-AF65-F5344CB8AC3E}">
        <p14:creationId xmlns:p14="http://schemas.microsoft.com/office/powerpoint/2010/main" val="1284129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Thường thì câu lệnh  là câu lệnh phức mà mỗi lần lặp nó cập nhật lại giá trị của biến điều khiển ở trong điều kiện để đảm bảo chu trình kết thúc sau hữu hạn lần lặp.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Trước khi thực hiện lặp phải kiểm tra điều kiện </a:t>
            </a:r>
            <a:r>
              <a:rPr lang="en-US" sz="1200" spc="-10" dirty="0">
                <a:latin typeface="Courier New" panose="02070309020205020404" pitchFamily="49" charset="0"/>
                <a:cs typeface="Courier New" panose="02070309020205020404" pitchFamily="49" charset="0"/>
              </a:rPr>
              <a:t>điều kiện</a:t>
            </a:r>
            <a:r>
              <a:rPr lang="en-US" sz="1200" dirty="0"/>
              <a:t>. Do vậy, chu trình </a:t>
            </a:r>
            <a:r>
              <a:rPr lang="en-US" sz="1200" spc="-10" dirty="0">
                <a:latin typeface="Courier New" panose="02070309020205020404" pitchFamily="49" charset="0"/>
                <a:cs typeface="Courier New" panose="02070309020205020404" pitchFamily="49" charset="0"/>
              </a:rPr>
              <a:t>while</a:t>
            </a:r>
            <a:r>
              <a:rPr lang="en-US" sz="1200" dirty="0"/>
              <a:t> có thể không thực hiện lệnh </a:t>
            </a:r>
            <a:r>
              <a:rPr lang="en-US" sz="1200" spc="-10" dirty="0">
                <a:latin typeface="Courier New" panose="02070309020205020404" pitchFamily="49" charset="0"/>
                <a:cs typeface="Courier New" panose="02070309020205020404" pitchFamily="49" charset="0"/>
              </a:rPr>
              <a:t>câu lệnh</a:t>
            </a:r>
            <a:r>
              <a:rPr lang="en-US" sz="1200" dirty="0"/>
              <a:t> nếu ngay từ đầu </a:t>
            </a:r>
            <a:r>
              <a:rPr lang="en-US" sz="1200" spc="-10" dirty="0">
                <a:latin typeface="Courier New" panose="02070309020205020404" pitchFamily="49" charset="0"/>
                <a:cs typeface="Courier New" panose="02070309020205020404" pitchFamily="49" charset="0"/>
              </a:rPr>
              <a:t>điều kiện</a:t>
            </a:r>
            <a:r>
              <a:rPr lang="en-US" sz="1200" dirty="0"/>
              <a:t> sai.</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43</a:t>
            </a:fld>
            <a:endParaRPr lang="en-US"/>
          </a:p>
        </p:txBody>
      </p:sp>
    </p:spTree>
    <p:extLst>
      <p:ext uri="{BB962C8B-B14F-4D97-AF65-F5344CB8AC3E}">
        <p14:creationId xmlns:p14="http://schemas.microsoft.com/office/powerpoint/2010/main" val="1400770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44</a:t>
            </a:fld>
            <a:endParaRPr lang="en-US"/>
          </a:p>
        </p:txBody>
      </p:sp>
    </p:spTree>
    <p:extLst>
      <p:ext uri="{BB962C8B-B14F-4D97-AF65-F5344CB8AC3E}">
        <p14:creationId xmlns:p14="http://schemas.microsoft.com/office/powerpoint/2010/main" val="28293459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45</a:t>
            </a:fld>
            <a:endParaRPr lang="en-US"/>
          </a:p>
        </p:txBody>
      </p:sp>
    </p:spTree>
    <p:extLst>
      <p:ext uri="{BB962C8B-B14F-4D97-AF65-F5344CB8AC3E}">
        <p14:creationId xmlns:p14="http://schemas.microsoft.com/office/powerpoint/2010/main" val="1638708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46</a:t>
            </a:fld>
            <a:endParaRPr lang="en-US"/>
          </a:p>
        </p:txBody>
      </p:sp>
    </p:spTree>
    <p:extLst>
      <p:ext uri="{BB962C8B-B14F-4D97-AF65-F5344CB8AC3E}">
        <p14:creationId xmlns:p14="http://schemas.microsoft.com/office/powerpoint/2010/main" val="7941599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48</a:t>
            </a:fld>
            <a:endParaRPr lang="en-US"/>
          </a:p>
        </p:txBody>
      </p:sp>
    </p:spTree>
    <p:extLst>
      <p:ext uri="{BB962C8B-B14F-4D97-AF65-F5344CB8AC3E}">
        <p14:creationId xmlns:p14="http://schemas.microsoft.com/office/powerpoint/2010/main" val="16279803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for</a:t>
            </a:r>
            <a:r>
              <a:rPr lang="en-US" sz="1200" kern="1200" dirty="0">
                <a:solidFill>
                  <a:schemeClr val="tx1"/>
                </a:solidFill>
                <a:effectLst/>
                <a:latin typeface="+mn-lt"/>
                <a:ea typeface="+mn-ea"/>
                <a:cs typeface="+mn-cs"/>
              </a:rPr>
              <a:t> ([Initialization]; [Loopđiều kiện]; [Increment]) {câu lệnh;}</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49</a:t>
            </a:fld>
            <a:endParaRPr lang="en-US"/>
          </a:p>
        </p:txBody>
      </p:sp>
    </p:spTree>
    <p:extLst>
      <p:ext uri="{BB962C8B-B14F-4D97-AF65-F5344CB8AC3E}">
        <p14:creationId xmlns:p14="http://schemas.microsoft.com/office/powerpoint/2010/main" val="36407152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50</a:t>
            </a:fld>
            <a:endParaRPr lang="en-US"/>
          </a:p>
        </p:txBody>
      </p:sp>
    </p:spTree>
    <p:extLst>
      <p:ext uri="{BB962C8B-B14F-4D97-AF65-F5344CB8AC3E}">
        <p14:creationId xmlns:p14="http://schemas.microsoft.com/office/powerpoint/2010/main" val="7738574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52</a:t>
            </a:fld>
            <a:endParaRPr lang="en-US"/>
          </a:p>
        </p:txBody>
      </p:sp>
    </p:spTree>
    <p:extLst>
      <p:ext uri="{BB962C8B-B14F-4D97-AF65-F5344CB8AC3E}">
        <p14:creationId xmlns:p14="http://schemas.microsoft.com/office/powerpoint/2010/main" val="33489389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53</a:t>
            </a:fld>
            <a:endParaRPr lang="en-US"/>
          </a:p>
        </p:txBody>
      </p:sp>
    </p:spTree>
    <p:extLst>
      <p:ext uri="{BB962C8B-B14F-4D97-AF65-F5344CB8AC3E}">
        <p14:creationId xmlns:p14="http://schemas.microsoft.com/office/powerpoint/2010/main" val="38522456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54</a:t>
            </a:fld>
            <a:endParaRPr lang="en-US"/>
          </a:p>
        </p:txBody>
      </p:sp>
    </p:spTree>
    <p:extLst>
      <p:ext uri="{BB962C8B-B14F-4D97-AF65-F5344CB8AC3E}">
        <p14:creationId xmlns:p14="http://schemas.microsoft.com/office/powerpoint/2010/main" val="29407721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56</a:t>
            </a:fld>
            <a:endParaRPr lang="en-US"/>
          </a:p>
        </p:txBody>
      </p:sp>
    </p:spTree>
    <p:extLst>
      <p:ext uri="{BB962C8B-B14F-4D97-AF65-F5344CB8AC3E}">
        <p14:creationId xmlns:p14="http://schemas.microsoft.com/office/powerpoint/2010/main" val="28972738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57</a:t>
            </a:fld>
            <a:endParaRPr lang="en-US"/>
          </a:p>
        </p:txBody>
      </p:sp>
    </p:spTree>
    <p:extLst>
      <p:ext uri="{BB962C8B-B14F-4D97-AF65-F5344CB8AC3E}">
        <p14:creationId xmlns:p14="http://schemas.microsoft.com/office/powerpoint/2010/main" val="41583571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Java cung cấp</a:t>
            </a:r>
            <a:r>
              <a:rPr lang="en-US" baseline="0" dirty="0"/>
              <a:t> hệ thống thư viện thực hiện vào/ra dữ liệu khá phong phú dưới djang các lớp đối tượng</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58</a:t>
            </a:fld>
            <a:endParaRPr lang="en-US"/>
          </a:p>
        </p:txBody>
      </p:sp>
    </p:spTree>
    <p:extLst>
      <p:ext uri="{BB962C8B-B14F-4D97-AF65-F5344CB8AC3E}">
        <p14:creationId xmlns:p14="http://schemas.microsoft.com/office/powerpoint/2010/main" val="35041395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Java cung cấp</a:t>
            </a:r>
            <a:r>
              <a:rPr lang="en-US" baseline="0" dirty="0"/>
              <a:t> hệ thống thư viện thực hiện vào/ra dữ liệu khá phong phú dưới djang các lớp đối tượng</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59</a:t>
            </a:fld>
            <a:endParaRPr lang="en-US"/>
          </a:p>
        </p:txBody>
      </p:sp>
    </p:spTree>
    <p:extLst>
      <p:ext uri="{BB962C8B-B14F-4D97-AF65-F5344CB8AC3E}">
        <p14:creationId xmlns:p14="http://schemas.microsoft.com/office/powerpoint/2010/main" val="34386554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Java cung cấp</a:t>
            </a:r>
            <a:r>
              <a:rPr lang="en-US" baseline="0" dirty="0"/>
              <a:t> hệ thống thư viện thực hiện vào/ra dữ liệu khá phong phú dưới djang các lớp đối tượng</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60</a:t>
            </a:fld>
            <a:endParaRPr lang="en-US"/>
          </a:p>
        </p:txBody>
      </p:sp>
    </p:spTree>
    <p:extLst>
      <p:ext uri="{BB962C8B-B14F-4D97-AF65-F5344CB8AC3E}">
        <p14:creationId xmlns:p14="http://schemas.microsoft.com/office/powerpoint/2010/main" val="35433757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 là dữ liệu cần in gồm một biểu thức xác định giá trị dữ liệu</a:t>
            </a:r>
          </a:p>
        </p:txBody>
      </p:sp>
      <p:sp>
        <p:nvSpPr>
          <p:cNvPr id="4" name="Slide Number Placeholder 3"/>
          <p:cNvSpPr>
            <a:spLocks noGrp="1"/>
          </p:cNvSpPr>
          <p:nvPr>
            <p:ph type="sldNum" sz="quarter" idx="10"/>
          </p:nvPr>
        </p:nvSpPr>
        <p:spPr/>
        <p:txBody>
          <a:bodyPr/>
          <a:lstStyle/>
          <a:p>
            <a:fld id="{99131EB2-A354-4C69-9822-F7F23F730F42}" type="slidenum">
              <a:rPr lang="en-US" smtClean="0"/>
              <a:t>61</a:t>
            </a:fld>
            <a:endParaRPr lang="en-US"/>
          </a:p>
        </p:txBody>
      </p:sp>
    </p:spTree>
    <p:extLst>
      <p:ext uri="{BB962C8B-B14F-4D97-AF65-F5344CB8AC3E}">
        <p14:creationId xmlns:p14="http://schemas.microsoft.com/office/powerpoint/2010/main" val="2788241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400" dirty="0"/>
              <a:t>“%d”, “%f”, “%s”, “%x”, “%td”, “%m”, “%Y”,... tương ứng dữ liệu in ra là số nguyên, số thực, xâu ký tự, số hexa, ngày, tháng, năm,...</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Flags: </a:t>
            </a:r>
            <a:r>
              <a:rPr lang="en-US" sz="2400" dirty="0"/>
              <a:t>quy định trạng thái in ra dữ liệu như</a:t>
            </a:r>
            <a:r>
              <a:rPr lang="en-US" sz="2400" baseline="0" dirty="0"/>
              <a:t> “-”, “0”, “+”, “(“, tương ứng để căn trái dữ liệu, thêm số 0 vào bên trái các số, luôn có dấu trước các số, thêm các cặp dấu ngoặc ( ) trước số âm</a:t>
            </a:r>
            <a:endParaRPr lang="en-US" sz="24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62</a:t>
            </a:fld>
            <a:endParaRPr lang="en-US"/>
          </a:p>
        </p:txBody>
      </p:sp>
    </p:spTree>
    <p:extLst>
      <p:ext uri="{BB962C8B-B14F-4D97-AF65-F5344CB8AC3E}">
        <p14:creationId xmlns:p14="http://schemas.microsoft.com/office/powerpoint/2010/main" val="1817721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63</a:t>
            </a:fld>
            <a:endParaRPr lang="en-US"/>
          </a:p>
        </p:txBody>
      </p:sp>
    </p:spTree>
    <p:extLst>
      <p:ext uri="{BB962C8B-B14F-4D97-AF65-F5344CB8AC3E}">
        <p14:creationId xmlns:p14="http://schemas.microsoft.com/office/powerpoint/2010/main" val="11921113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64</a:t>
            </a:fld>
            <a:endParaRPr lang="en-US"/>
          </a:p>
        </p:txBody>
      </p:sp>
    </p:spTree>
    <p:extLst>
      <p:ext uri="{BB962C8B-B14F-4D97-AF65-F5344CB8AC3E}">
        <p14:creationId xmlns:p14="http://schemas.microsoft.com/office/powerpoint/2010/main" val="17477954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 là dữ liệu cần in gồm một biểu thức xác định giá trị dữ liệu</a:t>
            </a:r>
          </a:p>
        </p:txBody>
      </p:sp>
      <p:sp>
        <p:nvSpPr>
          <p:cNvPr id="4" name="Slide Number Placeholder 3"/>
          <p:cNvSpPr>
            <a:spLocks noGrp="1"/>
          </p:cNvSpPr>
          <p:nvPr>
            <p:ph type="sldNum" sz="quarter" idx="10"/>
          </p:nvPr>
        </p:nvSpPr>
        <p:spPr/>
        <p:txBody>
          <a:bodyPr/>
          <a:lstStyle/>
          <a:p>
            <a:fld id="{99131EB2-A354-4C69-9822-F7F23F730F42}" type="slidenum">
              <a:rPr lang="en-US" smtClean="0"/>
              <a:t>65</a:t>
            </a:fld>
            <a:endParaRPr lang="en-US"/>
          </a:p>
        </p:txBody>
      </p:sp>
    </p:spTree>
    <p:extLst>
      <p:ext uri="{BB962C8B-B14F-4D97-AF65-F5344CB8AC3E}">
        <p14:creationId xmlns:p14="http://schemas.microsoft.com/office/powerpoint/2010/main" val="24021196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 là dữ liệu cần in gồm một biểu thức xác định giá trị dữ liệu</a:t>
            </a:r>
          </a:p>
        </p:txBody>
      </p:sp>
      <p:sp>
        <p:nvSpPr>
          <p:cNvPr id="4" name="Slide Number Placeholder 3"/>
          <p:cNvSpPr>
            <a:spLocks noGrp="1"/>
          </p:cNvSpPr>
          <p:nvPr>
            <p:ph type="sldNum" sz="quarter" idx="10"/>
          </p:nvPr>
        </p:nvSpPr>
        <p:spPr/>
        <p:txBody>
          <a:bodyPr/>
          <a:lstStyle/>
          <a:p>
            <a:fld id="{99131EB2-A354-4C69-9822-F7F23F730F42}" type="slidenum">
              <a:rPr lang="en-US" smtClean="0"/>
              <a:t>66</a:t>
            </a:fld>
            <a:endParaRPr lang="en-US"/>
          </a:p>
        </p:txBody>
      </p:sp>
    </p:spTree>
    <p:extLst>
      <p:ext uri="{BB962C8B-B14F-4D97-AF65-F5344CB8AC3E}">
        <p14:creationId xmlns:p14="http://schemas.microsoft.com/office/powerpoint/2010/main" val="37217414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Nếu mảng chỉ có một chỉ số để lưu trữ các giá trị vào trong các biến thành phần của mảng thì được gọi là mảng một chiều. Nếu mảng có 2 chỉ số để lưu trữ các giá trị (</a:t>
            </a:r>
            <a:r>
              <a:rPr lang="vi-VN" sz="1200" b="0" i="1" kern="1200" dirty="0">
                <a:solidFill>
                  <a:schemeClr val="tx1"/>
                </a:solidFill>
                <a:effectLst/>
                <a:latin typeface="+mn-lt"/>
                <a:ea typeface="+mn-ea"/>
                <a:cs typeface="+mn-cs"/>
              </a:rPr>
              <a:t>chẳng hạn giá trị của một bảng có m dòng, n cột</a:t>
            </a:r>
            <a:r>
              <a:rPr lang="vi-VN" sz="1200" b="0" i="0" kern="1200" dirty="0">
                <a:solidFill>
                  <a:schemeClr val="tx1"/>
                </a:solidFill>
                <a:effectLst/>
                <a:latin typeface="+mn-lt"/>
                <a:ea typeface="+mn-ea"/>
                <a:cs typeface="+mn-cs"/>
              </a:rPr>
              <a:t>) được gọi là mảng 2 chiều. Tương tự, ta có mảng 3 chiều, 4 chiều, ..., n chiều.</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67</a:t>
            </a:fld>
            <a:endParaRPr lang="en-US"/>
          </a:p>
        </p:txBody>
      </p:sp>
    </p:spTree>
    <p:extLst>
      <p:ext uri="{BB962C8B-B14F-4D97-AF65-F5344CB8AC3E}">
        <p14:creationId xmlns:p14="http://schemas.microsoft.com/office/powerpoint/2010/main" val="35325411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68</a:t>
            </a:fld>
            <a:endParaRPr lang="en-US"/>
          </a:p>
        </p:txBody>
      </p:sp>
    </p:spTree>
    <p:extLst>
      <p:ext uri="{BB962C8B-B14F-4D97-AF65-F5344CB8AC3E}">
        <p14:creationId xmlns:p14="http://schemas.microsoft.com/office/powerpoint/2010/main" val="30871847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quy tắc đặt tên mảng</a:t>
            </a:r>
            <a:r>
              <a:rPr lang="en-US" baseline="0" dirty="0"/>
              <a:t> </a:t>
            </a:r>
            <a:r>
              <a:rPr lang="en-US" dirty="0"/>
              <a:t>phải tuân theo quy tắc đặt tên biến trong Java.</a:t>
            </a:r>
            <a:endParaRPr lang="en-US" spc="5" dirty="0">
              <a:latin typeface="Arial"/>
              <a:cs typeface="Aria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69</a:t>
            </a:fld>
            <a:endParaRPr lang="en-US"/>
          </a:p>
        </p:txBody>
      </p:sp>
    </p:spTree>
    <p:extLst>
      <p:ext uri="{BB962C8B-B14F-4D97-AF65-F5344CB8AC3E}">
        <p14:creationId xmlns:p14="http://schemas.microsoft.com/office/powerpoint/2010/main" val="5628093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70</a:t>
            </a:fld>
            <a:endParaRPr lang="en-US"/>
          </a:p>
        </p:txBody>
      </p:sp>
    </p:spTree>
    <p:extLst>
      <p:ext uri="{BB962C8B-B14F-4D97-AF65-F5344CB8AC3E}">
        <p14:creationId xmlns:p14="http://schemas.microsoft.com/office/powerpoint/2010/main" val="26975809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mảng có n phần tử thì các phần tử của nó có chỉ số lần lượt là 0, 1, 2,..., n - 1.</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71</a:t>
            </a:fld>
            <a:endParaRPr lang="en-US"/>
          </a:p>
        </p:txBody>
      </p:sp>
    </p:spTree>
    <p:extLst>
      <p:ext uri="{BB962C8B-B14F-4D97-AF65-F5344CB8AC3E}">
        <p14:creationId xmlns:p14="http://schemas.microsoft.com/office/powerpoint/2010/main" val="41193398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72</a:t>
            </a:fld>
            <a:endParaRPr lang="en-US"/>
          </a:p>
        </p:txBody>
      </p:sp>
    </p:spTree>
    <p:extLst>
      <p:ext uri="{BB962C8B-B14F-4D97-AF65-F5344CB8AC3E}">
        <p14:creationId xmlns:p14="http://schemas.microsoft.com/office/powerpoint/2010/main" val="3794507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73</a:t>
            </a:fld>
            <a:endParaRPr lang="en-US"/>
          </a:p>
        </p:txBody>
      </p:sp>
    </p:spTree>
    <p:extLst>
      <p:ext uri="{BB962C8B-B14F-4D97-AF65-F5344CB8AC3E}">
        <p14:creationId xmlns:p14="http://schemas.microsoft.com/office/powerpoint/2010/main" val="32546191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75</a:t>
            </a:fld>
            <a:endParaRPr lang="en-US"/>
          </a:p>
        </p:txBody>
      </p:sp>
    </p:spTree>
    <p:extLst>
      <p:ext uri="{BB962C8B-B14F-4D97-AF65-F5344CB8AC3E}">
        <p14:creationId xmlns:p14="http://schemas.microsoft.com/office/powerpoint/2010/main" val="17436169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76</a:t>
            </a:fld>
            <a:endParaRPr lang="en-US"/>
          </a:p>
        </p:txBody>
      </p:sp>
    </p:spTree>
    <p:extLst>
      <p:ext uri="{BB962C8B-B14F-4D97-AF65-F5344CB8AC3E}">
        <p14:creationId xmlns:p14="http://schemas.microsoft.com/office/powerpoint/2010/main" val="35697849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77</a:t>
            </a:fld>
            <a:endParaRPr lang="en-US"/>
          </a:p>
        </p:txBody>
      </p:sp>
    </p:spTree>
    <p:extLst>
      <p:ext uri="{BB962C8B-B14F-4D97-AF65-F5344CB8AC3E}">
        <p14:creationId xmlns:p14="http://schemas.microsoft.com/office/powerpoint/2010/main" val="59129163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spc="-50" dirty="0">
                <a:latin typeface="Courier" panose="02020500000000000000" pitchFamily="18" charset="0"/>
                <a:ea typeface="Courier" panose="02020500000000000000" pitchFamily="18" charset="0"/>
                <a:cs typeface="Courier" panose="02020500000000000000" pitchFamily="18" charset="0"/>
              </a:rPr>
              <a:t>/</a:t>
            </a:r>
            <a:r>
              <a:rPr lang="en-US" sz="1200" dirty="0"/>
              <a:t>khai báo và cấp phát bộ nhớ cho mảng </a:t>
            </a:r>
            <a:r>
              <a:rPr lang="en-US" sz="1400" spc="-50" dirty="0">
                <a:latin typeface="Courier" panose="02020500000000000000" pitchFamily="18" charset="0"/>
                <a:ea typeface="Courier" panose="02020500000000000000" pitchFamily="18" charset="0"/>
                <a:cs typeface="Courier" panose="02020500000000000000" pitchFamily="18" charset="0"/>
              </a:rPr>
              <a:t>number </a:t>
            </a:r>
            <a:r>
              <a:rPr lang="en-US" sz="1200" dirty="0"/>
              <a:t>có 2 dòng, 3 cột.</a:t>
            </a: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78</a:t>
            </a:fld>
            <a:endParaRPr lang="en-US"/>
          </a:p>
        </p:txBody>
      </p:sp>
    </p:spTree>
    <p:extLst>
      <p:ext uri="{BB962C8B-B14F-4D97-AF65-F5344CB8AC3E}">
        <p14:creationId xmlns:p14="http://schemas.microsoft.com/office/powerpoint/2010/main" val="35498417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t>
            </a:r>
            <a:r>
              <a:rPr lang="vi-VN" sz="1200" b="0" i="0" kern="1200" dirty="0">
                <a:solidFill>
                  <a:schemeClr val="tx1"/>
                </a:solidFill>
                <a:effectLst/>
                <a:latin typeface="+mn-lt"/>
                <a:ea typeface="+mn-ea"/>
                <a:cs typeface="+mn-cs"/>
              </a:rPr>
              <a:t>ột mảng hai chiều có m dòng và n cột thì chỉ số của dòng sẽ chạy từ 0, 1, 2,..., m - 1 và chỉ số của cột sẽ chạy từ 0, 1, 2,..., n - 1. </a:t>
            </a:r>
            <a:endParaRPr lang="en-US" sz="1400" spc="-50" dirty="0">
              <a:latin typeface="Courier" panose="02020500000000000000" pitchFamily="18" charset="0"/>
              <a:ea typeface="Courier" panose="02020500000000000000" pitchFamily="18" charset="0"/>
              <a:cs typeface="Courier" panose="02020500000000000000"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spc="-50" dirty="0">
                <a:latin typeface="Courier" panose="02020500000000000000" pitchFamily="18" charset="0"/>
                <a:ea typeface="Courier" panose="02020500000000000000" pitchFamily="18" charset="0"/>
                <a:cs typeface="Courier" panose="02020500000000000000" pitchFamily="18" charset="0"/>
              </a:rPr>
              <a:t>/</a:t>
            </a:r>
            <a:r>
              <a:rPr lang="en-US" sz="1200" dirty="0"/>
              <a:t>khai báo và cấp phát bộ nhớ cho mảng </a:t>
            </a:r>
            <a:r>
              <a:rPr lang="en-US" sz="1400" spc="-50" dirty="0">
                <a:latin typeface="Courier" panose="02020500000000000000" pitchFamily="18" charset="0"/>
                <a:ea typeface="Courier" panose="02020500000000000000" pitchFamily="18" charset="0"/>
                <a:cs typeface="Courier" panose="02020500000000000000" pitchFamily="18" charset="0"/>
              </a:rPr>
              <a:t>number </a:t>
            </a:r>
            <a:r>
              <a:rPr lang="en-US" sz="1200" dirty="0"/>
              <a:t>có 2 dòng, 3 cột.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79</a:t>
            </a:fld>
            <a:endParaRPr lang="en-US"/>
          </a:p>
        </p:txBody>
      </p:sp>
    </p:spTree>
    <p:extLst>
      <p:ext uri="{BB962C8B-B14F-4D97-AF65-F5344CB8AC3E}">
        <p14:creationId xmlns:p14="http://schemas.microsoft.com/office/powerpoint/2010/main" val="29720397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80</a:t>
            </a:fld>
            <a:endParaRPr lang="en-US"/>
          </a:p>
        </p:txBody>
      </p:sp>
    </p:spTree>
    <p:extLst>
      <p:ext uri="{BB962C8B-B14F-4D97-AF65-F5344CB8AC3E}">
        <p14:creationId xmlns:p14="http://schemas.microsoft.com/office/powerpoint/2010/main" val="24049346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82</a:t>
            </a:fld>
            <a:endParaRPr lang="en-US"/>
          </a:p>
        </p:txBody>
      </p:sp>
    </p:spTree>
    <p:extLst>
      <p:ext uri="{BB962C8B-B14F-4D97-AF65-F5344CB8AC3E}">
        <p14:creationId xmlns:p14="http://schemas.microsoft.com/office/powerpoint/2010/main" val="2876494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83</a:t>
            </a:fld>
            <a:endParaRPr lang="en-US"/>
          </a:p>
        </p:txBody>
      </p:sp>
    </p:spTree>
    <p:extLst>
      <p:ext uri="{BB962C8B-B14F-4D97-AF65-F5344CB8AC3E}">
        <p14:creationId xmlns:p14="http://schemas.microsoft.com/office/powerpoint/2010/main" val="10245143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84</a:t>
            </a:fld>
            <a:endParaRPr lang="en-US"/>
          </a:p>
        </p:txBody>
      </p:sp>
    </p:spTree>
    <p:extLst>
      <p:ext uri="{BB962C8B-B14F-4D97-AF65-F5344CB8AC3E}">
        <p14:creationId xmlns:p14="http://schemas.microsoft.com/office/powerpoint/2010/main" val="36282828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Tr</a:t>
            </a:r>
            <a:r>
              <a:rPr lang="vi-VN" sz="1200" b="0" i="0" kern="1200" dirty="0">
                <a:solidFill>
                  <a:schemeClr val="tx1"/>
                </a:solidFill>
                <a:effectLst/>
                <a:latin typeface="+mn-lt"/>
                <a:ea typeface="+mn-ea"/>
                <a:cs typeface="+mn-cs"/>
              </a:rPr>
              <a:t>ong đó, </a:t>
            </a:r>
            <a:r>
              <a:rPr lang="vi-VN" dirty="0"/>
              <a:t>giá_trị_khởi_tạo</a:t>
            </a:r>
            <a:r>
              <a:rPr lang="vi-VN" sz="1200" b="0" i="0" kern="1200" dirty="0">
                <a:solidFill>
                  <a:schemeClr val="tx1"/>
                </a:solidFill>
                <a:effectLst/>
                <a:latin typeface="+mn-lt"/>
                <a:ea typeface="+mn-ea"/>
                <a:cs typeface="+mn-cs"/>
              </a:rPr>
              <a:t> của chuỗi có thể có hoặc không và nếu có thì phải đặt trong cặp dấu " ". Nếu một chuỗi có </a:t>
            </a:r>
            <a:r>
              <a:rPr lang="vi-VN" dirty="0"/>
              <a:t>giá_trị_khởi_tạo = " "</a:t>
            </a:r>
            <a:r>
              <a:rPr lang="vi-VN" sz="1200" b="0" i="0" kern="1200" dirty="0">
                <a:solidFill>
                  <a:schemeClr val="tx1"/>
                </a:solidFill>
                <a:effectLst/>
                <a:latin typeface="+mn-lt"/>
                <a:ea typeface="+mn-ea"/>
                <a:cs typeface="+mn-cs"/>
              </a:rPr>
              <a:t> thì chuỗi đó được gọi là chuỗi rỗng.</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131EB2-A354-4C69-9822-F7F23F730F42}" type="slidenum">
              <a:rPr lang="en-US" smtClean="0"/>
              <a:t>85</a:t>
            </a:fld>
            <a:endParaRPr lang="en-US"/>
          </a:p>
        </p:txBody>
      </p:sp>
    </p:spTree>
    <p:extLst>
      <p:ext uri="{BB962C8B-B14F-4D97-AF65-F5344CB8AC3E}">
        <p14:creationId xmlns:p14="http://schemas.microsoft.com/office/powerpoint/2010/main" val="31021036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86</a:t>
            </a:fld>
            <a:endParaRPr lang="en-US"/>
          </a:p>
        </p:txBody>
      </p:sp>
    </p:spTree>
    <p:extLst>
      <p:ext uri="{BB962C8B-B14F-4D97-AF65-F5344CB8AC3E}">
        <p14:creationId xmlns:p14="http://schemas.microsoft.com/office/powerpoint/2010/main" val="63236671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87</a:t>
            </a:fld>
            <a:endParaRPr lang="en-US"/>
          </a:p>
        </p:txBody>
      </p:sp>
    </p:spTree>
    <p:extLst>
      <p:ext uri="{BB962C8B-B14F-4D97-AF65-F5344CB8AC3E}">
        <p14:creationId xmlns:p14="http://schemas.microsoft.com/office/powerpoint/2010/main" val="38057417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88</a:t>
            </a:fld>
            <a:endParaRPr lang="en-US"/>
          </a:p>
        </p:txBody>
      </p:sp>
    </p:spTree>
    <p:extLst>
      <p:ext uri="{BB962C8B-B14F-4D97-AF65-F5344CB8AC3E}">
        <p14:creationId xmlns:p14="http://schemas.microsoft.com/office/powerpoint/2010/main" val="34919665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89</a:t>
            </a:fld>
            <a:endParaRPr lang="en-US"/>
          </a:p>
        </p:txBody>
      </p:sp>
    </p:spTree>
    <p:extLst>
      <p:ext uri="{BB962C8B-B14F-4D97-AF65-F5344CB8AC3E}">
        <p14:creationId xmlns:p14="http://schemas.microsoft.com/office/powerpoint/2010/main" val="38688207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Để giải bài tập này, các bạn sẽ sử dụng vòng lặp for để duyệt </a:t>
            </a:r>
            <a:r>
              <a:rPr lang="en-US" dirty="0"/>
              <a:t>i</a:t>
            </a:r>
            <a:r>
              <a:rPr lang="en-US" sz="1200" b="0" i="0" kern="1200" dirty="0">
                <a:solidFill>
                  <a:schemeClr val="tx1"/>
                </a:solidFill>
                <a:effectLst/>
                <a:latin typeface="+mn-lt"/>
                <a:ea typeface="+mn-ea"/>
                <a:cs typeface="+mn-cs"/>
              </a:rPr>
              <a:t> từ 0 đến cuối chuỗi và hàm </a:t>
            </a:r>
            <a:r>
              <a:rPr lang="en-US" dirty="0"/>
              <a:t>char kyTu = chuoi.charAt(i);</a:t>
            </a:r>
            <a:r>
              <a:rPr lang="en-US" sz="1200" b="0" i="0" kern="1200" dirty="0">
                <a:solidFill>
                  <a:schemeClr val="tx1"/>
                </a:solidFill>
                <a:effectLst/>
                <a:latin typeface="+mn-lt"/>
                <a:ea typeface="+mn-ea"/>
                <a:cs typeface="+mn-cs"/>
              </a:rPr>
              <a:t> để trả về ký tự tại vị trí </a:t>
            </a:r>
            <a:r>
              <a:rPr lang="en-US" dirty="0"/>
              <a:t>i</a:t>
            </a:r>
            <a:r>
              <a:rPr lang="en-US" sz="1200" b="0" i="0" kern="1200" dirty="0">
                <a:solidFill>
                  <a:schemeClr val="tx1"/>
                </a:solidFill>
                <a:effectLst/>
                <a:latin typeface="+mn-lt"/>
                <a:ea typeface="+mn-ea"/>
                <a:cs typeface="+mn-cs"/>
              </a:rPr>
              <a:t> trong chuỗi. Ví dụ chúng ta có chuỗi "</a:t>
            </a:r>
            <a:r>
              <a:rPr lang="en-US" sz="1200" b="0" i="1" kern="1200" dirty="0">
                <a:solidFill>
                  <a:schemeClr val="tx1"/>
                </a:solidFill>
                <a:effectLst/>
                <a:latin typeface="+mn-lt"/>
                <a:ea typeface="+mn-ea"/>
                <a:cs typeface="+mn-cs"/>
              </a:rPr>
              <a:t>Freetuts</a:t>
            </a:r>
            <a:r>
              <a:rPr lang="en-US" sz="1200" b="0" i="0" kern="1200" dirty="0">
                <a:solidFill>
                  <a:schemeClr val="tx1"/>
                </a:solidFill>
                <a:effectLst/>
                <a:latin typeface="+mn-lt"/>
                <a:ea typeface="+mn-ea"/>
                <a:cs typeface="+mn-cs"/>
              </a:rPr>
              <a:t>" thì hàm </a:t>
            </a:r>
            <a:r>
              <a:rPr lang="en-US" dirty="0"/>
              <a:t>char kyTu = chuoi.charAt(5);</a:t>
            </a:r>
            <a:r>
              <a:rPr lang="en-US" sz="1200" b="0" i="0" kern="1200" dirty="0">
                <a:solidFill>
                  <a:schemeClr val="tx1"/>
                </a:solidFill>
                <a:effectLst/>
                <a:latin typeface="+mn-lt"/>
                <a:ea typeface="+mn-ea"/>
                <a:cs typeface="+mn-cs"/>
              </a:rPr>
              <a:t> sẽ trả về ký tự tại vị trí thứ 5 trong chuỗi, tức là ký tự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99131EB2-A354-4C69-9822-F7F23F730F42}" type="slidenum">
              <a:rPr lang="en-US" smtClean="0"/>
              <a:t>91</a:t>
            </a:fld>
            <a:endParaRPr lang="en-US"/>
          </a:p>
        </p:txBody>
      </p:sp>
    </p:spTree>
    <p:extLst>
      <p:ext uri="{BB962C8B-B14F-4D97-AF65-F5344CB8AC3E}">
        <p14:creationId xmlns:p14="http://schemas.microsoft.com/office/powerpoint/2010/main" val="40242726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92</a:t>
            </a:fld>
            <a:endParaRPr lang="en-US"/>
          </a:p>
        </p:txBody>
      </p:sp>
    </p:spTree>
    <p:extLst>
      <p:ext uri="{BB962C8B-B14F-4D97-AF65-F5344CB8AC3E}">
        <p14:creationId xmlns:p14="http://schemas.microsoft.com/office/powerpoint/2010/main" val="25048039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93</a:t>
            </a:fld>
            <a:endParaRPr lang="en-US"/>
          </a:p>
        </p:txBody>
      </p:sp>
    </p:spTree>
    <p:extLst>
      <p:ext uri="{BB962C8B-B14F-4D97-AF65-F5344CB8AC3E}">
        <p14:creationId xmlns:p14="http://schemas.microsoft.com/office/powerpoint/2010/main" val="35287256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94</a:t>
            </a:fld>
            <a:endParaRPr lang="en-US"/>
          </a:p>
        </p:txBody>
      </p:sp>
    </p:spTree>
    <p:extLst>
      <p:ext uri="{BB962C8B-B14F-4D97-AF65-F5344CB8AC3E}">
        <p14:creationId xmlns:p14="http://schemas.microsoft.com/office/powerpoint/2010/main" val="414443404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95</a:t>
            </a:fld>
            <a:endParaRPr lang="en-US"/>
          </a:p>
        </p:txBody>
      </p:sp>
    </p:spTree>
    <p:extLst>
      <p:ext uri="{BB962C8B-B14F-4D97-AF65-F5344CB8AC3E}">
        <p14:creationId xmlns:p14="http://schemas.microsoft.com/office/powerpoint/2010/main" val="8859336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96</a:t>
            </a:fld>
            <a:endParaRPr lang="en-US"/>
          </a:p>
        </p:txBody>
      </p:sp>
    </p:spTree>
    <p:extLst>
      <p:ext uri="{BB962C8B-B14F-4D97-AF65-F5344CB8AC3E}">
        <p14:creationId xmlns:p14="http://schemas.microsoft.com/office/powerpoint/2010/main" val="28551284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131EB2-A354-4C69-9822-F7F23F730F42}" type="slidenum">
              <a:rPr lang="en-US" smtClean="0"/>
              <a:t>97</a:t>
            </a:fld>
            <a:endParaRPr lang="en-US"/>
          </a:p>
        </p:txBody>
      </p:sp>
    </p:spTree>
    <p:extLst>
      <p:ext uri="{BB962C8B-B14F-4D97-AF65-F5344CB8AC3E}">
        <p14:creationId xmlns:p14="http://schemas.microsoft.com/office/powerpoint/2010/main" val="88020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068572" y="364456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686654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06474"/>
          </a:xfrm>
        </p:spPr>
        <p:txBody>
          <a:bodyPr>
            <a:noAutofit/>
          </a:bodyPr>
          <a:lstStyle>
            <a:lvl1pPr algn="r">
              <a:defRPr sz="4000" b="1">
                <a:solidFill>
                  <a:schemeClr val="accent5"/>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p>
            <a:fld id="{DF4C498B-416A-4F27-9E1B-2DAD6BC6C92F}" type="slidenum">
              <a:rPr lang="en-US" smtClean="0"/>
              <a:t>‹#›</a:t>
            </a:fld>
            <a:endParaRPr lang="en-US"/>
          </a:p>
        </p:txBody>
      </p:sp>
      <p:sp>
        <p:nvSpPr>
          <p:cNvPr id="9" name="Text Placeholder 8"/>
          <p:cNvSpPr>
            <a:spLocks noGrp="1"/>
          </p:cNvSpPr>
          <p:nvPr>
            <p:ph type="body" sz="quarter" idx="13"/>
          </p:nvPr>
        </p:nvSpPr>
        <p:spPr>
          <a:xfrm>
            <a:off x="978307" y="1690689"/>
            <a:ext cx="7016750" cy="3880476"/>
          </a:xfrm>
        </p:spPr>
        <p:txBody>
          <a:bodyPr/>
          <a:lstStyle>
            <a:lvl1pPr marL="742950" indent="-742950">
              <a:buClr>
                <a:schemeClr val="accent5">
                  <a:lumMod val="75000"/>
                </a:schemeClr>
              </a:buClr>
              <a:buFont typeface="+mj-lt"/>
              <a:buAutoNum type="arabicPeriod"/>
              <a:defRPr sz="3400">
                <a:solidFill>
                  <a:schemeClr val="accent5">
                    <a:lumMod val="75000"/>
                  </a:schemeClr>
                </a:solidFill>
                <a:latin typeface="Arial" panose="020B0604020202020204" pitchFamily="34" charset="0"/>
                <a:cs typeface="Arial" panose="020B0604020202020204" pitchFamily="34" charset="0"/>
              </a:defRPr>
            </a:lvl1pPr>
          </a:lstStyle>
          <a:p>
            <a:pPr lvl="0"/>
            <a:r>
              <a:rPr lang="en-US" dirty="0"/>
              <a:t>Click to edit Master text styles</a:t>
            </a:r>
          </a:p>
          <a:p>
            <a:pPr lvl="0"/>
            <a:endParaRPr lang="en-US" dirty="0"/>
          </a:p>
        </p:txBody>
      </p:sp>
      <p:cxnSp>
        <p:nvCxnSpPr>
          <p:cNvPr id="12" name="Straight Connector 11"/>
          <p:cNvCxnSpPr/>
          <p:nvPr userDrawn="1"/>
        </p:nvCxnSpPr>
        <p:spPr>
          <a:xfrm>
            <a:off x="628650" y="1190959"/>
            <a:ext cx="7886701" cy="0"/>
          </a:xfrm>
          <a:prstGeom prst="line">
            <a:avLst/>
          </a:prstGeom>
          <a:ln w="34925"/>
        </p:spPr>
        <p:style>
          <a:lnRef idx="1">
            <a:schemeClr val="accent2"/>
          </a:lnRef>
          <a:fillRef idx="0">
            <a:schemeClr val="accent2"/>
          </a:fillRef>
          <a:effectRef idx="0">
            <a:schemeClr val="accent2"/>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101" y="106112"/>
            <a:ext cx="968004" cy="968004"/>
          </a:xfrm>
          <a:prstGeom prst="rect">
            <a:avLst/>
          </a:prstGeom>
        </p:spPr>
      </p:pic>
    </p:spTree>
    <p:extLst>
      <p:ext uri="{BB962C8B-B14F-4D97-AF65-F5344CB8AC3E}">
        <p14:creationId xmlns:p14="http://schemas.microsoft.com/office/powerpoint/2010/main" val="341386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82729"/>
            <a:ext cx="7886700" cy="1325563"/>
          </a:xfrm>
        </p:spPr>
        <p:txBody>
          <a:bodyPr>
            <a:normAutofit/>
          </a:bodyPr>
          <a:lstStyle>
            <a:lvl1pPr algn="r">
              <a:defRPr sz="4000" b="1">
                <a:solidFill>
                  <a:schemeClr val="accent5"/>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chemeClr val="accent2">
                  <a:lumMod val="75000"/>
                </a:schemeClr>
              </a:buClr>
              <a:buSzPct val="130000"/>
              <a:defRPr>
                <a:latin typeface="Arial" panose="020B0604020202020204" pitchFamily="34" charset="0"/>
                <a:cs typeface="Arial" panose="020B0604020202020204" pitchFamily="34" charset="0"/>
              </a:defRPr>
            </a:lvl1pPr>
            <a:lvl2pPr marL="685800" indent="-228600">
              <a:buClr>
                <a:schemeClr val="accent2">
                  <a:lumMod val="75000"/>
                </a:schemeClr>
              </a:buClr>
              <a:buSzPct val="120000"/>
              <a:buFont typeface="Wingdings" panose="05000000000000000000" pitchFamily="2" charset="2"/>
              <a:buChar char="§"/>
              <a:defRPr sz="2600"/>
            </a:lvl2pPr>
            <a:lvl3pPr marL="1143000" indent="-228600">
              <a:buClr>
                <a:schemeClr val="accent2">
                  <a:lumMod val="75000"/>
                </a:schemeClr>
              </a:buClr>
              <a:buFont typeface="Wingdings" panose="05000000000000000000" pitchFamily="2" charset="2"/>
              <a:buChar char="ü"/>
              <a:defRPr sz="2400">
                <a:latin typeface="Arial" panose="020B0604020202020204" pitchFamily="34" charset="0"/>
                <a:cs typeface="Arial" panose="020B0604020202020204" pitchFamily="34" charset="0"/>
              </a:defRPr>
            </a:lvl3pPr>
            <a:lvl4pPr marL="1600200" indent="-228600">
              <a:buClr>
                <a:schemeClr val="accent2">
                  <a:lumMod val="75000"/>
                </a:schemeClr>
              </a:buClr>
              <a:buSzPct val="80000"/>
              <a:buFont typeface="Wingdings" panose="05000000000000000000" pitchFamily="2" charset="2"/>
              <a:buChar char="Ø"/>
              <a:defRPr sz="2200">
                <a:latin typeface="Arial" panose="020B0604020202020204" pitchFamily="34" charset="0"/>
                <a:cs typeface="Arial" panose="020B0604020202020204" pitchFamily="34" charset="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p:txBody>
          <a:bodyPr/>
          <a:lstStyle/>
          <a:p>
            <a:fld id="{DF4C498B-416A-4F27-9E1B-2DAD6BC6C92F}" type="slidenum">
              <a:rPr lang="en-US" smtClean="0"/>
              <a:t>‹#›</a:t>
            </a:fld>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101" y="106112"/>
            <a:ext cx="968004" cy="968004"/>
          </a:xfrm>
          <a:prstGeom prst="rect">
            <a:avLst/>
          </a:prstGeom>
        </p:spPr>
      </p:pic>
      <p:cxnSp>
        <p:nvCxnSpPr>
          <p:cNvPr id="13" name="Straight Connector 12"/>
          <p:cNvCxnSpPr/>
          <p:nvPr userDrawn="1"/>
        </p:nvCxnSpPr>
        <p:spPr>
          <a:xfrm>
            <a:off x="628650" y="1190959"/>
            <a:ext cx="7886701" cy="0"/>
          </a:xfrm>
          <a:prstGeom prst="line">
            <a:avLst/>
          </a:prstGeom>
          <a:ln w="3492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12375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DF4C498B-416A-4F27-9E1B-2DAD6BC6C92F}" type="slidenum">
              <a:rPr lang="en-US" smtClean="0"/>
              <a:t>‹#›</a:t>
            </a:fld>
            <a:endParaRPr lang="en-US"/>
          </a:p>
        </p:txBody>
      </p:sp>
      <p:sp>
        <p:nvSpPr>
          <p:cNvPr id="5" name="Rectangle 4"/>
          <p:cNvSpPr/>
          <p:nvPr userDrawn="1"/>
        </p:nvSpPr>
        <p:spPr>
          <a:xfrm>
            <a:off x="1666874" y="1733550"/>
            <a:ext cx="6391275" cy="3571875"/>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6" name="object 2"/>
          <p:cNvSpPr txBox="1"/>
          <p:nvPr userDrawn="1"/>
        </p:nvSpPr>
        <p:spPr>
          <a:xfrm>
            <a:off x="4726622" y="1587753"/>
            <a:ext cx="2834005" cy="1778000"/>
          </a:xfrm>
          <a:prstGeom prst="rect">
            <a:avLst/>
          </a:prstGeom>
        </p:spPr>
        <p:txBody>
          <a:bodyPr vert="horz" wrap="square" lIns="0" tIns="12065" rIns="0" bIns="0" rtlCol="0">
            <a:spAutoFit/>
          </a:bodyPr>
          <a:lstStyle/>
          <a:p>
            <a:pPr marL="12700">
              <a:lnSpc>
                <a:spcPct val="100000"/>
              </a:lnSpc>
              <a:spcBef>
                <a:spcPts val="95"/>
              </a:spcBef>
            </a:pPr>
            <a:r>
              <a:rPr sz="7200" b="1" spc="70" dirty="0">
                <a:solidFill>
                  <a:srgbClr val="FFFFFF"/>
                </a:solidFill>
                <a:latin typeface="Trebuchet MS"/>
                <a:cs typeface="Trebuchet MS"/>
              </a:rPr>
              <a:t>DE</a:t>
            </a:r>
            <a:r>
              <a:rPr sz="7200" b="1" spc="95" dirty="0">
                <a:solidFill>
                  <a:srgbClr val="FFFFFF"/>
                </a:solidFill>
                <a:latin typeface="Trebuchet MS"/>
                <a:cs typeface="Trebuchet MS"/>
              </a:rPr>
              <a:t>M</a:t>
            </a:r>
            <a:r>
              <a:rPr sz="11500" b="1" spc="-315" dirty="0">
                <a:solidFill>
                  <a:srgbClr val="FFFFFF"/>
                </a:solidFill>
                <a:latin typeface="Trebuchet MS"/>
                <a:cs typeface="Trebuchet MS"/>
              </a:rPr>
              <a:t>O</a:t>
            </a:r>
            <a:endParaRPr sz="11500" dirty="0">
              <a:latin typeface="Trebuchet MS"/>
              <a:cs typeface="Trebuchet MS"/>
            </a:endParaRPr>
          </a:p>
        </p:txBody>
      </p:sp>
      <p:sp>
        <p:nvSpPr>
          <p:cNvPr id="7" name="object 3"/>
          <p:cNvSpPr/>
          <p:nvPr userDrawn="1"/>
        </p:nvSpPr>
        <p:spPr>
          <a:xfrm>
            <a:off x="6270116" y="2019300"/>
            <a:ext cx="2245234" cy="2066926"/>
          </a:xfrm>
          <a:prstGeom prst="rect">
            <a:avLst/>
          </a:prstGeom>
          <a:blipFill>
            <a:blip r:embed="rId2" cstate="print"/>
            <a:stretch>
              <a:fillRect/>
            </a:stretch>
          </a:blipFill>
        </p:spPr>
        <p:txBody>
          <a:bodyPr wrap="square" lIns="0" tIns="0" rIns="0" bIns="0" rtlCol="0"/>
          <a:lstStyle/>
          <a:p>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01" y="106112"/>
            <a:ext cx="968004" cy="968004"/>
          </a:xfrm>
          <a:prstGeom prst="rect">
            <a:avLst/>
          </a:prstGeom>
        </p:spPr>
      </p:pic>
      <p:cxnSp>
        <p:nvCxnSpPr>
          <p:cNvPr id="9" name="Straight Connector 8"/>
          <p:cNvCxnSpPr/>
          <p:nvPr userDrawn="1"/>
        </p:nvCxnSpPr>
        <p:spPr>
          <a:xfrm>
            <a:off x="628650" y="1190959"/>
            <a:ext cx="7886701" cy="0"/>
          </a:xfrm>
          <a:prstGeom prst="line">
            <a:avLst/>
          </a:prstGeom>
          <a:ln w="3492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15419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3886200" cy="4351338"/>
          </a:xfrm>
        </p:spPr>
        <p:txBody>
          <a:bodyPr/>
          <a:lstStyle>
            <a:lvl1pPr>
              <a:buClr>
                <a:schemeClr val="accent2">
                  <a:lumMod val="75000"/>
                </a:schemeClr>
              </a:buClr>
              <a:buSzPct val="110000"/>
              <a:defRPr sz="2600">
                <a:latin typeface="Arial" panose="020B0604020202020204" pitchFamily="34" charset="0"/>
                <a:cs typeface="Arial" panose="020B0604020202020204" pitchFamily="34" charset="0"/>
              </a:defRPr>
            </a:lvl1pPr>
            <a:lvl2pPr marL="685800" indent="-228600">
              <a:buClr>
                <a:schemeClr val="accent2">
                  <a:lumMod val="75000"/>
                </a:schemeClr>
              </a:buClr>
              <a:buSzPct val="1100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Clr>
                <a:schemeClr val="accent2">
                  <a:lumMod val="75000"/>
                </a:schemeClr>
              </a:buClr>
              <a:buSzPct val="100000"/>
              <a:buFont typeface="Wingdings" panose="05000000000000000000" pitchFamily="2" charset="2"/>
              <a:buChar char="ü"/>
              <a:defRPr sz="2200">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12"/>
          </p:nvPr>
        </p:nvSpPr>
        <p:spPr/>
        <p:txBody>
          <a:bodyPr/>
          <a:lstStyle/>
          <a:p>
            <a:fld id="{DF4C498B-416A-4F27-9E1B-2DAD6BC6C92F}" type="slidenum">
              <a:rPr lang="en-US" smtClean="0"/>
              <a:t>‹#›</a:t>
            </a:fld>
            <a:endParaRPr lang="en-US"/>
          </a:p>
        </p:txBody>
      </p:sp>
      <p:sp>
        <p:nvSpPr>
          <p:cNvPr id="8" name="Title 1"/>
          <p:cNvSpPr>
            <a:spLocks noGrp="1"/>
          </p:cNvSpPr>
          <p:nvPr>
            <p:ph type="title"/>
          </p:nvPr>
        </p:nvSpPr>
        <p:spPr>
          <a:xfrm>
            <a:off x="685800" y="182729"/>
            <a:ext cx="7886700" cy="1325563"/>
          </a:xfrm>
        </p:spPr>
        <p:txBody>
          <a:bodyPr>
            <a:normAutofit/>
          </a:bodyPr>
          <a:lstStyle>
            <a:lvl1pPr algn="r">
              <a:defRPr sz="4000" b="0">
                <a:solidFill>
                  <a:schemeClr val="accent5"/>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9" name="Content Placeholder 2"/>
          <p:cNvSpPr>
            <a:spLocks noGrp="1"/>
          </p:cNvSpPr>
          <p:nvPr>
            <p:ph sz="half" idx="13"/>
          </p:nvPr>
        </p:nvSpPr>
        <p:spPr>
          <a:xfrm>
            <a:off x="4629150" y="1825625"/>
            <a:ext cx="3886200" cy="4351338"/>
          </a:xfrm>
        </p:spPr>
        <p:txBody>
          <a:bodyPr/>
          <a:lstStyle>
            <a:lvl1pPr>
              <a:buClr>
                <a:schemeClr val="accent2">
                  <a:lumMod val="75000"/>
                </a:schemeClr>
              </a:buClr>
              <a:buSzPct val="110000"/>
              <a:defRPr sz="2600">
                <a:latin typeface="Arial" panose="020B0604020202020204" pitchFamily="34" charset="0"/>
                <a:cs typeface="Arial" panose="020B0604020202020204" pitchFamily="34" charset="0"/>
              </a:defRPr>
            </a:lvl1pPr>
            <a:lvl2pPr marL="685800" indent="-228600">
              <a:buClr>
                <a:schemeClr val="accent2">
                  <a:lumMod val="75000"/>
                </a:schemeClr>
              </a:buClr>
              <a:buSzPct val="1100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Clr>
                <a:schemeClr val="accent2">
                  <a:lumMod val="75000"/>
                </a:schemeClr>
              </a:buClr>
              <a:buSzPct val="100000"/>
              <a:buFont typeface="Wingdings" panose="05000000000000000000" pitchFamily="2" charset="2"/>
              <a:buChar char="ü"/>
              <a:defRPr sz="2200">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p:txBody>
      </p:sp>
      <p:cxnSp>
        <p:nvCxnSpPr>
          <p:cNvPr id="16" name="Straight Connector 15"/>
          <p:cNvCxnSpPr/>
          <p:nvPr userDrawn="1"/>
        </p:nvCxnSpPr>
        <p:spPr>
          <a:xfrm>
            <a:off x="628650" y="1190959"/>
            <a:ext cx="7886701" cy="0"/>
          </a:xfrm>
          <a:prstGeom prst="line">
            <a:avLst/>
          </a:prstGeom>
          <a:ln w="34925"/>
        </p:spPr>
        <p:style>
          <a:lnRef idx="1">
            <a:schemeClr val="accent2"/>
          </a:lnRef>
          <a:fillRef idx="0">
            <a:schemeClr val="accent2"/>
          </a:fillRef>
          <a:effectRef idx="0">
            <a:schemeClr val="accent2"/>
          </a:effectRef>
          <a:fontRef idx="minor">
            <a:schemeClr val="tx1"/>
          </a:fontRef>
        </p:style>
      </p:cxn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101" y="106112"/>
            <a:ext cx="968004" cy="968004"/>
          </a:xfrm>
          <a:prstGeom prst="rect">
            <a:avLst/>
          </a:prstGeom>
        </p:spPr>
      </p:pic>
    </p:spTree>
    <p:extLst>
      <p:ext uri="{BB962C8B-B14F-4D97-AF65-F5344CB8AC3E}">
        <p14:creationId xmlns:p14="http://schemas.microsoft.com/office/powerpoint/2010/main" val="1141110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7"/>
            <a:ext cx="7886700" cy="974576"/>
          </a:xfrm>
        </p:spPr>
        <p:txBody>
          <a:bodyPr>
            <a:normAutofit/>
          </a:bodyPr>
          <a:lstStyle>
            <a:lvl1pPr algn="r">
              <a:defRPr sz="4000">
                <a:solidFill>
                  <a:schemeClr val="accent5"/>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p:cNvSpPr>
            <a:spLocks noGrp="1"/>
          </p:cNvSpPr>
          <p:nvPr>
            <p:ph type="body" sz="quarter" idx="3"/>
          </p:nvPr>
        </p:nvSpPr>
        <p:spPr>
          <a:xfrm>
            <a:off x="4629150" y="1681163"/>
            <a:ext cx="3887391" cy="823912"/>
          </a:xfrm>
        </p:spPr>
        <p:txBody>
          <a:bodyPr anchor="b">
            <a:normAutofit/>
          </a:bodyPr>
          <a:lstStyle>
            <a:lvl1pPr marL="0" indent="0">
              <a:buNone/>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Slide Number Placeholder 8"/>
          <p:cNvSpPr>
            <a:spLocks noGrp="1"/>
          </p:cNvSpPr>
          <p:nvPr>
            <p:ph type="sldNum" sz="quarter" idx="12"/>
          </p:nvPr>
        </p:nvSpPr>
        <p:spPr/>
        <p:txBody>
          <a:bodyPr/>
          <a:lstStyle/>
          <a:p>
            <a:fld id="{DF4C498B-416A-4F27-9E1B-2DAD6BC6C92F}" type="slidenum">
              <a:rPr lang="en-US" smtClean="0"/>
              <a:t>‹#›</a:t>
            </a:fld>
            <a:endParaRPr lang="en-US"/>
          </a:p>
        </p:txBody>
      </p:sp>
      <p:sp>
        <p:nvSpPr>
          <p:cNvPr id="12" name="Content Placeholder 2"/>
          <p:cNvSpPr>
            <a:spLocks noGrp="1"/>
          </p:cNvSpPr>
          <p:nvPr>
            <p:ph sz="half" idx="13"/>
          </p:nvPr>
        </p:nvSpPr>
        <p:spPr>
          <a:xfrm>
            <a:off x="628649" y="2505075"/>
            <a:ext cx="3886200" cy="3684588"/>
          </a:xfrm>
        </p:spPr>
        <p:txBody>
          <a:bodyPr/>
          <a:lstStyle>
            <a:lvl1pPr>
              <a:buClr>
                <a:schemeClr val="accent2">
                  <a:lumMod val="75000"/>
                </a:schemeClr>
              </a:buClr>
              <a:buSzPct val="110000"/>
              <a:defRPr sz="2600">
                <a:latin typeface="Arial" panose="020B0604020202020204" pitchFamily="34" charset="0"/>
                <a:cs typeface="Arial" panose="020B0604020202020204" pitchFamily="34" charset="0"/>
              </a:defRPr>
            </a:lvl1pPr>
            <a:lvl2pPr marL="685800" indent="-228600">
              <a:buClr>
                <a:schemeClr val="accent2">
                  <a:lumMod val="75000"/>
                </a:schemeClr>
              </a:buClr>
              <a:buSzPct val="1100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Clr>
                <a:schemeClr val="accent2">
                  <a:lumMod val="75000"/>
                </a:schemeClr>
              </a:buClr>
              <a:buSzPct val="100000"/>
              <a:buFont typeface="Wingdings" panose="05000000000000000000" pitchFamily="2" charset="2"/>
              <a:buChar char="ü"/>
              <a:defRPr sz="2200">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13" name="Content Placeholder 2"/>
          <p:cNvSpPr>
            <a:spLocks noGrp="1"/>
          </p:cNvSpPr>
          <p:nvPr>
            <p:ph sz="half" idx="14"/>
          </p:nvPr>
        </p:nvSpPr>
        <p:spPr>
          <a:xfrm>
            <a:off x="4645817" y="2505075"/>
            <a:ext cx="3886200" cy="3684588"/>
          </a:xfrm>
        </p:spPr>
        <p:txBody>
          <a:bodyPr/>
          <a:lstStyle>
            <a:lvl1pPr>
              <a:buClr>
                <a:schemeClr val="accent2">
                  <a:lumMod val="75000"/>
                </a:schemeClr>
              </a:buClr>
              <a:buSzPct val="110000"/>
              <a:defRPr sz="2600">
                <a:latin typeface="Arial" panose="020B0604020202020204" pitchFamily="34" charset="0"/>
                <a:cs typeface="Arial" panose="020B0604020202020204" pitchFamily="34" charset="0"/>
              </a:defRPr>
            </a:lvl1pPr>
            <a:lvl2pPr marL="685800" indent="-228600">
              <a:buClr>
                <a:schemeClr val="accent2">
                  <a:lumMod val="75000"/>
                </a:schemeClr>
              </a:buClr>
              <a:buSzPct val="1100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Clr>
                <a:schemeClr val="accent2">
                  <a:lumMod val="75000"/>
                </a:schemeClr>
              </a:buClr>
              <a:buSzPct val="100000"/>
              <a:buFont typeface="Wingdings" panose="05000000000000000000" pitchFamily="2" charset="2"/>
              <a:buChar char="ü"/>
              <a:defRPr sz="2200">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101" y="106112"/>
            <a:ext cx="968004" cy="968004"/>
          </a:xfrm>
          <a:prstGeom prst="rect">
            <a:avLst/>
          </a:prstGeom>
        </p:spPr>
      </p:pic>
      <p:cxnSp>
        <p:nvCxnSpPr>
          <p:cNvPr id="18" name="Straight Connector 17"/>
          <p:cNvCxnSpPr/>
          <p:nvPr userDrawn="1"/>
        </p:nvCxnSpPr>
        <p:spPr>
          <a:xfrm>
            <a:off x="628650" y="1190959"/>
            <a:ext cx="7886701" cy="0"/>
          </a:xfrm>
          <a:prstGeom prst="line">
            <a:avLst/>
          </a:prstGeom>
          <a:ln w="3492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009579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Khoa Công nghệ thông tin – Trường Đại học Mỏ - Địa chất</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C498B-416A-4F27-9E1B-2DAD6BC6C92F}" type="slidenum">
              <a:rPr lang="en-US" smtClean="0"/>
              <a:t>‹#›</a:t>
            </a:fld>
            <a:endParaRPr lang="en-US"/>
          </a:p>
        </p:txBody>
      </p:sp>
    </p:spTree>
    <p:extLst>
      <p:ext uri="{BB962C8B-B14F-4D97-AF65-F5344CB8AC3E}">
        <p14:creationId xmlns:p14="http://schemas.microsoft.com/office/powerpoint/2010/main" val="2840417119"/>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8" r:id="rId4"/>
    <p:sldLayoutId id="2147483664" r:id="rId5"/>
    <p:sldLayoutId id="214748366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62912" y="3243862"/>
            <a:ext cx="4597916" cy="1904953"/>
          </a:xfrm>
        </p:spPr>
        <p:txBody>
          <a:bodyPr>
            <a:normAutofit/>
          </a:bodyPr>
          <a:lstStyle/>
          <a:p>
            <a:pPr algn="l">
              <a:lnSpc>
                <a:spcPts val="4200"/>
              </a:lnSpc>
              <a:spcBef>
                <a:spcPts val="0"/>
              </a:spcBef>
            </a:pPr>
            <a:r>
              <a:rPr lang="en-US" sz="2800" dirty="0">
                <a:solidFill>
                  <a:srgbClr val="FFFFFF"/>
                </a:solidFill>
                <a:latin typeface="Tahoma" panose="020B0604030504040204" pitchFamily="34" charset="0"/>
                <a:ea typeface="Tahoma" panose="020B0604030504040204" pitchFamily="34" charset="0"/>
                <a:cs typeface="Tahoma" panose="020B0604030504040204" pitchFamily="34" charset="0"/>
              </a:rPr>
              <a:t>Chương 2:</a:t>
            </a:r>
          </a:p>
          <a:p>
            <a:pPr>
              <a:lnSpc>
                <a:spcPts val="4200"/>
              </a:lnSpc>
              <a:spcBef>
                <a:spcPts val="0"/>
              </a:spcBef>
            </a:pPr>
            <a:r>
              <a:rPr lang="en-US" sz="3000" dirty="0">
                <a:solidFill>
                  <a:srgbClr val="FFFFFF"/>
                </a:solidFill>
                <a:latin typeface="Tahoma" panose="020B0604030504040204" pitchFamily="34" charset="0"/>
                <a:ea typeface="Tahoma" panose="020B0604030504040204" pitchFamily="34" charset="0"/>
                <a:cs typeface="Tahoma" panose="020B0604030504040204" pitchFamily="34" charset="0"/>
              </a:rPr>
              <a:t>KIỂU DỮ LIỆU, BIẾN, TOÁN TỬ VÀ CÂU LỆNH</a:t>
            </a:r>
          </a:p>
        </p:txBody>
      </p:sp>
      <p:sp>
        <p:nvSpPr>
          <p:cNvPr id="8" name="object 3"/>
          <p:cNvSpPr/>
          <p:nvPr/>
        </p:nvSpPr>
        <p:spPr>
          <a:xfrm>
            <a:off x="6002079" y="1841378"/>
            <a:ext cx="2589028" cy="2555781"/>
          </a:xfrm>
          <a:prstGeom prst="rect">
            <a:avLst/>
          </a:prstGeom>
          <a:blipFill>
            <a:blip r:embed="rId2" cstate="print"/>
            <a:stretch>
              <a:fillRect/>
            </a:stretch>
          </a:blipFill>
        </p:spPr>
        <p:txBody>
          <a:bodyPr wrap="square" lIns="0" tIns="0" rIns="0" bIns="0" rtlCol="0"/>
          <a:lstStyle/>
          <a:p>
            <a:endParaRPr/>
          </a:p>
        </p:txBody>
      </p:sp>
      <p:sp>
        <p:nvSpPr>
          <p:cNvPr id="2" name="Title 1"/>
          <p:cNvSpPr>
            <a:spLocks noGrp="1"/>
          </p:cNvSpPr>
          <p:nvPr>
            <p:ph type="ctrTitle"/>
          </p:nvPr>
        </p:nvSpPr>
        <p:spPr>
          <a:xfrm>
            <a:off x="388088" y="432936"/>
            <a:ext cx="5952903" cy="2561737"/>
          </a:xfrm>
        </p:spPr>
        <p:txBody>
          <a:bodyPr>
            <a:normAutofit/>
          </a:bodyPr>
          <a:lstStyle/>
          <a:p>
            <a:pPr>
              <a:lnSpc>
                <a:spcPts val="6000"/>
              </a:lnSpc>
            </a:pPr>
            <a:r>
              <a:rPr lang="en-US" sz="40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LẬP TRÌNH </a:t>
            </a:r>
            <a:br>
              <a:rPr lang="en-US" sz="40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br>
            <a:r>
              <a:rPr lang="en-US" sz="40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HƯỚNG ĐỐI TƯỢNG </a:t>
            </a:r>
            <a:br>
              <a:rPr lang="en-US" sz="40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br>
            <a:r>
              <a:rPr lang="en-US" sz="40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VỚI JAVA</a:t>
            </a:r>
          </a:p>
        </p:txBody>
      </p:sp>
      <p:sp>
        <p:nvSpPr>
          <p:cNvPr id="10" name="Subtitle 2"/>
          <p:cNvSpPr txBox="1">
            <a:spLocks/>
          </p:cNvSpPr>
          <p:nvPr/>
        </p:nvSpPr>
        <p:spPr>
          <a:xfrm>
            <a:off x="4403558" y="5148815"/>
            <a:ext cx="4776326" cy="1315520"/>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3000"/>
              </a:lnSpc>
              <a:spcBef>
                <a:spcPts val="0"/>
              </a:spcBef>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Giảng viên: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Phạm</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Quang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Hiển</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l">
              <a:lnSpc>
                <a:spcPts val="3000"/>
              </a:lnSpc>
              <a:spcBef>
                <a:spcPts val="0"/>
              </a:spcBef>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Bộ môn: Tin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Kinh</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tế</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l">
              <a:lnSpc>
                <a:spcPts val="3000"/>
              </a:lnSpc>
              <a:spcBef>
                <a:spcPts val="0"/>
              </a:spcBef>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Email: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Phamquanghien@humg.edu.vn</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6843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MỤC TIÊU</a:t>
            </a:r>
          </a:p>
        </p:txBody>
      </p:sp>
      <p:sp>
        <p:nvSpPr>
          <p:cNvPr id="3" name="Content Placeholder 2"/>
          <p:cNvSpPr>
            <a:spLocks noGrp="1"/>
          </p:cNvSpPr>
          <p:nvPr>
            <p:ph idx="1"/>
          </p:nvPr>
        </p:nvSpPr>
        <p:spPr>
          <a:xfrm>
            <a:off x="628650" y="1346480"/>
            <a:ext cx="7886700" cy="4830484"/>
          </a:xfrm>
        </p:spPr>
        <p:txBody>
          <a:bodyPr>
            <a:normAutofit/>
          </a:bodyPr>
          <a:lstStyle/>
          <a:p>
            <a:pPr algn="just">
              <a:lnSpc>
                <a:spcPct val="100000"/>
              </a:lnSpc>
              <a:spcBef>
                <a:spcPts val="300"/>
              </a:spcBef>
              <a:spcAft>
                <a:spcPts val="300"/>
              </a:spcAft>
            </a:pPr>
            <a:r>
              <a:rPr lang="en-US" dirty="0"/>
              <a:t>Sau khi học xong chương này, sinh viên sẽ nắm được:</a:t>
            </a:r>
          </a:p>
          <a:p>
            <a:pPr lvl="1" algn="just">
              <a:lnSpc>
                <a:spcPct val="100000"/>
              </a:lnSpc>
              <a:spcBef>
                <a:spcPts val="300"/>
              </a:spcBef>
              <a:spcAft>
                <a:spcPts val="300"/>
              </a:spcAft>
            </a:pPr>
            <a:r>
              <a:rPr lang="en-US" dirty="0"/>
              <a:t>Các kiểu dữ liệu và chuyển đổi kiểu dữ liệu;</a:t>
            </a:r>
          </a:p>
          <a:p>
            <a:pPr lvl="1" algn="just">
              <a:lnSpc>
                <a:spcPct val="100000"/>
              </a:lnSpc>
              <a:spcBef>
                <a:spcPts val="300"/>
              </a:spcBef>
              <a:spcAft>
                <a:spcPts val="300"/>
              </a:spcAft>
            </a:pPr>
            <a:r>
              <a:rPr lang="en-US" dirty="0"/>
              <a:t>Biến và quy tắc đặt tên biến;</a:t>
            </a:r>
          </a:p>
          <a:p>
            <a:pPr lvl="1" algn="just">
              <a:lnSpc>
                <a:spcPts val="3300"/>
              </a:lnSpc>
              <a:spcBef>
                <a:spcPts val="300"/>
              </a:spcBef>
              <a:spcAft>
                <a:spcPts val="300"/>
              </a:spcAft>
            </a:pPr>
            <a:r>
              <a:rPr lang="en-US" dirty="0"/>
              <a:t>Toán tử, biểu thức và các phép toán xử lý dữ liệu;</a:t>
            </a:r>
          </a:p>
          <a:p>
            <a:pPr lvl="1" algn="just">
              <a:lnSpc>
                <a:spcPct val="100000"/>
              </a:lnSpc>
              <a:spcBef>
                <a:spcPts val="300"/>
              </a:spcBef>
              <a:spcAft>
                <a:spcPts val="300"/>
              </a:spcAft>
            </a:pPr>
            <a:r>
              <a:rPr lang="en-US" dirty="0"/>
              <a:t>Cấu trúc điều khiển chương trình;</a:t>
            </a:r>
          </a:p>
          <a:p>
            <a:pPr lvl="1" algn="just">
              <a:lnSpc>
                <a:spcPct val="100000"/>
              </a:lnSpc>
              <a:spcBef>
                <a:spcPts val="300"/>
              </a:spcBef>
              <a:spcAft>
                <a:spcPts val="300"/>
              </a:spcAft>
            </a:pPr>
            <a:r>
              <a:rPr lang="en-US" dirty="0"/>
              <a:t>Kỹ thuật vào – ra dữ liệu trong Java;</a:t>
            </a:r>
          </a:p>
          <a:p>
            <a:pPr lvl="1" algn="just">
              <a:lnSpc>
                <a:spcPts val="3300"/>
              </a:lnSpc>
              <a:spcBef>
                <a:spcPts val="300"/>
              </a:spcBef>
              <a:spcAft>
                <a:spcPts val="300"/>
              </a:spcAft>
            </a:pPr>
            <a:r>
              <a:rPr lang="en-US" dirty="0"/>
              <a:t>Một số lớp cấu trúc dữ liệu phổ dụng: mảng, chuỗi;</a:t>
            </a:r>
          </a:p>
          <a:p>
            <a:pPr lvl="1" algn="just"/>
            <a:endParaRPr lang="en-US" dirty="0"/>
          </a:p>
          <a:p>
            <a:pPr marL="0" indent="0" algn="just">
              <a:buNone/>
            </a:pPr>
            <a:endParaRPr lang="en-US" dirty="0"/>
          </a:p>
        </p:txBody>
      </p:sp>
      <p:sp>
        <p:nvSpPr>
          <p:cNvPr id="4" name="Slide Number Placeholder 3"/>
          <p:cNvSpPr>
            <a:spLocks noGrp="1"/>
          </p:cNvSpPr>
          <p:nvPr>
            <p:ph type="sldNum" sz="quarter" idx="12"/>
          </p:nvPr>
        </p:nvSpPr>
        <p:spPr/>
        <p:txBody>
          <a:bodyPr/>
          <a:lstStyle/>
          <a:p>
            <a:fld id="{DF4C498B-416A-4F27-9E1B-2DAD6BC6C92F}" type="slidenum">
              <a:rPr lang="en-US" smtClean="0"/>
              <a:t>2</a:t>
            </a:fld>
            <a:endParaRPr lang="en-US" dirty="0"/>
          </a:p>
        </p:txBody>
      </p:sp>
    </p:spTree>
    <p:extLst>
      <p:ext uri="{BB962C8B-B14F-4D97-AF65-F5344CB8AC3E}">
        <p14:creationId xmlns:p14="http://schemas.microsoft.com/office/powerpoint/2010/main" val="27394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343" y="141842"/>
            <a:ext cx="7886700" cy="1325563"/>
          </a:xfrm>
        </p:spPr>
        <p:txBody>
          <a:bodyPr/>
          <a:lstStyle/>
          <a:p>
            <a:pPr algn="r"/>
            <a:r>
              <a:rPr lang="en-US" dirty="0"/>
              <a:t>NỘI DUNG</a:t>
            </a:r>
          </a:p>
        </p:txBody>
      </p:sp>
      <p:sp>
        <p:nvSpPr>
          <p:cNvPr id="3" name="Text Placeholder 2"/>
          <p:cNvSpPr>
            <a:spLocks noGrp="1"/>
          </p:cNvSpPr>
          <p:nvPr>
            <p:ph type="body" sz="quarter" idx="13"/>
          </p:nvPr>
        </p:nvSpPr>
        <p:spPr>
          <a:xfrm>
            <a:off x="1063625" y="1552353"/>
            <a:ext cx="7016750" cy="4497573"/>
          </a:xfrm>
        </p:spPr>
        <p:txBody>
          <a:bodyPr>
            <a:normAutofit lnSpcReduction="10000"/>
          </a:bodyPr>
          <a:lstStyle/>
          <a:p>
            <a:r>
              <a:rPr lang="en-US" dirty="0"/>
              <a:t>Các kiểu dữ liệu</a:t>
            </a:r>
          </a:p>
          <a:p>
            <a:r>
              <a:rPr lang="en-US" dirty="0"/>
              <a:t>Biến</a:t>
            </a:r>
          </a:p>
          <a:p>
            <a:r>
              <a:rPr lang="en-US" dirty="0"/>
              <a:t>Toán tử</a:t>
            </a:r>
          </a:p>
          <a:p>
            <a:r>
              <a:rPr lang="en-US" dirty="0"/>
              <a:t>Cấu trúc điều khiển</a:t>
            </a:r>
          </a:p>
          <a:p>
            <a:r>
              <a:rPr lang="en-US" dirty="0"/>
              <a:t>Vào – ra dữ liệu</a:t>
            </a:r>
          </a:p>
          <a:p>
            <a:r>
              <a:rPr lang="en-US" dirty="0"/>
              <a:t>Chuỗi</a:t>
            </a:r>
          </a:p>
          <a:p>
            <a:r>
              <a:rPr lang="en-US" dirty="0"/>
              <a:t>Mảng </a:t>
            </a:r>
          </a:p>
          <a:p>
            <a:r>
              <a:rPr lang="en-US" dirty="0"/>
              <a:t>Bài tập</a:t>
            </a:r>
          </a:p>
        </p:txBody>
      </p:sp>
      <p:sp>
        <p:nvSpPr>
          <p:cNvPr id="5" name="Slide Number Placeholder 4"/>
          <p:cNvSpPr>
            <a:spLocks noGrp="1"/>
          </p:cNvSpPr>
          <p:nvPr>
            <p:ph type="sldNum" sz="quarter" idx="12"/>
          </p:nvPr>
        </p:nvSpPr>
        <p:spPr/>
        <p:txBody>
          <a:bodyPr/>
          <a:lstStyle/>
          <a:p>
            <a:fld id="{DF4C498B-416A-4F27-9E1B-2DAD6BC6C92F}" type="slidenum">
              <a:rPr lang="en-US" smtClean="0"/>
              <a:t>3</a:t>
            </a:fld>
            <a:endParaRPr lang="en-US"/>
          </a:p>
        </p:txBody>
      </p:sp>
    </p:spTree>
    <p:extLst>
      <p:ext uri="{BB962C8B-B14F-4D97-AF65-F5344CB8AC3E}">
        <p14:creationId xmlns:p14="http://schemas.microsoft.com/office/powerpoint/2010/main" val="1054850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kiểu dữ liệu</a:t>
            </a:r>
          </a:p>
        </p:txBody>
      </p:sp>
      <p:sp>
        <p:nvSpPr>
          <p:cNvPr id="3" name="Content Placeholder 2"/>
          <p:cNvSpPr>
            <a:spLocks noGrp="1"/>
          </p:cNvSpPr>
          <p:nvPr>
            <p:ph idx="1"/>
          </p:nvPr>
        </p:nvSpPr>
        <p:spPr>
          <a:xfrm>
            <a:off x="628650" y="1396499"/>
            <a:ext cx="7886700" cy="4668671"/>
          </a:xfrm>
        </p:spPr>
        <p:txBody>
          <a:bodyPr/>
          <a:lstStyle/>
          <a:p>
            <a:r>
              <a:rPr lang="en-US" b="1" dirty="0"/>
              <a:t>Kiểu dữ liệu nguyên thủy: </a:t>
            </a:r>
          </a:p>
        </p:txBody>
      </p:sp>
      <p:sp>
        <p:nvSpPr>
          <p:cNvPr id="4" name="Slide Number Placeholder 3"/>
          <p:cNvSpPr>
            <a:spLocks noGrp="1"/>
          </p:cNvSpPr>
          <p:nvPr>
            <p:ph type="sldNum" sz="quarter" idx="12"/>
          </p:nvPr>
        </p:nvSpPr>
        <p:spPr/>
        <p:txBody>
          <a:bodyPr/>
          <a:lstStyle/>
          <a:p>
            <a:fld id="{DF4C498B-416A-4F27-9E1B-2DAD6BC6C92F}" type="slidenum">
              <a:rPr lang="en-US" smtClean="0"/>
              <a:t>4</a:t>
            </a:fld>
            <a:endParaRPr lang="en-US"/>
          </a:p>
        </p:txBody>
      </p:sp>
      <p:graphicFrame>
        <p:nvGraphicFramePr>
          <p:cNvPr id="5" name="Diagram 4"/>
          <p:cNvGraphicFramePr/>
          <p:nvPr>
            <p:extLst>
              <p:ext uri="{D42A27DB-BD31-4B8C-83A1-F6EECF244321}">
                <p14:modId xmlns:p14="http://schemas.microsoft.com/office/powerpoint/2010/main" val="1035096943"/>
              </p:ext>
            </p:extLst>
          </p:nvPr>
        </p:nvGraphicFramePr>
        <p:xfrm>
          <a:off x="991436" y="1891007"/>
          <a:ext cx="7308502" cy="4779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4984595" y="5078247"/>
            <a:ext cx="3256156" cy="1846659"/>
          </a:xfrm>
          <a:prstGeom prst="rect">
            <a:avLst/>
          </a:prstGeom>
          <a:noFill/>
        </p:spPr>
        <p:txBody>
          <a:bodyPr wrap="square" rtlCol="0">
            <a:spAutoFit/>
          </a:bodyPr>
          <a:lstStyle/>
          <a:p>
            <a:pPr marL="469900" lvl="1" indent="-414338">
              <a:lnSpc>
                <a:spcPct val="100000"/>
              </a:lnSpc>
              <a:spcBef>
                <a:spcPts val="590"/>
              </a:spcBef>
              <a:buClr>
                <a:srgbClr val="FF5A33"/>
              </a:buClr>
              <a:tabLst>
                <a:tab pos="756920" algn="l"/>
              </a:tabLst>
            </a:pPr>
            <a:r>
              <a:rPr lang="en-US" sz="2600" dirty="0"/>
              <a:t>Ví dụ: </a:t>
            </a:r>
          </a:p>
          <a:p>
            <a:pPr marL="469900" lvl="1">
              <a:lnSpc>
                <a:spcPct val="100000"/>
              </a:lnSpc>
              <a:spcBef>
                <a:spcPts val="590"/>
              </a:spcBef>
              <a:buClr>
                <a:srgbClr val="FF5A33"/>
              </a:buClr>
              <a:tabLst>
                <a:tab pos="756920" algn="l"/>
              </a:tabLst>
            </a:pPr>
            <a:r>
              <a:rPr lang="en-US" sz="2600" spc="65" dirty="0">
                <a:solidFill>
                  <a:srgbClr val="FF0000"/>
                </a:solidFill>
                <a:cs typeface="Arial"/>
              </a:rPr>
              <a:t>	int </a:t>
            </a:r>
            <a:r>
              <a:rPr lang="en-US" sz="2600" spc="-114" dirty="0">
                <a:cs typeface="Arial"/>
              </a:rPr>
              <a:t>a </a:t>
            </a:r>
            <a:r>
              <a:rPr lang="en-US" sz="2600" spc="240" dirty="0">
                <a:cs typeface="Arial"/>
              </a:rPr>
              <a:t>=</a:t>
            </a:r>
            <a:r>
              <a:rPr lang="en-US" sz="2600" spc="30" dirty="0">
                <a:cs typeface="Arial"/>
              </a:rPr>
              <a:t> </a:t>
            </a:r>
            <a:r>
              <a:rPr lang="en-US" sz="2600" spc="-95" dirty="0">
                <a:cs typeface="Arial"/>
              </a:rPr>
              <a:t>8;</a:t>
            </a:r>
            <a:endParaRPr lang="en-US" sz="2600" dirty="0">
              <a:cs typeface="Arial"/>
            </a:endParaRPr>
          </a:p>
          <a:p>
            <a:pPr marL="469900" lvl="1">
              <a:lnSpc>
                <a:spcPct val="100000"/>
              </a:lnSpc>
              <a:spcBef>
                <a:spcPts val="575"/>
              </a:spcBef>
              <a:buClr>
                <a:srgbClr val="FF5A33"/>
              </a:buClr>
              <a:tabLst>
                <a:tab pos="756920" algn="l"/>
              </a:tabLst>
            </a:pPr>
            <a:r>
              <a:rPr lang="en-US" sz="2600" spc="30" dirty="0">
                <a:solidFill>
                  <a:srgbClr val="FF0000"/>
                </a:solidFill>
                <a:cs typeface="Arial"/>
              </a:rPr>
              <a:t>	double</a:t>
            </a:r>
            <a:r>
              <a:rPr lang="en-US" sz="2600" spc="5" dirty="0">
                <a:solidFill>
                  <a:srgbClr val="FF0000"/>
                </a:solidFill>
                <a:cs typeface="Arial"/>
              </a:rPr>
              <a:t> </a:t>
            </a:r>
            <a:r>
              <a:rPr lang="en-US" sz="2600" spc="-35" dirty="0">
                <a:cs typeface="Arial"/>
              </a:rPr>
              <a:t>b;</a:t>
            </a:r>
            <a:endParaRPr lang="en-US" sz="2600" dirty="0">
              <a:cs typeface="Arial"/>
            </a:endParaRPr>
          </a:p>
          <a:p>
            <a:endParaRPr lang="en-US" sz="2600" dirty="0"/>
          </a:p>
        </p:txBody>
      </p:sp>
    </p:spTree>
    <p:extLst>
      <p:ext uri="{BB962C8B-B14F-4D97-AF65-F5344CB8AC3E}">
        <p14:creationId xmlns:p14="http://schemas.microsoft.com/office/powerpoint/2010/main" val="165834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kiểu dữ liệu</a:t>
            </a:r>
          </a:p>
        </p:txBody>
      </p:sp>
      <p:sp>
        <p:nvSpPr>
          <p:cNvPr id="4" name="Slide Number Placeholder 3"/>
          <p:cNvSpPr>
            <a:spLocks noGrp="1"/>
          </p:cNvSpPr>
          <p:nvPr>
            <p:ph type="sldNum" sz="quarter" idx="12"/>
          </p:nvPr>
        </p:nvSpPr>
        <p:spPr/>
        <p:txBody>
          <a:bodyPr/>
          <a:lstStyle/>
          <a:p>
            <a:fld id="{DF4C498B-416A-4F27-9E1B-2DAD6BC6C92F}" type="slidenum">
              <a:rPr lang="en-US" smtClean="0"/>
              <a:t>5</a:t>
            </a:fld>
            <a:endParaRPr lang="en-US"/>
          </a:p>
        </p:txBody>
      </p:sp>
      <p:sp>
        <p:nvSpPr>
          <p:cNvPr id="8" name="object 10"/>
          <p:cNvSpPr/>
          <p:nvPr/>
        </p:nvSpPr>
        <p:spPr>
          <a:xfrm>
            <a:off x="423746" y="1373662"/>
            <a:ext cx="8463776" cy="488217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6556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kiểu dữ liệu</a:t>
            </a:r>
          </a:p>
        </p:txBody>
      </p:sp>
      <p:sp>
        <p:nvSpPr>
          <p:cNvPr id="3" name="Content Placeholder 2"/>
          <p:cNvSpPr>
            <a:spLocks noGrp="1"/>
          </p:cNvSpPr>
          <p:nvPr>
            <p:ph idx="1"/>
          </p:nvPr>
        </p:nvSpPr>
        <p:spPr>
          <a:xfrm>
            <a:off x="628650" y="1396499"/>
            <a:ext cx="7886700" cy="4668671"/>
          </a:xfrm>
        </p:spPr>
        <p:txBody>
          <a:bodyPr>
            <a:noAutofit/>
          </a:bodyPr>
          <a:lstStyle/>
          <a:p>
            <a:pPr algn="just">
              <a:lnSpc>
                <a:spcPts val="3400"/>
              </a:lnSpc>
              <a:spcBef>
                <a:spcPts val="300"/>
              </a:spcBef>
              <a:spcAft>
                <a:spcPts val="300"/>
              </a:spcAft>
            </a:pPr>
            <a:r>
              <a:rPr lang="en-US" b="1" dirty="0"/>
              <a:t>Kiểu dữ liệu tham chiếu:</a:t>
            </a:r>
          </a:p>
          <a:p>
            <a:pPr marL="0" indent="234950" algn="just">
              <a:lnSpc>
                <a:spcPts val="3400"/>
              </a:lnSpc>
              <a:spcBef>
                <a:spcPts val="300"/>
              </a:spcBef>
              <a:spcAft>
                <a:spcPts val="300"/>
              </a:spcAft>
              <a:buNone/>
            </a:pPr>
            <a:r>
              <a:rPr lang="en-US" spc="-30" dirty="0"/>
              <a:t>Trong Java, có ba kiểu tham chiếu đối tượng là:</a:t>
            </a:r>
          </a:p>
          <a:p>
            <a:pPr lvl="1" algn="just">
              <a:lnSpc>
                <a:spcPts val="3400"/>
              </a:lnSpc>
              <a:spcBef>
                <a:spcPts val="300"/>
              </a:spcBef>
              <a:spcAft>
                <a:spcPts val="300"/>
              </a:spcAft>
            </a:pPr>
            <a:r>
              <a:rPr lang="en-US" b="1" i="1" dirty="0"/>
              <a:t>array</a:t>
            </a:r>
            <a:r>
              <a:rPr lang="en-US" i="1" dirty="0"/>
              <a:t>:</a:t>
            </a:r>
            <a:r>
              <a:rPr lang="en-US" dirty="0"/>
              <a:t> cấu trúc mảng của các dữ liệu cùng kiểu.</a:t>
            </a:r>
          </a:p>
          <a:p>
            <a:pPr lvl="1" algn="just">
              <a:lnSpc>
                <a:spcPts val="3400"/>
              </a:lnSpc>
              <a:spcBef>
                <a:spcPts val="300"/>
              </a:spcBef>
              <a:spcAft>
                <a:spcPts val="300"/>
              </a:spcAft>
            </a:pPr>
            <a:r>
              <a:rPr lang="en-US" b="1" i="1" dirty="0"/>
              <a:t>class:</a:t>
            </a:r>
            <a:r>
              <a:rPr lang="en-US" dirty="0"/>
              <a:t> dữ liệu kiểu lớp đối tượng do người dùng định nghĩa, bao gồm thuộc tính và phương thức.</a:t>
            </a:r>
          </a:p>
          <a:p>
            <a:pPr lvl="1" algn="just">
              <a:lnSpc>
                <a:spcPts val="3400"/>
              </a:lnSpc>
              <a:spcBef>
                <a:spcPts val="300"/>
              </a:spcBef>
              <a:spcAft>
                <a:spcPts val="300"/>
              </a:spcAft>
            </a:pPr>
            <a:r>
              <a:rPr lang="en-US" i="1" dirty="0"/>
              <a:t>i</a:t>
            </a:r>
            <a:r>
              <a:rPr lang="en-US" b="1" i="1" dirty="0"/>
              <a:t>nterface</a:t>
            </a:r>
            <a:r>
              <a:rPr lang="en-US" i="1" dirty="0"/>
              <a:t>:</a:t>
            </a:r>
            <a:r>
              <a:rPr lang="en-US" dirty="0"/>
              <a:t> dữ liệu kiểu lớp giao tiếp do người dùng định nghĩa, khai báo các phương thức của giao tiếp.</a:t>
            </a:r>
          </a:p>
          <a:p>
            <a:pPr lvl="1"/>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6</a:t>
            </a:fld>
            <a:endParaRPr lang="en-US"/>
          </a:p>
        </p:txBody>
      </p:sp>
    </p:spTree>
    <p:extLst>
      <p:ext uri="{BB962C8B-B14F-4D97-AF65-F5344CB8AC3E}">
        <p14:creationId xmlns:p14="http://schemas.microsoft.com/office/powerpoint/2010/main" val="1702533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quy tắc chuyển kiểu dữ liệu</a:t>
            </a:r>
          </a:p>
        </p:txBody>
      </p:sp>
      <p:sp>
        <p:nvSpPr>
          <p:cNvPr id="3" name="Content Placeholder 2"/>
          <p:cNvSpPr>
            <a:spLocks noGrp="1"/>
          </p:cNvSpPr>
          <p:nvPr>
            <p:ph idx="1"/>
          </p:nvPr>
        </p:nvSpPr>
        <p:spPr>
          <a:xfrm>
            <a:off x="628650" y="1396499"/>
            <a:ext cx="7886700" cy="4668671"/>
          </a:xfrm>
        </p:spPr>
        <p:txBody>
          <a:bodyPr>
            <a:noAutofit/>
          </a:bodyPr>
          <a:lstStyle/>
          <a:p>
            <a:pPr algn="just">
              <a:lnSpc>
                <a:spcPts val="3400"/>
              </a:lnSpc>
              <a:spcBef>
                <a:spcPts val="300"/>
              </a:spcBef>
              <a:spcAft>
                <a:spcPts val="300"/>
              </a:spcAft>
            </a:pPr>
            <a:r>
              <a:rPr lang="en-US" b="1" dirty="0"/>
              <a:t>Vì sao cần phải chuyển đổi kiểu dữ liệu?</a:t>
            </a:r>
          </a:p>
          <a:p>
            <a:pPr marL="0" indent="234950" algn="just">
              <a:lnSpc>
                <a:spcPts val="3400"/>
              </a:lnSpc>
              <a:spcBef>
                <a:spcPts val="300"/>
              </a:spcBef>
              <a:spcAft>
                <a:spcPts val="300"/>
              </a:spcAft>
              <a:buNone/>
            </a:pPr>
            <a:r>
              <a:rPr lang="en-US" dirty="0"/>
              <a:t>Khi thực hiện các phép toán (toán tử) hai ngôi như phép gán, các phép số học, các phép so sánh,... mà có kiểu khác nhau thì trước tiên phải chuyển đổi chúng về cùng một kiểu.</a:t>
            </a:r>
          </a:p>
          <a:p>
            <a:pPr algn="just">
              <a:lnSpc>
                <a:spcPts val="3400"/>
              </a:lnSpc>
              <a:spcBef>
                <a:spcPts val="300"/>
              </a:spcBef>
              <a:spcAft>
                <a:spcPts val="300"/>
              </a:spcAft>
            </a:pPr>
            <a:r>
              <a:rPr lang="en-US" spc="-30" dirty="0"/>
              <a:t>Trong Java, có </a:t>
            </a:r>
            <a:r>
              <a:rPr lang="en-US" dirty="0"/>
              <a:t>hai quy tắc chuyển đổi sau</a:t>
            </a:r>
            <a:r>
              <a:rPr lang="en-US" spc="-30" dirty="0"/>
              <a:t>:</a:t>
            </a:r>
          </a:p>
          <a:p>
            <a:pPr lvl="1" algn="just">
              <a:lnSpc>
                <a:spcPts val="3400"/>
              </a:lnSpc>
              <a:spcBef>
                <a:spcPts val="300"/>
              </a:spcBef>
              <a:spcAft>
                <a:spcPts val="300"/>
              </a:spcAft>
            </a:pPr>
            <a:r>
              <a:rPr lang="en-US" b="1" i="1" spc="-30" dirty="0"/>
              <a:t>Mở rộng kiểu (widening): </a:t>
            </a:r>
            <a:r>
              <a:rPr lang="en-US" spc="-30" dirty="0"/>
              <a:t>giá trị của kiểu hẹp hơn (chiếm số byte ít hơn, có số phần tử ít hơn) được chuyển sang những kiểu rộng hơn (chiếm số byte nhiều hơn, có số phần tử nhiều hơn). </a:t>
            </a:r>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a:t>
            </a:fld>
            <a:endParaRPr lang="en-US"/>
          </a:p>
        </p:txBody>
      </p:sp>
    </p:spTree>
    <p:extLst>
      <p:ext uri="{BB962C8B-B14F-4D97-AF65-F5344CB8AC3E}">
        <p14:creationId xmlns:p14="http://schemas.microsoft.com/office/powerpoint/2010/main" val="2133736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quy tắc chuyển kiểu dữ liệu</a:t>
            </a:r>
          </a:p>
        </p:txBody>
      </p:sp>
      <p:sp>
        <p:nvSpPr>
          <p:cNvPr id="3" name="Content Placeholder 2"/>
          <p:cNvSpPr>
            <a:spLocks noGrp="1"/>
          </p:cNvSpPr>
          <p:nvPr>
            <p:ph idx="1"/>
          </p:nvPr>
        </p:nvSpPr>
        <p:spPr>
          <a:xfrm>
            <a:off x="560197" y="1371789"/>
            <a:ext cx="8021320" cy="5154427"/>
          </a:xfrm>
        </p:spPr>
        <p:txBody>
          <a:bodyPr>
            <a:noAutofit/>
          </a:bodyPr>
          <a:lstStyle/>
          <a:p>
            <a:pPr marL="0" lvl="1" indent="290513" algn="just">
              <a:lnSpc>
                <a:spcPts val="3400"/>
              </a:lnSpc>
              <a:spcBef>
                <a:spcPts val="300"/>
              </a:spcBef>
              <a:spcAft>
                <a:spcPts val="300"/>
              </a:spcAft>
              <a:buNone/>
            </a:pPr>
            <a:r>
              <a:rPr lang="en-US" dirty="0"/>
              <a:t>Cách chuyển kiểu đó được gọi là mở rộng kiểu mặc định. Quy tắc mở rộng kiểu nguyên thủy được mô tả như sau:</a:t>
            </a:r>
          </a:p>
          <a:p>
            <a:pPr marL="457200" lvl="1" indent="0" algn="just">
              <a:lnSpc>
                <a:spcPts val="3400"/>
              </a:lnSpc>
              <a:spcBef>
                <a:spcPts val="300"/>
              </a:spcBef>
              <a:spcAft>
                <a:spcPts val="300"/>
              </a:spcAft>
              <a:buNone/>
            </a:pPr>
            <a:endParaRPr lang="en-US" b="1" i="1" spc="-30" dirty="0"/>
          </a:p>
          <a:p>
            <a:pPr marL="457200" lvl="1" indent="0" algn="just">
              <a:lnSpc>
                <a:spcPts val="3400"/>
              </a:lnSpc>
              <a:spcBef>
                <a:spcPts val="300"/>
              </a:spcBef>
              <a:spcAft>
                <a:spcPts val="300"/>
              </a:spcAft>
              <a:buNone/>
            </a:pPr>
            <a:endParaRPr lang="en-US" b="1" i="1" spc="-30" dirty="0"/>
          </a:p>
          <a:p>
            <a:pPr marL="457200" lvl="1" indent="0" algn="just">
              <a:lnSpc>
                <a:spcPts val="3400"/>
              </a:lnSpc>
              <a:spcBef>
                <a:spcPts val="300"/>
              </a:spcBef>
              <a:spcAft>
                <a:spcPts val="300"/>
              </a:spcAft>
              <a:buNone/>
            </a:pPr>
            <a:endParaRPr lang="en-US" b="1" i="1" spc="-30" dirty="0"/>
          </a:p>
          <a:p>
            <a:pPr marL="457200" lvl="1" indent="0" algn="just">
              <a:lnSpc>
                <a:spcPts val="3400"/>
              </a:lnSpc>
              <a:spcBef>
                <a:spcPts val="300"/>
              </a:spcBef>
              <a:spcAft>
                <a:spcPts val="300"/>
              </a:spcAft>
              <a:buNone/>
            </a:pPr>
            <a:endParaRPr lang="en-US" sz="2800" b="1" dirty="0">
              <a:latin typeface="Courier New" panose="02070309020205020404" pitchFamily="49" charset="0"/>
              <a:ea typeface="Courier" panose="02020500000000000000" pitchFamily="18" charset="0"/>
              <a:cs typeface="Courier New" panose="02070309020205020404" pitchFamily="49" charset="0"/>
            </a:endParaRPr>
          </a:p>
          <a:p>
            <a:pPr marL="0" indent="0">
              <a:buNone/>
            </a:pPr>
            <a:r>
              <a:rPr lang="en-US" dirty="0"/>
              <a:t>Ví dụ: </a:t>
            </a:r>
            <a:r>
              <a:rPr lang="en-US" b="1" dirty="0">
                <a:latin typeface="Courier New" panose="02070309020205020404" pitchFamily="49" charset="0"/>
                <a:ea typeface="Courier" panose="02020500000000000000" pitchFamily="18" charset="0"/>
                <a:cs typeface="Courier New" panose="02070309020205020404" pitchFamily="49" charset="0"/>
              </a:rPr>
              <a:t>int</a:t>
            </a:r>
            <a:r>
              <a:rPr lang="en-US" dirty="0"/>
              <a:t> a = 5; 	</a:t>
            </a:r>
            <a:r>
              <a:rPr lang="en-US" b="1" dirty="0">
                <a:latin typeface="Courier New" panose="02070309020205020404" pitchFamily="49" charset="0"/>
                <a:ea typeface="Courier" panose="02020500000000000000" pitchFamily="18" charset="0"/>
                <a:cs typeface="Courier New" panose="02070309020205020404" pitchFamily="49" charset="0"/>
              </a:rPr>
              <a:t>double b = 9.4;</a:t>
            </a:r>
          </a:p>
          <a:p>
            <a:pPr marL="0" indent="234950">
              <a:buNone/>
            </a:pPr>
            <a:r>
              <a:rPr lang="en-US" dirty="0"/>
              <a:t> </a:t>
            </a:r>
            <a:r>
              <a:rPr lang="en-US" b="1" dirty="0">
                <a:latin typeface="Courier New" panose="02070309020205020404" pitchFamily="49" charset="0"/>
                <a:ea typeface="Courier" panose="02020500000000000000" pitchFamily="18" charset="0"/>
                <a:cs typeface="Courier New" panose="02070309020205020404" pitchFamily="49" charset="0"/>
              </a:rPr>
              <a:t>b = a;</a:t>
            </a:r>
            <a:r>
              <a:rPr lang="en-US" dirty="0"/>
              <a:t>	</a:t>
            </a:r>
            <a:r>
              <a:rPr lang="en-US" i="1" dirty="0"/>
              <a:t>//</a:t>
            </a:r>
            <a:r>
              <a:rPr lang="en-US" sz="2000" i="1" dirty="0"/>
              <a:t>mở rộng kiểu tự động</a:t>
            </a:r>
            <a:endParaRPr lang="en-US" sz="2000" dirty="0"/>
          </a:p>
          <a:p>
            <a:pPr marL="0" indent="290513" algn="just">
              <a:buNone/>
            </a:pPr>
            <a:r>
              <a:rPr lang="en-US" b="1" dirty="0">
                <a:latin typeface="Courier New" panose="02070309020205020404" pitchFamily="49" charset="0"/>
                <a:ea typeface="Courier" panose="02020500000000000000" pitchFamily="18" charset="0"/>
                <a:cs typeface="Courier New" panose="02070309020205020404" pitchFamily="49" charset="0"/>
              </a:rPr>
              <a:t>a = (int)b</a:t>
            </a:r>
            <a:r>
              <a:rPr lang="en-US" dirty="0"/>
              <a:t>; </a:t>
            </a:r>
            <a:r>
              <a:rPr lang="en-US" sz="2000" i="1" dirty="0"/>
              <a:t>// mở rộng kiểu tường minh phần thập phân 			sẽ bị bỏ</a:t>
            </a:r>
            <a:endParaRPr lang="en-US" sz="2000" dirty="0"/>
          </a:p>
          <a:p>
            <a:pPr marL="457200" lvl="1" indent="0" algn="just">
              <a:lnSpc>
                <a:spcPts val="3400"/>
              </a:lnSpc>
              <a:spcBef>
                <a:spcPts val="300"/>
              </a:spcBef>
              <a:spcAft>
                <a:spcPts val="300"/>
              </a:spcAft>
              <a:buNone/>
            </a:pPr>
            <a:endParaRPr lang="en-US" b="1" i="1" spc="-30" dirty="0"/>
          </a:p>
        </p:txBody>
      </p:sp>
      <p:sp>
        <p:nvSpPr>
          <p:cNvPr id="4" name="Slide Number Placeholder 3"/>
          <p:cNvSpPr>
            <a:spLocks noGrp="1"/>
          </p:cNvSpPr>
          <p:nvPr>
            <p:ph type="sldNum" sz="quarter" idx="12"/>
          </p:nvPr>
        </p:nvSpPr>
        <p:spPr/>
        <p:txBody>
          <a:bodyPr/>
          <a:lstStyle/>
          <a:p>
            <a:fld id="{DF4C498B-416A-4F27-9E1B-2DAD6BC6C92F}" type="slidenum">
              <a:rPr lang="en-US" smtClean="0"/>
              <a:t>8</a:t>
            </a:fld>
            <a:endParaRPr lang="en-US"/>
          </a:p>
        </p:txBody>
      </p:sp>
      <p:grpSp>
        <p:nvGrpSpPr>
          <p:cNvPr id="41" name="Group 40"/>
          <p:cNvGrpSpPr/>
          <p:nvPr/>
        </p:nvGrpSpPr>
        <p:grpSpPr>
          <a:xfrm>
            <a:off x="758190" y="2846389"/>
            <a:ext cx="7819539" cy="1752600"/>
            <a:chOff x="758190" y="2846389"/>
            <a:chExt cx="7819539" cy="1752600"/>
          </a:xfrm>
        </p:grpSpPr>
        <p:grpSp>
          <p:nvGrpSpPr>
            <p:cNvPr id="6" name="Group 5"/>
            <p:cNvGrpSpPr/>
            <p:nvPr/>
          </p:nvGrpSpPr>
          <p:grpSpPr>
            <a:xfrm>
              <a:off x="758190" y="2846389"/>
              <a:ext cx="7757160" cy="1752600"/>
              <a:chOff x="853440" y="1981200"/>
              <a:chExt cx="7757160" cy="1752600"/>
            </a:xfrm>
          </p:grpSpPr>
          <p:sp>
            <p:nvSpPr>
              <p:cNvPr id="7" name="object 12"/>
              <p:cNvSpPr/>
              <p:nvPr/>
            </p:nvSpPr>
            <p:spPr>
              <a:xfrm>
                <a:off x="2209800" y="1981200"/>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8" name="object 13"/>
              <p:cNvSpPr/>
              <p:nvPr/>
            </p:nvSpPr>
            <p:spPr>
              <a:xfrm>
                <a:off x="2209800" y="3124200"/>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9" name="object 14"/>
              <p:cNvSpPr/>
              <p:nvPr/>
            </p:nvSpPr>
            <p:spPr>
              <a:xfrm>
                <a:off x="853440" y="3124200"/>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10" name="object 15"/>
              <p:cNvSpPr/>
              <p:nvPr/>
            </p:nvSpPr>
            <p:spPr>
              <a:xfrm>
                <a:off x="3389630" y="2501900"/>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11" name="object 16"/>
              <p:cNvSpPr/>
              <p:nvPr/>
            </p:nvSpPr>
            <p:spPr>
              <a:xfrm>
                <a:off x="4768681" y="2508250"/>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12" name="object 17"/>
              <p:cNvSpPr/>
              <p:nvPr/>
            </p:nvSpPr>
            <p:spPr>
              <a:xfrm>
                <a:off x="6111240" y="2519761"/>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sp>
            <p:nvSpPr>
              <p:cNvPr id="13" name="object 18"/>
              <p:cNvSpPr/>
              <p:nvPr/>
            </p:nvSpPr>
            <p:spPr>
              <a:xfrm>
                <a:off x="7467600" y="2519761"/>
                <a:ext cx="1143000" cy="609600"/>
              </a:xfrm>
              <a:custGeom>
                <a:avLst/>
                <a:gdLst/>
                <a:ahLst/>
                <a:cxnLst/>
                <a:rect l="l" t="t" r="r" b="b"/>
                <a:pathLst>
                  <a:path w="1143000" h="609600">
                    <a:moveTo>
                      <a:pt x="0" y="304800"/>
                    </a:moveTo>
                    <a:lnTo>
                      <a:pt x="13181" y="239412"/>
                    </a:lnTo>
                    <a:lnTo>
                      <a:pt x="50866" y="178912"/>
                    </a:lnTo>
                    <a:lnTo>
                      <a:pt x="78025" y="150960"/>
                    </a:lnTo>
                    <a:lnTo>
                      <a:pt x="110265" y="124788"/>
                    </a:lnTo>
                    <a:lnTo>
                      <a:pt x="147236" y="100581"/>
                    </a:lnTo>
                    <a:lnTo>
                      <a:pt x="188590" y="78525"/>
                    </a:lnTo>
                    <a:lnTo>
                      <a:pt x="233978" y="58808"/>
                    </a:lnTo>
                    <a:lnTo>
                      <a:pt x="283051" y="41613"/>
                    </a:lnTo>
                    <a:lnTo>
                      <a:pt x="335462" y="27128"/>
                    </a:lnTo>
                    <a:lnTo>
                      <a:pt x="390860" y="15538"/>
                    </a:lnTo>
                    <a:lnTo>
                      <a:pt x="448899" y="7030"/>
                    </a:lnTo>
                    <a:lnTo>
                      <a:pt x="509228" y="1788"/>
                    </a:lnTo>
                    <a:lnTo>
                      <a:pt x="571500" y="0"/>
                    </a:lnTo>
                    <a:lnTo>
                      <a:pt x="633771" y="1788"/>
                    </a:lnTo>
                    <a:lnTo>
                      <a:pt x="694100" y="7030"/>
                    </a:lnTo>
                    <a:lnTo>
                      <a:pt x="752139" y="15538"/>
                    </a:lnTo>
                    <a:lnTo>
                      <a:pt x="807537" y="27128"/>
                    </a:lnTo>
                    <a:lnTo>
                      <a:pt x="859948" y="41613"/>
                    </a:lnTo>
                    <a:lnTo>
                      <a:pt x="909021" y="58808"/>
                    </a:lnTo>
                    <a:lnTo>
                      <a:pt x="954409" y="78525"/>
                    </a:lnTo>
                    <a:lnTo>
                      <a:pt x="995763" y="100581"/>
                    </a:lnTo>
                    <a:lnTo>
                      <a:pt x="1032734" y="124788"/>
                    </a:lnTo>
                    <a:lnTo>
                      <a:pt x="1064974" y="150960"/>
                    </a:lnTo>
                    <a:lnTo>
                      <a:pt x="1092133" y="178912"/>
                    </a:lnTo>
                    <a:lnTo>
                      <a:pt x="1129818" y="239412"/>
                    </a:lnTo>
                    <a:lnTo>
                      <a:pt x="1143000" y="304800"/>
                    </a:lnTo>
                    <a:lnTo>
                      <a:pt x="1139646" y="338011"/>
                    </a:lnTo>
                    <a:lnTo>
                      <a:pt x="1113864" y="401141"/>
                    </a:lnTo>
                    <a:lnTo>
                      <a:pt x="1064974" y="458639"/>
                    </a:lnTo>
                    <a:lnTo>
                      <a:pt x="1032734" y="484811"/>
                    </a:lnTo>
                    <a:lnTo>
                      <a:pt x="995763" y="509018"/>
                    </a:lnTo>
                    <a:lnTo>
                      <a:pt x="954409" y="531074"/>
                    </a:lnTo>
                    <a:lnTo>
                      <a:pt x="909021" y="550791"/>
                    </a:lnTo>
                    <a:lnTo>
                      <a:pt x="859948" y="567986"/>
                    </a:lnTo>
                    <a:lnTo>
                      <a:pt x="807537" y="582471"/>
                    </a:lnTo>
                    <a:lnTo>
                      <a:pt x="752139" y="594061"/>
                    </a:lnTo>
                    <a:lnTo>
                      <a:pt x="694100" y="602569"/>
                    </a:lnTo>
                    <a:lnTo>
                      <a:pt x="633771" y="607811"/>
                    </a:lnTo>
                    <a:lnTo>
                      <a:pt x="571500" y="609600"/>
                    </a:lnTo>
                    <a:lnTo>
                      <a:pt x="509228" y="607811"/>
                    </a:lnTo>
                    <a:lnTo>
                      <a:pt x="448899" y="602569"/>
                    </a:lnTo>
                    <a:lnTo>
                      <a:pt x="390860" y="594061"/>
                    </a:lnTo>
                    <a:lnTo>
                      <a:pt x="335462" y="582471"/>
                    </a:lnTo>
                    <a:lnTo>
                      <a:pt x="283051" y="567986"/>
                    </a:lnTo>
                    <a:lnTo>
                      <a:pt x="233978" y="550791"/>
                    </a:lnTo>
                    <a:lnTo>
                      <a:pt x="188590" y="531074"/>
                    </a:lnTo>
                    <a:lnTo>
                      <a:pt x="147236" y="509018"/>
                    </a:lnTo>
                    <a:lnTo>
                      <a:pt x="110265" y="484811"/>
                    </a:lnTo>
                    <a:lnTo>
                      <a:pt x="78025" y="458639"/>
                    </a:lnTo>
                    <a:lnTo>
                      <a:pt x="50866" y="430687"/>
                    </a:lnTo>
                    <a:lnTo>
                      <a:pt x="13181" y="370187"/>
                    </a:lnTo>
                    <a:lnTo>
                      <a:pt x="0" y="304800"/>
                    </a:lnTo>
                    <a:close/>
                  </a:path>
                </a:pathLst>
              </a:custGeom>
              <a:ln w="25400">
                <a:solidFill>
                  <a:srgbClr val="F79646"/>
                </a:solidFill>
              </a:ln>
            </p:spPr>
            <p:txBody>
              <a:bodyPr wrap="square" lIns="0" tIns="0" rIns="0" bIns="0" rtlCol="0"/>
              <a:lstStyle/>
              <a:p>
                <a:endParaRPr/>
              </a:p>
            </p:txBody>
          </p:sp>
          <p:grpSp>
            <p:nvGrpSpPr>
              <p:cNvPr id="14" name="Group 13"/>
              <p:cNvGrpSpPr/>
              <p:nvPr/>
            </p:nvGrpSpPr>
            <p:grpSpPr>
              <a:xfrm>
                <a:off x="1981200" y="3384550"/>
                <a:ext cx="216535" cy="88900"/>
                <a:chOff x="1981200" y="3384550"/>
                <a:chExt cx="216535" cy="88900"/>
              </a:xfrm>
            </p:grpSpPr>
            <p:sp>
              <p:nvSpPr>
                <p:cNvPr id="30" name="object 20"/>
                <p:cNvSpPr/>
                <p:nvPr/>
              </p:nvSpPr>
              <p:spPr>
                <a:xfrm>
                  <a:off x="1981200" y="3429000"/>
                  <a:ext cx="216535" cy="0"/>
                </a:xfrm>
                <a:custGeom>
                  <a:avLst/>
                  <a:gdLst/>
                  <a:ahLst/>
                  <a:cxnLst/>
                  <a:rect l="l" t="t" r="r" b="b"/>
                  <a:pathLst>
                    <a:path w="216535">
                      <a:moveTo>
                        <a:pt x="0" y="0"/>
                      </a:moveTo>
                      <a:lnTo>
                        <a:pt x="216027" y="0"/>
                      </a:lnTo>
                    </a:path>
                  </a:pathLst>
                </a:custGeom>
                <a:ln w="25400">
                  <a:solidFill>
                    <a:srgbClr val="4A7EBB"/>
                  </a:solidFill>
                </a:ln>
              </p:spPr>
              <p:txBody>
                <a:bodyPr wrap="square" lIns="0" tIns="0" rIns="0" bIns="0" rtlCol="0"/>
                <a:lstStyle/>
                <a:p>
                  <a:endParaRPr/>
                </a:p>
              </p:txBody>
            </p:sp>
            <p:sp>
              <p:nvSpPr>
                <p:cNvPr id="31" name="object 21"/>
                <p:cNvSpPr/>
                <p:nvPr/>
              </p:nvSpPr>
              <p:spPr>
                <a:xfrm>
                  <a:off x="2121026" y="3384550"/>
                  <a:ext cx="76200" cy="88900"/>
                </a:xfrm>
                <a:custGeom>
                  <a:avLst/>
                  <a:gdLst/>
                  <a:ahLst/>
                  <a:cxnLst/>
                  <a:rect l="l" t="t" r="r" b="b"/>
                  <a:pathLst>
                    <a:path w="76200" h="88900">
                      <a:moveTo>
                        <a:pt x="0" y="0"/>
                      </a:moveTo>
                      <a:lnTo>
                        <a:pt x="76200" y="44450"/>
                      </a:lnTo>
                      <a:lnTo>
                        <a:pt x="0" y="88900"/>
                      </a:lnTo>
                    </a:path>
                  </a:pathLst>
                </a:custGeom>
                <a:ln w="25400">
                  <a:solidFill>
                    <a:srgbClr val="4A7EBB"/>
                  </a:solidFill>
                </a:ln>
              </p:spPr>
              <p:txBody>
                <a:bodyPr wrap="square" lIns="0" tIns="0" rIns="0" bIns="0" rtlCol="0"/>
                <a:lstStyle/>
                <a:p>
                  <a:endParaRPr/>
                </a:p>
              </p:txBody>
            </p:sp>
          </p:grpSp>
          <p:grpSp>
            <p:nvGrpSpPr>
              <p:cNvPr id="15" name="Group 14"/>
              <p:cNvGrpSpPr/>
              <p:nvPr/>
            </p:nvGrpSpPr>
            <p:grpSpPr>
              <a:xfrm>
                <a:off x="3352800" y="3083814"/>
                <a:ext cx="207010" cy="345440"/>
                <a:chOff x="3352800" y="3083814"/>
                <a:chExt cx="207010" cy="345440"/>
              </a:xfrm>
            </p:grpSpPr>
            <p:sp>
              <p:nvSpPr>
                <p:cNvPr id="28" name="object 22"/>
                <p:cNvSpPr/>
                <p:nvPr/>
              </p:nvSpPr>
              <p:spPr>
                <a:xfrm>
                  <a:off x="3352800" y="3083814"/>
                  <a:ext cx="207010" cy="345440"/>
                </a:xfrm>
                <a:custGeom>
                  <a:avLst/>
                  <a:gdLst/>
                  <a:ahLst/>
                  <a:cxnLst/>
                  <a:rect l="l" t="t" r="r" b="b"/>
                  <a:pathLst>
                    <a:path w="207010" h="345439">
                      <a:moveTo>
                        <a:pt x="0" y="345186"/>
                      </a:moveTo>
                      <a:lnTo>
                        <a:pt x="206654" y="0"/>
                      </a:lnTo>
                    </a:path>
                  </a:pathLst>
                </a:custGeom>
                <a:ln w="25400">
                  <a:solidFill>
                    <a:srgbClr val="4A7EBB"/>
                  </a:solidFill>
                </a:ln>
              </p:spPr>
              <p:txBody>
                <a:bodyPr wrap="square" lIns="0" tIns="0" rIns="0" bIns="0" rtlCol="0"/>
                <a:lstStyle/>
                <a:p>
                  <a:endParaRPr/>
                </a:p>
              </p:txBody>
            </p:sp>
            <p:sp>
              <p:nvSpPr>
                <p:cNvPr id="29" name="object 23"/>
                <p:cNvSpPr/>
                <p:nvPr/>
              </p:nvSpPr>
              <p:spPr>
                <a:xfrm>
                  <a:off x="3482175" y="3083814"/>
                  <a:ext cx="77470" cy="88265"/>
                </a:xfrm>
                <a:custGeom>
                  <a:avLst/>
                  <a:gdLst/>
                  <a:ahLst/>
                  <a:cxnLst/>
                  <a:rect l="l" t="t" r="r" b="b"/>
                  <a:pathLst>
                    <a:path w="77470" h="88264">
                      <a:moveTo>
                        <a:pt x="76276" y="88214"/>
                      </a:moveTo>
                      <a:lnTo>
                        <a:pt x="77279" y="0"/>
                      </a:lnTo>
                      <a:lnTo>
                        <a:pt x="0" y="42557"/>
                      </a:lnTo>
                    </a:path>
                  </a:pathLst>
                </a:custGeom>
                <a:ln w="25400">
                  <a:solidFill>
                    <a:srgbClr val="4A7EBB"/>
                  </a:solidFill>
                </a:ln>
              </p:spPr>
              <p:txBody>
                <a:bodyPr wrap="square" lIns="0" tIns="0" rIns="0" bIns="0" rtlCol="0"/>
                <a:lstStyle/>
                <a:p>
                  <a:endParaRPr/>
                </a:p>
              </p:txBody>
            </p:sp>
          </p:grpSp>
          <p:grpSp>
            <p:nvGrpSpPr>
              <p:cNvPr id="16" name="Group 15"/>
              <p:cNvGrpSpPr/>
              <p:nvPr/>
            </p:nvGrpSpPr>
            <p:grpSpPr>
              <a:xfrm>
                <a:off x="4541520" y="2813050"/>
                <a:ext cx="201295" cy="88900"/>
                <a:chOff x="4541520" y="2813050"/>
                <a:chExt cx="201295" cy="88900"/>
              </a:xfrm>
            </p:grpSpPr>
            <p:sp>
              <p:nvSpPr>
                <p:cNvPr id="26" name="object 24"/>
                <p:cNvSpPr/>
                <p:nvPr/>
              </p:nvSpPr>
              <p:spPr>
                <a:xfrm>
                  <a:off x="4541520" y="2857500"/>
                  <a:ext cx="201295" cy="0"/>
                </a:xfrm>
                <a:custGeom>
                  <a:avLst/>
                  <a:gdLst/>
                  <a:ahLst/>
                  <a:cxnLst/>
                  <a:rect l="l" t="t" r="r" b="b"/>
                  <a:pathLst>
                    <a:path w="201295">
                      <a:moveTo>
                        <a:pt x="0" y="0"/>
                      </a:moveTo>
                      <a:lnTo>
                        <a:pt x="200787" y="0"/>
                      </a:lnTo>
                    </a:path>
                  </a:pathLst>
                </a:custGeom>
                <a:ln w="25400">
                  <a:solidFill>
                    <a:srgbClr val="4A7EBB"/>
                  </a:solidFill>
                </a:ln>
              </p:spPr>
              <p:txBody>
                <a:bodyPr wrap="square" lIns="0" tIns="0" rIns="0" bIns="0" rtlCol="0"/>
                <a:lstStyle/>
                <a:p>
                  <a:endParaRPr/>
                </a:p>
              </p:txBody>
            </p:sp>
            <p:sp>
              <p:nvSpPr>
                <p:cNvPr id="27" name="object 25"/>
                <p:cNvSpPr/>
                <p:nvPr/>
              </p:nvSpPr>
              <p:spPr>
                <a:xfrm>
                  <a:off x="4666107" y="2813050"/>
                  <a:ext cx="76200" cy="88900"/>
                </a:xfrm>
                <a:custGeom>
                  <a:avLst/>
                  <a:gdLst/>
                  <a:ahLst/>
                  <a:cxnLst/>
                  <a:rect l="l" t="t" r="r" b="b"/>
                  <a:pathLst>
                    <a:path w="76200" h="88900">
                      <a:moveTo>
                        <a:pt x="0" y="0"/>
                      </a:moveTo>
                      <a:lnTo>
                        <a:pt x="76200" y="44450"/>
                      </a:lnTo>
                      <a:lnTo>
                        <a:pt x="0" y="88900"/>
                      </a:lnTo>
                    </a:path>
                  </a:pathLst>
                </a:custGeom>
                <a:ln w="25400">
                  <a:solidFill>
                    <a:srgbClr val="4A7EBB"/>
                  </a:solidFill>
                </a:ln>
              </p:spPr>
              <p:txBody>
                <a:bodyPr wrap="square" lIns="0" tIns="0" rIns="0" bIns="0" rtlCol="0"/>
                <a:lstStyle/>
                <a:p>
                  <a:endParaRPr/>
                </a:p>
              </p:txBody>
            </p:sp>
          </p:grpSp>
          <p:grpSp>
            <p:nvGrpSpPr>
              <p:cNvPr id="17" name="Group 16"/>
              <p:cNvGrpSpPr/>
              <p:nvPr/>
            </p:nvGrpSpPr>
            <p:grpSpPr>
              <a:xfrm>
                <a:off x="3352800" y="2286000"/>
                <a:ext cx="207010" cy="345440"/>
                <a:chOff x="3352800" y="2286000"/>
                <a:chExt cx="207010" cy="345440"/>
              </a:xfrm>
            </p:grpSpPr>
            <p:sp>
              <p:nvSpPr>
                <p:cNvPr id="24" name="object 26"/>
                <p:cNvSpPr/>
                <p:nvPr/>
              </p:nvSpPr>
              <p:spPr>
                <a:xfrm>
                  <a:off x="3352800" y="2286000"/>
                  <a:ext cx="207010" cy="345440"/>
                </a:xfrm>
                <a:custGeom>
                  <a:avLst/>
                  <a:gdLst/>
                  <a:ahLst/>
                  <a:cxnLst/>
                  <a:rect l="l" t="t" r="r" b="b"/>
                  <a:pathLst>
                    <a:path w="207010" h="345439">
                      <a:moveTo>
                        <a:pt x="0" y="0"/>
                      </a:moveTo>
                      <a:lnTo>
                        <a:pt x="206654" y="345186"/>
                      </a:lnTo>
                    </a:path>
                  </a:pathLst>
                </a:custGeom>
                <a:ln w="25400">
                  <a:solidFill>
                    <a:srgbClr val="4A7EBB"/>
                  </a:solidFill>
                </a:ln>
              </p:spPr>
              <p:txBody>
                <a:bodyPr wrap="square" lIns="0" tIns="0" rIns="0" bIns="0" rtlCol="0"/>
                <a:lstStyle/>
                <a:p>
                  <a:endParaRPr/>
                </a:p>
              </p:txBody>
            </p:sp>
            <p:sp>
              <p:nvSpPr>
                <p:cNvPr id="25" name="object 27"/>
                <p:cNvSpPr/>
                <p:nvPr/>
              </p:nvSpPr>
              <p:spPr>
                <a:xfrm>
                  <a:off x="3482175" y="2542971"/>
                  <a:ext cx="77470" cy="88265"/>
                </a:xfrm>
                <a:custGeom>
                  <a:avLst/>
                  <a:gdLst/>
                  <a:ahLst/>
                  <a:cxnLst/>
                  <a:rect l="l" t="t" r="r" b="b"/>
                  <a:pathLst>
                    <a:path w="77470" h="88264">
                      <a:moveTo>
                        <a:pt x="76276" y="0"/>
                      </a:moveTo>
                      <a:lnTo>
                        <a:pt x="77279" y="88214"/>
                      </a:lnTo>
                      <a:lnTo>
                        <a:pt x="0" y="45656"/>
                      </a:lnTo>
                    </a:path>
                  </a:pathLst>
                </a:custGeom>
                <a:ln w="25400">
                  <a:solidFill>
                    <a:srgbClr val="4A7EBB"/>
                  </a:solidFill>
                </a:ln>
              </p:spPr>
              <p:txBody>
                <a:bodyPr wrap="square" lIns="0" tIns="0" rIns="0" bIns="0" rtlCol="0"/>
                <a:lstStyle/>
                <a:p>
                  <a:endParaRPr/>
                </a:p>
              </p:txBody>
            </p:sp>
          </p:grpSp>
          <p:grpSp>
            <p:nvGrpSpPr>
              <p:cNvPr id="18" name="Group 17"/>
              <p:cNvGrpSpPr/>
              <p:nvPr/>
            </p:nvGrpSpPr>
            <p:grpSpPr>
              <a:xfrm>
                <a:off x="7280633" y="2773761"/>
                <a:ext cx="201295" cy="88900"/>
                <a:chOff x="4541520" y="2813050"/>
                <a:chExt cx="201295" cy="88900"/>
              </a:xfrm>
            </p:grpSpPr>
            <p:sp>
              <p:nvSpPr>
                <p:cNvPr id="22" name="object 24"/>
                <p:cNvSpPr/>
                <p:nvPr/>
              </p:nvSpPr>
              <p:spPr>
                <a:xfrm>
                  <a:off x="4541520" y="2857500"/>
                  <a:ext cx="201295" cy="0"/>
                </a:xfrm>
                <a:custGeom>
                  <a:avLst/>
                  <a:gdLst/>
                  <a:ahLst/>
                  <a:cxnLst/>
                  <a:rect l="l" t="t" r="r" b="b"/>
                  <a:pathLst>
                    <a:path w="201295">
                      <a:moveTo>
                        <a:pt x="0" y="0"/>
                      </a:moveTo>
                      <a:lnTo>
                        <a:pt x="200787" y="0"/>
                      </a:lnTo>
                    </a:path>
                  </a:pathLst>
                </a:custGeom>
                <a:ln w="25400">
                  <a:solidFill>
                    <a:srgbClr val="4A7EBB"/>
                  </a:solidFill>
                </a:ln>
              </p:spPr>
              <p:txBody>
                <a:bodyPr wrap="square" lIns="0" tIns="0" rIns="0" bIns="0" rtlCol="0"/>
                <a:lstStyle/>
                <a:p>
                  <a:endParaRPr/>
                </a:p>
              </p:txBody>
            </p:sp>
            <p:sp>
              <p:nvSpPr>
                <p:cNvPr id="23" name="object 25"/>
                <p:cNvSpPr/>
                <p:nvPr/>
              </p:nvSpPr>
              <p:spPr>
                <a:xfrm>
                  <a:off x="4666107" y="2813050"/>
                  <a:ext cx="76200" cy="88900"/>
                </a:xfrm>
                <a:custGeom>
                  <a:avLst/>
                  <a:gdLst/>
                  <a:ahLst/>
                  <a:cxnLst/>
                  <a:rect l="l" t="t" r="r" b="b"/>
                  <a:pathLst>
                    <a:path w="76200" h="88900">
                      <a:moveTo>
                        <a:pt x="0" y="0"/>
                      </a:moveTo>
                      <a:lnTo>
                        <a:pt x="76200" y="44450"/>
                      </a:lnTo>
                      <a:lnTo>
                        <a:pt x="0" y="88900"/>
                      </a:lnTo>
                    </a:path>
                  </a:pathLst>
                </a:custGeom>
                <a:ln w="25400">
                  <a:solidFill>
                    <a:srgbClr val="4A7EBB"/>
                  </a:solidFill>
                </a:ln>
              </p:spPr>
              <p:txBody>
                <a:bodyPr wrap="square" lIns="0" tIns="0" rIns="0" bIns="0" rtlCol="0"/>
                <a:lstStyle/>
                <a:p>
                  <a:endParaRPr/>
                </a:p>
              </p:txBody>
            </p:sp>
          </p:grpSp>
          <p:grpSp>
            <p:nvGrpSpPr>
              <p:cNvPr id="19" name="Group 18"/>
              <p:cNvGrpSpPr/>
              <p:nvPr/>
            </p:nvGrpSpPr>
            <p:grpSpPr>
              <a:xfrm>
                <a:off x="5883571" y="2780111"/>
                <a:ext cx="201295" cy="88900"/>
                <a:chOff x="4541520" y="2813050"/>
                <a:chExt cx="201295" cy="88900"/>
              </a:xfrm>
            </p:grpSpPr>
            <p:sp>
              <p:nvSpPr>
                <p:cNvPr id="20" name="object 24"/>
                <p:cNvSpPr/>
                <p:nvPr/>
              </p:nvSpPr>
              <p:spPr>
                <a:xfrm>
                  <a:off x="4541520" y="2857500"/>
                  <a:ext cx="201295" cy="0"/>
                </a:xfrm>
                <a:custGeom>
                  <a:avLst/>
                  <a:gdLst/>
                  <a:ahLst/>
                  <a:cxnLst/>
                  <a:rect l="l" t="t" r="r" b="b"/>
                  <a:pathLst>
                    <a:path w="201295">
                      <a:moveTo>
                        <a:pt x="0" y="0"/>
                      </a:moveTo>
                      <a:lnTo>
                        <a:pt x="200787" y="0"/>
                      </a:lnTo>
                    </a:path>
                  </a:pathLst>
                </a:custGeom>
                <a:ln w="25400">
                  <a:solidFill>
                    <a:srgbClr val="4A7EBB"/>
                  </a:solidFill>
                </a:ln>
              </p:spPr>
              <p:txBody>
                <a:bodyPr wrap="square" lIns="0" tIns="0" rIns="0" bIns="0" rtlCol="0"/>
                <a:lstStyle/>
                <a:p>
                  <a:endParaRPr/>
                </a:p>
              </p:txBody>
            </p:sp>
            <p:sp>
              <p:nvSpPr>
                <p:cNvPr id="21" name="object 25"/>
                <p:cNvSpPr/>
                <p:nvPr/>
              </p:nvSpPr>
              <p:spPr>
                <a:xfrm>
                  <a:off x="4666107" y="2813050"/>
                  <a:ext cx="76200" cy="88900"/>
                </a:xfrm>
                <a:custGeom>
                  <a:avLst/>
                  <a:gdLst/>
                  <a:ahLst/>
                  <a:cxnLst/>
                  <a:rect l="l" t="t" r="r" b="b"/>
                  <a:pathLst>
                    <a:path w="76200" h="88900">
                      <a:moveTo>
                        <a:pt x="0" y="0"/>
                      </a:moveTo>
                      <a:lnTo>
                        <a:pt x="76200" y="44450"/>
                      </a:lnTo>
                      <a:lnTo>
                        <a:pt x="0" y="88900"/>
                      </a:lnTo>
                    </a:path>
                  </a:pathLst>
                </a:custGeom>
                <a:ln w="25400">
                  <a:solidFill>
                    <a:srgbClr val="4A7EBB"/>
                  </a:solidFill>
                </a:ln>
              </p:spPr>
              <p:txBody>
                <a:bodyPr wrap="square" lIns="0" tIns="0" rIns="0" bIns="0" rtlCol="0"/>
                <a:lstStyle/>
                <a:p>
                  <a:endParaRPr/>
                </a:p>
              </p:txBody>
            </p:sp>
          </p:grpSp>
        </p:grpSp>
        <p:sp>
          <p:nvSpPr>
            <p:cNvPr id="32" name="TextBox 31"/>
            <p:cNvSpPr txBox="1"/>
            <p:nvPr/>
          </p:nvSpPr>
          <p:spPr>
            <a:xfrm>
              <a:off x="980036" y="4117668"/>
              <a:ext cx="785503" cy="369332"/>
            </a:xfrm>
            <a:prstGeom prst="rect">
              <a:avLst/>
            </a:prstGeom>
            <a:noFill/>
          </p:spPr>
          <p:txBody>
            <a:bodyPr wrap="square" rtlCol="0">
              <a:spAutoFit/>
            </a:bodyPr>
            <a:lstStyle/>
            <a:p>
              <a:r>
                <a:rPr lang="en-US" b="1" dirty="0"/>
                <a:t>byte</a:t>
              </a:r>
            </a:p>
          </p:txBody>
        </p:sp>
        <p:sp>
          <p:nvSpPr>
            <p:cNvPr id="33" name="TextBox 32"/>
            <p:cNvSpPr txBox="1"/>
            <p:nvPr/>
          </p:nvSpPr>
          <p:spPr>
            <a:xfrm>
              <a:off x="2337544" y="4117668"/>
              <a:ext cx="851677" cy="369332"/>
            </a:xfrm>
            <a:prstGeom prst="rect">
              <a:avLst/>
            </a:prstGeom>
            <a:noFill/>
          </p:spPr>
          <p:txBody>
            <a:bodyPr wrap="square" rtlCol="0">
              <a:spAutoFit/>
            </a:bodyPr>
            <a:lstStyle/>
            <a:p>
              <a:r>
                <a:rPr lang="en-US" b="1" dirty="0"/>
                <a:t>short</a:t>
              </a:r>
            </a:p>
          </p:txBody>
        </p:sp>
        <p:sp>
          <p:nvSpPr>
            <p:cNvPr id="34" name="TextBox 33"/>
            <p:cNvSpPr txBox="1"/>
            <p:nvPr/>
          </p:nvSpPr>
          <p:spPr>
            <a:xfrm>
              <a:off x="2415601" y="2981195"/>
              <a:ext cx="740009" cy="369332"/>
            </a:xfrm>
            <a:prstGeom prst="rect">
              <a:avLst/>
            </a:prstGeom>
            <a:noFill/>
          </p:spPr>
          <p:txBody>
            <a:bodyPr wrap="square" rtlCol="0">
              <a:spAutoFit/>
            </a:bodyPr>
            <a:lstStyle/>
            <a:p>
              <a:r>
                <a:rPr lang="en-US" b="1" dirty="0"/>
                <a:t>char</a:t>
              </a:r>
            </a:p>
          </p:txBody>
        </p:sp>
        <p:sp>
          <p:nvSpPr>
            <p:cNvPr id="35" name="TextBox 34"/>
            <p:cNvSpPr txBox="1"/>
            <p:nvPr/>
          </p:nvSpPr>
          <p:spPr>
            <a:xfrm>
              <a:off x="3667225" y="3464134"/>
              <a:ext cx="688932" cy="369332"/>
            </a:xfrm>
            <a:prstGeom prst="rect">
              <a:avLst/>
            </a:prstGeom>
            <a:noFill/>
          </p:spPr>
          <p:txBody>
            <a:bodyPr wrap="square" rtlCol="0">
              <a:spAutoFit/>
            </a:bodyPr>
            <a:lstStyle/>
            <a:p>
              <a:r>
                <a:rPr lang="en-US" b="1" dirty="0"/>
                <a:t>int</a:t>
              </a:r>
            </a:p>
          </p:txBody>
        </p:sp>
        <p:sp>
          <p:nvSpPr>
            <p:cNvPr id="36" name="TextBox 35"/>
            <p:cNvSpPr txBox="1"/>
            <p:nvPr/>
          </p:nvSpPr>
          <p:spPr>
            <a:xfrm>
              <a:off x="4967182" y="3504570"/>
              <a:ext cx="726510" cy="369332"/>
            </a:xfrm>
            <a:prstGeom prst="rect">
              <a:avLst/>
            </a:prstGeom>
            <a:noFill/>
          </p:spPr>
          <p:txBody>
            <a:bodyPr wrap="square" rtlCol="0">
              <a:spAutoFit/>
            </a:bodyPr>
            <a:lstStyle/>
            <a:p>
              <a:r>
                <a:rPr lang="en-US" b="1" dirty="0"/>
                <a:t>long</a:t>
              </a:r>
            </a:p>
          </p:txBody>
        </p:sp>
        <p:sp>
          <p:nvSpPr>
            <p:cNvPr id="37" name="TextBox 36"/>
            <p:cNvSpPr txBox="1"/>
            <p:nvPr/>
          </p:nvSpPr>
          <p:spPr>
            <a:xfrm>
              <a:off x="6318618" y="3504570"/>
              <a:ext cx="776614" cy="369332"/>
            </a:xfrm>
            <a:prstGeom prst="rect">
              <a:avLst/>
            </a:prstGeom>
            <a:noFill/>
          </p:spPr>
          <p:txBody>
            <a:bodyPr wrap="square" rtlCol="0">
              <a:spAutoFit/>
            </a:bodyPr>
            <a:lstStyle/>
            <a:p>
              <a:r>
                <a:rPr lang="en-US" b="1" dirty="0"/>
                <a:t>float</a:t>
              </a:r>
            </a:p>
          </p:txBody>
        </p:sp>
        <p:sp>
          <p:nvSpPr>
            <p:cNvPr id="40" name="TextBox 39"/>
            <p:cNvSpPr txBox="1"/>
            <p:nvPr/>
          </p:nvSpPr>
          <p:spPr>
            <a:xfrm>
              <a:off x="7543776" y="3504570"/>
              <a:ext cx="1033953" cy="369332"/>
            </a:xfrm>
            <a:prstGeom prst="rect">
              <a:avLst/>
            </a:prstGeom>
            <a:noFill/>
          </p:spPr>
          <p:txBody>
            <a:bodyPr wrap="square" rtlCol="0">
              <a:spAutoFit/>
            </a:bodyPr>
            <a:lstStyle/>
            <a:p>
              <a:r>
                <a:rPr lang="en-US" b="1" dirty="0"/>
                <a:t>double</a:t>
              </a:r>
            </a:p>
          </p:txBody>
        </p:sp>
      </p:grpSp>
    </p:spTree>
    <p:extLst>
      <p:ext uri="{BB962C8B-B14F-4D97-AF65-F5344CB8AC3E}">
        <p14:creationId xmlns:p14="http://schemas.microsoft.com/office/powerpoint/2010/main" val="2601017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quy tắc chuyển kiểu dữ liệu</a:t>
            </a:r>
          </a:p>
        </p:txBody>
      </p:sp>
      <p:sp>
        <p:nvSpPr>
          <p:cNvPr id="3" name="Content Placeholder 2"/>
          <p:cNvSpPr>
            <a:spLocks noGrp="1"/>
          </p:cNvSpPr>
          <p:nvPr>
            <p:ph idx="1"/>
          </p:nvPr>
        </p:nvSpPr>
        <p:spPr>
          <a:xfrm>
            <a:off x="628650" y="1396499"/>
            <a:ext cx="7886700" cy="4668671"/>
          </a:xfrm>
        </p:spPr>
        <p:txBody>
          <a:bodyPr>
            <a:noAutofit/>
          </a:bodyPr>
          <a:lstStyle/>
          <a:p>
            <a:pPr lvl="1" algn="just">
              <a:lnSpc>
                <a:spcPts val="3400"/>
              </a:lnSpc>
              <a:spcBef>
                <a:spcPts val="300"/>
              </a:spcBef>
              <a:spcAft>
                <a:spcPts val="300"/>
              </a:spcAft>
            </a:pPr>
            <a:r>
              <a:rPr lang="en-US" b="1" i="1" spc="-30" dirty="0"/>
              <a:t>Thu hẹp kiểu hay ép kiểu (</a:t>
            </a:r>
            <a:r>
              <a:rPr lang="en-US" b="1" i="1" dirty="0"/>
              <a:t>narrowing</a:t>
            </a:r>
            <a:r>
              <a:rPr lang="en-US" b="1" i="1" spc="-30" dirty="0"/>
              <a:t>): </a:t>
            </a:r>
            <a:r>
              <a:rPr lang="en-US" dirty="0"/>
              <a:t>chuyển đổi kiểu theo chiều ngược lại của mở rộng kiểu, từ kiểu rộng về kiểu hẹp hơn được gọi là thu hẹp kiểu</a:t>
            </a:r>
            <a:r>
              <a:rPr lang="en-US" spc="-30" dirty="0"/>
              <a:t>. </a:t>
            </a:r>
          </a:p>
          <a:p>
            <a:pPr marL="0" indent="0" algn="just">
              <a:lnSpc>
                <a:spcPts val="3400"/>
              </a:lnSpc>
              <a:spcBef>
                <a:spcPts val="300"/>
              </a:spcBef>
              <a:spcAft>
                <a:spcPts val="300"/>
              </a:spcAft>
              <a:buNone/>
            </a:pPr>
            <a:r>
              <a:rPr lang="en-US" u="sng" dirty="0"/>
              <a:t>Lưu ý:</a:t>
            </a:r>
            <a:r>
              <a:rPr lang="en-US" dirty="0"/>
              <a:t> thu hẹp kiểu có thể dẫn tới mất thông tin, do vậy đòi hỏi phải ép kiểu tường minh.</a:t>
            </a:r>
            <a:endParaRPr lang="en-US" sz="2400" dirty="0"/>
          </a:p>
          <a:p>
            <a:pPr marL="0" indent="401638" algn="just">
              <a:lnSpc>
                <a:spcPts val="3400"/>
              </a:lnSpc>
              <a:spcBef>
                <a:spcPts val="300"/>
              </a:spcBef>
              <a:spcAft>
                <a:spcPts val="300"/>
              </a:spcAft>
              <a:buNone/>
            </a:pPr>
            <a:r>
              <a:rPr lang="en-US" dirty="0"/>
              <a:t>Quy tắc ép kiểu có dạng: </a:t>
            </a:r>
            <a:r>
              <a:rPr lang="en-US" b="1" dirty="0"/>
              <a:t>(&lt;</a:t>
            </a:r>
            <a:r>
              <a:rPr lang="en-US" b="1" dirty="0">
                <a:latin typeface="Courier New" panose="02070309020205020404" pitchFamily="49" charset="0"/>
                <a:ea typeface="Courier" panose="02020500000000000000" pitchFamily="18" charset="0"/>
                <a:cs typeface="Courier New" panose="02070309020205020404" pitchFamily="49" charset="0"/>
              </a:rPr>
              <a:t>Type</a:t>
            </a:r>
            <a:r>
              <a:rPr lang="en-US" b="1" dirty="0"/>
              <a:t>&gt;) &lt;</a:t>
            </a:r>
            <a:r>
              <a:rPr lang="en-US" b="1" dirty="0">
                <a:latin typeface="Courier New" panose="02070309020205020404" pitchFamily="49" charset="0"/>
                <a:ea typeface="Courier" panose="02020500000000000000" pitchFamily="18" charset="0"/>
                <a:cs typeface="Courier New" panose="02070309020205020404" pitchFamily="49" charset="0"/>
              </a:rPr>
              <a:t>exp</a:t>
            </a:r>
            <a:r>
              <a:rPr lang="en-US" b="1" dirty="0"/>
              <a:t>&gt;</a:t>
            </a:r>
            <a:endParaRPr lang="en-US" sz="2400" dirty="0"/>
          </a:p>
          <a:p>
            <a:pPr marL="0" indent="401638" algn="just">
              <a:lnSpc>
                <a:spcPts val="3400"/>
              </a:lnSpc>
              <a:spcBef>
                <a:spcPts val="300"/>
              </a:spcBef>
              <a:spcAft>
                <a:spcPts val="300"/>
              </a:spcAft>
              <a:buNone/>
            </a:pPr>
            <a:r>
              <a:rPr lang="en-US" dirty="0"/>
              <a:t>Lúc thực hiện hệ thống sẽ chuyển kết quả tính toán của biểu thức </a:t>
            </a:r>
            <a:r>
              <a:rPr lang="en-US" b="1" dirty="0"/>
              <a:t>&lt;</a:t>
            </a:r>
            <a:r>
              <a:rPr lang="en-US" b="1" dirty="0">
                <a:latin typeface="Courier New" panose="02070309020205020404" pitchFamily="49" charset="0"/>
                <a:ea typeface="Courier" panose="02020500000000000000" pitchFamily="18" charset="0"/>
                <a:cs typeface="Courier New" panose="02070309020205020404" pitchFamily="49" charset="0"/>
              </a:rPr>
              <a:t>exp</a:t>
            </a:r>
            <a:r>
              <a:rPr lang="en-US" b="1" dirty="0"/>
              <a:t>&gt;</a:t>
            </a:r>
            <a:r>
              <a:rPr lang="en-US" dirty="0"/>
              <a:t> sang kiểu được ép là </a:t>
            </a:r>
            <a:r>
              <a:rPr lang="en-US" b="1" dirty="0"/>
              <a:t>&lt;</a:t>
            </a:r>
            <a:r>
              <a:rPr lang="en-US" b="1" dirty="0">
                <a:latin typeface="Courier New" panose="02070309020205020404" pitchFamily="49" charset="0"/>
                <a:ea typeface="Courier" panose="02020500000000000000" pitchFamily="18" charset="0"/>
                <a:cs typeface="Courier New" panose="02070309020205020404" pitchFamily="49" charset="0"/>
              </a:rPr>
              <a:t>Type</a:t>
            </a:r>
            <a:r>
              <a:rPr lang="en-US" b="1" dirty="0"/>
              <a:t>&gt;.</a:t>
            </a:r>
            <a:endParaRPr lang="en-US" sz="2400" dirty="0"/>
          </a:p>
          <a:p>
            <a:pPr lvl="1" algn="just">
              <a:lnSpc>
                <a:spcPts val="3400"/>
              </a:lnSpc>
              <a:spcBef>
                <a:spcPts val="300"/>
              </a:spcBef>
              <a:spcAft>
                <a:spcPts val="300"/>
              </a:spcAft>
            </a:pPr>
            <a:endParaRPr lang="en-US" spc="-30"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a:t>
            </a:fld>
            <a:endParaRPr lang="en-US"/>
          </a:p>
        </p:txBody>
      </p:sp>
    </p:spTree>
    <p:extLst>
      <p:ext uri="{BB962C8B-B14F-4D97-AF65-F5344CB8AC3E}">
        <p14:creationId xmlns:p14="http://schemas.microsoft.com/office/powerpoint/2010/main" val="1716285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quy tắc chuyển kiểu dữ liệu</a:t>
            </a:r>
          </a:p>
        </p:txBody>
      </p:sp>
      <p:sp>
        <p:nvSpPr>
          <p:cNvPr id="3" name="Content Placeholder 2"/>
          <p:cNvSpPr>
            <a:spLocks noGrp="1"/>
          </p:cNvSpPr>
          <p:nvPr>
            <p:ph idx="1"/>
          </p:nvPr>
        </p:nvSpPr>
        <p:spPr>
          <a:xfrm>
            <a:off x="628650" y="1396499"/>
            <a:ext cx="7886700" cy="4668671"/>
          </a:xfrm>
        </p:spPr>
        <p:txBody>
          <a:bodyPr>
            <a:noAutofit/>
          </a:bodyPr>
          <a:lstStyle/>
          <a:p>
            <a:pPr marL="0" indent="0">
              <a:lnSpc>
                <a:spcPts val="3500"/>
              </a:lnSpc>
              <a:spcBef>
                <a:spcPts val="300"/>
              </a:spcBef>
              <a:spcAft>
                <a:spcPts val="300"/>
              </a:spcAft>
              <a:buNone/>
            </a:pPr>
            <a:r>
              <a:rPr lang="en-US" dirty="0"/>
              <a:t>Ví dụ:</a:t>
            </a:r>
            <a:endParaRPr lang="en-US" sz="2400" dirty="0"/>
          </a:p>
          <a:p>
            <a:pPr marL="0" indent="0">
              <a:lnSpc>
                <a:spcPts val="3500"/>
              </a:lnSpc>
              <a:spcBef>
                <a:spcPts val="300"/>
              </a:spcBef>
              <a:spcAft>
                <a:spcPts val="300"/>
              </a:spcAft>
              <a:buNone/>
            </a:pPr>
            <a:r>
              <a:rPr lang="en-US" b="1" dirty="0">
                <a:latin typeface="Courier New" panose="02070309020205020404" pitchFamily="49" charset="0"/>
                <a:ea typeface="Courier" panose="02020500000000000000" pitchFamily="18" charset="0"/>
                <a:cs typeface="Courier New" panose="02070309020205020404" pitchFamily="49" charset="0"/>
              </a:rPr>
              <a:t> </a:t>
            </a:r>
            <a:r>
              <a:rPr lang="en-US" dirty="0">
                <a:latin typeface="Courier New" panose="02070309020205020404" pitchFamily="49" charset="0"/>
                <a:ea typeface="Courier" panose="02020500000000000000" pitchFamily="18" charset="0"/>
                <a:cs typeface="Courier New" panose="02070309020205020404" pitchFamily="49" charset="0"/>
              </a:rPr>
              <a:t>long</a:t>
            </a:r>
            <a:r>
              <a:rPr lang="en-US" dirty="0"/>
              <a:t> </a:t>
            </a:r>
            <a:r>
              <a:rPr lang="en-US" dirty="0">
                <a:latin typeface="Courier New" panose="02070309020205020404" pitchFamily="49" charset="0"/>
                <a:ea typeface="Courier" panose="02020500000000000000" pitchFamily="18" charset="0"/>
                <a:cs typeface="Courier New" panose="02070309020205020404" pitchFamily="49" charset="0"/>
              </a:rPr>
              <a:t>n=120;</a:t>
            </a:r>
          </a:p>
          <a:p>
            <a:pPr marL="0" indent="0" algn="just">
              <a:lnSpc>
                <a:spcPts val="3500"/>
              </a:lnSpc>
              <a:spcBef>
                <a:spcPts val="300"/>
              </a:spcBef>
              <a:spcAft>
                <a:spcPts val="300"/>
              </a:spcAft>
              <a:buNone/>
            </a:pPr>
            <a:r>
              <a:rPr lang="en-US" dirty="0">
                <a:latin typeface="Courier New" panose="02070309020205020404" pitchFamily="49" charset="0"/>
                <a:ea typeface="Courier" panose="02020500000000000000" pitchFamily="18" charset="0"/>
                <a:cs typeface="Courier New" panose="02070309020205020404" pitchFamily="49" charset="0"/>
              </a:rPr>
              <a:t> int</a:t>
            </a:r>
            <a:r>
              <a:rPr lang="en-US" dirty="0"/>
              <a:t> </a:t>
            </a:r>
            <a:r>
              <a:rPr lang="en-US" dirty="0">
                <a:latin typeface="Courier New" panose="02070309020205020404" pitchFamily="49" charset="0"/>
                <a:ea typeface="Courier" panose="02020500000000000000" pitchFamily="18" charset="0"/>
                <a:cs typeface="Courier New" panose="02070309020205020404" pitchFamily="49" charset="0"/>
              </a:rPr>
              <a:t>k </a:t>
            </a:r>
            <a:r>
              <a:rPr lang="en-US" dirty="0"/>
              <a:t>= (</a:t>
            </a:r>
            <a:r>
              <a:rPr lang="en-US" dirty="0">
                <a:latin typeface="Courier New" panose="02070309020205020404" pitchFamily="49" charset="0"/>
                <a:ea typeface="Courier" panose="02020500000000000000" pitchFamily="18" charset="0"/>
                <a:cs typeface="Courier New" panose="02070309020205020404" pitchFamily="49" charset="0"/>
              </a:rPr>
              <a:t>int</a:t>
            </a:r>
            <a:r>
              <a:rPr lang="en-US" dirty="0"/>
              <a:t>)</a:t>
            </a:r>
            <a:r>
              <a:rPr lang="en-US" dirty="0">
                <a:latin typeface="Courier New" panose="02070309020205020404" pitchFamily="49" charset="0"/>
                <a:ea typeface="Courier" panose="02020500000000000000" pitchFamily="18" charset="0"/>
                <a:cs typeface="Courier New" panose="02070309020205020404" pitchFamily="49" charset="0"/>
              </a:rPr>
              <a:t>N</a:t>
            </a:r>
            <a:r>
              <a:rPr lang="en-US" dirty="0"/>
              <a:t>; // Ép kiểu </a:t>
            </a:r>
            <a:r>
              <a:rPr lang="en-US" dirty="0">
                <a:latin typeface="Courier New" panose="02070309020205020404" pitchFamily="49" charset="0"/>
                <a:ea typeface="Courier" panose="02020500000000000000" pitchFamily="18" charset="0"/>
                <a:cs typeface="Courier New" panose="02070309020205020404" pitchFamily="49" charset="0"/>
              </a:rPr>
              <a:t>long</a:t>
            </a:r>
            <a:r>
              <a:rPr lang="en-US" dirty="0"/>
              <a:t> về kiểu </a:t>
            </a:r>
            <a:r>
              <a:rPr lang="en-US" dirty="0">
                <a:latin typeface="Courier New" panose="02070309020205020404" pitchFamily="49" charset="0"/>
                <a:ea typeface="Courier" panose="02020500000000000000" pitchFamily="18" charset="0"/>
                <a:cs typeface="Courier New" panose="02070309020205020404" pitchFamily="49" charset="0"/>
              </a:rPr>
              <a:t>int</a:t>
            </a:r>
          </a:p>
          <a:p>
            <a:pPr marL="3144838" indent="-3144838" algn="just">
              <a:lnSpc>
                <a:spcPts val="3500"/>
              </a:lnSpc>
              <a:spcBef>
                <a:spcPts val="300"/>
              </a:spcBef>
              <a:spcAft>
                <a:spcPts val="300"/>
              </a:spcAft>
              <a:buNone/>
            </a:pPr>
            <a:r>
              <a:rPr lang="en-US" dirty="0">
                <a:latin typeface="Courier New" panose="02070309020205020404" pitchFamily="49" charset="0"/>
                <a:ea typeface="Courier" panose="02020500000000000000" pitchFamily="18" charset="0"/>
                <a:cs typeface="Courier New" panose="02070309020205020404" pitchFamily="49" charset="0"/>
              </a:rPr>
              <a:t> float</a:t>
            </a:r>
            <a:r>
              <a:rPr lang="en-US" dirty="0"/>
              <a:t> </a:t>
            </a:r>
            <a:r>
              <a:rPr lang="en-US" dirty="0">
                <a:latin typeface="Courier New" panose="02070309020205020404" pitchFamily="49" charset="0"/>
                <a:ea typeface="Courier" panose="02020500000000000000" pitchFamily="18" charset="0"/>
                <a:cs typeface="Courier New" panose="02070309020205020404" pitchFamily="49" charset="0"/>
              </a:rPr>
              <a:t>f </a:t>
            </a:r>
            <a:r>
              <a:rPr lang="en-US" dirty="0"/>
              <a:t>= 2.5f; // </a:t>
            </a:r>
            <a:r>
              <a:rPr lang="en-US" spc="-70" dirty="0"/>
              <a:t>Ép 2.5 mặc định kiểu </a:t>
            </a:r>
            <a:r>
              <a:rPr lang="en-US" spc="-70" dirty="0">
                <a:latin typeface="Courier New" panose="02070309020205020404" pitchFamily="49" charset="0"/>
                <a:ea typeface="Courier" panose="02020500000000000000" pitchFamily="18" charset="0"/>
                <a:cs typeface="Courier New" panose="02070309020205020404" pitchFamily="49" charset="0"/>
              </a:rPr>
              <a:t>double</a:t>
            </a:r>
            <a:r>
              <a:rPr lang="en-US" spc="-70" dirty="0"/>
              <a:t> về </a:t>
            </a:r>
            <a:r>
              <a:rPr lang="en-US" spc="-70" dirty="0">
                <a:latin typeface="Courier New" panose="02070309020205020404" pitchFamily="49" charset="0"/>
                <a:ea typeface="Courier" panose="02020500000000000000" pitchFamily="18" charset="0"/>
                <a:cs typeface="Courier New" panose="02070309020205020404" pitchFamily="49" charset="0"/>
              </a:rPr>
              <a:t>float</a:t>
            </a:r>
          </a:p>
          <a:p>
            <a:pPr marL="3200400" indent="-3200400" algn="just">
              <a:lnSpc>
                <a:spcPts val="3500"/>
              </a:lnSpc>
              <a:spcBef>
                <a:spcPts val="300"/>
              </a:spcBef>
              <a:spcAft>
                <a:spcPts val="300"/>
              </a:spcAft>
              <a:buNone/>
            </a:pPr>
            <a:r>
              <a:rPr lang="en-US" dirty="0">
                <a:latin typeface="Courier New" panose="02070309020205020404" pitchFamily="49" charset="0"/>
                <a:ea typeface="Courier" panose="02020500000000000000" pitchFamily="18" charset="0"/>
                <a:cs typeface="Courier New" panose="02070309020205020404" pitchFamily="49" charset="0"/>
              </a:rPr>
              <a:t> cb = (CanBo)ns</a:t>
            </a:r>
            <a:r>
              <a:rPr lang="en-US" dirty="0"/>
              <a:t>; // Ép </a:t>
            </a:r>
            <a:r>
              <a:rPr lang="en-US" dirty="0">
                <a:latin typeface="Courier New" panose="02070309020205020404" pitchFamily="49" charset="0"/>
                <a:ea typeface="Courier" panose="02020500000000000000" pitchFamily="18" charset="0"/>
                <a:cs typeface="Courier New" panose="02070309020205020404" pitchFamily="49" charset="0"/>
              </a:rPr>
              <a:t>ns</a:t>
            </a:r>
            <a:r>
              <a:rPr lang="en-US" dirty="0"/>
              <a:t> là đối tượng của  lớp </a:t>
            </a:r>
            <a:r>
              <a:rPr lang="en-US" dirty="0">
                <a:latin typeface="Courier New" panose="02070309020205020404" pitchFamily="49" charset="0"/>
                <a:ea typeface="Courier" panose="02020500000000000000" pitchFamily="18" charset="0"/>
                <a:cs typeface="Courier New" panose="02070309020205020404" pitchFamily="49" charset="0"/>
              </a:rPr>
              <a:t>NhanSu</a:t>
            </a:r>
            <a:r>
              <a:rPr lang="en-US" dirty="0"/>
              <a:t> về lớp </a:t>
            </a:r>
            <a:r>
              <a:rPr lang="en-US" dirty="0">
                <a:latin typeface="Courier New" panose="02070309020205020404" pitchFamily="49" charset="0"/>
                <a:ea typeface="Courier" panose="02020500000000000000" pitchFamily="18" charset="0"/>
                <a:cs typeface="Courier New" panose="02070309020205020404" pitchFamily="49" charset="0"/>
              </a:rPr>
              <a:t>CanBo</a:t>
            </a:r>
            <a:r>
              <a:rPr lang="en-US" dirty="0"/>
              <a:t>.</a:t>
            </a:r>
            <a:endParaRPr lang="en-US" sz="2400" dirty="0"/>
          </a:p>
          <a:p>
            <a:pPr lvl="1" algn="just">
              <a:lnSpc>
                <a:spcPts val="3400"/>
              </a:lnSpc>
              <a:spcBef>
                <a:spcPts val="300"/>
              </a:spcBef>
              <a:spcAft>
                <a:spcPts val="300"/>
              </a:spcAft>
            </a:pPr>
            <a:endParaRPr lang="en-US" sz="2800" b="1" dirty="0">
              <a:latin typeface="Courier New" panose="02070309020205020404" pitchFamily="49" charset="0"/>
              <a:ea typeface="Courier" panose="02020500000000000000" pitchFamily="18" charset="0"/>
              <a:cs typeface="Courier New" panose="02070309020205020404" pitchFamily="49" charset="0"/>
            </a:endParaRPr>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10</a:t>
            </a:fld>
            <a:endParaRPr lang="en-US"/>
          </a:p>
        </p:txBody>
      </p:sp>
    </p:spTree>
    <p:extLst>
      <p:ext uri="{BB962C8B-B14F-4D97-AF65-F5344CB8AC3E}">
        <p14:creationId xmlns:p14="http://schemas.microsoft.com/office/powerpoint/2010/main" val="64117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quy tắc chuyển kiểu dữ liệu</a:t>
            </a:r>
          </a:p>
        </p:txBody>
      </p:sp>
      <p:sp>
        <p:nvSpPr>
          <p:cNvPr id="3" name="Content Placeholder 2"/>
          <p:cNvSpPr>
            <a:spLocks noGrp="1"/>
          </p:cNvSpPr>
          <p:nvPr>
            <p:ph idx="1"/>
          </p:nvPr>
        </p:nvSpPr>
        <p:spPr>
          <a:xfrm>
            <a:off x="412595" y="1273835"/>
            <a:ext cx="8102755" cy="5283082"/>
          </a:xfrm>
        </p:spPr>
        <p:txBody>
          <a:bodyPr>
            <a:noAutofit/>
          </a:bodyPr>
          <a:lstStyle/>
          <a:p>
            <a:pPr marL="290513" lvl="1" indent="-290513" algn="just">
              <a:lnSpc>
                <a:spcPts val="3300"/>
              </a:lnSpc>
              <a:spcBef>
                <a:spcPts val="0"/>
              </a:spcBef>
              <a:buFont typeface="Arial" panose="020B0604020202020204" pitchFamily="34" charset="0"/>
              <a:buChar char="•"/>
            </a:pPr>
            <a:r>
              <a:rPr lang="en-US" sz="2800" b="1" i="1" dirty="0">
                <a:ea typeface="Courier" panose="02020500000000000000" pitchFamily="18" charset="0"/>
                <a:cs typeface="Courier New" panose="02070309020205020404" pitchFamily="49" charset="0"/>
              </a:rPr>
              <a:t>Lưu ý:</a:t>
            </a:r>
          </a:p>
          <a:p>
            <a:pPr marL="512763" lvl="2" indent="-222250" algn="just">
              <a:lnSpc>
                <a:spcPts val="3500"/>
              </a:lnSpc>
              <a:spcBef>
                <a:spcPts val="300"/>
              </a:spcBef>
              <a:spcAft>
                <a:spcPts val="300"/>
              </a:spcAft>
              <a:buFont typeface="Arial" panose="020B0604020202020204" pitchFamily="34" charset="0"/>
              <a:buChar char="•"/>
            </a:pPr>
            <a:r>
              <a:rPr lang="en-US" sz="2800" dirty="0"/>
              <a:t>Không cho phép chuyển đổi giữa các kiểu nguyên thủy với kiểu tham chiếu. </a:t>
            </a:r>
          </a:p>
          <a:p>
            <a:pPr marL="0" lvl="2" indent="290513" algn="just">
              <a:lnSpc>
                <a:spcPts val="3500"/>
              </a:lnSpc>
              <a:spcBef>
                <a:spcPts val="300"/>
              </a:spcBef>
              <a:spcAft>
                <a:spcPts val="300"/>
              </a:spcAft>
              <a:buNone/>
            </a:pPr>
            <a:r>
              <a:rPr lang="en-US" sz="2800" i="1" dirty="0"/>
              <a:t>Ví dụ:</a:t>
            </a:r>
            <a:r>
              <a:rPr lang="en-US" sz="2800" dirty="0"/>
              <a:t> kiểu </a:t>
            </a:r>
            <a:r>
              <a:rPr lang="en-US" sz="2800" b="1" dirty="0"/>
              <a:t>double </a:t>
            </a:r>
            <a:r>
              <a:rPr lang="en-US" sz="2800" dirty="0"/>
              <a:t>không thể ép sang các kiểu lớp như </a:t>
            </a:r>
            <a:r>
              <a:rPr lang="en-US" sz="2800" b="1" dirty="0"/>
              <a:t>CanBo</a:t>
            </a:r>
            <a:r>
              <a:rPr lang="en-US" sz="2800" dirty="0"/>
              <a:t> và ngược lại.</a:t>
            </a:r>
          </a:p>
          <a:p>
            <a:pPr marL="512763" lvl="2" indent="-222250" algn="just">
              <a:lnSpc>
                <a:spcPts val="3500"/>
              </a:lnSpc>
              <a:spcBef>
                <a:spcPts val="300"/>
              </a:spcBef>
              <a:spcAft>
                <a:spcPts val="300"/>
              </a:spcAft>
              <a:buFont typeface="Arial" panose="020B0604020202020204" pitchFamily="34" charset="0"/>
              <a:buChar char="•"/>
            </a:pPr>
            <a:r>
              <a:rPr lang="en-US" sz="2800" dirty="0"/>
              <a:t>Kiểu giá trị boolean (logic) không thể chuyển sang các kiểu dữ liệu khác và ngược lại.</a:t>
            </a:r>
          </a:p>
          <a:p>
            <a:pPr marL="512763" lvl="2" indent="-222250" algn="just">
              <a:lnSpc>
                <a:spcPts val="3500"/>
              </a:lnSpc>
              <a:spcBef>
                <a:spcPts val="300"/>
              </a:spcBef>
              <a:spcAft>
                <a:spcPts val="300"/>
              </a:spcAft>
              <a:buFont typeface="Arial" panose="020B0604020202020204" pitchFamily="34" charset="0"/>
              <a:buChar char="•"/>
            </a:pPr>
            <a:r>
              <a:rPr lang="en-US" sz="2800" dirty="0"/>
              <a:t>Ghép các xâu kết hợp các đối tượng của lớp String và các kiểu dữ liệu khác.</a:t>
            </a:r>
          </a:p>
          <a:p>
            <a:pPr marL="623888" lvl="3" indent="0" algn="just">
              <a:lnSpc>
                <a:spcPts val="3300"/>
              </a:lnSpc>
              <a:spcBef>
                <a:spcPts val="0"/>
              </a:spcBef>
              <a:buNone/>
            </a:pPr>
            <a:endParaRPr lang="en-US" dirty="0"/>
          </a:p>
          <a:p>
            <a:pPr lvl="3" algn="just">
              <a:lnSpc>
                <a:spcPts val="3400"/>
              </a:lnSpc>
              <a:spcBef>
                <a:spcPts val="300"/>
              </a:spcBef>
              <a:spcAft>
                <a:spcPts val="300"/>
              </a:spcAft>
              <a:buFont typeface="Arial" panose="020B0604020202020204" pitchFamily="34" charset="0"/>
              <a:buChar char="•"/>
            </a:pPr>
            <a:endParaRPr lang="en-US" b="1" dirty="0">
              <a:ea typeface="Courier" panose="02020500000000000000" pitchFamily="18" charset="0"/>
              <a:cs typeface="Courier New" panose="02070309020205020404" pitchFamily="49" charset="0"/>
            </a:endParaRPr>
          </a:p>
          <a:p>
            <a:pPr marL="457200" lvl="1" indent="0" algn="just">
              <a:lnSpc>
                <a:spcPts val="3400"/>
              </a:lnSpc>
              <a:spcBef>
                <a:spcPts val="300"/>
              </a:spcBef>
              <a:spcAft>
                <a:spcPts val="300"/>
              </a:spcAft>
              <a:buNone/>
            </a:pPr>
            <a:endParaRPr lang="en-US" sz="2800" b="1" dirty="0">
              <a:ea typeface="Courier" panose="02020500000000000000" pitchFamily="18" charset="0"/>
              <a:cs typeface="Courier New" panose="02070309020205020404" pitchFamily="49" charset="0"/>
            </a:endParaRPr>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11</a:t>
            </a:fld>
            <a:endParaRPr lang="en-US" dirty="0"/>
          </a:p>
        </p:txBody>
      </p:sp>
    </p:spTree>
    <p:extLst>
      <p:ext uri="{BB962C8B-B14F-4D97-AF65-F5344CB8AC3E}">
        <p14:creationId xmlns:p14="http://schemas.microsoft.com/office/powerpoint/2010/main" val="1774202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      </a:t>
            </a:r>
          </a:p>
        </p:txBody>
      </p:sp>
      <p:sp>
        <p:nvSpPr>
          <p:cNvPr id="3" name="Content Placeholder 2"/>
          <p:cNvSpPr>
            <a:spLocks noGrp="1"/>
          </p:cNvSpPr>
          <p:nvPr>
            <p:ph idx="1"/>
          </p:nvPr>
        </p:nvSpPr>
        <p:spPr>
          <a:xfrm>
            <a:off x="628650" y="1284989"/>
            <a:ext cx="7886700" cy="5126964"/>
          </a:xfrm>
        </p:spPr>
        <p:txBody>
          <a:bodyPr>
            <a:noAutofit/>
          </a:bodyPr>
          <a:lstStyle/>
          <a:p>
            <a:pPr algn="just">
              <a:lnSpc>
                <a:spcPts val="3300"/>
              </a:lnSpc>
              <a:spcBef>
                <a:spcPts val="300"/>
              </a:spcBef>
              <a:spcAft>
                <a:spcPts val="300"/>
              </a:spcAft>
            </a:pPr>
            <a:r>
              <a:rPr lang="en-US" dirty="0"/>
              <a:t>Một biến trong lập trình được sử dụng để lưu trữ một giá trị nào đó thông qua tên biến và có thể thay đổi giá trị của biến thông qua phép gán. Mỗi biến có kiểu dữ liệu riêng.</a:t>
            </a:r>
          </a:p>
          <a:p>
            <a:pPr algn="just">
              <a:lnSpc>
                <a:spcPts val="3300"/>
              </a:lnSpc>
              <a:spcBef>
                <a:spcPts val="300"/>
              </a:spcBef>
              <a:spcAft>
                <a:spcPts val="300"/>
              </a:spcAft>
            </a:pPr>
            <a:r>
              <a:rPr lang="en-US" dirty="0"/>
              <a:t>Ví dụ:</a:t>
            </a:r>
          </a:p>
          <a:p>
            <a:pPr marL="0" indent="457200" algn="just">
              <a:lnSpc>
                <a:spcPts val="2900"/>
              </a:lnSpc>
              <a:spcBef>
                <a:spcPts val="300"/>
              </a:spcBef>
              <a:spcAft>
                <a:spcPts val="300"/>
              </a:spcAft>
              <a:buNone/>
            </a:pPr>
            <a:r>
              <a:rPr lang="en-US" dirty="0">
                <a:latin typeface="Courier New" panose="02070309020205020404" pitchFamily="49" charset="0"/>
                <a:cs typeface="Courier New" panose="02070309020205020404" pitchFamily="49" charset="0"/>
              </a:rPr>
              <a:t>public class MyClass{</a:t>
            </a:r>
          </a:p>
          <a:p>
            <a:pPr marL="1371600" indent="-914400" algn="just">
              <a:lnSpc>
                <a:spcPts val="2900"/>
              </a:lnSpc>
              <a:spcBef>
                <a:spcPts val="300"/>
              </a:spcBef>
              <a:spcAft>
                <a:spcPts val="300"/>
              </a:spcAft>
              <a:buNone/>
            </a:pPr>
            <a:r>
              <a:rPr lang="en-US" spc="-170" dirty="0">
                <a:latin typeface="Courier New" panose="02070309020205020404" pitchFamily="49" charset="0"/>
                <a:cs typeface="Courier New" panose="02070309020205020404" pitchFamily="49" charset="0"/>
              </a:rPr>
              <a:t>public static void main(String[]args) </a:t>
            </a:r>
          </a:p>
          <a:p>
            <a:pPr marL="1371600" indent="-914400" algn="just">
              <a:lnSpc>
                <a:spcPts val="2900"/>
              </a:lnSpc>
              <a:spcBef>
                <a:spcPts val="300"/>
              </a:spcBef>
              <a:spcAft>
                <a:spcPts val="300"/>
              </a:spcAft>
              <a:buNone/>
            </a:pPr>
            <a:r>
              <a:rPr lang="en-US" dirty="0">
                <a:latin typeface="Courier New" panose="02070309020205020404" pitchFamily="49" charset="0"/>
                <a:cs typeface="Courier New" panose="02070309020205020404" pitchFamily="49" charset="0"/>
              </a:rPr>
              <a:t>{ int a = 5;int b = 7;</a:t>
            </a:r>
          </a:p>
          <a:p>
            <a:pPr marL="0" indent="457200" algn="just">
              <a:lnSpc>
                <a:spcPts val="2900"/>
              </a:lnSpc>
              <a:spcBef>
                <a:spcPts val="300"/>
              </a:spcBef>
              <a:spcAft>
                <a:spcPts val="300"/>
              </a:spcAft>
              <a:buNone/>
            </a:pPr>
            <a:r>
              <a:rPr lang="en-US" dirty="0">
                <a:latin typeface="Courier New" panose="02070309020205020404" pitchFamily="49" charset="0"/>
                <a:cs typeface="Courier New" panose="02070309020205020404" pitchFamily="49" charset="0"/>
              </a:rPr>
              <a:t>int c = a + b;</a:t>
            </a:r>
          </a:p>
          <a:p>
            <a:pPr marL="0" indent="457200" algn="just">
              <a:lnSpc>
                <a:spcPts val="2900"/>
              </a:lnSpc>
              <a:spcBef>
                <a:spcPts val="300"/>
              </a:spcBef>
              <a:spcAft>
                <a:spcPts val="300"/>
              </a:spcAft>
              <a:buNone/>
            </a:pPr>
            <a:r>
              <a:rPr lang="en-US" spc="-90" dirty="0">
                <a:latin typeface="Courier New" panose="02070309020205020404" pitchFamily="49" charset="0"/>
                <a:cs typeface="Courier New" panose="02070309020205020404" pitchFamily="49" charset="0"/>
              </a:rPr>
              <a:t>System.out.println(“Tổng:” + c);</a:t>
            </a:r>
          </a:p>
          <a:p>
            <a:pPr marL="0" indent="457200" algn="just">
              <a:lnSpc>
                <a:spcPts val="2900"/>
              </a:lnSpc>
              <a:spcBef>
                <a:spcPts val="300"/>
              </a:spcBef>
              <a:spcAft>
                <a:spcPts val="300"/>
              </a:spcAft>
              <a:buNone/>
            </a:pPr>
            <a:r>
              <a:rPr lang="en-US" dirty="0">
                <a:latin typeface="Courier New" panose="02070309020205020404" pitchFamily="49" charset="0"/>
                <a:cs typeface="Courier New" panose="02070309020205020404" pitchFamily="49" charset="0"/>
              </a:rPr>
              <a:t>}</a:t>
            </a:r>
          </a:p>
          <a:p>
            <a:pPr marL="0" indent="457200" algn="just">
              <a:lnSpc>
                <a:spcPts val="2900"/>
              </a:lnSpc>
              <a:spcBef>
                <a:spcPts val="300"/>
              </a:spcBef>
              <a:spcAft>
                <a:spcPts val="300"/>
              </a:spcAft>
              <a:buNone/>
            </a:pPr>
            <a:r>
              <a:rPr lang="en-US" dirty="0">
                <a:latin typeface="Courier New" panose="02070309020205020404" pitchFamily="49" charset="0"/>
                <a:cs typeface="Courier New" panose="02070309020205020404" pitchFamily="49" charset="0"/>
              </a:rPr>
              <a:t>}</a:t>
            </a:r>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12</a:t>
            </a:fld>
            <a:endParaRPr lang="en-US"/>
          </a:p>
        </p:txBody>
      </p:sp>
    </p:spTree>
    <p:extLst>
      <p:ext uri="{BB962C8B-B14F-4D97-AF65-F5344CB8AC3E}">
        <p14:creationId xmlns:p14="http://schemas.microsoft.com/office/powerpoint/2010/main" val="1235430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500"/>
              </a:lnSpc>
              <a:spcBef>
                <a:spcPts val="300"/>
              </a:spcBef>
              <a:spcAft>
                <a:spcPts val="300"/>
              </a:spcAft>
            </a:pPr>
            <a:r>
              <a:rPr lang="en-US" b="1" dirty="0"/>
              <a:t>Cú pháp:</a:t>
            </a:r>
          </a:p>
          <a:p>
            <a:pPr marL="0" indent="0" algn="ctr">
              <a:lnSpc>
                <a:spcPts val="3500"/>
              </a:lnSpc>
              <a:spcBef>
                <a:spcPts val="300"/>
              </a:spcBef>
              <a:spcAft>
                <a:spcPts val="300"/>
              </a:spcAft>
              <a:buNone/>
            </a:pPr>
            <a:r>
              <a:rPr lang="en-US" b="1" dirty="0"/>
              <a:t>&lt;kiểu dữ liệu&gt; &lt;tên biến&gt; [=giá trị khởi đầu];</a:t>
            </a:r>
            <a:endParaRPr lang="en-US" dirty="0"/>
          </a:p>
          <a:p>
            <a:pPr marL="0" indent="0">
              <a:lnSpc>
                <a:spcPts val="3500"/>
              </a:lnSpc>
              <a:spcBef>
                <a:spcPts val="300"/>
              </a:spcBef>
              <a:spcAft>
                <a:spcPts val="300"/>
              </a:spcAft>
              <a:buNone/>
            </a:pPr>
            <a:r>
              <a:rPr lang="en-US" dirty="0"/>
              <a:t>Ví dụ:</a:t>
            </a:r>
          </a:p>
          <a:p>
            <a:pPr marL="0" indent="0">
              <a:lnSpc>
                <a:spcPts val="3500"/>
              </a:lnSpc>
              <a:spcBef>
                <a:spcPts val="300"/>
              </a:spcBef>
              <a:spcAft>
                <a:spcPts val="300"/>
              </a:spcAft>
              <a:buNone/>
            </a:pPr>
            <a:r>
              <a:rPr lang="en-US" dirty="0">
                <a:latin typeface="Courier New" panose="02070309020205020404" pitchFamily="49" charset="0"/>
                <a:cs typeface="Courier New" panose="02070309020205020404" pitchFamily="49" charset="0"/>
              </a:rPr>
              <a:t>int a;</a:t>
            </a:r>
            <a:r>
              <a:rPr lang="en-US" dirty="0"/>
              <a:t>// khai báo biến không khởi đầu giá trị</a:t>
            </a:r>
          </a:p>
          <a:p>
            <a:pPr marL="0" indent="0">
              <a:lnSpc>
                <a:spcPts val="3500"/>
              </a:lnSpc>
              <a:spcBef>
                <a:spcPts val="300"/>
              </a:spcBef>
              <a:spcAft>
                <a:spcPts val="300"/>
              </a:spcAft>
              <a:buNone/>
            </a:pPr>
            <a:r>
              <a:rPr lang="en-US" dirty="0">
                <a:latin typeface="Courier New" panose="02070309020205020404" pitchFamily="49" charset="0"/>
                <a:cs typeface="Courier New" panose="02070309020205020404" pitchFamily="49" charset="0"/>
              </a:rPr>
              <a:t>double b=5;</a:t>
            </a:r>
            <a:r>
              <a:rPr lang="en-US" dirty="0"/>
              <a:t>// khai báo biến có khởi đầu giá trị</a:t>
            </a:r>
          </a:p>
          <a:p>
            <a:pPr lvl="0" indent="117475">
              <a:lnSpc>
                <a:spcPts val="3500"/>
              </a:lnSpc>
              <a:spcBef>
                <a:spcPts val="300"/>
              </a:spcBef>
              <a:spcAft>
                <a:spcPts val="300"/>
              </a:spcAft>
              <a:buSzPct val="80000"/>
              <a:buFont typeface="Wingdings" panose="05000000000000000000" pitchFamily="2" charset="2"/>
              <a:buChar char="ü"/>
            </a:pPr>
            <a:r>
              <a:rPr lang="en-US" i="1" dirty="0"/>
              <a:t>Khai báo nhiều biến cùng kiểu</a:t>
            </a:r>
            <a:endParaRPr lang="en-US" dirty="0"/>
          </a:p>
          <a:p>
            <a:pPr marL="0" indent="0">
              <a:lnSpc>
                <a:spcPts val="3500"/>
              </a:lnSpc>
              <a:spcBef>
                <a:spcPts val="300"/>
              </a:spcBef>
              <a:spcAft>
                <a:spcPts val="300"/>
              </a:spcAft>
              <a:buNone/>
            </a:pPr>
            <a:r>
              <a:rPr lang="en-US" dirty="0">
                <a:latin typeface="Courier New" panose="02070309020205020404" pitchFamily="49" charset="0"/>
                <a:cs typeface="Courier New" panose="02070309020205020404" pitchFamily="49" charset="0"/>
              </a:rPr>
              <a:t>	int a, b=5, c;</a:t>
            </a:r>
          </a:p>
          <a:p>
            <a:pPr indent="61913">
              <a:lnSpc>
                <a:spcPts val="3500"/>
              </a:lnSpc>
              <a:spcBef>
                <a:spcPts val="300"/>
              </a:spcBef>
              <a:spcAft>
                <a:spcPts val="300"/>
              </a:spcAft>
              <a:buSzPct val="80000"/>
              <a:buFont typeface="Wingdings" panose="05000000000000000000" pitchFamily="2" charset="2"/>
              <a:buChar char="ü"/>
            </a:pPr>
            <a:r>
              <a:rPr lang="en-US" i="1" dirty="0"/>
              <a:t>Gán giá trị cho biến</a:t>
            </a:r>
            <a:endParaRPr lang="en-US" dirty="0"/>
          </a:p>
          <a:p>
            <a:pPr marL="0" indent="0">
              <a:lnSpc>
                <a:spcPts val="3500"/>
              </a:lnSpc>
              <a:spcBef>
                <a:spcPts val="300"/>
              </a:spcBef>
              <a:spcAft>
                <a:spcPts val="300"/>
              </a:spcAft>
              <a:buNone/>
            </a:pPr>
            <a:r>
              <a:rPr lang="en-US" dirty="0">
                <a:latin typeface="Courier New" panose="02070309020205020404" pitchFamily="49" charset="0"/>
                <a:cs typeface="Courier New" panose="02070309020205020404" pitchFamily="49" charset="0"/>
              </a:rPr>
              <a:t>	c=9; a=15;</a:t>
            </a:r>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13</a:t>
            </a:fld>
            <a:endParaRPr lang="en-US" dirty="0"/>
          </a:p>
        </p:txBody>
      </p:sp>
    </p:spTree>
    <p:extLst>
      <p:ext uri="{BB962C8B-B14F-4D97-AF65-F5344CB8AC3E}">
        <p14:creationId xmlns:p14="http://schemas.microsoft.com/office/powerpoint/2010/main" val="2002776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500"/>
              </a:lnSpc>
              <a:spcBef>
                <a:spcPts val="300"/>
              </a:spcBef>
              <a:spcAft>
                <a:spcPts val="300"/>
              </a:spcAft>
            </a:pPr>
            <a:r>
              <a:rPr lang="en-US" b="1" dirty="0"/>
              <a:t>Cách đặt tên biến:</a:t>
            </a:r>
          </a:p>
          <a:p>
            <a:pPr lvl="1" algn="just">
              <a:lnSpc>
                <a:spcPts val="3500"/>
              </a:lnSpc>
              <a:spcBef>
                <a:spcPts val="300"/>
              </a:spcBef>
              <a:spcAft>
                <a:spcPts val="300"/>
              </a:spcAft>
            </a:pPr>
            <a:r>
              <a:rPr lang="en-US" dirty="0"/>
              <a:t>Sử dụng ký tự alphabet, số, $ hoặc gạch dưới (_).  Tên có phân biệt chữ in hoa và chữ thường.</a:t>
            </a:r>
          </a:p>
          <a:p>
            <a:pPr lvl="1" algn="just">
              <a:lnSpc>
                <a:spcPts val="3500"/>
              </a:lnSpc>
              <a:spcBef>
                <a:spcPts val="300"/>
              </a:spcBef>
              <a:spcAft>
                <a:spcPts val="300"/>
              </a:spcAft>
            </a:pPr>
            <a:r>
              <a:rPr lang="en-US" dirty="0"/>
              <a:t>Không bắt đầu bởi số, không dùng từ khóa.</a:t>
            </a:r>
          </a:p>
          <a:p>
            <a:pPr marL="0" lvl="1" indent="457200" algn="just">
              <a:lnSpc>
                <a:spcPts val="3500"/>
              </a:lnSpc>
              <a:spcBef>
                <a:spcPts val="300"/>
              </a:spcBef>
              <a:spcAft>
                <a:spcPts val="300"/>
              </a:spcAft>
              <a:buNone/>
            </a:pPr>
            <a:r>
              <a:rPr lang="en-US" dirty="0">
                <a:solidFill>
                  <a:srgbClr val="C00000"/>
                </a:solidFill>
              </a:rPr>
              <a:t>Từ khóa </a:t>
            </a:r>
            <a:r>
              <a:rPr lang="en-US" dirty="0"/>
              <a:t>là các từ được sử dụng để xây dựng ra ngôn ngữ lập trình Java như bảng dưới đây:</a:t>
            </a:r>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14</a:t>
            </a:fld>
            <a:endParaRPr lang="en-US" dirty="0"/>
          </a:p>
        </p:txBody>
      </p:sp>
    </p:spTree>
    <p:extLst>
      <p:ext uri="{BB962C8B-B14F-4D97-AF65-F5344CB8AC3E}">
        <p14:creationId xmlns:p14="http://schemas.microsoft.com/office/powerpoint/2010/main" val="860406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a:t>
            </a:r>
          </a:p>
        </p:txBody>
      </p:sp>
      <p:sp>
        <p:nvSpPr>
          <p:cNvPr id="4" name="Slide Number Placeholder 3"/>
          <p:cNvSpPr>
            <a:spLocks noGrp="1"/>
          </p:cNvSpPr>
          <p:nvPr>
            <p:ph type="sldNum" sz="quarter" idx="12"/>
          </p:nvPr>
        </p:nvSpPr>
        <p:spPr/>
        <p:txBody>
          <a:bodyPr/>
          <a:lstStyle/>
          <a:p>
            <a:fld id="{DF4C498B-416A-4F27-9E1B-2DAD6BC6C92F}" type="slidenum">
              <a:rPr lang="en-US" smtClean="0"/>
              <a:t>15</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889499703"/>
              </p:ext>
            </p:extLst>
          </p:nvPr>
        </p:nvGraphicFramePr>
        <p:xfrm>
          <a:off x="713985" y="1309318"/>
          <a:ext cx="7465511" cy="5120640"/>
        </p:xfrm>
        <a:graphic>
          <a:graphicData uri="http://schemas.openxmlformats.org/drawingml/2006/table">
            <a:tbl>
              <a:tblPr firstRow="1" bandRow="1">
                <a:tableStyleId>{5940675A-B579-460E-94D1-54222C63F5DA}</a:tableStyleId>
              </a:tblPr>
              <a:tblGrid>
                <a:gridCol w="1565752">
                  <a:extLst>
                    <a:ext uri="{9D8B030D-6E8A-4147-A177-3AD203B41FA5}">
                      <a16:colId xmlns:a16="http://schemas.microsoft.com/office/drawing/2014/main" val="20000"/>
                    </a:ext>
                  </a:extLst>
                </a:gridCol>
                <a:gridCol w="2041743">
                  <a:extLst>
                    <a:ext uri="{9D8B030D-6E8A-4147-A177-3AD203B41FA5}">
                      <a16:colId xmlns:a16="http://schemas.microsoft.com/office/drawing/2014/main" val="20001"/>
                    </a:ext>
                  </a:extLst>
                </a:gridCol>
                <a:gridCol w="2154477">
                  <a:extLst>
                    <a:ext uri="{9D8B030D-6E8A-4147-A177-3AD203B41FA5}">
                      <a16:colId xmlns:a16="http://schemas.microsoft.com/office/drawing/2014/main" val="20002"/>
                    </a:ext>
                  </a:extLst>
                </a:gridCol>
                <a:gridCol w="1703539">
                  <a:extLst>
                    <a:ext uri="{9D8B030D-6E8A-4147-A177-3AD203B41FA5}">
                      <a16:colId xmlns:a16="http://schemas.microsoft.com/office/drawing/2014/main" val="20003"/>
                    </a:ext>
                  </a:extLst>
                </a:gridCol>
              </a:tblGrid>
              <a:tr h="370840">
                <a:tc>
                  <a:txBody>
                    <a:bodyPr/>
                    <a:lstStyle/>
                    <a:p>
                      <a:r>
                        <a:rPr lang="en-US" sz="2200" b="1" dirty="0"/>
                        <a:t>abstract</a:t>
                      </a:r>
                    </a:p>
                  </a:txBody>
                  <a:tcPr/>
                </a:tc>
                <a:tc>
                  <a:txBody>
                    <a:bodyPr/>
                    <a:lstStyle/>
                    <a:p>
                      <a:r>
                        <a:rPr lang="en-US" sz="2200" b="1" dirty="0"/>
                        <a:t>boolean</a:t>
                      </a:r>
                    </a:p>
                  </a:txBody>
                  <a:tcPr/>
                </a:tc>
                <a:tc>
                  <a:txBody>
                    <a:bodyPr/>
                    <a:lstStyle/>
                    <a:p>
                      <a:r>
                        <a:rPr lang="en-US" sz="2200" b="1" dirty="0"/>
                        <a:t>break</a:t>
                      </a:r>
                    </a:p>
                  </a:txBody>
                  <a:tcPr/>
                </a:tc>
                <a:tc>
                  <a:txBody>
                    <a:bodyPr/>
                    <a:lstStyle/>
                    <a:p>
                      <a:r>
                        <a:rPr lang="en-US" sz="2200" b="1" dirty="0"/>
                        <a:t>byte</a:t>
                      </a:r>
                    </a:p>
                  </a:txBody>
                  <a:tcPr/>
                </a:tc>
                <a:extLst>
                  <a:ext uri="{0D108BD9-81ED-4DB2-BD59-A6C34878D82A}">
                    <a16:rowId xmlns:a16="http://schemas.microsoft.com/office/drawing/2014/main" val="10000"/>
                  </a:ext>
                </a:extLst>
              </a:tr>
              <a:tr h="370840">
                <a:tc>
                  <a:txBody>
                    <a:bodyPr/>
                    <a:lstStyle/>
                    <a:p>
                      <a:r>
                        <a:rPr lang="en-US" sz="2200" b="1" dirty="0"/>
                        <a:t>case</a:t>
                      </a:r>
                    </a:p>
                  </a:txBody>
                  <a:tcPr/>
                </a:tc>
                <a:tc>
                  <a:txBody>
                    <a:bodyPr/>
                    <a:lstStyle/>
                    <a:p>
                      <a:r>
                        <a:rPr lang="en-US" sz="2200" b="1" dirty="0"/>
                        <a:t>catch</a:t>
                      </a:r>
                    </a:p>
                  </a:txBody>
                  <a:tcPr/>
                </a:tc>
                <a:tc>
                  <a:txBody>
                    <a:bodyPr/>
                    <a:lstStyle/>
                    <a:p>
                      <a:r>
                        <a:rPr lang="en-US" sz="2200" b="1" dirty="0"/>
                        <a:t>char</a:t>
                      </a:r>
                    </a:p>
                  </a:txBody>
                  <a:tcPr/>
                </a:tc>
                <a:tc>
                  <a:txBody>
                    <a:bodyPr/>
                    <a:lstStyle/>
                    <a:p>
                      <a:r>
                        <a:rPr lang="en-US" sz="2200" b="1" dirty="0"/>
                        <a:t>class</a:t>
                      </a:r>
                    </a:p>
                  </a:txBody>
                  <a:tcPr/>
                </a:tc>
                <a:extLst>
                  <a:ext uri="{0D108BD9-81ED-4DB2-BD59-A6C34878D82A}">
                    <a16:rowId xmlns:a16="http://schemas.microsoft.com/office/drawing/2014/main" val="10001"/>
                  </a:ext>
                </a:extLst>
              </a:tr>
              <a:tr h="370840">
                <a:tc>
                  <a:txBody>
                    <a:bodyPr/>
                    <a:lstStyle/>
                    <a:p>
                      <a:r>
                        <a:rPr lang="en-US" sz="2200" b="1" dirty="0"/>
                        <a:t>const</a:t>
                      </a:r>
                    </a:p>
                  </a:txBody>
                  <a:tcPr/>
                </a:tc>
                <a:tc>
                  <a:txBody>
                    <a:bodyPr/>
                    <a:lstStyle/>
                    <a:p>
                      <a:r>
                        <a:rPr lang="en-US" sz="2200" b="1" dirty="0"/>
                        <a:t>continue</a:t>
                      </a:r>
                    </a:p>
                  </a:txBody>
                  <a:tcPr/>
                </a:tc>
                <a:tc>
                  <a:txBody>
                    <a:bodyPr/>
                    <a:lstStyle/>
                    <a:p>
                      <a:r>
                        <a:rPr lang="en-US" sz="2200" b="1" dirty="0"/>
                        <a:t>default</a:t>
                      </a:r>
                    </a:p>
                  </a:txBody>
                  <a:tcPr/>
                </a:tc>
                <a:tc>
                  <a:txBody>
                    <a:bodyPr/>
                    <a:lstStyle/>
                    <a:p>
                      <a:r>
                        <a:rPr lang="en-US" sz="2200" b="1" dirty="0"/>
                        <a:t>do</a:t>
                      </a:r>
                    </a:p>
                  </a:txBody>
                  <a:tcPr/>
                </a:tc>
                <a:extLst>
                  <a:ext uri="{0D108BD9-81ED-4DB2-BD59-A6C34878D82A}">
                    <a16:rowId xmlns:a16="http://schemas.microsoft.com/office/drawing/2014/main" val="10002"/>
                  </a:ext>
                </a:extLst>
              </a:tr>
              <a:tr h="370840">
                <a:tc>
                  <a:txBody>
                    <a:bodyPr/>
                    <a:lstStyle/>
                    <a:p>
                      <a:r>
                        <a:rPr lang="en-US" sz="2200" b="1" dirty="0"/>
                        <a:t>duoble</a:t>
                      </a:r>
                    </a:p>
                  </a:txBody>
                  <a:tcPr/>
                </a:tc>
                <a:tc>
                  <a:txBody>
                    <a:bodyPr/>
                    <a:lstStyle/>
                    <a:p>
                      <a:r>
                        <a:rPr lang="en-US" sz="2200" b="1" dirty="0"/>
                        <a:t>else</a:t>
                      </a:r>
                    </a:p>
                  </a:txBody>
                  <a:tcPr/>
                </a:tc>
                <a:tc>
                  <a:txBody>
                    <a:bodyPr/>
                    <a:lstStyle/>
                    <a:p>
                      <a:r>
                        <a:rPr lang="en-US" sz="2200" b="1" dirty="0"/>
                        <a:t>extend</a:t>
                      </a:r>
                    </a:p>
                  </a:txBody>
                  <a:tcPr/>
                </a:tc>
                <a:tc>
                  <a:txBody>
                    <a:bodyPr/>
                    <a:lstStyle/>
                    <a:p>
                      <a:r>
                        <a:rPr lang="en-US" sz="2200" b="1" dirty="0"/>
                        <a:t>final</a:t>
                      </a:r>
                    </a:p>
                  </a:txBody>
                  <a:tcPr/>
                </a:tc>
                <a:extLst>
                  <a:ext uri="{0D108BD9-81ED-4DB2-BD59-A6C34878D82A}">
                    <a16:rowId xmlns:a16="http://schemas.microsoft.com/office/drawing/2014/main" val="10003"/>
                  </a:ext>
                </a:extLst>
              </a:tr>
              <a:tr h="370840">
                <a:tc>
                  <a:txBody>
                    <a:bodyPr/>
                    <a:lstStyle/>
                    <a:p>
                      <a:r>
                        <a:rPr lang="en-US" sz="2200" b="1" dirty="0"/>
                        <a:t>finally</a:t>
                      </a:r>
                    </a:p>
                  </a:txBody>
                  <a:tcPr/>
                </a:tc>
                <a:tc>
                  <a:txBody>
                    <a:bodyPr/>
                    <a:lstStyle/>
                    <a:p>
                      <a:r>
                        <a:rPr lang="en-US" sz="2200" b="1" dirty="0"/>
                        <a:t>float</a:t>
                      </a:r>
                    </a:p>
                  </a:txBody>
                  <a:tcPr/>
                </a:tc>
                <a:tc>
                  <a:txBody>
                    <a:bodyPr/>
                    <a:lstStyle/>
                    <a:p>
                      <a:r>
                        <a:rPr lang="en-US" sz="2200" b="1" dirty="0"/>
                        <a:t>for</a:t>
                      </a:r>
                    </a:p>
                  </a:txBody>
                  <a:tcPr/>
                </a:tc>
                <a:tc>
                  <a:txBody>
                    <a:bodyPr/>
                    <a:lstStyle/>
                    <a:p>
                      <a:r>
                        <a:rPr lang="en-US" sz="2200" b="1" dirty="0"/>
                        <a:t>goto</a:t>
                      </a:r>
                    </a:p>
                  </a:txBody>
                  <a:tcPr/>
                </a:tc>
                <a:extLst>
                  <a:ext uri="{0D108BD9-81ED-4DB2-BD59-A6C34878D82A}">
                    <a16:rowId xmlns:a16="http://schemas.microsoft.com/office/drawing/2014/main" val="10004"/>
                  </a:ext>
                </a:extLst>
              </a:tr>
              <a:tr h="370840">
                <a:tc>
                  <a:txBody>
                    <a:bodyPr/>
                    <a:lstStyle/>
                    <a:p>
                      <a:r>
                        <a:rPr lang="en-US" sz="2200" b="1" dirty="0"/>
                        <a:t>if</a:t>
                      </a:r>
                    </a:p>
                  </a:txBody>
                  <a:tcPr/>
                </a:tc>
                <a:tc>
                  <a:txBody>
                    <a:bodyPr/>
                    <a:lstStyle/>
                    <a:p>
                      <a:r>
                        <a:rPr lang="en-US" sz="2200" b="1" dirty="0"/>
                        <a:t>implements</a:t>
                      </a:r>
                    </a:p>
                  </a:txBody>
                  <a:tcPr/>
                </a:tc>
                <a:tc>
                  <a:txBody>
                    <a:bodyPr/>
                    <a:lstStyle/>
                    <a:p>
                      <a:r>
                        <a:rPr lang="en-US" sz="2200" b="1" dirty="0"/>
                        <a:t>import</a:t>
                      </a:r>
                    </a:p>
                  </a:txBody>
                  <a:tcPr/>
                </a:tc>
                <a:tc>
                  <a:txBody>
                    <a:bodyPr/>
                    <a:lstStyle/>
                    <a:p>
                      <a:r>
                        <a:rPr lang="en-US" sz="2200" b="1" dirty="0"/>
                        <a:t>instanceof</a:t>
                      </a:r>
                    </a:p>
                  </a:txBody>
                  <a:tcPr/>
                </a:tc>
                <a:extLst>
                  <a:ext uri="{0D108BD9-81ED-4DB2-BD59-A6C34878D82A}">
                    <a16:rowId xmlns:a16="http://schemas.microsoft.com/office/drawing/2014/main" val="10005"/>
                  </a:ext>
                </a:extLst>
              </a:tr>
              <a:tr h="370840">
                <a:tc>
                  <a:txBody>
                    <a:bodyPr/>
                    <a:lstStyle/>
                    <a:p>
                      <a:r>
                        <a:rPr lang="en-US" sz="2200" b="1" dirty="0"/>
                        <a:t>int</a:t>
                      </a:r>
                    </a:p>
                  </a:txBody>
                  <a:tcPr/>
                </a:tc>
                <a:tc>
                  <a:txBody>
                    <a:bodyPr/>
                    <a:lstStyle/>
                    <a:p>
                      <a:r>
                        <a:rPr lang="en-US" sz="2200" b="1" dirty="0"/>
                        <a:t>interface</a:t>
                      </a:r>
                    </a:p>
                  </a:txBody>
                  <a:tcPr/>
                </a:tc>
                <a:tc>
                  <a:txBody>
                    <a:bodyPr/>
                    <a:lstStyle/>
                    <a:p>
                      <a:r>
                        <a:rPr lang="en-US" sz="2200" b="1" dirty="0"/>
                        <a:t>long</a:t>
                      </a:r>
                    </a:p>
                  </a:txBody>
                  <a:tcPr/>
                </a:tc>
                <a:tc>
                  <a:txBody>
                    <a:bodyPr/>
                    <a:lstStyle/>
                    <a:p>
                      <a:r>
                        <a:rPr lang="en-US" sz="2200" b="1" dirty="0"/>
                        <a:t>native</a:t>
                      </a:r>
                    </a:p>
                  </a:txBody>
                  <a:tcPr/>
                </a:tc>
                <a:extLst>
                  <a:ext uri="{0D108BD9-81ED-4DB2-BD59-A6C34878D82A}">
                    <a16:rowId xmlns:a16="http://schemas.microsoft.com/office/drawing/2014/main" val="10006"/>
                  </a:ext>
                </a:extLst>
              </a:tr>
              <a:tr h="370840">
                <a:tc>
                  <a:txBody>
                    <a:bodyPr/>
                    <a:lstStyle/>
                    <a:p>
                      <a:r>
                        <a:rPr lang="en-US" sz="2200" b="1" dirty="0"/>
                        <a:t>new</a:t>
                      </a:r>
                    </a:p>
                  </a:txBody>
                  <a:tcPr/>
                </a:tc>
                <a:tc>
                  <a:txBody>
                    <a:bodyPr/>
                    <a:lstStyle/>
                    <a:p>
                      <a:r>
                        <a:rPr lang="en-US" sz="2200" b="1" dirty="0"/>
                        <a:t>package</a:t>
                      </a:r>
                    </a:p>
                  </a:txBody>
                  <a:tcPr/>
                </a:tc>
                <a:tc>
                  <a:txBody>
                    <a:bodyPr/>
                    <a:lstStyle/>
                    <a:p>
                      <a:r>
                        <a:rPr lang="en-US" sz="2200" b="1" dirty="0"/>
                        <a:t>private</a:t>
                      </a:r>
                    </a:p>
                  </a:txBody>
                  <a:tcPr/>
                </a:tc>
                <a:tc>
                  <a:txBody>
                    <a:bodyPr/>
                    <a:lstStyle/>
                    <a:p>
                      <a:r>
                        <a:rPr lang="en-US" sz="2200" b="1" dirty="0"/>
                        <a:t>protected</a:t>
                      </a:r>
                    </a:p>
                  </a:txBody>
                  <a:tcPr/>
                </a:tc>
                <a:extLst>
                  <a:ext uri="{0D108BD9-81ED-4DB2-BD59-A6C34878D82A}">
                    <a16:rowId xmlns:a16="http://schemas.microsoft.com/office/drawing/2014/main" val="10007"/>
                  </a:ext>
                </a:extLst>
              </a:tr>
              <a:tr h="370840">
                <a:tc>
                  <a:txBody>
                    <a:bodyPr/>
                    <a:lstStyle/>
                    <a:p>
                      <a:r>
                        <a:rPr lang="en-US" sz="2200" b="1" dirty="0"/>
                        <a:t>public</a:t>
                      </a:r>
                    </a:p>
                  </a:txBody>
                  <a:tcPr/>
                </a:tc>
                <a:tc>
                  <a:txBody>
                    <a:bodyPr/>
                    <a:lstStyle/>
                    <a:p>
                      <a:r>
                        <a:rPr lang="en-US" sz="2200" b="1" dirty="0"/>
                        <a:t>return</a:t>
                      </a:r>
                    </a:p>
                  </a:txBody>
                  <a:tcPr/>
                </a:tc>
                <a:tc>
                  <a:txBody>
                    <a:bodyPr/>
                    <a:lstStyle/>
                    <a:p>
                      <a:r>
                        <a:rPr lang="en-US" sz="2200" b="1" dirty="0"/>
                        <a:t>short</a:t>
                      </a:r>
                    </a:p>
                  </a:txBody>
                  <a:tcPr/>
                </a:tc>
                <a:tc>
                  <a:txBody>
                    <a:bodyPr/>
                    <a:lstStyle/>
                    <a:p>
                      <a:r>
                        <a:rPr lang="en-US" sz="2200" b="1" dirty="0"/>
                        <a:t>static</a:t>
                      </a:r>
                    </a:p>
                  </a:txBody>
                  <a:tcPr/>
                </a:tc>
                <a:extLst>
                  <a:ext uri="{0D108BD9-81ED-4DB2-BD59-A6C34878D82A}">
                    <a16:rowId xmlns:a16="http://schemas.microsoft.com/office/drawing/2014/main" val="10008"/>
                  </a:ext>
                </a:extLst>
              </a:tr>
              <a:tr h="370840">
                <a:tc>
                  <a:txBody>
                    <a:bodyPr/>
                    <a:lstStyle/>
                    <a:p>
                      <a:r>
                        <a:rPr lang="en-US" sz="2200" b="1" dirty="0"/>
                        <a:t>super</a:t>
                      </a:r>
                    </a:p>
                  </a:txBody>
                  <a:tcPr/>
                </a:tc>
                <a:tc>
                  <a:txBody>
                    <a:bodyPr/>
                    <a:lstStyle/>
                    <a:p>
                      <a:r>
                        <a:rPr lang="en-US" sz="2200" b="1" dirty="0"/>
                        <a:t>switch</a:t>
                      </a:r>
                    </a:p>
                  </a:txBody>
                  <a:tcPr/>
                </a:tc>
                <a:tc>
                  <a:txBody>
                    <a:bodyPr/>
                    <a:lstStyle/>
                    <a:p>
                      <a:r>
                        <a:rPr lang="en-US" sz="2200" b="1" dirty="0"/>
                        <a:t>synchronized</a:t>
                      </a:r>
                    </a:p>
                  </a:txBody>
                  <a:tcPr/>
                </a:tc>
                <a:tc>
                  <a:txBody>
                    <a:bodyPr/>
                    <a:lstStyle/>
                    <a:p>
                      <a:r>
                        <a:rPr lang="en-US" sz="2200" b="1" dirty="0"/>
                        <a:t>this</a:t>
                      </a:r>
                    </a:p>
                  </a:txBody>
                  <a:tcPr/>
                </a:tc>
                <a:extLst>
                  <a:ext uri="{0D108BD9-81ED-4DB2-BD59-A6C34878D82A}">
                    <a16:rowId xmlns:a16="http://schemas.microsoft.com/office/drawing/2014/main" val="10009"/>
                  </a:ext>
                </a:extLst>
              </a:tr>
              <a:tr h="370840">
                <a:tc>
                  <a:txBody>
                    <a:bodyPr/>
                    <a:lstStyle/>
                    <a:p>
                      <a:r>
                        <a:rPr lang="en-US" sz="2200" b="1" dirty="0"/>
                        <a:t>throw</a:t>
                      </a:r>
                    </a:p>
                  </a:txBody>
                  <a:tcPr/>
                </a:tc>
                <a:tc>
                  <a:txBody>
                    <a:bodyPr/>
                    <a:lstStyle/>
                    <a:p>
                      <a:r>
                        <a:rPr lang="en-US" sz="2200" b="1" dirty="0"/>
                        <a:t>throws</a:t>
                      </a:r>
                    </a:p>
                  </a:txBody>
                  <a:tcPr/>
                </a:tc>
                <a:tc>
                  <a:txBody>
                    <a:bodyPr/>
                    <a:lstStyle/>
                    <a:p>
                      <a:r>
                        <a:rPr lang="en-US" sz="2200" b="1" dirty="0"/>
                        <a:t>transient</a:t>
                      </a:r>
                    </a:p>
                  </a:txBody>
                  <a:tcPr/>
                </a:tc>
                <a:tc>
                  <a:txBody>
                    <a:bodyPr/>
                    <a:lstStyle/>
                    <a:p>
                      <a:r>
                        <a:rPr lang="en-US" sz="2200" b="1" dirty="0"/>
                        <a:t>try</a:t>
                      </a:r>
                    </a:p>
                  </a:txBody>
                  <a:tcPr/>
                </a:tc>
                <a:extLst>
                  <a:ext uri="{0D108BD9-81ED-4DB2-BD59-A6C34878D82A}">
                    <a16:rowId xmlns:a16="http://schemas.microsoft.com/office/drawing/2014/main" val="10010"/>
                  </a:ext>
                </a:extLst>
              </a:tr>
              <a:tr h="370840">
                <a:tc>
                  <a:txBody>
                    <a:bodyPr/>
                    <a:lstStyle/>
                    <a:p>
                      <a:r>
                        <a:rPr lang="en-US" sz="2200" b="1" dirty="0"/>
                        <a:t>void</a:t>
                      </a:r>
                    </a:p>
                  </a:txBody>
                  <a:tcPr/>
                </a:tc>
                <a:tc>
                  <a:txBody>
                    <a:bodyPr/>
                    <a:lstStyle/>
                    <a:p>
                      <a:r>
                        <a:rPr lang="en-US" sz="2200" b="1" dirty="0"/>
                        <a:t>volatile</a:t>
                      </a:r>
                    </a:p>
                  </a:txBody>
                  <a:tcPr/>
                </a:tc>
                <a:tc>
                  <a:txBody>
                    <a:bodyPr/>
                    <a:lstStyle/>
                    <a:p>
                      <a:r>
                        <a:rPr lang="en-US" sz="2200" b="1" dirty="0"/>
                        <a:t>while</a:t>
                      </a:r>
                    </a:p>
                  </a:txBody>
                  <a:tcPr/>
                </a:tc>
                <a:tc>
                  <a:txBody>
                    <a:bodyPr/>
                    <a:lstStyle/>
                    <a:p>
                      <a:endParaRPr lang="en-US" sz="2200" b="1"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06828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a:t>
            </a:r>
          </a:p>
        </p:txBody>
      </p:sp>
      <p:sp>
        <p:nvSpPr>
          <p:cNvPr id="3" name="Content Placeholder 2"/>
          <p:cNvSpPr>
            <a:spLocks noGrp="1"/>
          </p:cNvSpPr>
          <p:nvPr>
            <p:ph idx="1"/>
          </p:nvPr>
        </p:nvSpPr>
        <p:spPr>
          <a:xfrm>
            <a:off x="628650" y="1351896"/>
            <a:ext cx="7886700" cy="5126964"/>
          </a:xfrm>
        </p:spPr>
        <p:txBody>
          <a:bodyPr>
            <a:noAutofit/>
          </a:bodyPr>
          <a:lstStyle/>
          <a:p>
            <a:pPr algn="just">
              <a:lnSpc>
                <a:spcPts val="3500"/>
              </a:lnSpc>
              <a:spcBef>
                <a:spcPts val="300"/>
              </a:spcBef>
              <a:spcAft>
                <a:spcPts val="300"/>
              </a:spcAft>
            </a:pPr>
            <a:r>
              <a:rPr lang="en-US" b="1" dirty="0"/>
              <a:t>Các loại biến: </a:t>
            </a:r>
            <a:r>
              <a:rPr lang="en-US" dirty="0"/>
              <a:t>Trong lập trình Java có hai loại biến:</a:t>
            </a:r>
          </a:p>
          <a:p>
            <a:pPr lvl="1" algn="just">
              <a:lnSpc>
                <a:spcPts val="3500"/>
              </a:lnSpc>
              <a:spcBef>
                <a:spcPts val="300"/>
              </a:spcBef>
              <a:spcAft>
                <a:spcPts val="300"/>
              </a:spcAft>
            </a:pPr>
            <a:r>
              <a:rPr lang="en-US" i="1" dirty="0"/>
              <a:t>Biến dữ liệu thành phần lớp:  </a:t>
            </a:r>
            <a:r>
              <a:rPr lang="en-US" dirty="0"/>
              <a:t>các biến khai báo của lớp được sử dụng để lưu trữ các dữ liệu đặc trưng về các thuộc tính của đối tượng. Có hai loại biến thành phần:</a:t>
            </a:r>
          </a:p>
          <a:p>
            <a:pPr lvl="2" algn="just">
              <a:lnSpc>
                <a:spcPts val="3500"/>
              </a:lnSpc>
              <a:spcBef>
                <a:spcPts val="300"/>
              </a:spcBef>
              <a:spcAft>
                <a:spcPts val="300"/>
              </a:spcAft>
            </a:pPr>
            <a:r>
              <a:rPr lang="en-US" dirty="0"/>
              <a:t>Biến khai báo với kiểu dữ liệu nguyên thủy được gọi là biến kiểu nguyên thủy, gọi tắt là biến nguyên thủy;</a:t>
            </a:r>
          </a:p>
          <a:p>
            <a:pPr lvl="2" algn="just">
              <a:lnSpc>
                <a:spcPts val="3500"/>
              </a:lnSpc>
              <a:spcBef>
                <a:spcPts val="300"/>
              </a:spcBef>
              <a:spcAft>
                <a:spcPts val="300"/>
              </a:spcAft>
            </a:pPr>
            <a:r>
              <a:rPr lang="en-US" dirty="0"/>
              <a:t>Biến khai báo với kiểu là lớp được gọi là biến tham chiếu;</a:t>
            </a:r>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16</a:t>
            </a:fld>
            <a:endParaRPr lang="en-US" dirty="0"/>
          </a:p>
        </p:txBody>
      </p:sp>
    </p:spTree>
    <p:extLst>
      <p:ext uri="{BB962C8B-B14F-4D97-AF65-F5344CB8AC3E}">
        <p14:creationId xmlns:p14="http://schemas.microsoft.com/office/powerpoint/2010/main" val="1840183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Biến</a:t>
            </a:r>
          </a:p>
        </p:txBody>
      </p:sp>
      <p:sp>
        <p:nvSpPr>
          <p:cNvPr id="3" name="Content Placeholder 2"/>
          <p:cNvSpPr>
            <a:spLocks noGrp="1"/>
          </p:cNvSpPr>
          <p:nvPr>
            <p:ph idx="1"/>
          </p:nvPr>
        </p:nvSpPr>
        <p:spPr>
          <a:xfrm>
            <a:off x="628650" y="1326995"/>
            <a:ext cx="7886700" cy="5196468"/>
          </a:xfrm>
        </p:spPr>
        <p:txBody>
          <a:bodyPr>
            <a:noAutofit/>
          </a:bodyPr>
          <a:lstStyle/>
          <a:p>
            <a:pPr lvl="1" algn="just">
              <a:lnSpc>
                <a:spcPts val="3300"/>
              </a:lnSpc>
              <a:spcBef>
                <a:spcPts val="300"/>
              </a:spcBef>
              <a:spcAft>
                <a:spcPts val="300"/>
              </a:spcAft>
            </a:pPr>
            <a:r>
              <a:rPr lang="en-US" i="1" dirty="0"/>
              <a:t>Biến cục bộ:</a:t>
            </a:r>
            <a:r>
              <a:rPr lang="en-US" dirty="0"/>
              <a:t> là biến chỉ có truy xuất trong khối lệnh nó được khai báo. Các biến cục bộ có thể là biến kiểu nguyên thủy hoặc biến tham chiếu.</a:t>
            </a:r>
          </a:p>
          <a:p>
            <a:pPr marL="0" indent="166688">
              <a:lnSpc>
                <a:spcPts val="3300"/>
              </a:lnSpc>
              <a:spcBef>
                <a:spcPts val="300"/>
              </a:spcBef>
              <a:spcAft>
                <a:spcPts val="300"/>
              </a:spcAft>
              <a:buNone/>
            </a:pPr>
            <a:r>
              <a:rPr lang="en-US" sz="2600" dirty="0"/>
              <a:t>Cú pháp khai báo biến cục bộ là:</a:t>
            </a:r>
          </a:p>
          <a:p>
            <a:pPr marL="0" indent="0">
              <a:lnSpc>
                <a:spcPts val="3300"/>
              </a:lnSpc>
              <a:spcBef>
                <a:spcPts val="300"/>
              </a:spcBef>
              <a:spcAft>
                <a:spcPts val="300"/>
              </a:spcAft>
              <a:buNone/>
            </a:pPr>
            <a:r>
              <a:rPr lang="en-US" sz="2600" b="1" dirty="0"/>
              <a:t>         [Bổ nghĩa] DataType varName;</a:t>
            </a:r>
          </a:p>
          <a:p>
            <a:pPr marL="0" indent="0">
              <a:lnSpc>
                <a:spcPts val="3300"/>
              </a:lnSpc>
              <a:spcBef>
                <a:spcPts val="300"/>
              </a:spcBef>
              <a:spcAft>
                <a:spcPts val="300"/>
              </a:spcAft>
              <a:buNone/>
            </a:pPr>
            <a:r>
              <a:rPr lang="en-US" sz="2400" dirty="0"/>
              <a:t>Trong đó: </a:t>
            </a:r>
          </a:p>
          <a:p>
            <a:pPr marL="1025525" lvl="0" indent="-333375" algn="just">
              <a:lnSpc>
                <a:spcPts val="3300"/>
              </a:lnSpc>
              <a:spcBef>
                <a:spcPts val="300"/>
              </a:spcBef>
              <a:spcAft>
                <a:spcPts val="300"/>
              </a:spcAft>
              <a:buSzPct val="80000"/>
              <a:buFont typeface="Wingdings" panose="05000000000000000000" pitchFamily="2" charset="2"/>
              <a:buChar char="ü"/>
            </a:pPr>
            <a:r>
              <a:rPr lang="en-US" sz="2400" dirty="0"/>
              <a:t>Tùy chọn</a:t>
            </a:r>
            <a:r>
              <a:rPr lang="en-US" sz="2400" b="1" dirty="0"/>
              <a:t> [Bổ nghĩa]</a:t>
            </a:r>
            <a:r>
              <a:rPr lang="en-US" sz="2400" dirty="0"/>
              <a:t> có thể là </a:t>
            </a:r>
            <a:r>
              <a:rPr lang="en-US" sz="2400" b="1" dirty="0"/>
              <a:t>final </a:t>
            </a:r>
            <a:r>
              <a:rPr lang="en-US" sz="2400" dirty="0"/>
              <a:t>để xác định biến cục bộ </a:t>
            </a:r>
            <a:r>
              <a:rPr lang="en-US" sz="2400" b="1" dirty="0"/>
              <a:t>varName</a:t>
            </a:r>
            <a:r>
              <a:rPr lang="en-US" sz="2400" dirty="0"/>
              <a:t> khi đã gán giá trị thì sẽ trở thành bất biến.</a:t>
            </a:r>
          </a:p>
          <a:p>
            <a:pPr marL="1025525" lvl="0" indent="-333375" algn="just">
              <a:lnSpc>
                <a:spcPts val="3300"/>
              </a:lnSpc>
              <a:spcBef>
                <a:spcPts val="300"/>
              </a:spcBef>
              <a:spcAft>
                <a:spcPts val="300"/>
              </a:spcAft>
              <a:buSzPct val="80000"/>
              <a:buFont typeface="Wingdings" panose="05000000000000000000" pitchFamily="2" charset="2"/>
              <a:buChar char="ü"/>
            </a:pPr>
            <a:r>
              <a:rPr lang="en-US" sz="2400" b="1" dirty="0"/>
              <a:t>DataType </a:t>
            </a:r>
            <a:r>
              <a:rPr lang="en-US" sz="2400" dirty="0"/>
              <a:t>là kiểu dữ liệu của biến.</a:t>
            </a:r>
          </a:p>
          <a:p>
            <a:pPr marL="1025525" lvl="0" indent="-333375" algn="just">
              <a:lnSpc>
                <a:spcPts val="3300"/>
              </a:lnSpc>
              <a:spcBef>
                <a:spcPts val="300"/>
              </a:spcBef>
              <a:spcAft>
                <a:spcPts val="300"/>
              </a:spcAft>
              <a:buSzPct val="80000"/>
              <a:buFont typeface="Wingdings" panose="05000000000000000000" pitchFamily="2" charset="2"/>
              <a:buChar char="ü"/>
            </a:pPr>
            <a:r>
              <a:rPr lang="en-US" sz="2400" b="1" dirty="0"/>
              <a:t>varName</a:t>
            </a:r>
            <a:r>
              <a:rPr lang="en-US" sz="2400" dirty="0"/>
              <a:t> là tên biến cục bộ.</a:t>
            </a:r>
          </a:p>
          <a:p>
            <a:pPr marL="0" indent="0">
              <a:lnSpc>
                <a:spcPts val="3100"/>
              </a:lnSpc>
              <a:spcBef>
                <a:spcPts val="0"/>
              </a:spcBef>
              <a:buNone/>
            </a:pPr>
            <a:endParaRPr lang="en-US" sz="2400" dirty="0"/>
          </a:p>
          <a:p>
            <a:pPr lvl="2" algn="just">
              <a:lnSpc>
                <a:spcPts val="3500"/>
              </a:lnSpc>
              <a:spcBef>
                <a:spcPts val="300"/>
              </a:spcBef>
              <a:spcAft>
                <a:spcPts val="300"/>
              </a:spcAft>
            </a:pPr>
            <a:endParaRPr lang="en-US"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17</a:t>
            </a:fld>
            <a:endParaRPr lang="en-US" dirty="0"/>
          </a:p>
        </p:txBody>
      </p:sp>
    </p:spTree>
    <p:extLst>
      <p:ext uri="{BB962C8B-B14F-4D97-AF65-F5344CB8AC3E}">
        <p14:creationId xmlns:p14="http://schemas.microsoft.com/office/powerpoint/2010/main" val="3494594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400"/>
              </a:lnSpc>
              <a:spcBef>
                <a:spcPts val="300"/>
              </a:spcBef>
              <a:spcAft>
                <a:spcPts val="300"/>
              </a:spcAft>
            </a:pPr>
            <a:r>
              <a:rPr lang="en-US" dirty="0"/>
              <a:t>Các phép toán (operator) kết hợp các giá trị đơn hoặc các biểu thức con thành những biểu thức mới, phức tạp hơn và có thể trả về giá trị. Java đã cài đặt các phép toán:</a:t>
            </a:r>
          </a:p>
          <a:p>
            <a:pPr lvl="1" algn="just">
              <a:lnSpc>
                <a:spcPts val="3400"/>
              </a:lnSpc>
              <a:spcBef>
                <a:spcPts val="300"/>
              </a:spcBef>
              <a:spcAft>
                <a:spcPts val="300"/>
              </a:spcAft>
            </a:pPr>
            <a:r>
              <a:rPr lang="en-US" dirty="0"/>
              <a:t>Một ngôi: tác động vào một đối số.</a:t>
            </a:r>
          </a:p>
          <a:p>
            <a:pPr lvl="1" algn="just">
              <a:lnSpc>
                <a:spcPts val="3400"/>
              </a:lnSpc>
              <a:spcBef>
                <a:spcPts val="300"/>
              </a:spcBef>
              <a:spcAft>
                <a:spcPts val="300"/>
              </a:spcAft>
            </a:pPr>
            <a:r>
              <a:rPr lang="en-US" dirty="0"/>
              <a:t>Hai ngôi: tác động vào hai đối số có kiểu tương thích với nhau về kiểu. Hai kiểu được gọi là tương thích với nhau nếu chúng có thể chuyển đổi về cùng một kiểu một cách ngầm định.</a:t>
            </a:r>
          </a:p>
          <a:p>
            <a:pPr lvl="1" algn="just">
              <a:lnSpc>
                <a:spcPts val="3400"/>
              </a:lnSpc>
              <a:spcBef>
                <a:spcPts val="300"/>
              </a:spcBef>
              <a:spcAft>
                <a:spcPts val="300"/>
              </a:spcAft>
            </a:pPr>
            <a:r>
              <a:rPr lang="en-US" dirty="0"/>
              <a:t>Ba ngôi: có ba đối số; gồm phép </a:t>
            </a:r>
            <a:r>
              <a:rPr lang="en-US" sz="2800" dirty="0"/>
              <a:t>?, :.</a:t>
            </a:r>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18</a:t>
            </a:fld>
            <a:endParaRPr lang="en-US"/>
          </a:p>
        </p:txBody>
      </p:sp>
    </p:spTree>
    <p:extLst>
      <p:ext uri="{BB962C8B-B14F-4D97-AF65-F5344CB8AC3E}">
        <p14:creationId xmlns:p14="http://schemas.microsoft.com/office/powerpoint/2010/main" val="757282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4" name="Slide Number Placeholder 3"/>
          <p:cNvSpPr>
            <a:spLocks noGrp="1"/>
          </p:cNvSpPr>
          <p:nvPr>
            <p:ph type="sldNum" sz="quarter" idx="12"/>
          </p:nvPr>
        </p:nvSpPr>
        <p:spPr/>
        <p:txBody>
          <a:bodyPr/>
          <a:lstStyle/>
          <a:p>
            <a:fld id="{DF4C498B-416A-4F27-9E1B-2DAD6BC6C92F}" type="slidenum">
              <a:rPr lang="en-US" smtClean="0"/>
              <a:t>19</a:t>
            </a:fld>
            <a:endParaRPr lang="en-US"/>
          </a:p>
        </p:txBody>
      </p:sp>
      <p:graphicFrame>
        <p:nvGraphicFramePr>
          <p:cNvPr id="7" name="Diagram 6"/>
          <p:cNvGraphicFramePr/>
          <p:nvPr>
            <p:extLst>
              <p:ext uri="{D42A27DB-BD31-4B8C-83A1-F6EECF244321}">
                <p14:modId xmlns:p14="http://schemas.microsoft.com/office/powerpoint/2010/main" val="3572893413"/>
              </p:ext>
            </p:extLst>
          </p:nvPr>
        </p:nvGraphicFramePr>
        <p:xfrm>
          <a:off x="790222" y="1396999"/>
          <a:ext cx="7725128" cy="4586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p:cNvGrpSpPr/>
          <p:nvPr/>
        </p:nvGrpSpPr>
        <p:grpSpPr>
          <a:xfrm>
            <a:off x="651228" y="3719901"/>
            <a:ext cx="1832328" cy="1292154"/>
            <a:chOff x="2352942" y="2702166"/>
            <a:chExt cx="1898967" cy="1292154"/>
          </a:xfrm>
        </p:grpSpPr>
        <p:sp>
          <p:nvSpPr>
            <p:cNvPr id="9" name="Rectangle 8"/>
            <p:cNvSpPr/>
            <p:nvPr/>
          </p:nvSpPr>
          <p:spPr>
            <a:xfrm>
              <a:off x="2511844" y="2883000"/>
              <a:ext cx="1703868" cy="930486"/>
            </a:xfrm>
            <a:prstGeom prst="rect">
              <a:avLst/>
            </a:prstGeom>
            <a:noFill/>
            <a:ln w="19050"/>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0" name="Rectangle 9"/>
            <p:cNvSpPr/>
            <p:nvPr/>
          </p:nvSpPr>
          <p:spPr>
            <a:xfrm>
              <a:off x="2352942" y="2702166"/>
              <a:ext cx="1898967" cy="12921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2400" b="1" dirty="0"/>
                <a:t> </a:t>
              </a:r>
              <a:r>
                <a:rPr lang="en-US" sz="2400" b="1" kern="1200" spc="-105" dirty="0">
                  <a:solidFill>
                    <a:srgbClr val="FF0000"/>
                  </a:solidFill>
                  <a:latin typeface="Arial"/>
                  <a:cs typeface="Arial"/>
                </a:rPr>
                <a:t>+, </a:t>
              </a:r>
              <a:r>
                <a:rPr lang="en-US" sz="2400" b="1" kern="1200" spc="-50" dirty="0">
                  <a:solidFill>
                    <a:srgbClr val="FF0000"/>
                  </a:solidFill>
                  <a:latin typeface="Arial"/>
                  <a:cs typeface="Arial"/>
                </a:rPr>
                <a:t>-, </a:t>
              </a:r>
              <a:r>
                <a:rPr lang="en-US" sz="2400" b="1" kern="1200" spc="70" dirty="0">
                  <a:solidFill>
                    <a:srgbClr val="FF0000"/>
                  </a:solidFill>
                  <a:latin typeface="Arial"/>
                  <a:cs typeface="Arial"/>
                </a:rPr>
                <a:t>*, /,</a:t>
              </a:r>
              <a:r>
                <a:rPr lang="en-US" sz="2400" b="1" kern="1200" spc="-310" dirty="0">
                  <a:solidFill>
                    <a:srgbClr val="FF0000"/>
                  </a:solidFill>
                  <a:latin typeface="Arial"/>
                  <a:cs typeface="Arial"/>
                </a:rPr>
                <a:t> </a:t>
              </a:r>
              <a:r>
                <a:rPr lang="en-US" sz="2400" b="1" kern="1200" spc="-185" dirty="0">
                  <a:solidFill>
                    <a:srgbClr val="FF0000"/>
                  </a:solidFill>
                  <a:latin typeface="Arial"/>
                  <a:cs typeface="Arial"/>
                </a:rPr>
                <a:t>%,</a:t>
              </a:r>
              <a:endParaRPr lang="en-US" sz="2400" b="1" kern="1200" dirty="0">
                <a:latin typeface="Arial"/>
                <a:cs typeface="Arial"/>
              </a:endParaRPr>
            </a:p>
            <a:p>
              <a:pPr lvl="0" algn="ctr" defTabSz="800100">
                <a:lnSpc>
                  <a:spcPct val="90000"/>
                </a:lnSpc>
                <a:spcBef>
                  <a:spcPct val="0"/>
                </a:spcBef>
                <a:spcAft>
                  <a:spcPct val="35000"/>
                </a:spcAft>
              </a:pPr>
              <a:r>
                <a:rPr lang="en-US" sz="2400" b="1" kern="1200" spc="-120" dirty="0">
                  <a:solidFill>
                    <a:srgbClr val="FF0000"/>
                  </a:solidFill>
                  <a:latin typeface="Arial"/>
                  <a:cs typeface="Arial"/>
                </a:rPr>
                <a:t>++,</a:t>
              </a:r>
              <a:r>
                <a:rPr lang="en-US" sz="2400" b="1" kern="1200" spc="-100" dirty="0">
                  <a:solidFill>
                    <a:srgbClr val="FF0000"/>
                  </a:solidFill>
                  <a:latin typeface="Arial"/>
                  <a:cs typeface="Arial"/>
                </a:rPr>
                <a:t> </a:t>
              </a:r>
              <a:r>
                <a:rPr lang="en-US" sz="2400" b="1" kern="1200" spc="-50" dirty="0">
                  <a:solidFill>
                    <a:srgbClr val="FF0000"/>
                  </a:solidFill>
                  <a:latin typeface="Arial"/>
                  <a:cs typeface="Arial"/>
                </a:rPr>
                <a:t>- -</a:t>
              </a:r>
              <a:r>
                <a:rPr lang="en-US" sz="2400" b="1" kern="1200" dirty="0"/>
                <a:t>học</a:t>
              </a:r>
            </a:p>
          </p:txBody>
        </p:sp>
      </p:grpSp>
      <p:grpSp>
        <p:nvGrpSpPr>
          <p:cNvPr id="11" name="Group 10"/>
          <p:cNvGrpSpPr/>
          <p:nvPr/>
        </p:nvGrpSpPr>
        <p:grpSpPr>
          <a:xfrm>
            <a:off x="2811686" y="3895515"/>
            <a:ext cx="1715157" cy="930486"/>
            <a:chOff x="2511844" y="2883000"/>
            <a:chExt cx="1703868" cy="930486"/>
          </a:xfrm>
        </p:grpSpPr>
        <p:sp>
          <p:nvSpPr>
            <p:cNvPr id="12" name="Rectangle 11"/>
            <p:cNvSpPr/>
            <p:nvPr/>
          </p:nvSpPr>
          <p:spPr>
            <a:xfrm>
              <a:off x="2511844" y="2883000"/>
              <a:ext cx="1703868" cy="930486"/>
            </a:xfrm>
            <a:prstGeom prst="rect">
              <a:avLst/>
            </a:prstGeom>
            <a:noFill/>
            <a:ln w="19050"/>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 name="Rectangle 12"/>
            <p:cNvSpPr/>
            <p:nvPr/>
          </p:nvSpPr>
          <p:spPr>
            <a:xfrm>
              <a:off x="2511844" y="2883000"/>
              <a:ext cx="1703868" cy="9304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970" tIns="13970" rIns="13970" bIns="13970" numCol="1" spcCol="1270" anchor="ctr" anchorCtr="0">
              <a:noAutofit/>
            </a:bodyPr>
            <a:lstStyle/>
            <a:p>
              <a:pPr lvl="0"/>
              <a:r>
                <a:rPr lang="en-US" sz="2200" b="1" spc="-105" dirty="0">
                  <a:solidFill>
                    <a:srgbClr val="FF0000"/>
                  </a:solidFill>
                  <a:cs typeface="Arial"/>
                </a:rPr>
                <a:t>   &gt;, &lt;, </a:t>
              </a:r>
              <a:r>
                <a:rPr lang="en-US" sz="2200" b="1" spc="-125" dirty="0">
                  <a:solidFill>
                    <a:srgbClr val="FF0000"/>
                  </a:solidFill>
                  <a:cs typeface="Arial"/>
                </a:rPr>
                <a:t>&gt;=,</a:t>
              </a:r>
              <a:r>
                <a:rPr lang="en-US" sz="2200" b="1" spc="-90" dirty="0">
                  <a:solidFill>
                    <a:srgbClr val="FF0000"/>
                  </a:solidFill>
                  <a:cs typeface="Arial"/>
                </a:rPr>
                <a:t> </a:t>
              </a:r>
              <a:r>
                <a:rPr lang="en-US" sz="2200" b="1" spc="-125" dirty="0">
                  <a:solidFill>
                    <a:srgbClr val="FF0000"/>
                  </a:solidFill>
                  <a:cs typeface="Arial"/>
                </a:rPr>
                <a:t>&lt;=,</a:t>
              </a:r>
              <a:endParaRPr lang="en-US" sz="2200" b="1" dirty="0">
                <a:cs typeface="Arial"/>
              </a:endParaRPr>
            </a:p>
            <a:p>
              <a:pPr lvl="0"/>
              <a:r>
                <a:rPr lang="en-US" sz="2200" b="1" spc="-125" dirty="0">
                  <a:solidFill>
                    <a:srgbClr val="FF0000"/>
                  </a:solidFill>
                  <a:cs typeface="Arial"/>
                </a:rPr>
                <a:t>   = =,</a:t>
              </a:r>
              <a:r>
                <a:rPr lang="en-US" sz="2200" b="1" spc="-100" dirty="0">
                  <a:solidFill>
                    <a:srgbClr val="FF0000"/>
                  </a:solidFill>
                  <a:cs typeface="Arial"/>
                </a:rPr>
                <a:t> </a:t>
              </a:r>
              <a:r>
                <a:rPr lang="en-US" sz="2200" b="1" spc="-35" dirty="0">
                  <a:solidFill>
                    <a:srgbClr val="FF0000"/>
                  </a:solidFill>
                  <a:cs typeface="Arial"/>
                </a:rPr>
                <a:t>!=</a:t>
              </a:r>
              <a:endParaRPr lang="en-US" sz="2200" b="1" dirty="0"/>
            </a:p>
          </p:txBody>
        </p:sp>
      </p:grpSp>
      <p:grpSp>
        <p:nvGrpSpPr>
          <p:cNvPr id="14" name="Group 13"/>
          <p:cNvGrpSpPr/>
          <p:nvPr/>
        </p:nvGrpSpPr>
        <p:grpSpPr>
          <a:xfrm>
            <a:off x="4844394" y="3895515"/>
            <a:ext cx="1658006" cy="930486"/>
            <a:chOff x="2511844" y="2883000"/>
            <a:chExt cx="1703868" cy="930486"/>
          </a:xfrm>
        </p:grpSpPr>
        <p:sp>
          <p:nvSpPr>
            <p:cNvPr id="15" name="Rectangle 14"/>
            <p:cNvSpPr/>
            <p:nvPr/>
          </p:nvSpPr>
          <p:spPr>
            <a:xfrm>
              <a:off x="2511844" y="2883000"/>
              <a:ext cx="1703868" cy="930486"/>
            </a:xfrm>
            <a:prstGeom prst="rect">
              <a:avLst/>
            </a:prstGeom>
            <a:noFill/>
            <a:ln w="19050"/>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6" name="Rectangle 15"/>
            <p:cNvSpPr/>
            <p:nvPr/>
          </p:nvSpPr>
          <p:spPr>
            <a:xfrm>
              <a:off x="2511844" y="2883000"/>
              <a:ext cx="1703868" cy="9304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pc="-5">
                  <a:solidFill>
                    <a:srgbClr val="FF0000"/>
                  </a:solidFill>
                  <a:latin typeface="Arial"/>
                  <a:cs typeface="Arial"/>
                </a:rPr>
                <a:t>&amp;&amp;, </a:t>
              </a:r>
              <a:r>
                <a:rPr lang="en-US" sz="2200" kern="1200" spc="220">
                  <a:solidFill>
                    <a:srgbClr val="FF0000"/>
                  </a:solidFill>
                  <a:latin typeface="Arial"/>
                  <a:cs typeface="Arial"/>
                </a:rPr>
                <a:t>||,</a:t>
              </a:r>
              <a:r>
                <a:rPr lang="en-US" sz="2200" kern="1200" spc="-204">
                  <a:solidFill>
                    <a:srgbClr val="FF0000"/>
                  </a:solidFill>
                  <a:latin typeface="Arial"/>
                  <a:cs typeface="Arial"/>
                </a:rPr>
                <a:t> </a:t>
              </a:r>
              <a:r>
                <a:rPr lang="en-US" sz="2200" kern="1200" spc="85">
                  <a:solidFill>
                    <a:srgbClr val="FF0000"/>
                  </a:solidFill>
                  <a:latin typeface="Arial"/>
                  <a:cs typeface="Arial"/>
                </a:rPr>
                <a:t>!</a:t>
              </a:r>
              <a:endParaRPr lang="en-US" sz="2200" b="1" kern="1200" dirty="0"/>
            </a:p>
          </p:txBody>
        </p:sp>
      </p:grpSp>
      <p:grpSp>
        <p:nvGrpSpPr>
          <p:cNvPr id="17" name="Group 16"/>
          <p:cNvGrpSpPr/>
          <p:nvPr/>
        </p:nvGrpSpPr>
        <p:grpSpPr>
          <a:xfrm>
            <a:off x="6876395" y="3885075"/>
            <a:ext cx="1646716" cy="930486"/>
            <a:chOff x="2511844" y="2883000"/>
            <a:chExt cx="1703868" cy="930486"/>
          </a:xfrm>
        </p:grpSpPr>
        <p:sp>
          <p:nvSpPr>
            <p:cNvPr id="18" name="Rectangle 17"/>
            <p:cNvSpPr/>
            <p:nvPr/>
          </p:nvSpPr>
          <p:spPr>
            <a:xfrm>
              <a:off x="2511844" y="2883000"/>
              <a:ext cx="1703868" cy="930486"/>
            </a:xfrm>
            <a:prstGeom prst="rect">
              <a:avLst/>
            </a:prstGeom>
            <a:noFill/>
            <a:ln w="19050"/>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9" name="Rectangle 18"/>
            <p:cNvSpPr/>
            <p:nvPr/>
          </p:nvSpPr>
          <p:spPr>
            <a:xfrm>
              <a:off x="2511844" y="2883000"/>
              <a:ext cx="1703868" cy="9304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spc="-105" dirty="0">
                  <a:solidFill>
                    <a:srgbClr val="FF0000"/>
                  </a:solidFill>
                  <a:latin typeface="Arial"/>
                  <a:cs typeface="Arial"/>
                </a:rPr>
                <a:t>=, </a:t>
              </a:r>
              <a:r>
                <a:rPr lang="en-US" sz="2200" b="1" kern="1200" spc="-125" dirty="0">
                  <a:solidFill>
                    <a:srgbClr val="FF0000"/>
                  </a:solidFill>
                  <a:latin typeface="Arial"/>
                  <a:cs typeface="Arial"/>
                </a:rPr>
                <a:t>+=, </a:t>
              </a:r>
              <a:r>
                <a:rPr lang="en-US" sz="2200" b="1" kern="1200" spc="-85" dirty="0">
                  <a:solidFill>
                    <a:srgbClr val="FF0000"/>
                  </a:solidFill>
                  <a:latin typeface="Arial"/>
                  <a:cs typeface="Arial"/>
                </a:rPr>
                <a:t>-=,</a:t>
              </a:r>
              <a:r>
                <a:rPr lang="en-US" sz="2200" b="1" kern="1200" spc="-90" dirty="0">
                  <a:solidFill>
                    <a:srgbClr val="FF0000"/>
                  </a:solidFill>
                  <a:latin typeface="Arial"/>
                  <a:cs typeface="Arial"/>
                </a:rPr>
                <a:t> </a:t>
              </a:r>
              <a:r>
                <a:rPr lang="en-US" sz="2200" b="1" kern="1200" spc="-5" dirty="0">
                  <a:solidFill>
                    <a:srgbClr val="FF0000"/>
                  </a:solidFill>
                  <a:latin typeface="Arial"/>
                  <a:cs typeface="Arial"/>
                </a:rPr>
                <a:t>*=,</a:t>
              </a:r>
              <a:endParaRPr lang="en-US" sz="2200" b="1" kern="1200" dirty="0">
                <a:latin typeface="Arial"/>
                <a:cs typeface="Arial"/>
              </a:endParaRPr>
            </a:p>
            <a:p>
              <a:pPr lvl="0" algn="ctr" defTabSz="977900">
                <a:lnSpc>
                  <a:spcPct val="90000"/>
                </a:lnSpc>
                <a:spcBef>
                  <a:spcPct val="0"/>
                </a:spcBef>
                <a:spcAft>
                  <a:spcPct val="35000"/>
                </a:spcAft>
              </a:pPr>
              <a:r>
                <a:rPr lang="en-US" sz="2200" b="1" kern="1200" spc="-5" dirty="0">
                  <a:solidFill>
                    <a:srgbClr val="FF0000"/>
                  </a:solidFill>
                  <a:latin typeface="Arial"/>
                  <a:cs typeface="Arial"/>
                </a:rPr>
                <a:t>/=,</a:t>
              </a:r>
              <a:r>
                <a:rPr lang="en-US" sz="2200" b="1" kern="1200" spc="-95" dirty="0">
                  <a:solidFill>
                    <a:srgbClr val="FF0000"/>
                  </a:solidFill>
                  <a:latin typeface="Arial"/>
                  <a:cs typeface="Arial"/>
                </a:rPr>
                <a:t> </a:t>
              </a:r>
              <a:r>
                <a:rPr lang="en-US" sz="2200" b="1" kern="1200" spc="-240" dirty="0">
                  <a:solidFill>
                    <a:srgbClr val="FF0000"/>
                  </a:solidFill>
                  <a:latin typeface="Arial"/>
                  <a:cs typeface="Arial"/>
                </a:rPr>
                <a:t>%=</a:t>
              </a:r>
              <a:endParaRPr lang="en-US" sz="2200" b="1" kern="1200" dirty="0"/>
            </a:p>
          </p:txBody>
        </p:sp>
      </p:grpSp>
    </p:spTree>
    <p:extLst>
      <p:ext uri="{BB962C8B-B14F-4D97-AF65-F5344CB8AC3E}">
        <p14:creationId xmlns:p14="http://schemas.microsoft.com/office/powerpoint/2010/main" val="1621552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r>
              <a:rPr lang="en-US" b="1" spc="-150" dirty="0">
                <a:latin typeface="Arial"/>
                <a:cs typeface="Arial"/>
              </a:rPr>
              <a:t>Toán </a:t>
            </a:r>
            <a:r>
              <a:rPr lang="en-US" b="1" spc="-35" dirty="0">
                <a:latin typeface="Arial"/>
                <a:cs typeface="Arial"/>
              </a:rPr>
              <a:t>tử </a:t>
            </a:r>
            <a:r>
              <a:rPr lang="en-US" b="1" spc="-70" dirty="0">
                <a:latin typeface="Arial"/>
                <a:cs typeface="Arial"/>
              </a:rPr>
              <a:t>số </a:t>
            </a:r>
            <a:r>
              <a:rPr lang="en-US" b="1" dirty="0">
                <a:latin typeface="Arial"/>
                <a:cs typeface="Arial"/>
              </a:rPr>
              <a:t>học</a:t>
            </a:r>
            <a:r>
              <a:rPr lang="en-US" dirty="0">
                <a:latin typeface="Arial"/>
                <a:cs typeface="Arial"/>
              </a:rPr>
              <a:t>: </a:t>
            </a:r>
            <a:r>
              <a:rPr lang="en-US" spc="-45" dirty="0">
                <a:latin typeface="Arial"/>
                <a:cs typeface="Arial"/>
              </a:rPr>
              <a:t>là </a:t>
            </a:r>
            <a:r>
              <a:rPr lang="en-US" spc="-120" dirty="0">
                <a:latin typeface="Arial"/>
                <a:cs typeface="Arial"/>
              </a:rPr>
              <a:t>các </a:t>
            </a:r>
            <a:r>
              <a:rPr lang="en-US" spc="25" dirty="0">
                <a:latin typeface="Arial"/>
                <a:cs typeface="Arial"/>
              </a:rPr>
              <a:t>phép </a:t>
            </a:r>
            <a:r>
              <a:rPr lang="en-US" spc="20" dirty="0">
                <a:latin typeface="Arial"/>
                <a:cs typeface="Arial"/>
              </a:rPr>
              <a:t>toán </a:t>
            </a:r>
            <a:r>
              <a:rPr lang="en-US" spc="35" dirty="0">
                <a:latin typeface="Arial"/>
                <a:cs typeface="Arial"/>
              </a:rPr>
              <a:t>thao </a:t>
            </a:r>
            <a:r>
              <a:rPr lang="en-US" spc="-25" dirty="0">
                <a:latin typeface="Arial"/>
                <a:cs typeface="Arial"/>
              </a:rPr>
              <a:t>tác </a:t>
            </a:r>
            <a:r>
              <a:rPr lang="en-US" spc="20" dirty="0">
                <a:latin typeface="Arial"/>
                <a:cs typeface="Arial"/>
              </a:rPr>
              <a:t>trên </a:t>
            </a:r>
            <a:r>
              <a:rPr lang="en-US" spc="-114" dirty="0">
                <a:latin typeface="Arial"/>
                <a:cs typeface="Arial"/>
              </a:rPr>
              <a:t>các  </a:t>
            </a:r>
            <a:r>
              <a:rPr lang="en-US" spc="-70" dirty="0">
                <a:latin typeface="Arial"/>
                <a:cs typeface="Arial"/>
              </a:rPr>
              <a:t>số </a:t>
            </a:r>
            <a:r>
              <a:rPr lang="en-US" dirty="0">
                <a:latin typeface="Arial"/>
                <a:cs typeface="Arial"/>
              </a:rPr>
              <a:t>nguyên </a:t>
            </a:r>
            <a:r>
              <a:rPr lang="en-US" spc="-125" dirty="0">
                <a:latin typeface="Arial"/>
                <a:cs typeface="Arial"/>
              </a:rPr>
              <a:t>và </a:t>
            </a:r>
            <a:r>
              <a:rPr lang="en-US" spc="-70" dirty="0">
                <a:latin typeface="Arial"/>
                <a:cs typeface="Arial"/>
              </a:rPr>
              <a:t>số</a:t>
            </a:r>
            <a:r>
              <a:rPr lang="en-US" spc="120" dirty="0">
                <a:latin typeface="Arial"/>
                <a:cs typeface="Arial"/>
              </a:rPr>
              <a:t> </a:t>
            </a:r>
            <a:r>
              <a:rPr lang="en-US" spc="-40" dirty="0">
                <a:latin typeface="Arial"/>
                <a:cs typeface="Arial"/>
              </a:rPr>
              <a:t>thực.</a:t>
            </a:r>
            <a:endParaRPr lang="en-US" dirty="0">
              <a:latin typeface="Arial"/>
              <a:cs typeface="Arial"/>
            </a:endParaRPr>
          </a:p>
          <a:p>
            <a:pPr lvl="1" algn="just">
              <a:lnSpc>
                <a:spcPts val="3400"/>
              </a:lnSpc>
              <a:spcBef>
                <a:spcPts val="300"/>
              </a:spcBef>
              <a:spcAft>
                <a:spcPts val="300"/>
              </a:spcAft>
            </a:pPr>
            <a:endParaRPr lang="en-US" sz="2400" dirty="0"/>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20</a:t>
            </a:fld>
            <a:endParaRPr lang="en-US"/>
          </a:p>
        </p:txBody>
      </p:sp>
      <p:graphicFrame>
        <p:nvGraphicFramePr>
          <p:cNvPr id="5" name="object 13"/>
          <p:cNvGraphicFramePr>
            <a:graphicFrameLocks noGrp="1"/>
          </p:cNvGraphicFramePr>
          <p:nvPr>
            <p:extLst>
              <p:ext uri="{D42A27DB-BD31-4B8C-83A1-F6EECF244321}">
                <p14:modId xmlns:p14="http://schemas.microsoft.com/office/powerpoint/2010/main" val="871150565"/>
              </p:ext>
            </p:extLst>
          </p:nvPr>
        </p:nvGraphicFramePr>
        <p:xfrm>
          <a:off x="874184" y="2395856"/>
          <a:ext cx="7772400" cy="3960495"/>
        </p:xfrm>
        <a:graphic>
          <a:graphicData uri="http://schemas.openxmlformats.org/drawingml/2006/table">
            <a:tbl>
              <a:tblPr firstRow="1" bandRow="1">
                <a:tableStyleId>{2D5ABB26-0587-4C30-8999-92F81FD0307C}</a:tableStyleId>
              </a:tblPr>
              <a:tblGrid>
                <a:gridCol w="825500">
                  <a:extLst>
                    <a:ext uri="{9D8B030D-6E8A-4147-A177-3AD203B41FA5}">
                      <a16:colId xmlns:a16="http://schemas.microsoft.com/office/drawing/2014/main" val="20000"/>
                    </a:ext>
                  </a:extLst>
                </a:gridCol>
                <a:gridCol w="6946900">
                  <a:extLst>
                    <a:ext uri="{9D8B030D-6E8A-4147-A177-3AD203B41FA5}">
                      <a16:colId xmlns:a16="http://schemas.microsoft.com/office/drawing/2014/main" val="20001"/>
                    </a:ext>
                  </a:extLst>
                </a:gridCol>
              </a:tblGrid>
              <a:tr h="565785">
                <a:tc>
                  <a:txBody>
                    <a:bodyPr/>
                    <a:lstStyle/>
                    <a:p>
                      <a:pPr marL="10795" algn="ctr">
                        <a:lnSpc>
                          <a:spcPct val="100000"/>
                        </a:lnSpc>
                        <a:spcBef>
                          <a:spcPts val="210"/>
                        </a:spcBef>
                      </a:pPr>
                      <a:r>
                        <a:rPr sz="2800" dirty="0">
                          <a:latin typeface="Arial"/>
                          <a:cs typeface="Arial"/>
                        </a:rPr>
                        <a:t>+</a:t>
                      </a: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a:lnSpc>
                          <a:spcPct val="100000"/>
                        </a:lnSpc>
                        <a:spcBef>
                          <a:spcPts val="210"/>
                        </a:spcBef>
                      </a:pPr>
                      <a:r>
                        <a:rPr sz="2800" spc="-170" dirty="0">
                          <a:latin typeface="Arial"/>
                          <a:cs typeface="Arial"/>
                        </a:rPr>
                        <a:t>Tính </a:t>
                      </a:r>
                      <a:r>
                        <a:rPr sz="2800" spc="-75" dirty="0">
                          <a:latin typeface="Arial"/>
                          <a:cs typeface="Arial"/>
                        </a:rPr>
                        <a:t>tổng </a:t>
                      </a:r>
                      <a:r>
                        <a:rPr sz="2800" spc="-175" dirty="0">
                          <a:latin typeface="Arial"/>
                          <a:cs typeface="Arial"/>
                        </a:rPr>
                        <a:t>của </a:t>
                      </a:r>
                      <a:r>
                        <a:rPr sz="2800" spc="-145" dirty="0">
                          <a:latin typeface="Arial"/>
                          <a:cs typeface="Arial"/>
                        </a:rPr>
                        <a:t>2</a:t>
                      </a:r>
                      <a:r>
                        <a:rPr sz="2800" spc="-140" dirty="0">
                          <a:latin typeface="Arial"/>
                          <a:cs typeface="Arial"/>
                        </a:rPr>
                        <a:t> </a:t>
                      </a:r>
                      <a:r>
                        <a:rPr sz="2800" spc="-200" dirty="0">
                          <a:latin typeface="Arial"/>
                          <a:cs typeface="Arial"/>
                        </a:rPr>
                        <a:t>số</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0"/>
                  </a:ext>
                </a:extLst>
              </a:tr>
              <a:tr h="565785">
                <a:tc>
                  <a:txBody>
                    <a:bodyPr/>
                    <a:lstStyle/>
                    <a:p>
                      <a:pPr marL="12065" algn="ctr">
                        <a:lnSpc>
                          <a:spcPct val="100000"/>
                        </a:lnSpc>
                        <a:spcBef>
                          <a:spcPts val="210"/>
                        </a:spcBef>
                      </a:pPr>
                      <a:r>
                        <a:rPr sz="2800"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a:lnSpc>
                          <a:spcPct val="100000"/>
                        </a:lnSpc>
                        <a:spcBef>
                          <a:spcPts val="210"/>
                        </a:spcBef>
                      </a:pPr>
                      <a:r>
                        <a:rPr sz="2800" spc="-170" dirty="0">
                          <a:latin typeface="Arial"/>
                          <a:cs typeface="Arial"/>
                        </a:rPr>
                        <a:t>Tính </a:t>
                      </a:r>
                      <a:r>
                        <a:rPr sz="2800" spc="-90" dirty="0">
                          <a:latin typeface="Arial"/>
                          <a:cs typeface="Arial"/>
                        </a:rPr>
                        <a:t>hiệu </a:t>
                      </a:r>
                      <a:r>
                        <a:rPr sz="2800" spc="-175" dirty="0">
                          <a:latin typeface="Arial"/>
                          <a:cs typeface="Arial"/>
                        </a:rPr>
                        <a:t>của </a:t>
                      </a:r>
                      <a:r>
                        <a:rPr sz="2800" spc="-145" dirty="0">
                          <a:latin typeface="Arial"/>
                          <a:cs typeface="Arial"/>
                        </a:rPr>
                        <a:t>2</a:t>
                      </a:r>
                      <a:r>
                        <a:rPr sz="2800" spc="-95" dirty="0">
                          <a:latin typeface="Arial"/>
                          <a:cs typeface="Arial"/>
                        </a:rPr>
                        <a:t> </a:t>
                      </a:r>
                      <a:r>
                        <a:rPr sz="2800" spc="-200" dirty="0">
                          <a:latin typeface="Arial"/>
                          <a:cs typeface="Arial"/>
                        </a:rPr>
                        <a:t>số</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1"/>
                  </a:ext>
                </a:extLst>
              </a:tr>
              <a:tr h="565785">
                <a:tc>
                  <a:txBody>
                    <a:bodyPr/>
                    <a:lstStyle/>
                    <a:p>
                      <a:pPr marL="10160" algn="ctr">
                        <a:lnSpc>
                          <a:spcPct val="100000"/>
                        </a:lnSpc>
                        <a:spcBef>
                          <a:spcPts val="210"/>
                        </a:spcBef>
                      </a:pPr>
                      <a:r>
                        <a:rPr sz="2800"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a:lnSpc>
                          <a:spcPct val="100000"/>
                        </a:lnSpc>
                        <a:spcBef>
                          <a:spcPts val="210"/>
                        </a:spcBef>
                      </a:pPr>
                      <a:r>
                        <a:rPr sz="2800" spc="-170" dirty="0">
                          <a:latin typeface="Arial"/>
                          <a:cs typeface="Arial"/>
                        </a:rPr>
                        <a:t>Tính </a:t>
                      </a:r>
                      <a:r>
                        <a:rPr sz="2800" spc="-75" dirty="0">
                          <a:latin typeface="Arial"/>
                          <a:cs typeface="Arial"/>
                        </a:rPr>
                        <a:t>tích </a:t>
                      </a:r>
                      <a:r>
                        <a:rPr sz="2800" spc="-175" dirty="0">
                          <a:latin typeface="Arial"/>
                          <a:cs typeface="Arial"/>
                        </a:rPr>
                        <a:t>của </a:t>
                      </a:r>
                      <a:r>
                        <a:rPr sz="2800" spc="-145" dirty="0">
                          <a:latin typeface="Arial"/>
                          <a:cs typeface="Arial"/>
                        </a:rPr>
                        <a:t>2</a:t>
                      </a:r>
                      <a:r>
                        <a:rPr sz="2800" spc="-130" dirty="0">
                          <a:latin typeface="Arial"/>
                          <a:cs typeface="Arial"/>
                        </a:rPr>
                        <a:t> </a:t>
                      </a:r>
                      <a:r>
                        <a:rPr sz="2800" spc="-200" dirty="0">
                          <a:latin typeface="Arial"/>
                          <a:cs typeface="Arial"/>
                        </a:rPr>
                        <a:t>số</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2"/>
                  </a:ext>
                </a:extLst>
              </a:tr>
              <a:tr h="565785">
                <a:tc>
                  <a:txBody>
                    <a:bodyPr/>
                    <a:lstStyle/>
                    <a:p>
                      <a:pPr marL="9525" algn="ctr">
                        <a:lnSpc>
                          <a:spcPct val="100000"/>
                        </a:lnSpc>
                        <a:spcBef>
                          <a:spcPts val="210"/>
                        </a:spcBef>
                      </a:pPr>
                      <a:r>
                        <a:rPr sz="2800"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a:lnSpc>
                          <a:spcPct val="100000"/>
                        </a:lnSpc>
                        <a:spcBef>
                          <a:spcPts val="210"/>
                        </a:spcBef>
                      </a:pPr>
                      <a:r>
                        <a:rPr sz="2800" spc="-200" dirty="0">
                          <a:latin typeface="Arial"/>
                          <a:cs typeface="Arial"/>
                        </a:rPr>
                        <a:t>Tích </a:t>
                      </a:r>
                      <a:r>
                        <a:rPr sz="2800" spc="-114" dirty="0">
                          <a:latin typeface="Arial"/>
                          <a:cs typeface="Arial"/>
                        </a:rPr>
                        <a:t>thương </a:t>
                      </a:r>
                      <a:r>
                        <a:rPr sz="2800" spc="-175" dirty="0">
                          <a:latin typeface="Arial"/>
                          <a:cs typeface="Arial"/>
                        </a:rPr>
                        <a:t>của </a:t>
                      </a:r>
                      <a:r>
                        <a:rPr sz="2800" spc="-145" dirty="0">
                          <a:latin typeface="Arial"/>
                          <a:cs typeface="Arial"/>
                        </a:rPr>
                        <a:t>2</a:t>
                      </a:r>
                      <a:r>
                        <a:rPr sz="2800" spc="-40" dirty="0">
                          <a:latin typeface="Arial"/>
                          <a:cs typeface="Arial"/>
                        </a:rPr>
                        <a:t> </a:t>
                      </a:r>
                      <a:r>
                        <a:rPr sz="2800" spc="-200" dirty="0">
                          <a:latin typeface="Arial"/>
                          <a:cs typeface="Arial"/>
                        </a:rPr>
                        <a:t>số</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3"/>
                  </a:ext>
                </a:extLst>
              </a:tr>
              <a:tr h="565785">
                <a:tc>
                  <a:txBody>
                    <a:bodyPr/>
                    <a:lstStyle/>
                    <a:p>
                      <a:pPr marL="10160" algn="ctr">
                        <a:lnSpc>
                          <a:spcPct val="100000"/>
                        </a:lnSpc>
                        <a:spcBef>
                          <a:spcPts val="210"/>
                        </a:spcBef>
                      </a:pPr>
                      <a:r>
                        <a:rPr sz="2800"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6520">
                        <a:lnSpc>
                          <a:spcPct val="100000"/>
                        </a:lnSpc>
                        <a:spcBef>
                          <a:spcPts val="210"/>
                        </a:spcBef>
                      </a:pPr>
                      <a:r>
                        <a:rPr sz="2800" spc="-215" dirty="0">
                          <a:latin typeface="Arial"/>
                          <a:cs typeface="Arial"/>
                        </a:rPr>
                        <a:t>Thực </a:t>
                      </a:r>
                      <a:r>
                        <a:rPr sz="2800" spc="-90" dirty="0">
                          <a:latin typeface="Arial"/>
                          <a:cs typeface="Arial"/>
                        </a:rPr>
                        <a:t>hiện </a:t>
                      </a:r>
                      <a:r>
                        <a:rPr sz="2800" spc="-130" dirty="0">
                          <a:latin typeface="Arial"/>
                          <a:cs typeface="Arial"/>
                        </a:rPr>
                        <a:t>chia </a:t>
                      </a:r>
                      <a:r>
                        <a:rPr sz="2800" spc="-165" dirty="0">
                          <a:latin typeface="Arial"/>
                          <a:cs typeface="Arial"/>
                        </a:rPr>
                        <a:t>có </a:t>
                      </a:r>
                      <a:r>
                        <a:rPr sz="2800" spc="-145" dirty="0">
                          <a:latin typeface="Arial"/>
                          <a:cs typeface="Arial"/>
                        </a:rPr>
                        <a:t>dư </a:t>
                      </a:r>
                      <a:r>
                        <a:rPr sz="2800" spc="-175" dirty="0">
                          <a:latin typeface="Arial"/>
                          <a:cs typeface="Arial"/>
                        </a:rPr>
                        <a:t>của </a:t>
                      </a:r>
                      <a:r>
                        <a:rPr sz="2800" spc="-145" dirty="0">
                          <a:latin typeface="Arial"/>
                          <a:cs typeface="Arial"/>
                        </a:rPr>
                        <a:t>2</a:t>
                      </a:r>
                      <a:r>
                        <a:rPr sz="2800" spc="-10" dirty="0">
                          <a:latin typeface="Arial"/>
                          <a:cs typeface="Arial"/>
                        </a:rPr>
                        <a:t> </a:t>
                      </a:r>
                      <a:r>
                        <a:rPr sz="2800" spc="-200" dirty="0">
                          <a:latin typeface="Arial"/>
                          <a:cs typeface="Arial"/>
                        </a:rPr>
                        <a:t>số</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4"/>
                  </a:ext>
                </a:extLst>
              </a:tr>
              <a:tr h="565785">
                <a:tc>
                  <a:txBody>
                    <a:bodyPr/>
                    <a:lstStyle/>
                    <a:p>
                      <a:pPr marL="12700" algn="ctr">
                        <a:lnSpc>
                          <a:spcPct val="100000"/>
                        </a:lnSpc>
                        <a:spcBef>
                          <a:spcPts val="210"/>
                        </a:spcBef>
                      </a:pPr>
                      <a:r>
                        <a:rPr sz="2800" spc="-225"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6520">
                        <a:lnSpc>
                          <a:spcPct val="100000"/>
                        </a:lnSpc>
                        <a:spcBef>
                          <a:spcPts val="210"/>
                        </a:spcBef>
                      </a:pPr>
                      <a:r>
                        <a:rPr sz="2800" spc="-280" dirty="0">
                          <a:latin typeface="Arial"/>
                          <a:cs typeface="Arial"/>
                        </a:rPr>
                        <a:t>Tăng </a:t>
                      </a:r>
                      <a:r>
                        <a:rPr sz="2800" spc="-150" dirty="0">
                          <a:latin typeface="Arial"/>
                          <a:cs typeface="Arial"/>
                        </a:rPr>
                        <a:t>giá </a:t>
                      </a:r>
                      <a:r>
                        <a:rPr sz="2800" spc="70" dirty="0">
                          <a:latin typeface="Arial"/>
                          <a:cs typeface="Arial"/>
                        </a:rPr>
                        <a:t>trị </a:t>
                      </a:r>
                      <a:r>
                        <a:rPr sz="2800" spc="-175" dirty="0">
                          <a:latin typeface="Arial"/>
                          <a:cs typeface="Arial"/>
                        </a:rPr>
                        <a:t>của </a:t>
                      </a:r>
                      <a:r>
                        <a:rPr sz="2800" spc="-90" dirty="0">
                          <a:latin typeface="Arial"/>
                          <a:cs typeface="Arial"/>
                        </a:rPr>
                        <a:t>biến </a:t>
                      </a:r>
                      <a:r>
                        <a:rPr sz="2800" spc="-85" dirty="0">
                          <a:latin typeface="Arial"/>
                          <a:cs typeface="Arial"/>
                        </a:rPr>
                        <a:t>lên </a:t>
                      </a:r>
                      <a:r>
                        <a:rPr sz="2800" spc="-145" dirty="0">
                          <a:latin typeface="Arial"/>
                          <a:cs typeface="Arial"/>
                        </a:rPr>
                        <a:t>1 </a:t>
                      </a:r>
                      <a:r>
                        <a:rPr sz="2800" spc="-110" dirty="0">
                          <a:latin typeface="Arial"/>
                          <a:cs typeface="Arial"/>
                        </a:rPr>
                        <a:t>đơn</a:t>
                      </a:r>
                      <a:r>
                        <a:rPr sz="2800" spc="-275" dirty="0">
                          <a:latin typeface="Arial"/>
                          <a:cs typeface="Arial"/>
                        </a:rPr>
                        <a:t> </a:t>
                      </a:r>
                      <a:r>
                        <a:rPr sz="2800" spc="-65" dirty="0">
                          <a:latin typeface="Arial"/>
                          <a:cs typeface="Arial"/>
                        </a:rPr>
                        <a:t>vị</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5"/>
                  </a:ext>
                </a:extLst>
              </a:tr>
              <a:tr h="565785">
                <a:tc>
                  <a:txBody>
                    <a:bodyPr/>
                    <a:lstStyle/>
                    <a:p>
                      <a:pPr marL="8890" algn="ctr">
                        <a:lnSpc>
                          <a:spcPct val="100000"/>
                        </a:lnSpc>
                        <a:spcBef>
                          <a:spcPts val="210"/>
                        </a:spcBef>
                      </a:pPr>
                      <a:r>
                        <a:rPr sz="2800" spc="-85"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5885">
                        <a:lnSpc>
                          <a:spcPct val="100000"/>
                        </a:lnSpc>
                        <a:spcBef>
                          <a:spcPts val="210"/>
                        </a:spcBef>
                      </a:pPr>
                      <a:r>
                        <a:rPr sz="2800" spc="-185" dirty="0">
                          <a:latin typeface="Arial"/>
                          <a:cs typeface="Arial"/>
                        </a:rPr>
                        <a:t>Giảm </a:t>
                      </a:r>
                      <a:r>
                        <a:rPr sz="2800" spc="-150" dirty="0">
                          <a:latin typeface="Arial"/>
                          <a:cs typeface="Arial"/>
                        </a:rPr>
                        <a:t>giá </a:t>
                      </a:r>
                      <a:r>
                        <a:rPr sz="2800" spc="70" dirty="0">
                          <a:latin typeface="Arial"/>
                          <a:cs typeface="Arial"/>
                        </a:rPr>
                        <a:t>trị </a:t>
                      </a:r>
                      <a:r>
                        <a:rPr sz="2800" spc="-175" dirty="0">
                          <a:latin typeface="Arial"/>
                          <a:cs typeface="Arial"/>
                        </a:rPr>
                        <a:t>của </a:t>
                      </a:r>
                      <a:r>
                        <a:rPr sz="2800" spc="-90" dirty="0">
                          <a:latin typeface="Arial"/>
                          <a:cs typeface="Arial"/>
                        </a:rPr>
                        <a:t>biến </a:t>
                      </a:r>
                      <a:r>
                        <a:rPr sz="2800" spc="-145" dirty="0">
                          <a:latin typeface="Arial"/>
                          <a:cs typeface="Arial"/>
                        </a:rPr>
                        <a:t>xuống 1 </a:t>
                      </a:r>
                      <a:r>
                        <a:rPr sz="2800" spc="-110" dirty="0">
                          <a:latin typeface="Arial"/>
                          <a:cs typeface="Arial"/>
                        </a:rPr>
                        <a:t>đơn</a:t>
                      </a:r>
                      <a:r>
                        <a:rPr sz="2800" spc="-295" dirty="0">
                          <a:latin typeface="Arial"/>
                          <a:cs typeface="Arial"/>
                        </a:rPr>
                        <a:t> </a:t>
                      </a:r>
                      <a:r>
                        <a:rPr sz="2800" spc="-65" dirty="0">
                          <a:latin typeface="Arial"/>
                          <a:cs typeface="Arial"/>
                        </a:rPr>
                        <a:t>vị</a:t>
                      </a:r>
                      <a:endParaRPr sz="2800" dirty="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4625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283609"/>
            <a:ext cx="7886700" cy="5126964"/>
          </a:xfrm>
        </p:spPr>
        <p:txBody>
          <a:bodyPr>
            <a:noAutofit/>
          </a:bodyPr>
          <a:lstStyle/>
          <a:p>
            <a:pPr algn="just">
              <a:lnSpc>
                <a:spcPts val="2900"/>
              </a:lnSpc>
              <a:spcBef>
                <a:spcPts val="0"/>
              </a:spcBef>
            </a:pPr>
            <a:r>
              <a:rPr lang="en-US" b="1" spc="-150" dirty="0">
                <a:latin typeface="Arial"/>
                <a:cs typeface="Arial"/>
              </a:rPr>
              <a:t>Lưu ý</a:t>
            </a:r>
            <a:r>
              <a:rPr lang="en-US" dirty="0">
                <a:latin typeface="Arial"/>
                <a:cs typeface="Arial"/>
              </a:rPr>
              <a:t>:</a:t>
            </a:r>
          </a:p>
          <a:p>
            <a:pPr marL="576263" lvl="1" indent="-293688" algn="just">
              <a:lnSpc>
                <a:spcPts val="2900"/>
              </a:lnSpc>
              <a:spcBef>
                <a:spcPts val="0"/>
              </a:spcBef>
            </a:pPr>
            <a:r>
              <a:rPr lang="en-US" dirty="0"/>
              <a:t>Phép chia “/” trong Java phân biệt phép chia nguyên và chia số thực.</a:t>
            </a:r>
          </a:p>
          <a:p>
            <a:pPr marL="914400" lvl="0" indent="-282575" algn="just">
              <a:lnSpc>
                <a:spcPts val="2900"/>
              </a:lnSpc>
              <a:spcBef>
                <a:spcPts val="0"/>
              </a:spcBef>
              <a:buSzPct val="80000"/>
              <a:buFont typeface="Wingdings" panose="05000000000000000000" pitchFamily="2" charset="2"/>
              <a:buChar char="ü"/>
            </a:pPr>
            <a:r>
              <a:rPr lang="en-US" sz="2400" dirty="0"/>
              <a:t>Phép chia nguyên: khi cả hai đối số là kiểu nguyên, phép chia này sẽ không xác định (tràn ô – </a:t>
            </a:r>
            <a:r>
              <a:rPr lang="en-US" sz="2400" b="1" dirty="0"/>
              <a:t>Overload</a:t>
            </a:r>
            <a:r>
              <a:rPr lang="en-US" sz="2400" dirty="0"/>
              <a:t>) khi mẫu số là 0.</a:t>
            </a:r>
          </a:p>
          <a:p>
            <a:pPr marL="914400" lvl="0" indent="-282575" algn="just">
              <a:lnSpc>
                <a:spcPts val="2900"/>
              </a:lnSpc>
              <a:spcBef>
                <a:spcPts val="0"/>
              </a:spcBef>
              <a:buSzPct val="80000"/>
              <a:buFont typeface="Wingdings" panose="05000000000000000000" pitchFamily="2" charset="2"/>
              <a:buChar char="ü"/>
            </a:pPr>
            <a:r>
              <a:rPr lang="en-US" sz="2400" dirty="0"/>
              <a:t>Phép chia số thực: khi có ít nhất một đối số là kiểu số thực. Trường hợp mẫu số bằng 0.0 thì cho kết quả là </a:t>
            </a:r>
            <a:r>
              <a:rPr lang="en-US" sz="2400" b="1" dirty="0"/>
              <a:t>infinity </a:t>
            </a:r>
            <a:r>
              <a:rPr lang="en-US" sz="2400" dirty="0"/>
              <a:t>(số vô cùng) còn khi cả tử và mẫu số bằng 0.0 thì cho giá trị là </a:t>
            </a:r>
            <a:r>
              <a:rPr lang="en-US" sz="2400" b="1" dirty="0"/>
              <a:t>NaN </a:t>
            </a:r>
            <a:r>
              <a:rPr lang="en-US" sz="2400" dirty="0"/>
              <a:t>(không xác định).</a:t>
            </a:r>
          </a:p>
          <a:p>
            <a:pPr marL="576263" indent="-238125" algn="just">
              <a:lnSpc>
                <a:spcPts val="2900"/>
              </a:lnSpc>
              <a:spcBef>
                <a:spcPts val="0"/>
              </a:spcBef>
              <a:buFont typeface="Wingdings" panose="05000000000000000000" pitchFamily="2" charset="2"/>
              <a:buChar char="§"/>
            </a:pPr>
            <a:r>
              <a:rPr lang="en-US" sz="2400" dirty="0"/>
              <a:t>Phép ‘%” cho phép lấy </a:t>
            </a:r>
            <a:r>
              <a:rPr lang="en-US" sz="2400" b="1" dirty="0"/>
              <a:t>modulo</a:t>
            </a:r>
            <a:r>
              <a:rPr lang="en-US" sz="2400" dirty="0"/>
              <a:t> của cả số nguyên lẫn số thập phân. </a:t>
            </a:r>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21</a:t>
            </a:fld>
            <a:endParaRPr lang="en-US"/>
          </a:p>
        </p:txBody>
      </p:sp>
    </p:spTree>
    <p:extLst>
      <p:ext uri="{BB962C8B-B14F-4D97-AF65-F5344CB8AC3E}">
        <p14:creationId xmlns:p14="http://schemas.microsoft.com/office/powerpoint/2010/main" val="1061557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283609"/>
            <a:ext cx="7886700" cy="5126964"/>
          </a:xfrm>
        </p:spPr>
        <p:txBody>
          <a:bodyPr>
            <a:noAutofit/>
          </a:bodyPr>
          <a:lstStyle/>
          <a:p>
            <a:pPr marL="576263" lvl="1" indent="-293688" algn="just">
              <a:lnSpc>
                <a:spcPts val="2900"/>
              </a:lnSpc>
              <a:spcBef>
                <a:spcPts val="300"/>
              </a:spcBef>
              <a:spcAft>
                <a:spcPts val="300"/>
              </a:spcAft>
            </a:pPr>
            <a:r>
              <a:rPr lang="en-US" dirty="0"/>
              <a:t>Phép tăng ++, phép giảm -- một ngôi áp dụng cho tất cả các kiểu số (số nguyên lẫn số thực).</a:t>
            </a:r>
          </a:p>
          <a:p>
            <a:pPr marL="857250" lvl="1" indent="-338138" algn="just">
              <a:lnSpc>
                <a:spcPts val="2900"/>
              </a:lnSpc>
              <a:spcBef>
                <a:spcPts val="300"/>
              </a:spcBef>
              <a:spcAft>
                <a:spcPts val="300"/>
              </a:spcAft>
              <a:buSzPct val="80000"/>
              <a:buFont typeface="Wingdings" panose="05000000000000000000" pitchFamily="2" charset="2"/>
              <a:buChar char="ü"/>
            </a:pPr>
            <a:r>
              <a:rPr lang="en-US" dirty="0"/>
              <a:t>Các phép toán </a:t>
            </a:r>
            <a:r>
              <a:rPr lang="en-US" b="1" dirty="0"/>
              <a:t>++x (--x)</a:t>
            </a:r>
            <a:r>
              <a:rPr lang="en-US" dirty="0"/>
              <a:t> sẽ tăng (giảm) giá trị của x lên (xuống) 1 trước khi tính giá trị của biểu thức chứa nó. </a:t>
            </a:r>
          </a:p>
          <a:p>
            <a:pPr marL="857250" lvl="1" indent="-338138" algn="just">
              <a:lnSpc>
                <a:spcPts val="2900"/>
              </a:lnSpc>
              <a:spcBef>
                <a:spcPts val="300"/>
              </a:spcBef>
              <a:spcAft>
                <a:spcPts val="300"/>
              </a:spcAft>
              <a:buSzPct val="80000"/>
              <a:buFont typeface="Wingdings" panose="05000000000000000000" pitchFamily="2" charset="2"/>
              <a:buChar char="ü"/>
            </a:pPr>
            <a:r>
              <a:rPr lang="en-US" dirty="0"/>
              <a:t>Ngược lại, phép toán </a:t>
            </a:r>
            <a:r>
              <a:rPr lang="en-US" b="1" dirty="0"/>
              <a:t>x++ (x--)</a:t>
            </a:r>
            <a:r>
              <a:rPr lang="en-US" dirty="0"/>
              <a:t> sẽ tăng (giảm) của x lên (xuống) 1 sau khi tính giá trị của biểu thức chứa nó. </a:t>
            </a:r>
          </a:p>
          <a:p>
            <a:pPr marL="576263" lvl="1" indent="-293688" algn="just"/>
            <a:r>
              <a:rPr lang="en-US" dirty="0"/>
              <a:t>Ví dụ: </a:t>
            </a:r>
            <a:r>
              <a:rPr lang="en-US" sz="2400" b="1" dirty="0">
                <a:latin typeface="Courier" panose="02020500000000000000" pitchFamily="18" charset="0"/>
                <a:ea typeface="Courier" panose="02020500000000000000" pitchFamily="18" charset="0"/>
                <a:cs typeface="Courier" panose="02020500000000000000" pitchFamily="18" charset="0"/>
              </a:rPr>
              <a:t>int k=4, n=10;</a:t>
            </a:r>
          </a:p>
          <a:p>
            <a:pPr marL="3375025" indent="-2855913" algn="just">
              <a:buNone/>
            </a:pPr>
            <a:r>
              <a:rPr lang="en-US" sz="2400" b="1" dirty="0">
                <a:latin typeface="Courier" panose="02020500000000000000" pitchFamily="18" charset="0"/>
                <a:ea typeface="Courier" panose="02020500000000000000" pitchFamily="18" charset="0"/>
                <a:cs typeface="Courier" panose="02020500000000000000" pitchFamily="18" charset="0"/>
              </a:rPr>
              <a:t>int m = ++k*n</a:t>
            </a:r>
            <a:r>
              <a:rPr lang="en-US" sz="2400" b="1" dirty="0"/>
              <a:t>; //</a:t>
            </a:r>
            <a:r>
              <a:rPr lang="en-US" sz="2400" dirty="0"/>
              <a:t> trước khi tính phép * thì k tăng lên 1 là 5 do vậy m = 50</a:t>
            </a:r>
          </a:p>
          <a:p>
            <a:pPr marL="3375025" indent="-2855913" algn="just">
              <a:buNone/>
            </a:pPr>
            <a:r>
              <a:rPr lang="en-US" sz="2400" b="1" dirty="0">
                <a:latin typeface="Courier" panose="02020500000000000000" pitchFamily="18" charset="0"/>
                <a:ea typeface="Courier" panose="02020500000000000000" pitchFamily="18" charset="0"/>
                <a:cs typeface="Courier" panose="02020500000000000000" pitchFamily="18" charset="0"/>
              </a:rPr>
              <a:t>int m = k++*n</a:t>
            </a:r>
            <a:r>
              <a:rPr lang="en-US" sz="2400" b="1" dirty="0"/>
              <a:t>; //</a:t>
            </a:r>
            <a:r>
              <a:rPr lang="en-US" sz="2400" dirty="0"/>
              <a:t> Phép * đưuọc tính cho m = 50 rồi k tăng lên 1 là 6.</a:t>
            </a:r>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22</a:t>
            </a:fld>
            <a:endParaRPr lang="en-US"/>
          </a:p>
        </p:txBody>
      </p:sp>
    </p:spTree>
    <p:extLst>
      <p:ext uri="{BB962C8B-B14F-4D97-AF65-F5344CB8AC3E}">
        <p14:creationId xmlns:p14="http://schemas.microsoft.com/office/powerpoint/2010/main" val="645152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r>
              <a:rPr lang="en-US" b="1" spc="-150" dirty="0">
                <a:latin typeface="Arial"/>
                <a:cs typeface="Arial"/>
              </a:rPr>
              <a:t>Toán </a:t>
            </a:r>
            <a:r>
              <a:rPr lang="en-US" b="1" spc="-35" dirty="0">
                <a:latin typeface="Arial"/>
                <a:cs typeface="Arial"/>
              </a:rPr>
              <a:t>tử </a:t>
            </a:r>
            <a:r>
              <a:rPr lang="en-US" b="1" spc="-70" dirty="0">
                <a:latin typeface="Arial"/>
                <a:cs typeface="Arial"/>
              </a:rPr>
              <a:t>so </a:t>
            </a:r>
            <a:r>
              <a:rPr lang="en-US" b="1" spc="-75" dirty="0">
                <a:latin typeface="Arial"/>
                <a:cs typeface="Arial"/>
              </a:rPr>
              <a:t>sánh:</a:t>
            </a:r>
            <a:r>
              <a:rPr lang="en-US" spc="-75" dirty="0">
                <a:latin typeface="Arial"/>
                <a:cs typeface="Arial"/>
              </a:rPr>
              <a:t> </a:t>
            </a:r>
            <a:r>
              <a:rPr lang="en-US" spc="-45" dirty="0">
                <a:latin typeface="Arial"/>
                <a:cs typeface="Arial"/>
              </a:rPr>
              <a:t>là </a:t>
            </a:r>
            <a:r>
              <a:rPr lang="en-US" spc="-120" dirty="0">
                <a:latin typeface="Arial"/>
                <a:cs typeface="Arial"/>
              </a:rPr>
              <a:t>các </a:t>
            </a:r>
            <a:r>
              <a:rPr lang="en-US" spc="25" dirty="0">
                <a:latin typeface="Arial"/>
                <a:cs typeface="Arial"/>
              </a:rPr>
              <a:t>phép </a:t>
            </a:r>
            <a:r>
              <a:rPr lang="en-US" spc="20" dirty="0">
                <a:latin typeface="Arial"/>
                <a:cs typeface="Arial"/>
              </a:rPr>
              <a:t>toán </a:t>
            </a:r>
            <a:r>
              <a:rPr lang="en-US" spc="-70" dirty="0">
                <a:latin typeface="Arial"/>
                <a:cs typeface="Arial"/>
              </a:rPr>
              <a:t>so </a:t>
            </a:r>
            <a:r>
              <a:rPr lang="en-US" spc="-75" dirty="0">
                <a:latin typeface="Arial"/>
                <a:cs typeface="Arial"/>
              </a:rPr>
              <a:t>sánh </a:t>
            </a:r>
            <a:r>
              <a:rPr lang="en-US" spc="-20" dirty="0">
                <a:latin typeface="Arial"/>
                <a:cs typeface="Arial"/>
              </a:rPr>
              <a:t>hai  </a:t>
            </a:r>
            <a:r>
              <a:rPr lang="en-US" spc="20" dirty="0">
                <a:latin typeface="Arial"/>
                <a:cs typeface="Arial"/>
              </a:rPr>
              <a:t>toán</a:t>
            </a:r>
            <a:r>
              <a:rPr lang="en-US" spc="-25" dirty="0">
                <a:latin typeface="Arial"/>
                <a:cs typeface="Arial"/>
              </a:rPr>
              <a:t> </a:t>
            </a:r>
            <a:r>
              <a:rPr lang="en-US" dirty="0">
                <a:latin typeface="Arial"/>
                <a:cs typeface="Arial"/>
              </a:rPr>
              <a:t>hạng</a:t>
            </a:r>
          </a:p>
          <a:p>
            <a:pPr algn="just"/>
            <a:endParaRPr lang="en-US" dirty="0">
              <a:latin typeface="Arial"/>
              <a:cs typeface="Arial"/>
            </a:endParaRPr>
          </a:p>
          <a:p>
            <a:pPr lvl="1" algn="just">
              <a:lnSpc>
                <a:spcPts val="3400"/>
              </a:lnSpc>
              <a:spcBef>
                <a:spcPts val="300"/>
              </a:spcBef>
              <a:spcAft>
                <a:spcPts val="300"/>
              </a:spcAft>
            </a:pPr>
            <a:endParaRPr lang="en-US" sz="2400" dirty="0"/>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23</a:t>
            </a:fld>
            <a:endParaRPr lang="en-US"/>
          </a:p>
        </p:txBody>
      </p:sp>
      <p:graphicFrame>
        <p:nvGraphicFramePr>
          <p:cNvPr id="6" name="object 13"/>
          <p:cNvGraphicFramePr>
            <a:graphicFrameLocks noGrp="1"/>
          </p:cNvGraphicFramePr>
          <p:nvPr/>
        </p:nvGraphicFramePr>
        <p:xfrm>
          <a:off x="908050" y="2529319"/>
          <a:ext cx="7695565" cy="3357877"/>
        </p:xfrm>
        <a:graphic>
          <a:graphicData uri="http://schemas.openxmlformats.org/drawingml/2006/table">
            <a:tbl>
              <a:tblPr firstRow="1" bandRow="1">
                <a:tableStyleId>{2D5ABB26-0587-4C30-8999-92F81FD0307C}</a:tableStyleId>
              </a:tblPr>
              <a:tblGrid>
                <a:gridCol w="1099185">
                  <a:extLst>
                    <a:ext uri="{9D8B030D-6E8A-4147-A177-3AD203B41FA5}">
                      <a16:colId xmlns:a16="http://schemas.microsoft.com/office/drawing/2014/main" val="20000"/>
                    </a:ext>
                  </a:extLst>
                </a:gridCol>
                <a:gridCol w="6596380">
                  <a:extLst>
                    <a:ext uri="{9D8B030D-6E8A-4147-A177-3AD203B41FA5}">
                      <a16:colId xmlns:a16="http://schemas.microsoft.com/office/drawing/2014/main" val="20001"/>
                    </a:ext>
                  </a:extLst>
                </a:gridCol>
              </a:tblGrid>
              <a:tr h="518159">
                <a:tc>
                  <a:txBody>
                    <a:bodyPr/>
                    <a:lstStyle/>
                    <a:p>
                      <a:pPr marL="10795" algn="ctr">
                        <a:lnSpc>
                          <a:spcPct val="100000"/>
                        </a:lnSpc>
                        <a:spcBef>
                          <a:spcPts val="210"/>
                        </a:spcBef>
                      </a:pPr>
                      <a:r>
                        <a:rPr sz="2800" spc="-250" dirty="0">
                          <a:latin typeface="Arial"/>
                          <a:cs typeface="Arial"/>
                        </a:rPr>
                        <a:t>==</a:t>
                      </a:r>
                      <a:endParaRPr sz="2800" dirty="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790">
                        <a:lnSpc>
                          <a:spcPct val="100000"/>
                        </a:lnSpc>
                        <a:spcBef>
                          <a:spcPts val="210"/>
                        </a:spcBef>
                      </a:pPr>
                      <a:r>
                        <a:rPr sz="2800" spc="-340" dirty="0">
                          <a:latin typeface="Arial"/>
                          <a:cs typeface="Arial"/>
                        </a:rPr>
                        <a:t>So </a:t>
                      </a:r>
                      <a:r>
                        <a:rPr sz="2800" spc="-180" dirty="0">
                          <a:latin typeface="Arial"/>
                          <a:cs typeface="Arial"/>
                        </a:rPr>
                        <a:t>sánh</a:t>
                      </a:r>
                      <a:r>
                        <a:rPr sz="2800" spc="-370" dirty="0">
                          <a:latin typeface="Arial"/>
                          <a:cs typeface="Arial"/>
                        </a:rPr>
                        <a:t> </a:t>
                      </a:r>
                      <a:r>
                        <a:rPr sz="2800" spc="-165" dirty="0">
                          <a:latin typeface="Arial"/>
                          <a:cs typeface="Arial"/>
                        </a:rPr>
                        <a:t>bằng</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0"/>
                  </a:ext>
                </a:extLst>
              </a:tr>
              <a:tr h="518159">
                <a:tc>
                  <a:txBody>
                    <a:bodyPr/>
                    <a:lstStyle/>
                    <a:p>
                      <a:pPr marL="10795" algn="ctr">
                        <a:lnSpc>
                          <a:spcPct val="100000"/>
                        </a:lnSpc>
                        <a:spcBef>
                          <a:spcPts val="210"/>
                        </a:spcBef>
                      </a:pPr>
                      <a:r>
                        <a:rPr sz="2800" dirty="0">
                          <a:latin typeface="Arial"/>
                          <a:cs typeface="Arial"/>
                        </a:rPr>
                        <a:t>&gt;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790">
                        <a:lnSpc>
                          <a:spcPct val="100000"/>
                        </a:lnSpc>
                        <a:spcBef>
                          <a:spcPts val="210"/>
                        </a:spcBef>
                      </a:pPr>
                      <a:r>
                        <a:rPr sz="2800" spc="-340" dirty="0">
                          <a:latin typeface="Arial"/>
                          <a:cs typeface="Arial"/>
                        </a:rPr>
                        <a:t>So </a:t>
                      </a:r>
                      <a:r>
                        <a:rPr sz="2800" spc="-180" dirty="0">
                          <a:latin typeface="Arial"/>
                          <a:cs typeface="Arial"/>
                        </a:rPr>
                        <a:t>sánh </a:t>
                      </a:r>
                      <a:r>
                        <a:rPr sz="2800" spc="-100" dirty="0">
                          <a:latin typeface="Arial"/>
                          <a:cs typeface="Arial"/>
                        </a:rPr>
                        <a:t>lớn</a:t>
                      </a:r>
                      <a:r>
                        <a:rPr sz="2800" spc="-320" dirty="0">
                          <a:latin typeface="Arial"/>
                          <a:cs typeface="Arial"/>
                        </a:rPr>
                        <a:t> </a:t>
                      </a:r>
                      <a:r>
                        <a:rPr sz="2800" spc="-135" dirty="0">
                          <a:latin typeface="Arial"/>
                          <a:cs typeface="Arial"/>
                        </a:rPr>
                        <a:t>hơn</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1"/>
                  </a:ext>
                </a:extLst>
              </a:tr>
              <a:tr h="631190">
                <a:tc>
                  <a:txBody>
                    <a:bodyPr/>
                    <a:lstStyle/>
                    <a:p>
                      <a:pPr marL="10795" algn="ctr">
                        <a:lnSpc>
                          <a:spcPct val="100000"/>
                        </a:lnSpc>
                        <a:spcBef>
                          <a:spcPts val="210"/>
                        </a:spcBef>
                      </a:pPr>
                      <a:r>
                        <a:rPr sz="2800" spc="-250" dirty="0">
                          <a:latin typeface="Arial"/>
                          <a:cs typeface="Arial"/>
                        </a:rPr>
                        <a:t>&gt;=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790">
                        <a:lnSpc>
                          <a:spcPct val="100000"/>
                        </a:lnSpc>
                        <a:spcBef>
                          <a:spcPts val="210"/>
                        </a:spcBef>
                      </a:pPr>
                      <a:r>
                        <a:rPr sz="2800" spc="-340" dirty="0">
                          <a:latin typeface="Arial"/>
                          <a:cs typeface="Arial"/>
                        </a:rPr>
                        <a:t>So </a:t>
                      </a:r>
                      <a:r>
                        <a:rPr sz="2800" spc="-180" dirty="0">
                          <a:latin typeface="Arial"/>
                          <a:cs typeface="Arial"/>
                        </a:rPr>
                        <a:t>sánh </a:t>
                      </a:r>
                      <a:r>
                        <a:rPr sz="2800" spc="-100" dirty="0">
                          <a:latin typeface="Arial"/>
                          <a:cs typeface="Arial"/>
                        </a:rPr>
                        <a:t>lớn </a:t>
                      </a:r>
                      <a:r>
                        <a:rPr sz="2800" spc="-135" dirty="0">
                          <a:latin typeface="Arial"/>
                          <a:cs typeface="Arial"/>
                        </a:rPr>
                        <a:t>hơn </a:t>
                      </a:r>
                      <a:r>
                        <a:rPr sz="2800" spc="-155" dirty="0">
                          <a:latin typeface="Arial"/>
                          <a:cs typeface="Arial"/>
                        </a:rPr>
                        <a:t>hoặc</a:t>
                      </a:r>
                      <a:r>
                        <a:rPr sz="2800" spc="-340" dirty="0">
                          <a:latin typeface="Arial"/>
                          <a:cs typeface="Arial"/>
                        </a:rPr>
                        <a:t> </a:t>
                      </a:r>
                      <a:r>
                        <a:rPr sz="2800" spc="-165" dirty="0">
                          <a:latin typeface="Arial"/>
                          <a:cs typeface="Arial"/>
                        </a:rPr>
                        <a:t>bằng</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2"/>
                  </a:ext>
                </a:extLst>
              </a:tr>
              <a:tr h="518159">
                <a:tc>
                  <a:txBody>
                    <a:bodyPr/>
                    <a:lstStyle/>
                    <a:p>
                      <a:pPr marL="10795" algn="ctr">
                        <a:lnSpc>
                          <a:spcPct val="100000"/>
                        </a:lnSpc>
                        <a:spcBef>
                          <a:spcPts val="210"/>
                        </a:spcBef>
                      </a:pPr>
                      <a:r>
                        <a:rPr sz="2800" dirty="0">
                          <a:latin typeface="Arial"/>
                          <a:cs typeface="Arial"/>
                        </a:rPr>
                        <a:t>&lt;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790">
                        <a:lnSpc>
                          <a:spcPct val="100000"/>
                        </a:lnSpc>
                        <a:spcBef>
                          <a:spcPts val="210"/>
                        </a:spcBef>
                      </a:pPr>
                      <a:r>
                        <a:rPr sz="2800" spc="-340" dirty="0">
                          <a:latin typeface="Arial"/>
                          <a:cs typeface="Arial"/>
                        </a:rPr>
                        <a:t>So </a:t>
                      </a:r>
                      <a:r>
                        <a:rPr sz="2800" spc="-180" dirty="0">
                          <a:latin typeface="Arial"/>
                          <a:cs typeface="Arial"/>
                        </a:rPr>
                        <a:t>sánh </a:t>
                      </a:r>
                      <a:r>
                        <a:rPr sz="2800" spc="-90" dirty="0">
                          <a:latin typeface="Arial"/>
                          <a:cs typeface="Arial"/>
                        </a:rPr>
                        <a:t>nhỏ</a:t>
                      </a:r>
                      <a:r>
                        <a:rPr sz="2800" spc="-315" dirty="0">
                          <a:latin typeface="Arial"/>
                          <a:cs typeface="Arial"/>
                        </a:rPr>
                        <a:t> </a:t>
                      </a:r>
                      <a:r>
                        <a:rPr sz="2800" spc="-135" dirty="0">
                          <a:latin typeface="Arial"/>
                          <a:cs typeface="Arial"/>
                        </a:rPr>
                        <a:t>hơn</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3"/>
                  </a:ext>
                </a:extLst>
              </a:tr>
              <a:tr h="654685">
                <a:tc>
                  <a:txBody>
                    <a:bodyPr/>
                    <a:lstStyle/>
                    <a:p>
                      <a:pPr marL="10795" algn="ctr">
                        <a:lnSpc>
                          <a:spcPct val="100000"/>
                        </a:lnSpc>
                        <a:spcBef>
                          <a:spcPts val="210"/>
                        </a:spcBef>
                      </a:pPr>
                      <a:r>
                        <a:rPr sz="2800" spc="-250" dirty="0">
                          <a:latin typeface="Arial"/>
                          <a:cs typeface="Arial"/>
                        </a:rPr>
                        <a:t>&lt;=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790">
                        <a:lnSpc>
                          <a:spcPct val="100000"/>
                        </a:lnSpc>
                        <a:spcBef>
                          <a:spcPts val="210"/>
                        </a:spcBef>
                      </a:pPr>
                      <a:r>
                        <a:rPr sz="2800" spc="-340" dirty="0">
                          <a:latin typeface="Arial"/>
                          <a:cs typeface="Arial"/>
                        </a:rPr>
                        <a:t>So </a:t>
                      </a:r>
                      <a:r>
                        <a:rPr sz="2800" spc="-180" dirty="0">
                          <a:latin typeface="Arial"/>
                          <a:cs typeface="Arial"/>
                        </a:rPr>
                        <a:t>sánh </a:t>
                      </a:r>
                      <a:r>
                        <a:rPr sz="2800" spc="-90" dirty="0">
                          <a:latin typeface="Arial"/>
                          <a:cs typeface="Arial"/>
                        </a:rPr>
                        <a:t>nhỏ </a:t>
                      </a:r>
                      <a:r>
                        <a:rPr sz="2800" spc="-135" dirty="0">
                          <a:latin typeface="Arial"/>
                          <a:cs typeface="Arial"/>
                        </a:rPr>
                        <a:t>hơn </a:t>
                      </a:r>
                      <a:r>
                        <a:rPr sz="2800" spc="-155" dirty="0">
                          <a:latin typeface="Arial"/>
                          <a:cs typeface="Arial"/>
                        </a:rPr>
                        <a:t>hoặc</a:t>
                      </a:r>
                      <a:r>
                        <a:rPr sz="2800" spc="-345" dirty="0">
                          <a:latin typeface="Arial"/>
                          <a:cs typeface="Arial"/>
                        </a:rPr>
                        <a:t> </a:t>
                      </a:r>
                      <a:r>
                        <a:rPr sz="2800" spc="-165" dirty="0">
                          <a:latin typeface="Arial"/>
                          <a:cs typeface="Arial"/>
                        </a:rPr>
                        <a:t>bằng</a:t>
                      </a:r>
                      <a:endParaRPr sz="2800" dirty="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4"/>
                  </a:ext>
                </a:extLst>
              </a:tr>
              <a:tr h="517525">
                <a:tc>
                  <a:txBody>
                    <a:bodyPr/>
                    <a:lstStyle/>
                    <a:p>
                      <a:pPr marL="10160" algn="ctr">
                        <a:lnSpc>
                          <a:spcPct val="100000"/>
                        </a:lnSpc>
                        <a:spcBef>
                          <a:spcPts val="210"/>
                        </a:spcBef>
                      </a:pPr>
                      <a:r>
                        <a:rPr sz="2800" spc="-55" dirty="0">
                          <a:latin typeface="Arial"/>
                          <a:cs typeface="Arial"/>
                        </a:rPr>
                        <a:t>!=</a:t>
                      </a:r>
                      <a:endParaRPr sz="280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a:lnSpc>
                          <a:spcPct val="100000"/>
                        </a:lnSpc>
                        <a:spcBef>
                          <a:spcPts val="210"/>
                        </a:spcBef>
                      </a:pPr>
                      <a:r>
                        <a:rPr sz="2800" spc="-340" dirty="0">
                          <a:latin typeface="Arial"/>
                          <a:cs typeface="Arial"/>
                        </a:rPr>
                        <a:t>So </a:t>
                      </a:r>
                      <a:r>
                        <a:rPr sz="2800" spc="-180" dirty="0">
                          <a:latin typeface="Arial"/>
                          <a:cs typeface="Arial"/>
                        </a:rPr>
                        <a:t>sánh</a:t>
                      </a:r>
                      <a:r>
                        <a:rPr sz="2800" spc="-375" dirty="0">
                          <a:latin typeface="Arial"/>
                          <a:cs typeface="Arial"/>
                        </a:rPr>
                        <a:t> </a:t>
                      </a:r>
                      <a:r>
                        <a:rPr sz="2800" spc="-165" dirty="0">
                          <a:latin typeface="Arial"/>
                          <a:cs typeface="Arial"/>
                        </a:rPr>
                        <a:t>khác</a:t>
                      </a:r>
                      <a:endParaRPr sz="2800" dirty="0">
                        <a:latin typeface="Arial"/>
                        <a:cs typeface="Arial"/>
                      </a:endParaRPr>
                    </a:p>
                  </a:txBody>
                  <a:tcPr marL="0" marR="0" marT="26670" marB="0">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08328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r>
              <a:rPr lang="en-US" b="1" spc="-150" dirty="0">
                <a:latin typeface="Arial"/>
                <a:cs typeface="Arial"/>
              </a:rPr>
              <a:t>Toán </a:t>
            </a:r>
            <a:r>
              <a:rPr lang="en-US" b="1" spc="-35" dirty="0">
                <a:latin typeface="Arial"/>
                <a:cs typeface="Arial"/>
              </a:rPr>
              <a:t>tử </a:t>
            </a:r>
            <a:r>
              <a:rPr lang="en-US" b="1" spc="30" dirty="0">
                <a:latin typeface="Arial"/>
                <a:cs typeface="Arial"/>
              </a:rPr>
              <a:t>logic:</a:t>
            </a:r>
            <a:r>
              <a:rPr lang="en-US" spc="30" dirty="0">
                <a:latin typeface="Arial"/>
                <a:cs typeface="Arial"/>
              </a:rPr>
              <a:t> </a:t>
            </a:r>
            <a:r>
              <a:rPr lang="en-US" spc="-45" dirty="0">
                <a:latin typeface="Arial"/>
                <a:cs typeface="Arial"/>
              </a:rPr>
              <a:t>là </a:t>
            </a:r>
            <a:r>
              <a:rPr lang="en-US" spc="-120" dirty="0">
                <a:latin typeface="Arial"/>
                <a:cs typeface="Arial"/>
              </a:rPr>
              <a:t>các </a:t>
            </a:r>
            <a:r>
              <a:rPr lang="en-US" spc="25" dirty="0">
                <a:latin typeface="Arial"/>
                <a:cs typeface="Arial"/>
              </a:rPr>
              <a:t>phép </a:t>
            </a:r>
            <a:r>
              <a:rPr lang="en-US" spc="20" dirty="0">
                <a:latin typeface="Arial"/>
                <a:cs typeface="Arial"/>
              </a:rPr>
              <a:t>toán </a:t>
            </a:r>
            <a:r>
              <a:rPr lang="en-US" spc="35" dirty="0">
                <a:latin typeface="Arial"/>
                <a:cs typeface="Arial"/>
              </a:rPr>
              <a:t>thao </a:t>
            </a:r>
            <a:r>
              <a:rPr lang="en-US" spc="-25" dirty="0">
                <a:latin typeface="Arial"/>
                <a:cs typeface="Arial"/>
              </a:rPr>
              <a:t>tác </a:t>
            </a:r>
            <a:r>
              <a:rPr lang="en-US" spc="20" dirty="0">
                <a:latin typeface="Arial"/>
                <a:cs typeface="Arial"/>
              </a:rPr>
              <a:t>trên </a:t>
            </a:r>
            <a:r>
              <a:rPr lang="en-US" spc="-114" dirty="0">
                <a:latin typeface="Arial"/>
                <a:cs typeface="Arial"/>
              </a:rPr>
              <a:t>các  </a:t>
            </a:r>
            <a:r>
              <a:rPr lang="en-US" spc="20" dirty="0">
                <a:latin typeface="Arial"/>
                <a:cs typeface="Arial"/>
              </a:rPr>
              <a:t>toán </a:t>
            </a:r>
            <a:r>
              <a:rPr lang="en-US" dirty="0">
                <a:latin typeface="Arial"/>
                <a:cs typeface="Arial"/>
              </a:rPr>
              <a:t>hạng</a:t>
            </a:r>
            <a:r>
              <a:rPr lang="en-US" spc="-45" dirty="0">
                <a:latin typeface="Arial"/>
                <a:cs typeface="Arial"/>
              </a:rPr>
              <a:t> </a:t>
            </a:r>
            <a:r>
              <a:rPr lang="en-US" spc="25" dirty="0">
                <a:latin typeface="Arial"/>
                <a:cs typeface="Arial"/>
              </a:rPr>
              <a:t>logic</a:t>
            </a:r>
            <a:endParaRPr lang="en-US" dirty="0">
              <a:latin typeface="Arial"/>
              <a:cs typeface="Arial"/>
            </a:endParaRPr>
          </a:p>
          <a:p>
            <a:pPr algn="just"/>
            <a:endParaRPr lang="en-US" dirty="0">
              <a:latin typeface="Arial"/>
              <a:cs typeface="Arial"/>
            </a:endParaRPr>
          </a:p>
          <a:p>
            <a:pPr algn="just"/>
            <a:endParaRPr lang="en-US" dirty="0">
              <a:latin typeface="Arial"/>
              <a:cs typeface="Arial"/>
            </a:endParaRPr>
          </a:p>
          <a:p>
            <a:pPr lvl="1" algn="just">
              <a:lnSpc>
                <a:spcPts val="3400"/>
              </a:lnSpc>
              <a:spcBef>
                <a:spcPts val="300"/>
              </a:spcBef>
              <a:spcAft>
                <a:spcPts val="300"/>
              </a:spcAft>
            </a:pPr>
            <a:endParaRPr lang="en-US" sz="2400" dirty="0"/>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24</a:t>
            </a:fld>
            <a:endParaRPr lang="en-US"/>
          </a:p>
        </p:txBody>
      </p:sp>
      <p:graphicFrame>
        <p:nvGraphicFramePr>
          <p:cNvPr id="7" name="object 11"/>
          <p:cNvGraphicFramePr>
            <a:graphicFrameLocks noGrp="1"/>
          </p:cNvGraphicFramePr>
          <p:nvPr>
            <p:extLst>
              <p:ext uri="{D42A27DB-BD31-4B8C-83A1-F6EECF244321}">
                <p14:modId xmlns:p14="http://schemas.microsoft.com/office/powerpoint/2010/main" val="3526023554"/>
              </p:ext>
            </p:extLst>
          </p:nvPr>
        </p:nvGraphicFramePr>
        <p:xfrm>
          <a:off x="742949" y="2415117"/>
          <a:ext cx="7620465" cy="2731609"/>
        </p:xfrm>
        <a:graphic>
          <a:graphicData uri="http://schemas.openxmlformats.org/drawingml/2006/table">
            <a:tbl>
              <a:tblPr firstRow="1" bandRow="1">
                <a:tableStyleId>{2D5ABB26-0587-4C30-8999-92F81FD0307C}</a:tableStyleId>
              </a:tblPr>
              <a:tblGrid>
                <a:gridCol w="1011703">
                  <a:extLst>
                    <a:ext uri="{9D8B030D-6E8A-4147-A177-3AD203B41FA5}">
                      <a16:colId xmlns:a16="http://schemas.microsoft.com/office/drawing/2014/main" val="20000"/>
                    </a:ext>
                  </a:extLst>
                </a:gridCol>
                <a:gridCol w="6608762">
                  <a:extLst>
                    <a:ext uri="{9D8B030D-6E8A-4147-A177-3AD203B41FA5}">
                      <a16:colId xmlns:a16="http://schemas.microsoft.com/office/drawing/2014/main" val="20001"/>
                    </a:ext>
                  </a:extLst>
                </a:gridCol>
              </a:tblGrid>
              <a:tr h="997156">
                <a:tc>
                  <a:txBody>
                    <a:bodyPr/>
                    <a:lstStyle/>
                    <a:p>
                      <a:pPr marL="11430" algn="ctr">
                        <a:lnSpc>
                          <a:spcPct val="100000"/>
                        </a:lnSpc>
                        <a:spcBef>
                          <a:spcPts val="210"/>
                        </a:spcBef>
                      </a:pPr>
                      <a:r>
                        <a:rPr sz="2800" spc="30" dirty="0">
                          <a:latin typeface="Arial"/>
                          <a:cs typeface="Arial"/>
                        </a:rPr>
                        <a:t>&amp;&amp;</a:t>
                      </a:r>
                      <a:endParaRPr sz="2800" dirty="0">
                        <a:latin typeface="Arial"/>
                        <a:cs typeface="Arial"/>
                      </a:endParaRPr>
                    </a:p>
                  </a:txBody>
                  <a:tcPr marL="0" marR="0" marT="2667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7155" marR="495934">
                        <a:lnSpc>
                          <a:spcPct val="101099"/>
                        </a:lnSpc>
                        <a:spcBef>
                          <a:spcPts val="135"/>
                        </a:spcBef>
                      </a:pPr>
                      <a:r>
                        <a:rPr sz="2800" spc="-254" dirty="0">
                          <a:latin typeface="Arial"/>
                          <a:cs typeface="Arial"/>
                        </a:rPr>
                        <a:t>Trả </a:t>
                      </a:r>
                      <a:r>
                        <a:rPr sz="2800" spc="-170" dirty="0">
                          <a:latin typeface="Arial"/>
                          <a:cs typeface="Arial"/>
                        </a:rPr>
                        <a:t>về </a:t>
                      </a:r>
                      <a:r>
                        <a:rPr sz="2800" spc="-150" dirty="0">
                          <a:latin typeface="Arial"/>
                          <a:cs typeface="Arial"/>
                        </a:rPr>
                        <a:t>giá </a:t>
                      </a:r>
                      <a:r>
                        <a:rPr sz="2800" spc="70" dirty="0">
                          <a:latin typeface="Arial"/>
                          <a:cs typeface="Arial"/>
                        </a:rPr>
                        <a:t>trị </a:t>
                      </a:r>
                      <a:r>
                        <a:rPr sz="2800" spc="-20" dirty="0">
                          <a:latin typeface="Arial"/>
                          <a:cs typeface="Arial"/>
                        </a:rPr>
                        <a:t>true </a:t>
                      </a:r>
                      <a:r>
                        <a:rPr sz="2800" spc="-70" dirty="0">
                          <a:latin typeface="Arial"/>
                          <a:cs typeface="Arial"/>
                        </a:rPr>
                        <a:t>khi </a:t>
                      </a:r>
                      <a:r>
                        <a:rPr sz="2800" spc="10" dirty="0">
                          <a:latin typeface="Arial"/>
                          <a:cs typeface="Arial"/>
                        </a:rPr>
                        <a:t>tất </a:t>
                      </a:r>
                      <a:r>
                        <a:rPr sz="2800" spc="-229" dirty="0">
                          <a:latin typeface="Arial"/>
                          <a:cs typeface="Arial"/>
                        </a:rPr>
                        <a:t>cả </a:t>
                      </a:r>
                      <a:r>
                        <a:rPr sz="2800" spc="-90" dirty="0">
                          <a:latin typeface="Arial"/>
                          <a:cs typeface="Arial"/>
                        </a:rPr>
                        <a:t>biểu thức</a:t>
                      </a:r>
                      <a:r>
                        <a:rPr sz="2800" spc="-480" dirty="0">
                          <a:latin typeface="Arial"/>
                          <a:cs typeface="Arial"/>
                        </a:rPr>
                        <a:t> </a:t>
                      </a:r>
                      <a:r>
                        <a:rPr sz="2800" spc="-65" dirty="0">
                          <a:latin typeface="Arial"/>
                          <a:cs typeface="Arial"/>
                        </a:rPr>
                        <a:t>tham  </a:t>
                      </a:r>
                      <a:r>
                        <a:rPr sz="2800" spc="-150" dirty="0">
                          <a:latin typeface="Arial"/>
                          <a:cs typeface="Arial"/>
                        </a:rPr>
                        <a:t>gia </a:t>
                      </a:r>
                      <a:r>
                        <a:rPr sz="2800" spc="-90" dirty="0">
                          <a:latin typeface="Arial"/>
                          <a:cs typeface="Arial"/>
                        </a:rPr>
                        <a:t>biểu thức </a:t>
                      </a:r>
                      <a:r>
                        <a:rPr sz="2800" spc="-165" dirty="0">
                          <a:latin typeface="Arial"/>
                          <a:cs typeface="Arial"/>
                        </a:rPr>
                        <a:t>có </a:t>
                      </a:r>
                      <a:r>
                        <a:rPr sz="2800" spc="-150" dirty="0">
                          <a:latin typeface="Arial"/>
                          <a:cs typeface="Arial"/>
                        </a:rPr>
                        <a:t>giá </a:t>
                      </a:r>
                      <a:r>
                        <a:rPr sz="2800" spc="70" dirty="0">
                          <a:latin typeface="Arial"/>
                          <a:cs typeface="Arial"/>
                        </a:rPr>
                        <a:t>trị</a:t>
                      </a:r>
                      <a:r>
                        <a:rPr sz="2800" spc="-200" dirty="0">
                          <a:latin typeface="Arial"/>
                          <a:cs typeface="Arial"/>
                        </a:rPr>
                        <a:t> </a:t>
                      </a:r>
                      <a:r>
                        <a:rPr sz="2800" spc="-20" dirty="0">
                          <a:latin typeface="Arial"/>
                          <a:cs typeface="Arial"/>
                        </a:rPr>
                        <a:t>true</a:t>
                      </a:r>
                      <a:endParaRPr sz="2800" dirty="0">
                        <a:latin typeface="Arial"/>
                        <a:cs typeface="Arial"/>
                      </a:endParaRPr>
                    </a:p>
                  </a:txBody>
                  <a:tcPr marL="0" marR="0" marT="17145"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0"/>
                  </a:ext>
                </a:extLst>
              </a:tr>
              <a:tr h="1073890">
                <a:tc>
                  <a:txBody>
                    <a:bodyPr/>
                    <a:lstStyle/>
                    <a:p>
                      <a:pPr marL="9525" algn="ctr">
                        <a:lnSpc>
                          <a:spcPct val="100000"/>
                        </a:lnSpc>
                        <a:spcBef>
                          <a:spcPts val="210"/>
                        </a:spcBef>
                      </a:pPr>
                      <a:r>
                        <a:rPr sz="2800" spc="555" dirty="0">
                          <a:latin typeface="Arial"/>
                          <a:cs typeface="Arial"/>
                        </a:rPr>
                        <a:t>||</a:t>
                      </a:r>
                      <a:endParaRPr sz="2800" dirty="0">
                        <a:latin typeface="Arial"/>
                        <a:cs typeface="Arial"/>
                      </a:endParaRPr>
                    </a:p>
                  </a:txBody>
                  <a:tcPr marL="0" marR="0" marT="2667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5885">
                        <a:lnSpc>
                          <a:spcPct val="100000"/>
                        </a:lnSpc>
                        <a:spcBef>
                          <a:spcPts val="175"/>
                        </a:spcBef>
                      </a:pPr>
                      <a:r>
                        <a:rPr sz="2800" spc="-254" dirty="0">
                          <a:latin typeface="Arial"/>
                          <a:cs typeface="Arial"/>
                        </a:rPr>
                        <a:t>Trả </a:t>
                      </a:r>
                      <a:r>
                        <a:rPr sz="2800" spc="-170" dirty="0">
                          <a:latin typeface="Arial"/>
                          <a:cs typeface="Arial"/>
                        </a:rPr>
                        <a:t>về </a:t>
                      </a:r>
                      <a:r>
                        <a:rPr sz="2800" spc="-150" dirty="0">
                          <a:latin typeface="Arial"/>
                          <a:cs typeface="Arial"/>
                        </a:rPr>
                        <a:t>giá </a:t>
                      </a:r>
                      <a:r>
                        <a:rPr sz="2800" spc="70" dirty="0">
                          <a:latin typeface="Arial"/>
                          <a:cs typeface="Arial"/>
                        </a:rPr>
                        <a:t>trị </a:t>
                      </a:r>
                      <a:r>
                        <a:rPr sz="2800" spc="-20" dirty="0">
                          <a:latin typeface="Arial"/>
                          <a:cs typeface="Arial"/>
                        </a:rPr>
                        <a:t>true </a:t>
                      </a:r>
                      <a:r>
                        <a:rPr sz="2800" spc="-70" dirty="0">
                          <a:latin typeface="Arial"/>
                          <a:cs typeface="Arial"/>
                        </a:rPr>
                        <a:t>khi </a:t>
                      </a:r>
                      <a:r>
                        <a:rPr sz="2800" spc="-165" dirty="0">
                          <a:latin typeface="Arial"/>
                          <a:cs typeface="Arial"/>
                        </a:rPr>
                        <a:t>có </a:t>
                      </a:r>
                      <a:r>
                        <a:rPr sz="2800" spc="-145" dirty="0">
                          <a:latin typeface="Arial"/>
                          <a:cs typeface="Arial"/>
                        </a:rPr>
                        <a:t>1 </a:t>
                      </a:r>
                      <a:r>
                        <a:rPr sz="2800" spc="-90" dirty="0">
                          <a:latin typeface="Arial"/>
                          <a:cs typeface="Arial"/>
                        </a:rPr>
                        <a:t>biểu thức </a:t>
                      </a:r>
                      <a:r>
                        <a:rPr sz="2800" spc="-65" dirty="0">
                          <a:latin typeface="Arial"/>
                          <a:cs typeface="Arial"/>
                        </a:rPr>
                        <a:t>tham</a:t>
                      </a:r>
                      <a:r>
                        <a:rPr sz="2800" spc="-430" dirty="0">
                          <a:latin typeface="Arial"/>
                          <a:cs typeface="Arial"/>
                        </a:rPr>
                        <a:t> </a:t>
                      </a:r>
                      <a:r>
                        <a:rPr sz="2800" spc="-155" dirty="0">
                          <a:latin typeface="Arial"/>
                          <a:cs typeface="Arial"/>
                        </a:rPr>
                        <a:t>gia</a:t>
                      </a:r>
                      <a:endParaRPr sz="2800" dirty="0">
                        <a:latin typeface="Arial"/>
                        <a:cs typeface="Arial"/>
                      </a:endParaRPr>
                    </a:p>
                    <a:p>
                      <a:pPr marL="95885">
                        <a:lnSpc>
                          <a:spcPct val="100000"/>
                        </a:lnSpc>
                        <a:spcBef>
                          <a:spcPts val="35"/>
                        </a:spcBef>
                      </a:pPr>
                      <a:r>
                        <a:rPr sz="2800" spc="-90" dirty="0">
                          <a:latin typeface="Arial"/>
                          <a:cs typeface="Arial"/>
                        </a:rPr>
                        <a:t>biểu thức </a:t>
                      </a:r>
                      <a:r>
                        <a:rPr sz="2800" spc="-165" dirty="0">
                          <a:latin typeface="Arial"/>
                          <a:cs typeface="Arial"/>
                        </a:rPr>
                        <a:t>có </a:t>
                      </a:r>
                      <a:r>
                        <a:rPr sz="2800" spc="-150" dirty="0">
                          <a:latin typeface="Arial"/>
                          <a:cs typeface="Arial"/>
                        </a:rPr>
                        <a:t>giá </a:t>
                      </a:r>
                      <a:r>
                        <a:rPr sz="2800" spc="70" dirty="0">
                          <a:latin typeface="Arial"/>
                          <a:cs typeface="Arial"/>
                        </a:rPr>
                        <a:t>trị </a:t>
                      </a:r>
                      <a:r>
                        <a:rPr sz="2800" spc="-105" dirty="0">
                          <a:latin typeface="Arial"/>
                          <a:cs typeface="Arial"/>
                        </a:rPr>
                        <a:t>là</a:t>
                      </a:r>
                      <a:r>
                        <a:rPr sz="2800" spc="-409" dirty="0">
                          <a:latin typeface="Arial"/>
                          <a:cs typeface="Arial"/>
                        </a:rPr>
                        <a:t> </a:t>
                      </a:r>
                      <a:r>
                        <a:rPr sz="2800" spc="-20" dirty="0">
                          <a:latin typeface="Arial"/>
                          <a:cs typeface="Arial"/>
                        </a:rPr>
                        <a:t>true</a:t>
                      </a:r>
                      <a:endParaRPr sz="2800" dirty="0">
                        <a:latin typeface="Arial"/>
                        <a:cs typeface="Arial"/>
                      </a:endParaRPr>
                    </a:p>
                  </a:txBody>
                  <a:tcPr marL="0" marR="0" marT="22225"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1"/>
                  </a:ext>
                </a:extLst>
              </a:tr>
              <a:tr h="660563">
                <a:tc>
                  <a:txBody>
                    <a:bodyPr/>
                    <a:lstStyle/>
                    <a:p>
                      <a:pPr marL="7620" algn="ctr">
                        <a:lnSpc>
                          <a:spcPct val="100000"/>
                        </a:lnSpc>
                        <a:spcBef>
                          <a:spcPts val="210"/>
                        </a:spcBef>
                      </a:pPr>
                      <a:r>
                        <a:rPr sz="2800" dirty="0">
                          <a:latin typeface="Arial"/>
                          <a:cs typeface="Arial"/>
                        </a:rPr>
                        <a:t>!</a:t>
                      </a:r>
                    </a:p>
                  </a:txBody>
                  <a:tcPr marL="0" marR="0" marT="2667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tc>
                  <a:txBody>
                    <a:bodyPr/>
                    <a:lstStyle/>
                    <a:p>
                      <a:pPr marL="95250">
                        <a:lnSpc>
                          <a:spcPct val="100000"/>
                        </a:lnSpc>
                        <a:spcBef>
                          <a:spcPts val="210"/>
                        </a:spcBef>
                      </a:pPr>
                      <a:r>
                        <a:rPr sz="2800" spc="-260" dirty="0">
                          <a:latin typeface="Arial"/>
                          <a:cs typeface="Arial"/>
                        </a:rPr>
                        <a:t>Lấy </a:t>
                      </a:r>
                      <a:r>
                        <a:rPr sz="2800" spc="-150" dirty="0">
                          <a:latin typeface="Arial"/>
                          <a:cs typeface="Arial"/>
                        </a:rPr>
                        <a:t>giá </a:t>
                      </a:r>
                      <a:r>
                        <a:rPr sz="2800" spc="70" dirty="0">
                          <a:latin typeface="Arial"/>
                          <a:cs typeface="Arial"/>
                        </a:rPr>
                        <a:t>trị </a:t>
                      </a:r>
                      <a:r>
                        <a:rPr sz="2800" spc="-95" dirty="0">
                          <a:latin typeface="Arial"/>
                          <a:cs typeface="Arial"/>
                        </a:rPr>
                        <a:t>phủ </a:t>
                      </a:r>
                      <a:r>
                        <a:rPr sz="2800" spc="-50" dirty="0">
                          <a:latin typeface="Arial"/>
                          <a:cs typeface="Arial"/>
                        </a:rPr>
                        <a:t>định </a:t>
                      </a:r>
                      <a:r>
                        <a:rPr sz="2800" spc="-175" dirty="0">
                          <a:latin typeface="Arial"/>
                          <a:cs typeface="Arial"/>
                        </a:rPr>
                        <a:t>của </a:t>
                      </a:r>
                      <a:r>
                        <a:rPr sz="2800" spc="-90" dirty="0">
                          <a:latin typeface="Arial"/>
                          <a:cs typeface="Arial"/>
                        </a:rPr>
                        <a:t>biểu</a:t>
                      </a:r>
                      <a:r>
                        <a:rPr sz="2800" spc="-305" dirty="0">
                          <a:latin typeface="Arial"/>
                          <a:cs typeface="Arial"/>
                        </a:rPr>
                        <a:t> </a:t>
                      </a:r>
                      <a:r>
                        <a:rPr sz="2800" spc="-90" dirty="0">
                          <a:latin typeface="Arial"/>
                          <a:cs typeface="Arial"/>
                        </a:rPr>
                        <a:t>thức</a:t>
                      </a:r>
                      <a:endParaRPr sz="2800" dirty="0">
                        <a:latin typeface="Arial"/>
                        <a:cs typeface="Arial"/>
                      </a:endParaRPr>
                    </a:p>
                  </a:txBody>
                  <a:tcPr marL="0" marR="0" marT="26670" marB="0" anchor="ctr">
                    <a:lnL w="12700">
                      <a:solidFill>
                        <a:srgbClr val="F79646"/>
                      </a:solidFill>
                      <a:prstDash val="solid"/>
                    </a:lnL>
                    <a:lnR w="12700">
                      <a:solidFill>
                        <a:srgbClr val="F79646"/>
                      </a:solidFill>
                      <a:prstDash val="solid"/>
                    </a:lnR>
                    <a:lnT w="12700">
                      <a:solidFill>
                        <a:srgbClr val="F79646"/>
                      </a:solidFill>
                      <a:prstDash val="solid"/>
                    </a:lnT>
                    <a:lnB w="12700">
                      <a:solidFill>
                        <a:srgbClr val="F79646"/>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3212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200"/>
              </a:lnSpc>
              <a:spcBef>
                <a:spcPts val="300"/>
              </a:spcBef>
              <a:spcAft>
                <a:spcPts val="300"/>
              </a:spcAft>
            </a:pPr>
            <a:r>
              <a:rPr lang="en-US" b="1" spc="-150" dirty="0">
                <a:latin typeface="Arial"/>
                <a:cs typeface="Arial"/>
              </a:rPr>
              <a:t>Toán </a:t>
            </a:r>
            <a:r>
              <a:rPr lang="en-US" b="1" spc="-35" dirty="0">
                <a:latin typeface="Arial"/>
                <a:cs typeface="Arial"/>
              </a:rPr>
              <a:t>tử đ</a:t>
            </a:r>
            <a:r>
              <a:rPr lang="en-US" b="1" spc="10" dirty="0">
                <a:latin typeface="Arial"/>
                <a:cs typeface="Arial"/>
              </a:rPr>
              <a:t>iều </a:t>
            </a:r>
            <a:r>
              <a:rPr lang="en-US" b="1" spc="-10" dirty="0">
                <a:latin typeface="Arial"/>
                <a:cs typeface="Arial"/>
              </a:rPr>
              <a:t>kiện:</a:t>
            </a:r>
            <a:r>
              <a:rPr lang="en-US" spc="-10" dirty="0">
                <a:latin typeface="Arial"/>
                <a:cs typeface="Arial"/>
              </a:rPr>
              <a:t> </a:t>
            </a:r>
            <a:r>
              <a:rPr lang="en-US" spc="-45" dirty="0">
                <a:latin typeface="Arial"/>
                <a:cs typeface="Arial"/>
              </a:rPr>
              <a:t>là </a:t>
            </a:r>
            <a:r>
              <a:rPr lang="en-US" spc="20" dirty="0">
                <a:latin typeface="Arial"/>
                <a:cs typeface="Arial"/>
              </a:rPr>
              <a:t>toán </a:t>
            </a:r>
            <a:r>
              <a:rPr lang="en-US" spc="-35" dirty="0">
                <a:latin typeface="Arial"/>
                <a:cs typeface="Arial"/>
              </a:rPr>
              <a:t>tử </a:t>
            </a:r>
            <a:r>
              <a:rPr lang="en-US" spc="-50" dirty="0">
                <a:latin typeface="Arial"/>
                <a:cs typeface="Arial"/>
              </a:rPr>
              <a:t>3 </a:t>
            </a:r>
            <a:r>
              <a:rPr lang="en-US" spc="60" dirty="0">
                <a:latin typeface="Arial"/>
                <a:cs typeface="Arial"/>
              </a:rPr>
              <a:t>ngôi </a:t>
            </a:r>
            <a:r>
              <a:rPr lang="en-US" spc="20" dirty="0">
                <a:latin typeface="Arial"/>
                <a:cs typeface="Arial"/>
              </a:rPr>
              <a:t>duy nhất  </a:t>
            </a:r>
            <a:r>
              <a:rPr lang="en-US" spc="70" dirty="0">
                <a:latin typeface="Arial"/>
                <a:cs typeface="Arial"/>
              </a:rPr>
              <a:t>trong </a:t>
            </a:r>
            <a:r>
              <a:rPr lang="en-US" spc="55" dirty="0">
                <a:latin typeface="Arial"/>
                <a:cs typeface="Arial"/>
              </a:rPr>
              <a:t>ngôn </a:t>
            </a:r>
            <a:r>
              <a:rPr lang="en-US" spc="-45" dirty="0">
                <a:latin typeface="Arial"/>
                <a:cs typeface="Arial"/>
              </a:rPr>
              <a:t>ngữ</a:t>
            </a:r>
            <a:r>
              <a:rPr lang="en-US" spc="-155" dirty="0">
                <a:latin typeface="Arial"/>
                <a:cs typeface="Arial"/>
              </a:rPr>
              <a:t> </a:t>
            </a:r>
            <a:r>
              <a:rPr lang="en-US" spc="-204" dirty="0">
                <a:latin typeface="Arial"/>
                <a:cs typeface="Arial"/>
              </a:rPr>
              <a:t>Java.</a:t>
            </a:r>
          </a:p>
          <a:p>
            <a:pPr lvl="1" algn="just">
              <a:lnSpc>
                <a:spcPts val="3200"/>
              </a:lnSpc>
              <a:spcBef>
                <a:spcPts val="300"/>
              </a:spcBef>
              <a:spcAft>
                <a:spcPts val="300"/>
              </a:spcAft>
            </a:pPr>
            <a:r>
              <a:rPr lang="vi-VN" spc="-140" dirty="0">
                <a:latin typeface="Arial"/>
                <a:cs typeface="Arial"/>
              </a:rPr>
              <a:t>Cú</a:t>
            </a:r>
            <a:r>
              <a:rPr lang="vi-VN" dirty="0">
                <a:latin typeface="Arial"/>
                <a:cs typeface="Arial"/>
              </a:rPr>
              <a:t> </a:t>
            </a:r>
            <a:r>
              <a:rPr lang="vi-VN" spc="-25" dirty="0">
                <a:latin typeface="Arial"/>
                <a:cs typeface="Arial"/>
              </a:rPr>
              <a:t>pháp:</a:t>
            </a:r>
            <a:endParaRPr lang="en-US" spc="-25" dirty="0">
              <a:latin typeface="Arial"/>
              <a:cs typeface="Arial"/>
            </a:endParaRPr>
          </a:p>
          <a:p>
            <a:pPr marL="457200" lvl="1" indent="0" algn="just">
              <a:lnSpc>
                <a:spcPts val="3200"/>
              </a:lnSpc>
              <a:spcBef>
                <a:spcPts val="300"/>
              </a:spcBef>
              <a:spcAft>
                <a:spcPts val="300"/>
              </a:spcAft>
              <a:buNone/>
            </a:pPr>
            <a:r>
              <a:rPr lang="vi-VN" sz="2800" b="1" spc="55" dirty="0">
                <a:latin typeface="Arial"/>
                <a:cs typeface="Arial"/>
              </a:rPr>
              <a:t>&lt;điều </a:t>
            </a:r>
            <a:r>
              <a:rPr lang="vi-VN" sz="2800" b="1" spc="50" dirty="0">
                <a:latin typeface="Arial"/>
                <a:cs typeface="Arial"/>
              </a:rPr>
              <a:t>kiện&gt;</a:t>
            </a:r>
            <a:r>
              <a:rPr lang="vi-VN" sz="2800" b="1" spc="-415" dirty="0">
                <a:latin typeface="Arial"/>
                <a:cs typeface="Arial"/>
              </a:rPr>
              <a:t>? </a:t>
            </a:r>
            <a:r>
              <a:rPr lang="vi-VN" sz="2800" b="1" spc="70" dirty="0">
                <a:latin typeface="Arial"/>
                <a:cs typeface="Arial"/>
              </a:rPr>
              <a:t>&lt;giá </a:t>
            </a:r>
            <a:r>
              <a:rPr lang="vi-VN" sz="2800" b="1" spc="55" dirty="0">
                <a:latin typeface="Arial"/>
                <a:cs typeface="Arial"/>
              </a:rPr>
              <a:t>trị </a:t>
            </a:r>
            <a:r>
              <a:rPr lang="vi-VN" sz="2800" b="1" spc="65" dirty="0">
                <a:latin typeface="Arial"/>
                <a:cs typeface="Arial"/>
              </a:rPr>
              <a:t>đúng&gt; </a:t>
            </a:r>
            <a:r>
              <a:rPr lang="vi-VN" sz="2800" b="1" spc="-150" dirty="0">
                <a:latin typeface="Arial"/>
                <a:cs typeface="Arial"/>
              </a:rPr>
              <a:t>: </a:t>
            </a:r>
            <a:r>
              <a:rPr lang="vi-VN" sz="2800" b="1" spc="70" dirty="0">
                <a:latin typeface="Arial"/>
                <a:cs typeface="Arial"/>
              </a:rPr>
              <a:t>&lt;giá </a:t>
            </a:r>
            <a:r>
              <a:rPr lang="vi-VN" sz="2800" b="1" spc="55" dirty="0">
                <a:latin typeface="Arial"/>
                <a:cs typeface="Arial"/>
              </a:rPr>
              <a:t>trị</a:t>
            </a:r>
            <a:r>
              <a:rPr lang="vi-VN" sz="2800" b="1" spc="-355" dirty="0">
                <a:latin typeface="Arial"/>
                <a:cs typeface="Arial"/>
              </a:rPr>
              <a:t> </a:t>
            </a:r>
            <a:r>
              <a:rPr lang="vi-VN" sz="2800" b="1" spc="-5" dirty="0">
                <a:latin typeface="Arial"/>
                <a:cs typeface="Arial"/>
              </a:rPr>
              <a:t>sai&gt;</a:t>
            </a:r>
            <a:endParaRPr lang="vi-VN" sz="2800" dirty="0">
              <a:latin typeface="Arial"/>
              <a:cs typeface="Arial"/>
            </a:endParaRPr>
          </a:p>
          <a:p>
            <a:pPr marL="469900" marR="5080" lvl="1" indent="0" algn="just">
              <a:lnSpc>
                <a:spcPts val="3200"/>
              </a:lnSpc>
              <a:spcBef>
                <a:spcPts val="300"/>
              </a:spcBef>
              <a:spcAft>
                <a:spcPts val="300"/>
              </a:spcAft>
              <a:buClr>
                <a:srgbClr val="FF5A33"/>
              </a:buClr>
              <a:buNone/>
              <a:tabLst>
                <a:tab pos="756920" algn="l"/>
              </a:tabLst>
            </a:pPr>
            <a:r>
              <a:rPr lang="vi-VN" dirty="0">
                <a:latin typeface="Arial"/>
                <a:cs typeface="Arial"/>
              </a:rPr>
              <a:t>Nếu </a:t>
            </a:r>
            <a:r>
              <a:rPr lang="vi-VN" spc="15" dirty="0">
                <a:latin typeface="Arial"/>
                <a:cs typeface="Arial"/>
              </a:rPr>
              <a:t>biểu </a:t>
            </a:r>
            <a:r>
              <a:rPr lang="vi-VN" spc="-30" dirty="0">
                <a:latin typeface="Arial"/>
                <a:cs typeface="Arial"/>
              </a:rPr>
              <a:t>thức </a:t>
            </a:r>
            <a:r>
              <a:rPr lang="vi-VN" b="1" spc="55" dirty="0">
                <a:solidFill>
                  <a:srgbClr val="FF0000"/>
                </a:solidFill>
                <a:latin typeface="Arial"/>
                <a:cs typeface="Arial"/>
              </a:rPr>
              <a:t>&lt;điều </a:t>
            </a:r>
            <a:r>
              <a:rPr lang="vi-VN" b="1" spc="50" dirty="0">
                <a:solidFill>
                  <a:srgbClr val="FF0000"/>
                </a:solidFill>
                <a:latin typeface="Arial"/>
                <a:cs typeface="Arial"/>
              </a:rPr>
              <a:t>kiện&gt; </a:t>
            </a:r>
            <a:r>
              <a:rPr lang="vi-VN" spc="-15" dirty="0">
                <a:latin typeface="Arial"/>
                <a:cs typeface="Arial"/>
              </a:rPr>
              <a:t>có </a:t>
            </a:r>
            <a:r>
              <a:rPr lang="vi-VN" dirty="0">
                <a:latin typeface="Arial"/>
                <a:cs typeface="Arial"/>
              </a:rPr>
              <a:t>giá </a:t>
            </a:r>
            <a:r>
              <a:rPr lang="vi-VN" spc="75" dirty="0">
                <a:latin typeface="Arial"/>
                <a:cs typeface="Arial"/>
              </a:rPr>
              <a:t>trị </a:t>
            </a:r>
            <a:r>
              <a:rPr lang="vi-VN" spc="-40" dirty="0">
                <a:latin typeface="Arial"/>
                <a:cs typeface="Arial"/>
              </a:rPr>
              <a:t>là </a:t>
            </a:r>
            <a:r>
              <a:rPr lang="vi-VN" spc="30" dirty="0">
                <a:latin typeface="Arial"/>
                <a:cs typeface="Arial"/>
              </a:rPr>
              <a:t>true </a:t>
            </a:r>
            <a:r>
              <a:rPr lang="vi-VN" spc="25" dirty="0">
                <a:latin typeface="Arial"/>
                <a:cs typeface="Arial"/>
              </a:rPr>
              <a:t>thì</a:t>
            </a:r>
            <a:r>
              <a:rPr lang="vi-VN" spc="-155" dirty="0">
                <a:latin typeface="Arial"/>
                <a:cs typeface="Arial"/>
              </a:rPr>
              <a:t> </a:t>
            </a:r>
            <a:r>
              <a:rPr lang="vi-VN" spc="15" dirty="0">
                <a:latin typeface="Arial"/>
                <a:cs typeface="Arial"/>
              </a:rPr>
              <a:t>kết  </a:t>
            </a:r>
            <a:r>
              <a:rPr lang="vi-VN" spc="-10" dirty="0">
                <a:latin typeface="Arial"/>
                <a:cs typeface="Arial"/>
              </a:rPr>
              <a:t>quả </a:t>
            </a:r>
            <a:r>
              <a:rPr lang="vi-VN" spc="-65" dirty="0">
                <a:latin typeface="Arial"/>
                <a:cs typeface="Arial"/>
              </a:rPr>
              <a:t>của </a:t>
            </a:r>
            <a:r>
              <a:rPr lang="vi-VN" spc="15" dirty="0">
                <a:latin typeface="Arial"/>
                <a:cs typeface="Arial"/>
              </a:rPr>
              <a:t>biểu </a:t>
            </a:r>
            <a:r>
              <a:rPr lang="vi-VN" spc="-30" dirty="0">
                <a:latin typeface="Arial"/>
                <a:cs typeface="Arial"/>
              </a:rPr>
              <a:t>thức </a:t>
            </a:r>
            <a:r>
              <a:rPr lang="vi-VN" spc="-40" dirty="0">
                <a:latin typeface="Arial"/>
                <a:cs typeface="Arial"/>
              </a:rPr>
              <a:t>là </a:t>
            </a:r>
            <a:r>
              <a:rPr lang="vi-VN" b="1" spc="70" dirty="0">
                <a:solidFill>
                  <a:srgbClr val="FF0000"/>
                </a:solidFill>
                <a:latin typeface="Arial"/>
                <a:cs typeface="Arial"/>
              </a:rPr>
              <a:t>&lt;giá </a:t>
            </a:r>
            <a:r>
              <a:rPr lang="vi-VN" b="1" spc="55" dirty="0">
                <a:solidFill>
                  <a:srgbClr val="FF0000"/>
                </a:solidFill>
                <a:latin typeface="Arial"/>
                <a:cs typeface="Arial"/>
              </a:rPr>
              <a:t>trị </a:t>
            </a:r>
            <a:r>
              <a:rPr lang="vi-VN" b="1" spc="25" dirty="0">
                <a:solidFill>
                  <a:srgbClr val="FF0000"/>
                </a:solidFill>
                <a:latin typeface="Arial"/>
                <a:cs typeface="Arial"/>
              </a:rPr>
              <a:t>đúng&gt;</a:t>
            </a:r>
            <a:r>
              <a:rPr lang="vi-VN" spc="25" dirty="0">
                <a:latin typeface="Arial"/>
                <a:cs typeface="Arial"/>
              </a:rPr>
              <a:t>, </a:t>
            </a:r>
            <a:r>
              <a:rPr lang="vi-VN" spc="-70" dirty="0">
                <a:latin typeface="Arial"/>
                <a:cs typeface="Arial"/>
              </a:rPr>
              <a:t>ngược </a:t>
            </a:r>
            <a:r>
              <a:rPr lang="vi-VN" spc="-10" dirty="0">
                <a:latin typeface="Arial"/>
                <a:cs typeface="Arial"/>
              </a:rPr>
              <a:t>lại</a:t>
            </a:r>
            <a:r>
              <a:rPr lang="vi-VN" spc="65" dirty="0">
                <a:latin typeface="Arial"/>
                <a:cs typeface="Arial"/>
              </a:rPr>
              <a:t> </a:t>
            </a:r>
            <a:r>
              <a:rPr lang="vi-VN" spc="-45" dirty="0">
                <a:latin typeface="Arial"/>
                <a:cs typeface="Arial"/>
              </a:rPr>
              <a:t>là</a:t>
            </a:r>
            <a:r>
              <a:rPr lang="en-US" spc="-45" dirty="0">
                <a:latin typeface="Arial"/>
                <a:cs typeface="Arial"/>
              </a:rPr>
              <a:t> </a:t>
            </a:r>
            <a:r>
              <a:rPr lang="vi-VN" sz="2600" b="1" spc="70" dirty="0">
                <a:solidFill>
                  <a:srgbClr val="FF0000"/>
                </a:solidFill>
                <a:latin typeface="Arial"/>
                <a:cs typeface="Arial"/>
              </a:rPr>
              <a:t>&lt;giá </a:t>
            </a:r>
            <a:r>
              <a:rPr lang="vi-VN" sz="2600" b="1" spc="55" dirty="0">
                <a:solidFill>
                  <a:srgbClr val="FF0000"/>
                </a:solidFill>
                <a:latin typeface="Arial"/>
                <a:cs typeface="Arial"/>
              </a:rPr>
              <a:t>trị</a:t>
            </a:r>
            <a:r>
              <a:rPr lang="vi-VN" sz="2600" b="1" spc="-85" dirty="0">
                <a:solidFill>
                  <a:srgbClr val="FF0000"/>
                </a:solidFill>
                <a:latin typeface="Arial"/>
                <a:cs typeface="Arial"/>
              </a:rPr>
              <a:t> </a:t>
            </a:r>
            <a:r>
              <a:rPr lang="vi-VN" sz="2600" b="1" spc="-5" dirty="0">
                <a:solidFill>
                  <a:srgbClr val="FF0000"/>
                </a:solidFill>
                <a:latin typeface="Arial"/>
                <a:cs typeface="Arial"/>
              </a:rPr>
              <a:t>sai&gt;</a:t>
            </a:r>
            <a:endParaRPr lang="vi-VN" sz="2600" dirty="0">
              <a:latin typeface="Arial"/>
              <a:cs typeface="Arial"/>
            </a:endParaRPr>
          </a:p>
          <a:p>
            <a:pPr marL="12700" indent="0">
              <a:lnSpc>
                <a:spcPts val="3200"/>
              </a:lnSpc>
              <a:spcBef>
                <a:spcPts val="300"/>
              </a:spcBef>
              <a:spcAft>
                <a:spcPts val="300"/>
              </a:spcAft>
              <a:buClr>
                <a:srgbClr val="FF5A33"/>
              </a:buClr>
              <a:buNone/>
              <a:tabLst>
                <a:tab pos="356235" algn="l"/>
              </a:tabLst>
            </a:pPr>
            <a:r>
              <a:rPr lang="vi-VN" spc="-120" dirty="0">
                <a:latin typeface="Arial"/>
                <a:cs typeface="Arial"/>
              </a:rPr>
              <a:t>Ví </a:t>
            </a:r>
            <a:r>
              <a:rPr lang="vi-VN" spc="-25" dirty="0">
                <a:latin typeface="Arial"/>
                <a:cs typeface="Arial"/>
              </a:rPr>
              <a:t>dụ: </a:t>
            </a:r>
            <a:r>
              <a:rPr lang="vi-VN" spc="40" dirty="0">
                <a:latin typeface="Arial"/>
                <a:cs typeface="Arial"/>
              </a:rPr>
              <a:t>tìm </a:t>
            </a:r>
            <a:r>
              <a:rPr lang="vi-VN" spc="-70" dirty="0">
                <a:latin typeface="Arial"/>
                <a:cs typeface="Arial"/>
              </a:rPr>
              <a:t>số </a:t>
            </a:r>
            <a:r>
              <a:rPr lang="vi-VN" spc="-35" dirty="0">
                <a:latin typeface="Arial"/>
                <a:cs typeface="Arial"/>
              </a:rPr>
              <a:t>lớn </a:t>
            </a:r>
            <a:r>
              <a:rPr lang="vi-VN" spc="20" dirty="0">
                <a:latin typeface="Arial"/>
                <a:cs typeface="Arial"/>
              </a:rPr>
              <a:t>nhất </a:t>
            </a:r>
            <a:r>
              <a:rPr lang="vi-VN" spc="-75" dirty="0">
                <a:latin typeface="Arial"/>
                <a:cs typeface="Arial"/>
              </a:rPr>
              <a:t>của </a:t>
            </a:r>
            <a:r>
              <a:rPr lang="vi-VN" spc="-50" dirty="0">
                <a:latin typeface="Arial"/>
                <a:cs typeface="Arial"/>
              </a:rPr>
              <a:t>2 </a:t>
            </a:r>
            <a:r>
              <a:rPr lang="vi-VN" spc="-70" dirty="0">
                <a:latin typeface="Arial"/>
                <a:cs typeface="Arial"/>
              </a:rPr>
              <a:t>số </a:t>
            </a:r>
            <a:r>
              <a:rPr lang="vi-VN" spc="-135" dirty="0">
                <a:latin typeface="Arial"/>
                <a:cs typeface="Arial"/>
              </a:rPr>
              <a:t>a </a:t>
            </a:r>
            <a:r>
              <a:rPr lang="vi-VN" spc="-125" dirty="0">
                <a:latin typeface="Arial"/>
                <a:cs typeface="Arial"/>
              </a:rPr>
              <a:t>và</a:t>
            </a:r>
            <a:r>
              <a:rPr lang="vi-VN" spc="360" dirty="0">
                <a:latin typeface="Arial"/>
                <a:cs typeface="Arial"/>
              </a:rPr>
              <a:t> </a:t>
            </a:r>
            <a:r>
              <a:rPr lang="vi-VN" spc="85" dirty="0">
                <a:latin typeface="Arial"/>
                <a:cs typeface="Arial"/>
              </a:rPr>
              <a:t>b</a:t>
            </a:r>
            <a:endParaRPr lang="vi-VN" dirty="0">
              <a:latin typeface="Arial"/>
              <a:cs typeface="Arial"/>
            </a:endParaRPr>
          </a:p>
          <a:p>
            <a:pPr marL="127000" indent="0">
              <a:lnSpc>
                <a:spcPts val="3200"/>
              </a:lnSpc>
              <a:spcBef>
                <a:spcPts val="300"/>
              </a:spcBef>
              <a:spcAft>
                <a:spcPts val="300"/>
              </a:spcAft>
              <a:buNone/>
            </a:pPr>
            <a:r>
              <a:rPr lang="vi-VN" spc="75" dirty="0">
                <a:latin typeface="Arial"/>
                <a:cs typeface="Arial"/>
              </a:rPr>
              <a:t>int </a:t>
            </a:r>
            <a:r>
              <a:rPr lang="vi-VN" spc="-135" dirty="0">
                <a:latin typeface="Arial"/>
                <a:cs typeface="Arial"/>
              </a:rPr>
              <a:t>a </a:t>
            </a:r>
            <a:r>
              <a:rPr lang="vi-VN" spc="275" dirty="0">
                <a:latin typeface="Arial"/>
                <a:cs typeface="Arial"/>
              </a:rPr>
              <a:t>= </a:t>
            </a:r>
            <a:r>
              <a:rPr lang="vi-VN" spc="-110" dirty="0">
                <a:latin typeface="Arial"/>
                <a:cs typeface="Arial"/>
              </a:rPr>
              <a:t>1, </a:t>
            </a:r>
            <a:r>
              <a:rPr lang="vi-VN" spc="85" dirty="0">
                <a:latin typeface="Arial"/>
                <a:cs typeface="Arial"/>
              </a:rPr>
              <a:t>b </a:t>
            </a:r>
            <a:r>
              <a:rPr lang="vi-VN" spc="275" dirty="0">
                <a:latin typeface="Arial"/>
                <a:cs typeface="Arial"/>
              </a:rPr>
              <a:t>=</a:t>
            </a:r>
            <a:r>
              <a:rPr lang="vi-VN" spc="-275" dirty="0">
                <a:latin typeface="Arial"/>
                <a:cs typeface="Arial"/>
              </a:rPr>
              <a:t> </a:t>
            </a:r>
            <a:r>
              <a:rPr lang="vi-VN" spc="-110" dirty="0">
                <a:latin typeface="Arial"/>
                <a:cs typeface="Arial"/>
              </a:rPr>
              <a:t>9;</a:t>
            </a:r>
            <a:endParaRPr lang="vi-VN" dirty="0">
              <a:latin typeface="Arial"/>
              <a:cs typeface="Arial"/>
            </a:endParaRPr>
          </a:p>
          <a:p>
            <a:pPr marL="127635" indent="0">
              <a:lnSpc>
                <a:spcPts val="3200"/>
              </a:lnSpc>
              <a:spcBef>
                <a:spcPts val="300"/>
              </a:spcBef>
              <a:spcAft>
                <a:spcPts val="300"/>
              </a:spcAft>
              <a:buNone/>
            </a:pPr>
            <a:r>
              <a:rPr lang="vi-VN" spc="75" dirty="0">
                <a:latin typeface="Arial"/>
                <a:cs typeface="Arial"/>
              </a:rPr>
              <a:t>int </a:t>
            </a:r>
            <a:r>
              <a:rPr lang="vi-VN" spc="-60" dirty="0">
                <a:latin typeface="Arial"/>
                <a:cs typeface="Arial"/>
              </a:rPr>
              <a:t>max </a:t>
            </a:r>
            <a:r>
              <a:rPr lang="vi-VN" spc="275" dirty="0">
                <a:latin typeface="Arial"/>
                <a:cs typeface="Arial"/>
              </a:rPr>
              <a:t>= </a:t>
            </a:r>
            <a:r>
              <a:rPr lang="vi-VN" spc="-135" dirty="0">
                <a:solidFill>
                  <a:srgbClr val="FF0000"/>
                </a:solidFill>
                <a:latin typeface="Arial"/>
                <a:cs typeface="Arial"/>
              </a:rPr>
              <a:t>a </a:t>
            </a:r>
            <a:r>
              <a:rPr lang="vi-VN" spc="275" dirty="0">
                <a:solidFill>
                  <a:srgbClr val="FF0000"/>
                </a:solidFill>
                <a:latin typeface="Arial"/>
                <a:cs typeface="Arial"/>
              </a:rPr>
              <a:t>&gt;</a:t>
            </a:r>
            <a:r>
              <a:rPr lang="vi-VN" spc="85" dirty="0">
                <a:solidFill>
                  <a:srgbClr val="FF0000"/>
                </a:solidFill>
                <a:latin typeface="Arial"/>
                <a:cs typeface="Arial"/>
              </a:rPr>
              <a:t>b </a:t>
            </a:r>
            <a:r>
              <a:rPr lang="vi-VN" spc="-305" dirty="0">
                <a:solidFill>
                  <a:srgbClr val="FF0000"/>
                </a:solidFill>
                <a:latin typeface="Arial"/>
                <a:cs typeface="Arial"/>
              </a:rPr>
              <a:t>? </a:t>
            </a:r>
            <a:r>
              <a:rPr lang="en-US" spc="-305" dirty="0">
                <a:solidFill>
                  <a:srgbClr val="FF0000"/>
                </a:solidFill>
                <a:latin typeface="Arial"/>
                <a:cs typeface="Arial"/>
              </a:rPr>
              <a:t> </a:t>
            </a:r>
            <a:r>
              <a:rPr lang="vi-VN" spc="-135" dirty="0">
                <a:solidFill>
                  <a:srgbClr val="FF0000"/>
                </a:solidFill>
                <a:latin typeface="Arial"/>
                <a:cs typeface="Arial"/>
              </a:rPr>
              <a:t>a </a:t>
            </a:r>
            <a:r>
              <a:rPr lang="vi-VN" spc="-175" dirty="0">
                <a:solidFill>
                  <a:srgbClr val="FF0000"/>
                </a:solidFill>
                <a:latin typeface="Arial"/>
                <a:cs typeface="Arial"/>
              </a:rPr>
              <a:t>:</a:t>
            </a:r>
            <a:r>
              <a:rPr lang="vi-VN" spc="-220" dirty="0">
                <a:solidFill>
                  <a:srgbClr val="FF0000"/>
                </a:solidFill>
                <a:latin typeface="Arial"/>
                <a:cs typeface="Arial"/>
              </a:rPr>
              <a:t> </a:t>
            </a:r>
            <a:r>
              <a:rPr lang="vi-VN" spc="-50" dirty="0">
                <a:solidFill>
                  <a:srgbClr val="FF0000"/>
                </a:solidFill>
                <a:latin typeface="Arial"/>
                <a:cs typeface="Arial"/>
              </a:rPr>
              <a:t>b</a:t>
            </a:r>
            <a:r>
              <a:rPr lang="vi-VN" spc="-50" dirty="0">
                <a:latin typeface="Arial"/>
                <a:cs typeface="Arial"/>
              </a:rPr>
              <a:t>;</a:t>
            </a:r>
            <a:endParaRPr lang="vi-VN" dirty="0">
              <a:latin typeface="Arial"/>
              <a:cs typeface="Arial"/>
            </a:endParaRPr>
          </a:p>
          <a:p>
            <a:pPr algn="just"/>
            <a:endParaRPr lang="en-US" dirty="0">
              <a:latin typeface="Arial"/>
              <a:cs typeface="Arial"/>
            </a:endParaRPr>
          </a:p>
          <a:p>
            <a:pPr algn="just"/>
            <a:endParaRPr lang="en-US" dirty="0">
              <a:latin typeface="Arial"/>
              <a:cs typeface="Arial"/>
            </a:endParaRPr>
          </a:p>
          <a:p>
            <a:pPr algn="just"/>
            <a:endParaRPr lang="en-US" dirty="0">
              <a:latin typeface="Arial"/>
              <a:cs typeface="Arial"/>
            </a:endParaRPr>
          </a:p>
          <a:p>
            <a:pPr algn="just"/>
            <a:endParaRPr lang="en-US" dirty="0">
              <a:latin typeface="Arial"/>
              <a:cs typeface="Arial"/>
            </a:endParaRPr>
          </a:p>
          <a:p>
            <a:pPr lvl="1" algn="just">
              <a:lnSpc>
                <a:spcPts val="3400"/>
              </a:lnSpc>
              <a:spcBef>
                <a:spcPts val="300"/>
              </a:spcBef>
              <a:spcAft>
                <a:spcPts val="300"/>
              </a:spcAft>
            </a:pPr>
            <a:endParaRPr lang="en-US" sz="2400" dirty="0"/>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25</a:t>
            </a:fld>
            <a:endParaRPr lang="en-US"/>
          </a:p>
        </p:txBody>
      </p:sp>
    </p:spTree>
    <p:extLst>
      <p:ext uri="{BB962C8B-B14F-4D97-AF65-F5344CB8AC3E}">
        <p14:creationId xmlns:p14="http://schemas.microsoft.com/office/powerpoint/2010/main" val="2436205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điều khiển chương trình</a:t>
            </a:r>
          </a:p>
        </p:txBody>
      </p:sp>
      <p:sp>
        <p:nvSpPr>
          <p:cNvPr id="4" name="Slide Number Placeholder 3"/>
          <p:cNvSpPr>
            <a:spLocks noGrp="1"/>
          </p:cNvSpPr>
          <p:nvPr>
            <p:ph type="sldNum" sz="quarter" idx="12"/>
          </p:nvPr>
        </p:nvSpPr>
        <p:spPr/>
        <p:txBody>
          <a:bodyPr/>
          <a:lstStyle/>
          <a:p>
            <a:fld id="{DF4C498B-416A-4F27-9E1B-2DAD6BC6C92F}" type="slidenum">
              <a:rPr lang="en-US" smtClean="0"/>
              <a:t>26</a:t>
            </a:fld>
            <a:endParaRPr lang="en-US"/>
          </a:p>
        </p:txBody>
      </p:sp>
      <p:sp>
        <p:nvSpPr>
          <p:cNvPr id="6" name="Content Placeholder 5"/>
          <p:cNvSpPr>
            <a:spLocks noGrp="1"/>
          </p:cNvSpPr>
          <p:nvPr>
            <p:ph idx="1"/>
          </p:nvPr>
        </p:nvSpPr>
        <p:spPr>
          <a:xfrm>
            <a:off x="628650" y="1393902"/>
            <a:ext cx="7886700" cy="4783061"/>
          </a:xfrm>
        </p:spPr>
        <p:txBody>
          <a:bodyPr/>
          <a:lstStyle/>
          <a:p>
            <a:pPr algn="just">
              <a:lnSpc>
                <a:spcPts val="3400"/>
              </a:lnSpc>
              <a:spcBef>
                <a:spcPts val="600"/>
              </a:spcBef>
              <a:spcAft>
                <a:spcPts val="600"/>
              </a:spcAft>
            </a:pPr>
            <a:r>
              <a:rPr lang="en-US" spc="-10" dirty="0"/>
              <a:t>Tất cả các môi trường phát triển ứng dụng đều cung cấp một quy trình ra quyết định (Decision-making) được gọi là điều khiển luồng, nó điều khiển việc thực thi một nhiệm vụ. </a:t>
            </a:r>
          </a:p>
          <a:p>
            <a:pPr algn="just">
              <a:lnSpc>
                <a:spcPts val="3400"/>
              </a:lnSpc>
              <a:spcBef>
                <a:spcPts val="600"/>
              </a:spcBef>
              <a:spcAft>
                <a:spcPts val="600"/>
              </a:spcAft>
            </a:pPr>
            <a:r>
              <a:rPr lang="en-US" dirty="0"/>
              <a:t>Cấu trúc điều khiển luồng cho phép người lập trình kiểm tra sự tồn tại của một điểu khiển nào đó và ra quyết định phù hợp với điều kiện đó.</a:t>
            </a:r>
          </a:p>
          <a:p>
            <a:pPr algn="just">
              <a:lnSpc>
                <a:spcPts val="3400"/>
              </a:lnSpc>
              <a:spcBef>
                <a:spcPts val="600"/>
              </a:spcBef>
              <a:spcAft>
                <a:spcPts val="600"/>
              </a:spcAft>
            </a:pPr>
            <a:r>
              <a:rPr lang="en-US" dirty="0"/>
              <a:t>Có ba loại cấu trúc điều khiển chương trình:</a:t>
            </a:r>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204708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điều khiển chương trình</a:t>
            </a:r>
          </a:p>
        </p:txBody>
      </p:sp>
      <p:sp>
        <p:nvSpPr>
          <p:cNvPr id="4" name="Slide Number Placeholder 3"/>
          <p:cNvSpPr>
            <a:spLocks noGrp="1"/>
          </p:cNvSpPr>
          <p:nvPr>
            <p:ph type="sldNum" sz="quarter" idx="12"/>
          </p:nvPr>
        </p:nvSpPr>
        <p:spPr/>
        <p:txBody>
          <a:bodyPr/>
          <a:lstStyle/>
          <a:p>
            <a:fld id="{DF4C498B-416A-4F27-9E1B-2DAD6BC6C92F}" type="slidenum">
              <a:rPr lang="en-US" smtClean="0"/>
              <a:t>27</a:t>
            </a:fld>
            <a:endParaRPr lang="en-US" dirty="0"/>
          </a:p>
        </p:txBody>
      </p:sp>
      <p:graphicFrame>
        <p:nvGraphicFramePr>
          <p:cNvPr id="7" name="Diagram 6"/>
          <p:cNvGraphicFramePr/>
          <p:nvPr>
            <p:extLst>
              <p:ext uri="{D42A27DB-BD31-4B8C-83A1-F6EECF244321}">
                <p14:modId xmlns:p14="http://schemas.microsoft.com/office/powerpoint/2010/main" val="3650962938"/>
              </p:ext>
            </p:extLst>
          </p:nvPr>
        </p:nvGraphicFramePr>
        <p:xfrm>
          <a:off x="628650" y="1397000"/>
          <a:ext cx="7886700" cy="4858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628649" y="3746819"/>
            <a:ext cx="2226063" cy="1785104"/>
          </a:xfrm>
          <a:prstGeom prst="rect">
            <a:avLst/>
          </a:prstGeom>
          <a:noFill/>
          <a:ln w="25400">
            <a:solidFill>
              <a:schemeClr val="accent1"/>
            </a:solidFill>
          </a:ln>
        </p:spPr>
        <p:txBody>
          <a:bodyPr wrap="square" rtlCol="0">
            <a:spAutoFit/>
          </a:bodyPr>
          <a:lstStyle/>
          <a:p>
            <a:pPr marL="111125" indent="-111125" algn="just">
              <a:buFontTx/>
              <a:buChar char="-"/>
            </a:pPr>
            <a:r>
              <a:rPr lang="en-US" sz="2200" dirty="0"/>
              <a:t>Một dãy các câu lệnh, các lời gọi hàm.</a:t>
            </a:r>
          </a:p>
          <a:p>
            <a:pPr marL="111125" indent="-111125" algn="just">
              <a:buFontTx/>
              <a:buChar char="-"/>
            </a:pPr>
            <a:r>
              <a:rPr lang="en-US" sz="2200" dirty="0"/>
              <a:t>Thực hiện tuần tự.</a:t>
            </a:r>
          </a:p>
        </p:txBody>
      </p:sp>
      <p:sp>
        <p:nvSpPr>
          <p:cNvPr id="9" name="TextBox 8"/>
          <p:cNvSpPr txBox="1"/>
          <p:nvPr/>
        </p:nvSpPr>
        <p:spPr>
          <a:xfrm>
            <a:off x="3267772" y="3746819"/>
            <a:ext cx="2281818" cy="2985433"/>
          </a:xfrm>
          <a:prstGeom prst="rect">
            <a:avLst/>
          </a:prstGeom>
          <a:noFill/>
          <a:ln w="25400">
            <a:solidFill>
              <a:schemeClr val="accent1"/>
            </a:solidFill>
          </a:ln>
        </p:spPr>
        <p:txBody>
          <a:bodyPr wrap="square" rtlCol="0">
            <a:spAutoFit/>
          </a:bodyPr>
          <a:lstStyle/>
          <a:p>
            <a:r>
              <a:rPr lang="en-US" sz="2200" dirty="0"/>
              <a:t>Điều khiển rẽ nhánh:</a:t>
            </a:r>
          </a:p>
          <a:p>
            <a:r>
              <a:rPr lang="en-US" sz="2000" b="1" dirty="0"/>
              <a:t>- if </a:t>
            </a:r>
            <a:r>
              <a:rPr lang="en-US" sz="2000" dirty="0"/>
              <a:t>(điều kiện)</a:t>
            </a:r>
          </a:p>
          <a:p>
            <a:r>
              <a:rPr lang="en-US" sz="2000" dirty="0"/>
              <a:t>       câu lệnh;</a:t>
            </a:r>
          </a:p>
          <a:p>
            <a:r>
              <a:rPr lang="en-US" sz="2000" b="1" dirty="0"/>
              <a:t>- if </a:t>
            </a:r>
            <a:r>
              <a:rPr lang="en-US" sz="2000" dirty="0"/>
              <a:t>(điều kiện)</a:t>
            </a:r>
          </a:p>
          <a:p>
            <a:r>
              <a:rPr lang="en-US" sz="2000" dirty="0"/>
              <a:t>       câu lệnh1;</a:t>
            </a:r>
          </a:p>
          <a:p>
            <a:r>
              <a:rPr lang="en-US" sz="2000" b="1" dirty="0"/>
              <a:t>   else</a:t>
            </a:r>
            <a:endParaRPr lang="en-US" sz="2000" dirty="0"/>
          </a:p>
          <a:p>
            <a:r>
              <a:rPr lang="en-US" sz="2000" dirty="0"/>
              <a:t>       câu lệnh2;</a:t>
            </a:r>
          </a:p>
          <a:p>
            <a:r>
              <a:rPr lang="en-US" sz="2000" dirty="0"/>
              <a:t>- </a:t>
            </a:r>
            <a:r>
              <a:rPr lang="en-US" sz="2000" b="1" dirty="0"/>
              <a:t>switch – case</a:t>
            </a:r>
          </a:p>
        </p:txBody>
      </p:sp>
      <p:sp>
        <p:nvSpPr>
          <p:cNvPr id="10" name="TextBox 9"/>
          <p:cNvSpPr txBox="1"/>
          <p:nvPr/>
        </p:nvSpPr>
        <p:spPr>
          <a:xfrm>
            <a:off x="6133635" y="3746819"/>
            <a:ext cx="2370563" cy="2246769"/>
          </a:xfrm>
          <a:prstGeom prst="rect">
            <a:avLst/>
          </a:prstGeom>
          <a:noFill/>
          <a:ln w="25400">
            <a:solidFill>
              <a:schemeClr val="accent1"/>
            </a:solidFill>
          </a:ln>
        </p:spPr>
        <p:txBody>
          <a:bodyPr wrap="square" rtlCol="0">
            <a:spAutoFit/>
          </a:bodyPr>
          <a:lstStyle/>
          <a:p>
            <a:r>
              <a:rPr lang="en-US" sz="2000" b="1" dirty="0"/>
              <a:t>- while</a:t>
            </a:r>
            <a:r>
              <a:rPr lang="en-US" sz="2000" dirty="0"/>
              <a:t> (điều kiện)</a:t>
            </a:r>
          </a:p>
          <a:p>
            <a:r>
              <a:rPr lang="en-US" sz="2000" dirty="0"/>
              <a:t>             câu lệnh;</a:t>
            </a:r>
          </a:p>
          <a:p>
            <a:r>
              <a:rPr lang="en-US" sz="2000" dirty="0"/>
              <a:t>- </a:t>
            </a:r>
            <a:r>
              <a:rPr lang="en-US" sz="2000" b="1" dirty="0"/>
              <a:t>do</a:t>
            </a:r>
            <a:r>
              <a:rPr lang="en-US" sz="2000" dirty="0"/>
              <a:t> {</a:t>
            </a:r>
          </a:p>
          <a:p>
            <a:r>
              <a:rPr lang="en-US" sz="2000" dirty="0"/>
              <a:t>       câu lệnh;</a:t>
            </a:r>
          </a:p>
          <a:p>
            <a:r>
              <a:rPr lang="en-US" sz="2000" dirty="0"/>
              <a:t>        } </a:t>
            </a:r>
          </a:p>
          <a:p>
            <a:r>
              <a:rPr lang="en-US" sz="2000" b="1" dirty="0"/>
              <a:t>   while</a:t>
            </a:r>
            <a:r>
              <a:rPr lang="en-US" sz="2000" dirty="0"/>
              <a:t> (điều kiện)</a:t>
            </a:r>
          </a:p>
          <a:p>
            <a:r>
              <a:rPr lang="en-US" sz="2000" dirty="0"/>
              <a:t>- </a:t>
            </a:r>
            <a:r>
              <a:rPr lang="en-US" sz="2000" b="1" dirty="0"/>
              <a:t>for</a:t>
            </a:r>
          </a:p>
        </p:txBody>
      </p:sp>
    </p:spTree>
    <p:extLst>
      <p:ext uri="{BB962C8B-B14F-4D97-AF65-F5344CB8AC3E}">
        <p14:creationId xmlns:p14="http://schemas.microsoft.com/office/powerpoint/2010/main" val="54876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28</a:t>
            </a:fld>
            <a:endParaRPr lang="en-US"/>
          </a:p>
        </p:txBody>
      </p:sp>
      <p:sp>
        <p:nvSpPr>
          <p:cNvPr id="6" name="Content Placeholder 5"/>
          <p:cNvSpPr>
            <a:spLocks noGrp="1"/>
          </p:cNvSpPr>
          <p:nvPr>
            <p:ph idx="1"/>
          </p:nvPr>
        </p:nvSpPr>
        <p:spPr>
          <a:xfrm>
            <a:off x="628650" y="1393902"/>
            <a:ext cx="7886700" cy="4783061"/>
          </a:xfrm>
        </p:spPr>
        <p:txBody>
          <a:bodyPr/>
          <a:lstStyle/>
          <a:p>
            <a:pPr algn="just">
              <a:lnSpc>
                <a:spcPts val="3200"/>
              </a:lnSpc>
              <a:spcBef>
                <a:spcPts val="300"/>
              </a:spcBef>
              <a:spcAft>
                <a:spcPts val="300"/>
              </a:spcAft>
            </a:pPr>
            <a:r>
              <a:rPr lang="en-US" b="1" spc="-10" dirty="0"/>
              <a:t>Lệnh điều khiển if có dạng:</a:t>
            </a:r>
          </a:p>
          <a:p>
            <a:pPr marL="0" indent="1538288">
              <a:lnSpc>
                <a:spcPts val="3200"/>
              </a:lnSpc>
              <a:spcBef>
                <a:spcPts val="300"/>
              </a:spcBef>
              <a:spcAft>
                <a:spcPts val="300"/>
              </a:spcAft>
              <a:buNone/>
            </a:pPr>
            <a:r>
              <a:rPr lang="en-US" spc="-10" dirty="0">
                <a:solidFill>
                  <a:schemeClr val="accent2">
                    <a:lumMod val="75000"/>
                  </a:schemeClr>
                </a:solidFill>
              </a:rPr>
              <a:t>If (điều kiện)</a:t>
            </a:r>
          </a:p>
          <a:p>
            <a:pPr marL="0" indent="1538288">
              <a:lnSpc>
                <a:spcPts val="3200"/>
              </a:lnSpc>
              <a:spcBef>
                <a:spcPts val="300"/>
              </a:spcBef>
              <a:spcAft>
                <a:spcPts val="300"/>
              </a:spcAft>
              <a:buNone/>
            </a:pPr>
            <a:r>
              <a:rPr lang="en-US" spc="-10" dirty="0">
                <a:solidFill>
                  <a:schemeClr val="accent2">
                    <a:lumMod val="75000"/>
                  </a:schemeClr>
                </a:solidFill>
              </a:rPr>
              <a:t>    Câu lệnh;</a:t>
            </a:r>
          </a:p>
          <a:p>
            <a:pPr marL="457200" lvl="1" indent="0" algn="just">
              <a:lnSpc>
                <a:spcPts val="3200"/>
              </a:lnSpc>
              <a:spcBef>
                <a:spcPts val="300"/>
              </a:spcBef>
              <a:spcAft>
                <a:spcPts val="300"/>
              </a:spcAft>
              <a:buNone/>
            </a:pPr>
            <a:r>
              <a:rPr lang="en-US" dirty="0"/>
              <a:t>Trong đó:</a:t>
            </a:r>
          </a:p>
          <a:p>
            <a:pPr marL="457200" lvl="1" indent="0" algn="just">
              <a:lnSpc>
                <a:spcPts val="3200"/>
              </a:lnSpc>
              <a:spcBef>
                <a:spcPts val="300"/>
              </a:spcBef>
              <a:spcAft>
                <a:spcPts val="300"/>
              </a:spcAft>
              <a:buNone/>
            </a:pPr>
            <a:r>
              <a:rPr lang="en-US" sz="2800" spc="-10" dirty="0">
                <a:solidFill>
                  <a:schemeClr val="accent2">
                    <a:lumMod val="75000"/>
                  </a:schemeClr>
                </a:solidFill>
                <a:latin typeface="Arial" panose="020B0604020202020204" pitchFamily="34" charset="0"/>
                <a:cs typeface="Arial" panose="020B0604020202020204" pitchFamily="34" charset="0"/>
              </a:rPr>
              <a:t>(điều kiện) </a:t>
            </a:r>
            <a:r>
              <a:rPr lang="en-US" dirty="0"/>
              <a:t>là biểu thức logic.</a:t>
            </a:r>
          </a:p>
          <a:p>
            <a:pPr marL="457200" lvl="1" indent="0" algn="just">
              <a:lnSpc>
                <a:spcPts val="3200"/>
              </a:lnSpc>
              <a:spcBef>
                <a:spcPts val="300"/>
              </a:spcBef>
              <a:spcAft>
                <a:spcPts val="300"/>
              </a:spcAft>
              <a:buNone/>
            </a:pPr>
            <a:r>
              <a:rPr lang="en-US" sz="2800" spc="-10" dirty="0">
                <a:solidFill>
                  <a:schemeClr val="accent2">
                    <a:lumMod val="75000"/>
                  </a:schemeClr>
                </a:solidFill>
                <a:latin typeface="Arial" panose="020B0604020202020204" pitchFamily="34" charset="0"/>
                <a:cs typeface="Arial" panose="020B0604020202020204" pitchFamily="34" charset="0"/>
              </a:rPr>
              <a:t>Câu lệnh </a:t>
            </a:r>
            <a:r>
              <a:rPr lang="en-US" dirty="0"/>
              <a:t>được thực hiện nếu </a:t>
            </a:r>
            <a:r>
              <a:rPr lang="en-US" sz="2800" spc="-10" dirty="0">
                <a:solidFill>
                  <a:schemeClr val="accent2">
                    <a:lumMod val="75000"/>
                  </a:schemeClr>
                </a:solidFill>
                <a:latin typeface="Arial" panose="020B0604020202020204" pitchFamily="34" charset="0"/>
                <a:cs typeface="Arial" panose="020B0604020202020204" pitchFamily="34" charset="0"/>
              </a:rPr>
              <a:t>điều kiện </a:t>
            </a:r>
            <a:r>
              <a:rPr lang="en-US" dirty="0"/>
              <a:t>có giá trị </a:t>
            </a:r>
            <a:r>
              <a:rPr lang="en-US" sz="2800" spc="-10" dirty="0">
                <a:solidFill>
                  <a:schemeClr val="accent2">
                    <a:lumMod val="75000"/>
                  </a:schemeClr>
                </a:solidFill>
                <a:latin typeface="Arial" panose="020B0604020202020204" pitchFamily="34" charset="0"/>
                <a:cs typeface="Arial" panose="020B0604020202020204" pitchFamily="34" charset="0"/>
              </a:rPr>
              <a:t>true</a:t>
            </a:r>
            <a:r>
              <a:rPr lang="en-US" dirty="0"/>
              <a:t>, ngược lại bỏ qua.</a:t>
            </a:r>
          </a:p>
          <a:p>
            <a:pPr marL="457200" lvl="1" indent="0" algn="just">
              <a:lnSpc>
                <a:spcPts val="3200"/>
              </a:lnSpc>
              <a:spcBef>
                <a:spcPts val="300"/>
              </a:spcBef>
              <a:spcAft>
                <a:spcPts val="300"/>
              </a:spcAft>
              <a:buNone/>
            </a:pPr>
            <a:r>
              <a:rPr lang="en-US" sz="2800" spc="-10" dirty="0">
                <a:solidFill>
                  <a:schemeClr val="accent2">
                    <a:lumMod val="75000"/>
                  </a:schemeClr>
                </a:solidFill>
                <a:latin typeface="Arial" panose="020B0604020202020204" pitchFamily="34" charset="0"/>
                <a:cs typeface="Arial" panose="020B0604020202020204" pitchFamily="34" charset="0"/>
              </a:rPr>
              <a:t>Câu lệnh </a:t>
            </a:r>
            <a:r>
              <a:rPr lang="en-US" dirty="0"/>
              <a:t>có thể là một câu lệnh phức.</a:t>
            </a: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824883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29</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marL="290513" lvl="1" indent="-290513" algn="just">
              <a:lnSpc>
                <a:spcPts val="3200"/>
              </a:lnSpc>
              <a:spcBef>
                <a:spcPts val="300"/>
              </a:spcBef>
              <a:spcAft>
                <a:spcPts val="300"/>
              </a:spcAft>
              <a:buFont typeface="Arial" panose="020B0604020202020204" pitchFamily="34" charset="0"/>
              <a:buChar char="•"/>
            </a:pPr>
            <a:r>
              <a:rPr lang="en-US" sz="2800" b="1" dirty="0"/>
              <a:t>Lệnh điều khiển if - else có dạng:</a:t>
            </a:r>
          </a:p>
          <a:p>
            <a:pPr marL="0" indent="1538288">
              <a:spcBef>
                <a:spcPts val="0"/>
              </a:spcBef>
              <a:buNone/>
            </a:pPr>
            <a:r>
              <a:rPr lang="en-US" dirty="0">
                <a:solidFill>
                  <a:schemeClr val="accent2">
                    <a:lumMod val="75000"/>
                  </a:schemeClr>
                </a:solidFill>
                <a:latin typeface="+mn-lt"/>
                <a:cs typeface="+mn-cs"/>
              </a:rPr>
              <a:t>If (điều kiện)</a:t>
            </a:r>
          </a:p>
          <a:p>
            <a:pPr marL="0" indent="1538288">
              <a:spcBef>
                <a:spcPts val="0"/>
              </a:spcBef>
              <a:buNone/>
            </a:pPr>
            <a:r>
              <a:rPr lang="en-US" dirty="0">
                <a:solidFill>
                  <a:schemeClr val="accent2">
                    <a:lumMod val="75000"/>
                  </a:schemeClr>
                </a:solidFill>
                <a:latin typeface="+mn-lt"/>
                <a:cs typeface="+mn-cs"/>
              </a:rPr>
              <a:t>    Câu lệnh 1;</a:t>
            </a:r>
          </a:p>
          <a:p>
            <a:pPr marL="0" indent="1538288">
              <a:spcBef>
                <a:spcPts val="0"/>
              </a:spcBef>
              <a:buNone/>
            </a:pPr>
            <a:r>
              <a:rPr lang="en-US" dirty="0">
                <a:solidFill>
                  <a:schemeClr val="accent2">
                    <a:lumMod val="75000"/>
                  </a:schemeClr>
                </a:solidFill>
                <a:latin typeface="+mn-lt"/>
                <a:cs typeface="+mn-cs"/>
              </a:rPr>
              <a:t>else</a:t>
            </a:r>
          </a:p>
          <a:p>
            <a:pPr marL="0" indent="1538288">
              <a:spcBef>
                <a:spcPts val="0"/>
              </a:spcBef>
              <a:buNone/>
            </a:pPr>
            <a:r>
              <a:rPr lang="en-US" dirty="0">
                <a:solidFill>
                  <a:schemeClr val="accent2">
                    <a:lumMod val="75000"/>
                  </a:schemeClr>
                </a:solidFill>
                <a:latin typeface="+mn-lt"/>
                <a:cs typeface="+mn-cs"/>
              </a:rPr>
              <a:t>    Câu lệnh 2;</a:t>
            </a:r>
          </a:p>
          <a:p>
            <a:pPr marL="457200" lvl="1" indent="0" algn="just">
              <a:lnSpc>
                <a:spcPts val="3200"/>
              </a:lnSpc>
              <a:spcBef>
                <a:spcPts val="300"/>
              </a:spcBef>
              <a:spcAft>
                <a:spcPts val="300"/>
              </a:spcAft>
              <a:buNone/>
            </a:pPr>
            <a:r>
              <a:rPr lang="en-US" dirty="0"/>
              <a:t>Trong đó:</a:t>
            </a:r>
          </a:p>
          <a:p>
            <a:pPr marL="457200" lvl="1" indent="0" algn="just">
              <a:lnSpc>
                <a:spcPts val="3200"/>
              </a:lnSpc>
              <a:spcBef>
                <a:spcPts val="300"/>
              </a:spcBef>
              <a:spcAft>
                <a:spcPts val="300"/>
              </a:spcAft>
              <a:buNone/>
            </a:pPr>
            <a:r>
              <a:rPr lang="en-US" sz="2800" dirty="0">
                <a:solidFill>
                  <a:schemeClr val="accent2">
                    <a:lumMod val="75000"/>
                  </a:schemeClr>
                </a:solidFill>
              </a:rPr>
              <a:t>(điều kiện) </a:t>
            </a:r>
            <a:r>
              <a:rPr lang="en-US" dirty="0"/>
              <a:t>là biểu thức logic.</a:t>
            </a:r>
          </a:p>
          <a:p>
            <a:pPr marL="457200" lvl="1" indent="0" algn="just">
              <a:lnSpc>
                <a:spcPts val="3200"/>
              </a:lnSpc>
              <a:spcBef>
                <a:spcPts val="300"/>
              </a:spcBef>
              <a:spcAft>
                <a:spcPts val="300"/>
              </a:spcAft>
              <a:buNone/>
            </a:pPr>
            <a:r>
              <a:rPr lang="en-US" sz="2800" dirty="0">
                <a:solidFill>
                  <a:schemeClr val="accent2">
                    <a:lumMod val="75000"/>
                  </a:schemeClr>
                </a:solidFill>
              </a:rPr>
              <a:t>Câu lệnh 1 </a:t>
            </a:r>
            <a:r>
              <a:rPr lang="en-US" spc="-70" dirty="0"/>
              <a:t>được thực hiện nếu </a:t>
            </a:r>
            <a:r>
              <a:rPr lang="en-US" sz="2800" dirty="0">
                <a:solidFill>
                  <a:schemeClr val="accent2">
                    <a:lumMod val="75000"/>
                  </a:schemeClr>
                </a:solidFill>
              </a:rPr>
              <a:t>điều kiện </a:t>
            </a:r>
            <a:r>
              <a:rPr lang="en-US" spc="-70" dirty="0"/>
              <a:t>có giá trị </a:t>
            </a:r>
            <a:r>
              <a:rPr lang="en-US" sz="2800" dirty="0">
                <a:solidFill>
                  <a:schemeClr val="accent2">
                    <a:lumMod val="75000"/>
                  </a:schemeClr>
                </a:solidFill>
              </a:rPr>
              <a:t>true</a:t>
            </a:r>
            <a:r>
              <a:rPr lang="en-US" spc="-70" dirty="0"/>
              <a:t>, ngược lại thực hiện </a:t>
            </a:r>
            <a:r>
              <a:rPr lang="en-US" sz="2800" dirty="0">
                <a:solidFill>
                  <a:schemeClr val="accent2">
                    <a:lumMod val="75000"/>
                  </a:schemeClr>
                </a:solidFill>
              </a:rPr>
              <a:t>Câu lệnh 2 </a:t>
            </a:r>
            <a:r>
              <a:rPr lang="en-US" spc="-70" dirty="0"/>
              <a:t>.</a:t>
            </a:r>
          </a:p>
          <a:p>
            <a:pPr marL="457200" lvl="1" indent="0" algn="just">
              <a:lnSpc>
                <a:spcPts val="3200"/>
              </a:lnSpc>
              <a:spcBef>
                <a:spcPts val="300"/>
              </a:spcBef>
              <a:spcAft>
                <a:spcPts val="300"/>
              </a:spcAft>
              <a:buNone/>
            </a:pPr>
            <a:r>
              <a:rPr lang="en-US" dirty="0"/>
              <a:t>Câu lệnh </a:t>
            </a:r>
            <a:r>
              <a:rPr lang="en-US" sz="2800" dirty="0">
                <a:solidFill>
                  <a:schemeClr val="accent2">
                    <a:lumMod val="75000"/>
                  </a:schemeClr>
                </a:solidFill>
              </a:rPr>
              <a:t>Câu lệnh 1</a:t>
            </a:r>
            <a:r>
              <a:rPr lang="en-US" dirty="0">
                <a:latin typeface="Courier New" panose="02070309020205020404" pitchFamily="49" charset="0"/>
                <a:ea typeface="Courier" panose="02020500000000000000" pitchFamily="18" charset="0"/>
                <a:cs typeface="Courier New" panose="02070309020205020404" pitchFamily="49" charset="0"/>
              </a:rPr>
              <a:t>, </a:t>
            </a:r>
            <a:r>
              <a:rPr lang="en-US" sz="2800" dirty="0">
                <a:solidFill>
                  <a:schemeClr val="accent2">
                    <a:lumMod val="75000"/>
                  </a:schemeClr>
                </a:solidFill>
              </a:rPr>
              <a:t>Câu lệnh 2 </a:t>
            </a:r>
            <a:r>
              <a:rPr lang="en-US" dirty="0"/>
              <a:t>có thể là một câu lệnh phức.</a:t>
            </a: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2996227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30</a:t>
            </a:fld>
            <a:endParaRPr lang="en-US"/>
          </a:p>
        </p:txBody>
      </p:sp>
      <p:sp>
        <p:nvSpPr>
          <p:cNvPr id="4" name="TextBox 3"/>
          <p:cNvSpPr txBox="1"/>
          <p:nvPr/>
        </p:nvSpPr>
        <p:spPr>
          <a:xfrm>
            <a:off x="1962613" y="3691053"/>
            <a:ext cx="4638907" cy="1477328"/>
          </a:xfrm>
          <a:prstGeom prst="rect">
            <a:avLst/>
          </a:prstGeom>
          <a:noFill/>
        </p:spPr>
        <p:txBody>
          <a:bodyPr wrap="square" rtlCol="0">
            <a:spAutoFit/>
          </a:bodyPr>
          <a:lstStyle/>
          <a:p>
            <a:r>
              <a:rPr lang="en-US" sz="2400" dirty="0">
                <a:solidFill>
                  <a:srgbClr val="FFFFFF"/>
                </a:solidFill>
              </a:rPr>
              <a:t>Viết chương trình nhập vào 1 số nguyên n bất kỳ (</a:t>
            </a:r>
            <a:r>
              <a:rPr lang="en-US" sz="2400" i="1" dirty="0">
                <a:solidFill>
                  <a:srgbClr val="FFFFFF"/>
                </a:solidFill>
              </a:rPr>
              <a:t>n &gt; 0</a:t>
            </a:r>
            <a:r>
              <a:rPr lang="en-US" sz="2400" dirty="0">
                <a:solidFill>
                  <a:srgbClr val="FFFFFF"/>
                </a:solidFill>
              </a:rPr>
              <a:t>) và tính tổng các chữ số của số đó.</a:t>
            </a:r>
          </a:p>
          <a:p>
            <a:endParaRPr lang="en-US" dirty="0"/>
          </a:p>
        </p:txBody>
      </p:sp>
    </p:spTree>
    <p:extLst>
      <p:ext uri="{BB962C8B-B14F-4D97-AF65-F5344CB8AC3E}">
        <p14:creationId xmlns:p14="http://schemas.microsoft.com/office/powerpoint/2010/main" val="3629510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7886700" cy="5126964"/>
          </a:xfrm>
        </p:spPr>
        <p:txBody>
          <a:bodyPr>
            <a:noAutofit/>
          </a:bodyPr>
          <a:lstStyle/>
          <a:p>
            <a:pPr algn="just"/>
            <a:r>
              <a:rPr lang="en-US" b="1" dirty="0"/>
              <a:t>Ví dụ:</a:t>
            </a:r>
            <a:r>
              <a:rPr lang="en-US" dirty="0"/>
              <a:t> chúng ta nhập vào số 954 thì tổng các chữ số của số này = 9 + 5 + 4 = 18.</a:t>
            </a:r>
          </a:p>
          <a:p>
            <a:pPr algn="just"/>
            <a:r>
              <a:rPr lang="en-US" b="1" dirty="0"/>
              <a:t>Hướng dẫn:</a:t>
            </a:r>
            <a:r>
              <a:rPr lang="en-US" dirty="0"/>
              <a:t> Để tính tổng các chữ số của một số nguyên dương, chúng ta sẽ thực hiện phép chia lấy dư số đó cho 10. Sau mỗi lần thực hiện phép chia lấy dư này, chúng ta sẽ cộng các số dư đó lại và chia tiếp số nguyên dương đó cho 10. Sau đó, quay lại thực hiện các bước vừa rồi, chương trình sẽ kết thúc khi số đó = 0.</a:t>
            </a:r>
          </a:p>
          <a:p>
            <a:pPr marL="0" indent="0" algn="just">
              <a:lnSpc>
                <a:spcPts val="3200"/>
              </a:lnSpc>
              <a:spcBef>
                <a:spcPts val="300"/>
              </a:spcBef>
              <a:spcAft>
                <a:spcPts val="300"/>
              </a:spcAft>
              <a:buNone/>
            </a:pPr>
            <a:endParaRPr lang="vi-VN" dirty="0">
              <a:latin typeface="Arial"/>
              <a:cs typeface="Arial"/>
            </a:endParaRPr>
          </a:p>
          <a:p>
            <a:pPr algn="just"/>
            <a:endParaRPr lang="en-US" dirty="0">
              <a:latin typeface="Arial"/>
              <a:cs typeface="Arial"/>
            </a:endParaRPr>
          </a:p>
          <a:p>
            <a:pPr algn="just"/>
            <a:endParaRPr lang="en-US" dirty="0">
              <a:latin typeface="Arial"/>
              <a:cs typeface="Arial"/>
            </a:endParaRPr>
          </a:p>
          <a:p>
            <a:pPr algn="just"/>
            <a:endParaRPr lang="en-US" dirty="0">
              <a:latin typeface="Arial"/>
              <a:cs typeface="Arial"/>
            </a:endParaRPr>
          </a:p>
          <a:p>
            <a:pPr algn="just"/>
            <a:endParaRPr lang="en-US" dirty="0">
              <a:latin typeface="Arial"/>
              <a:cs typeface="Arial"/>
            </a:endParaRPr>
          </a:p>
          <a:p>
            <a:pPr lvl="1" algn="just">
              <a:lnSpc>
                <a:spcPts val="3400"/>
              </a:lnSpc>
              <a:spcBef>
                <a:spcPts val="300"/>
              </a:spcBef>
              <a:spcAft>
                <a:spcPts val="300"/>
              </a:spcAft>
            </a:pPr>
            <a:endParaRPr lang="en-US" sz="2400" dirty="0"/>
          </a:p>
          <a:p>
            <a:pPr lvl="1" algn="just"/>
            <a:endParaRPr lang="en-US" dirty="0"/>
          </a:p>
          <a:p>
            <a:pPr lvl="1" algn="just"/>
            <a:endParaRPr lang="en-US"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31</a:t>
            </a:fld>
            <a:endParaRPr lang="en-US"/>
          </a:p>
        </p:txBody>
      </p:sp>
    </p:spTree>
    <p:extLst>
      <p:ext uri="{BB962C8B-B14F-4D97-AF65-F5344CB8AC3E}">
        <p14:creationId xmlns:p14="http://schemas.microsoft.com/office/powerpoint/2010/main" val="3413068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Toán tử    </a:t>
            </a:r>
          </a:p>
        </p:txBody>
      </p:sp>
      <p:sp>
        <p:nvSpPr>
          <p:cNvPr id="3" name="Content Placeholder 2"/>
          <p:cNvSpPr>
            <a:spLocks noGrp="1"/>
          </p:cNvSpPr>
          <p:nvPr>
            <p:ph idx="1"/>
          </p:nvPr>
        </p:nvSpPr>
        <p:spPr>
          <a:xfrm>
            <a:off x="628650" y="1396499"/>
            <a:ext cx="8113906" cy="5126964"/>
          </a:xfrm>
        </p:spPr>
        <p:txBody>
          <a:bodyPr>
            <a:noAutofit/>
          </a:bodyPr>
          <a:lstStyle/>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public static void main(String[] args)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int n, soDu, tong = 0;</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Scanner scanner = new Scanner(System.in);</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System.out.println("Nhập vào số nguyên dương bất kỳ: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n = scanner.nextInt();</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while (n &gt; 0)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soDu = n % 10;</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n = n / 10;</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tong += soDu;</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a:t>
            </a:r>
            <a:r>
              <a:rPr lang="en-US" sz="2400" b="1" spc="-240" dirty="0">
                <a:latin typeface="Courier" panose="02020500000000000000" pitchFamily="18" charset="0"/>
                <a:ea typeface="Courier" panose="02020500000000000000" pitchFamily="18" charset="0"/>
                <a:cs typeface="Courier" panose="02020500000000000000" pitchFamily="18" charset="0"/>
              </a:rPr>
              <a:t>System.out.println("Tổng các chữ số = " + tong);</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a:t>
            </a:r>
          </a:p>
          <a:p>
            <a:pPr marL="0" indent="0" algn="just">
              <a:lnSpc>
                <a:spcPts val="3200"/>
              </a:lnSpc>
              <a:spcBef>
                <a:spcPts val="300"/>
              </a:spcBef>
              <a:spcAft>
                <a:spcPts val="300"/>
              </a:spcAft>
              <a:buNone/>
            </a:pPr>
            <a:endParaRPr lang="vi-VN" dirty="0">
              <a:latin typeface="Arial"/>
              <a:cs typeface="Arial"/>
            </a:endParaRPr>
          </a:p>
          <a:p>
            <a:pPr algn="just"/>
            <a:endParaRPr lang="en-US" dirty="0">
              <a:latin typeface="Arial"/>
              <a:cs typeface="Arial"/>
            </a:endParaRPr>
          </a:p>
          <a:p>
            <a:pPr algn="just"/>
            <a:endParaRPr lang="en-US" dirty="0">
              <a:latin typeface="Arial"/>
              <a:cs typeface="Arial"/>
            </a:endParaRPr>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32</a:t>
            </a:fld>
            <a:endParaRPr lang="en-US"/>
          </a:p>
        </p:txBody>
      </p:sp>
    </p:spTree>
    <p:extLst>
      <p:ext uri="{BB962C8B-B14F-4D97-AF65-F5344CB8AC3E}">
        <p14:creationId xmlns:p14="http://schemas.microsoft.com/office/powerpoint/2010/main" val="2566950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33</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marL="290513" lvl="1" indent="-290513" algn="just">
              <a:lnSpc>
                <a:spcPts val="3200"/>
              </a:lnSpc>
              <a:spcBef>
                <a:spcPts val="300"/>
              </a:spcBef>
              <a:spcAft>
                <a:spcPts val="300"/>
              </a:spcAft>
              <a:buFont typeface="Arial" panose="020B0604020202020204" pitchFamily="34" charset="0"/>
              <a:buChar char="•"/>
            </a:pPr>
            <a:r>
              <a:rPr lang="en-US" sz="2800" b="1" dirty="0"/>
              <a:t>Lệnh điều khiển if - else lồng nhau:</a:t>
            </a:r>
          </a:p>
          <a:p>
            <a:pPr marL="0" indent="1538288">
              <a:spcBef>
                <a:spcPts val="300"/>
              </a:spcBef>
              <a:spcAft>
                <a:spcPts val="300"/>
              </a:spcAft>
              <a:buNone/>
            </a:pPr>
            <a:r>
              <a:rPr lang="en-US" dirty="0">
                <a:solidFill>
                  <a:schemeClr val="accent2">
                    <a:lumMod val="75000"/>
                  </a:schemeClr>
                </a:solidFill>
                <a:latin typeface="+mn-lt"/>
                <a:cs typeface="+mn-cs"/>
              </a:rPr>
              <a:t>If (điều kiện1){</a:t>
            </a:r>
          </a:p>
          <a:p>
            <a:pPr marL="0" indent="1538288">
              <a:spcBef>
                <a:spcPts val="300"/>
              </a:spcBef>
              <a:spcAft>
                <a:spcPts val="300"/>
              </a:spcAft>
              <a:buNone/>
            </a:pPr>
            <a:r>
              <a:rPr lang="en-US" dirty="0">
                <a:solidFill>
                  <a:schemeClr val="accent2">
                    <a:lumMod val="75000"/>
                  </a:schemeClr>
                </a:solidFill>
                <a:latin typeface="+mn-lt"/>
                <a:cs typeface="+mn-cs"/>
              </a:rPr>
              <a:t>    Câu lệnh 1;</a:t>
            </a:r>
          </a:p>
          <a:p>
            <a:pPr marL="0" indent="1538288">
              <a:spcBef>
                <a:spcPts val="300"/>
              </a:spcBef>
              <a:spcAft>
                <a:spcPts val="300"/>
              </a:spcAft>
              <a:buNone/>
            </a:pPr>
            <a:r>
              <a:rPr lang="en-US" dirty="0">
                <a:solidFill>
                  <a:schemeClr val="accent2">
                    <a:lumMod val="75000"/>
                  </a:schemeClr>
                </a:solidFill>
                <a:latin typeface="+mn-lt"/>
                <a:cs typeface="+mn-cs"/>
              </a:rPr>
              <a:t>   }</a:t>
            </a:r>
          </a:p>
          <a:p>
            <a:pPr marL="0" indent="1538288">
              <a:spcBef>
                <a:spcPts val="300"/>
              </a:spcBef>
              <a:spcAft>
                <a:spcPts val="300"/>
              </a:spcAft>
              <a:buNone/>
            </a:pPr>
            <a:r>
              <a:rPr lang="en-US" dirty="0">
                <a:solidFill>
                  <a:schemeClr val="accent2">
                    <a:lumMod val="75000"/>
                  </a:schemeClr>
                </a:solidFill>
                <a:latin typeface="+mn-lt"/>
                <a:cs typeface="+mn-cs"/>
              </a:rPr>
              <a:t>else if </a:t>
            </a:r>
            <a:r>
              <a:rPr lang="en-US" dirty="0">
                <a:solidFill>
                  <a:schemeClr val="accent2">
                    <a:lumMod val="75000"/>
                  </a:schemeClr>
                </a:solidFill>
              </a:rPr>
              <a:t>(điều kiện 2){</a:t>
            </a:r>
            <a:endParaRPr lang="en-US" dirty="0">
              <a:solidFill>
                <a:schemeClr val="accent2">
                  <a:lumMod val="75000"/>
                </a:schemeClr>
              </a:solidFill>
              <a:latin typeface="+mn-lt"/>
              <a:cs typeface="+mn-cs"/>
            </a:endParaRPr>
          </a:p>
          <a:p>
            <a:pPr marL="0" indent="1538288">
              <a:spcBef>
                <a:spcPts val="300"/>
              </a:spcBef>
              <a:spcAft>
                <a:spcPts val="300"/>
              </a:spcAft>
              <a:buNone/>
            </a:pPr>
            <a:r>
              <a:rPr lang="en-US" dirty="0">
                <a:solidFill>
                  <a:schemeClr val="accent2">
                    <a:lumMod val="75000"/>
                  </a:schemeClr>
                </a:solidFill>
                <a:latin typeface="+mn-lt"/>
                <a:cs typeface="+mn-cs"/>
              </a:rPr>
              <a:t>    Câu lệnh 2;</a:t>
            </a:r>
          </a:p>
          <a:p>
            <a:pPr marL="0" indent="1538288">
              <a:spcBef>
                <a:spcPts val="300"/>
              </a:spcBef>
              <a:spcAft>
                <a:spcPts val="300"/>
              </a:spcAft>
              <a:buNone/>
            </a:pPr>
            <a:r>
              <a:rPr lang="en-US" dirty="0">
                <a:solidFill>
                  <a:schemeClr val="accent2">
                    <a:lumMod val="75000"/>
                  </a:schemeClr>
                </a:solidFill>
                <a:latin typeface="+mn-lt"/>
                <a:cs typeface="+mn-cs"/>
              </a:rPr>
              <a:t>  }</a:t>
            </a:r>
          </a:p>
          <a:p>
            <a:pPr marL="0" indent="1538288">
              <a:spcBef>
                <a:spcPts val="300"/>
              </a:spcBef>
              <a:spcAft>
                <a:spcPts val="300"/>
              </a:spcAft>
              <a:buNone/>
            </a:pPr>
            <a:r>
              <a:rPr lang="en-US" dirty="0">
                <a:solidFill>
                  <a:schemeClr val="accent2">
                    <a:lumMod val="75000"/>
                  </a:schemeClr>
                </a:solidFill>
                <a:latin typeface="+mn-lt"/>
                <a:cs typeface="+mn-cs"/>
              </a:rPr>
              <a:t>...</a:t>
            </a:r>
          </a:p>
          <a:p>
            <a:pPr marL="0" indent="1538288">
              <a:spcBef>
                <a:spcPts val="300"/>
              </a:spcBef>
              <a:spcAft>
                <a:spcPts val="300"/>
              </a:spcAft>
              <a:buNone/>
            </a:pPr>
            <a:r>
              <a:rPr lang="en-US" dirty="0">
                <a:solidFill>
                  <a:schemeClr val="accent2">
                    <a:lumMod val="75000"/>
                  </a:schemeClr>
                </a:solidFill>
              </a:rPr>
              <a:t>else {</a:t>
            </a:r>
          </a:p>
          <a:p>
            <a:pPr marL="0" indent="1538288">
              <a:spcBef>
                <a:spcPts val="300"/>
              </a:spcBef>
              <a:spcAft>
                <a:spcPts val="300"/>
              </a:spcAft>
              <a:buNone/>
            </a:pPr>
            <a:r>
              <a:rPr lang="en-US" dirty="0">
                <a:solidFill>
                  <a:schemeClr val="accent2">
                    <a:lumMod val="75000"/>
                  </a:schemeClr>
                </a:solidFill>
                <a:latin typeface="+mn-lt"/>
                <a:cs typeface="+mn-cs"/>
              </a:rPr>
              <a:t>    Câu lệnh N+1;</a:t>
            </a:r>
          </a:p>
          <a:p>
            <a:pPr marL="0" indent="1538288">
              <a:spcBef>
                <a:spcPts val="300"/>
              </a:spcBef>
              <a:spcAft>
                <a:spcPts val="300"/>
              </a:spcAft>
              <a:buNone/>
            </a:pPr>
            <a:r>
              <a:rPr lang="en-US" dirty="0">
                <a:solidFill>
                  <a:schemeClr val="accent2">
                    <a:lumMod val="75000"/>
                  </a:schemeClr>
                </a:solidFill>
                <a:latin typeface="+mn-lt"/>
                <a:cs typeface="+mn-cs"/>
              </a:rPr>
              <a:t>  }</a:t>
            </a: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3024333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34</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marL="1081088" lvl="1" indent="-1081088" algn="just">
              <a:lnSpc>
                <a:spcPts val="3400"/>
              </a:lnSpc>
              <a:spcBef>
                <a:spcPts val="600"/>
              </a:spcBef>
              <a:spcAft>
                <a:spcPts val="600"/>
              </a:spcAft>
              <a:buNone/>
            </a:pPr>
            <a:r>
              <a:rPr lang="en-US" b="1" spc="-10" dirty="0"/>
              <a:t>Ví dụ</a:t>
            </a:r>
            <a:r>
              <a:rPr lang="en-US" spc="-10" dirty="0"/>
              <a:t>: </a:t>
            </a:r>
          </a:p>
          <a:p>
            <a:pPr marL="241300" marR="1544955" indent="0">
              <a:lnSpc>
                <a:spcPct val="110000"/>
              </a:lnSpc>
              <a:spcBef>
                <a:spcPts val="15"/>
              </a:spcBef>
              <a:buNone/>
            </a:pPr>
            <a:r>
              <a:rPr lang="en-US" sz="2400" spc="-200" dirty="0">
                <a:latin typeface="Courier New" panose="02070309020205020404" pitchFamily="49" charset="0"/>
                <a:cs typeface="Courier New" panose="02070309020205020404" pitchFamily="49" charset="0"/>
              </a:rPr>
              <a:t>double delta = Math.pow(b, 2)–4*a*c;  </a:t>
            </a:r>
          </a:p>
          <a:p>
            <a:pPr marL="241300" marR="1544955" indent="0">
              <a:lnSpc>
                <a:spcPct val="110000"/>
              </a:lnSpc>
              <a:spcBef>
                <a:spcPts val="15"/>
              </a:spcBef>
              <a:buNone/>
            </a:pPr>
            <a:r>
              <a:rPr lang="en-US" sz="2400" spc="-100" dirty="0">
                <a:latin typeface="Courier New" panose="02070309020205020404" pitchFamily="49" charset="0"/>
                <a:cs typeface="Courier New" panose="02070309020205020404" pitchFamily="49" charset="0"/>
              </a:rPr>
              <a:t>if(delta &lt; 0) {</a:t>
            </a:r>
          </a:p>
          <a:p>
            <a:pPr marL="698500" indent="0">
              <a:lnSpc>
                <a:spcPct val="100000"/>
              </a:lnSpc>
              <a:spcBef>
                <a:spcPts val="245"/>
              </a:spcBef>
              <a:buNone/>
            </a:pPr>
            <a:r>
              <a:rPr lang="en-US" sz="2400" spc="-10" dirty="0">
                <a:latin typeface="Courier New" panose="02070309020205020404" pitchFamily="49" charset="0"/>
                <a:cs typeface="Courier New" panose="02070309020205020404" pitchFamily="49" charset="0"/>
              </a:rPr>
              <a:t>System.out.println(“Vô nghiệm”);</a:t>
            </a:r>
          </a:p>
          <a:p>
            <a:pPr marL="241300" indent="0">
              <a:lnSpc>
                <a:spcPct val="100000"/>
              </a:lnSpc>
              <a:spcBef>
                <a:spcPts val="285"/>
              </a:spcBef>
              <a:buNone/>
            </a:pPr>
            <a:r>
              <a:rPr lang="en-US" sz="2400" spc="-10" dirty="0">
                <a:latin typeface="Courier New" panose="02070309020205020404" pitchFamily="49" charset="0"/>
                <a:cs typeface="Courier New" panose="02070309020205020404" pitchFamily="49" charset="0"/>
              </a:rPr>
              <a:t> }</a:t>
            </a:r>
          </a:p>
          <a:p>
            <a:pPr marL="241300" indent="0">
              <a:lnSpc>
                <a:spcPct val="100000"/>
              </a:lnSpc>
              <a:spcBef>
                <a:spcPts val="285"/>
              </a:spcBef>
              <a:buNone/>
            </a:pPr>
            <a:r>
              <a:rPr lang="en-US" sz="2400" spc="-10" dirty="0">
                <a:latin typeface="Courier New" panose="02070309020205020404" pitchFamily="49" charset="0"/>
                <a:cs typeface="Courier New" panose="02070309020205020404" pitchFamily="49" charset="0"/>
              </a:rPr>
              <a:t>else if(delta == 0) {</a:t>
            </a:r>
          </a:p>
          <a:p>
            <a:pPr marL="698500" indent="0">
              <a:lnSpc>
                <a:spcPct val="100000"/>
              </a:lnSpc>
              <a:spcBef>
                <a:spcPts val="245"/>
              </a:spcBef>
              <a:buNone/>
            </a:pPr>
            <a:r>
              <a:rPr lang="en-US" sz="2400" spc="-10" dirty="0">
                <a:latin typeface="Courier New" panose="02070309020205020404" pitchFamily="49" charset="0"/>
                <a:cs typeface="Courier New" panose="02070309020205020404" pitchFamily="49" charset="0"/>
              </a:rPr>
              <a:t>System.out.println(“Nghiệm kép”);</a:t>
            </a:r>
          </a:p>
          <a:p>
            <a:pPr marL="241300" indent="0">
              <a:lnSpc>
                <a:spcPct val="100000"/>
              </a:lnSpc>
              <a:spcBef>
                <a:spcPts val="285"/>
              </a:spcBef>
              <a:buNone/>
            </a:pPr>
            <a:r>
              <a:rPr lang="en-US" sz="2400" spc="-10" dirty="0">
                <a:latin typeface="Courier New" panose="02070309020205020404" pitchFamily="49" charset="0"/>
                <a:cs typeface="Courier New" panose="02070309020205020404" pitchFamily="49" charset="0"/>
              </a:rPr>
              <a:t>}</a:t>
            </a:r>
          </a:p>
          <a:p>
            <a:pPr marL="241300" indent="0">
              <a:lnSpc>
                <a:spcPct val="100000"/>
              </a:lnSpc>
              <a:spcBef>
                <a:spcPts val="290"/>
              </a:spcBef>
              <a:buNone/>
            </a:pPr>
            <a:r>
              <a:rPr lang="en-US" sz="2400" spc="-10" dirty="0">
                <a:latin typeface="Courier New" panose="02070309020205020404" pitchFamily="49" charset="0"/>
                <a:cs typeface="Courier New" panose="02070309020205020404" pitchFamily="49" charset="0"/>
              </a:rPr>
              <a:t>else {</a:t>
            </a:r>
          </a:p>
          <a:p>
            <a:pPr marL="698500" indent="0">
              <a:lnSpc>
                <a:spcPct val="100000"/>
              </a:lnSpc>
              <a:spcBef>
                <a:spcPts val="240"/>
              </a:spcBef>
              <a:buNone/>
            </a:pPr>
            <a:r>
              <a:rPr lang="en-US" sz="2400" spc="-10" dirty="0">
                <a:latin typeface="Courier New" panose="02070309020205020404" pitchFamily="49" charset="0"/>
                <a:cs typeface="Courier New" panose="02070309020205020404" pitchFamily="49" charset="0"/>
              </a:rPr>
              <a:t>System.out.println(“2 nghiệm”);</a:t>
            </a:r>
          </a:p>
          <a:p>
            <a:pPr marL="241300" indent="0">
              <a:lnSpc>
                <a:spcPct val="100000"/>
              </a:lnSpc>
              <a:spcBef>
                <a:spcPts val="285"/>
              </a:spcBef>
              <a:buNone/>
            </a:pPr>
            <a:r>
              <a:rPr lang="en-US" sz="2400" spc="-10" dirty="0">
                <a:latin typeface="Courier New" panose="02070309020205020404" pitchFamily="49" charset="0"/>
                <a:cs typeface="Courier New" panose="02070309020205020404" pitchFamily="49" charset="0"/>
              </a:rPr>
              <a:t>}</a:t>
            </a:r>
          </a:p>
          <a:p>
            <a:pPr marL="457200" lvl="1" indent="166688" algn="just">
              <a:lnSpc>
                <a:spcPct val="1000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166688" algn="just">
              <a:lnSpc>
                <a:spcPct val="1000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sz="240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1526612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35</a:t>
            </a:fld>
            <a:endParaRPr lang="en-US"/>
          </a:p>
        </p:txBody>
      </p:sp>
      <p:sp>
        <p:nvSpPr>
          <p:cNvPr id="3" name="TextBox 2"/>
          <p:cNvSpPr txBox="1"/>
          <p:nvPr/>
        </p:nvSpPr>
        <p:spPr>
          <a:xfrm>
            <a:off x="1851102" y="3724507"/>
            <a:ext cx="4606848" cy="1292662"/>
          </a:xfrm>
          <a:prstGeom prst="rect">
            <a:avLst/>
          </a:prstGeom>
          <a:noFill/>
        </p:spPr>
        <p:txBody>
          <a:bodyPr wrap="square" rtlCol="0">
            <a:spAutoFit/>
          </a:bodyPr>
          <a:lstStyle/>
          <a:p>
            <a:r>
              <a:rPr lang="vi-VN" sz="2600" dirty="0">
                <a:solidFill>
                  <a:schemeClr val="bg1"/>
                </a:solidFill>
              </a:rPr>
              <a:t>Viết chương trình </a:t>
            </a:r>
            <a:r>
              <a:rPr lang="en-US" sz="2600" dirty="0">
                <a:solidFill>
                  <a:schemeClr val="bg1"/>
                </a:solidFill>
              </a:rPr>
              <a:t>nhập vào hai số và in ra số nhỏ nhất trong hai số.</a:t>
            </a:r>
          </a:p>
        </p:txBody>
      </p:sp>
    </p:spTree>
    <p:extLst>
      <p:ext uri="{BB962C8B-B14F-4D97-AF65-F5344CB8AC3E}">
        <p14:creationId xmlns:p14="http://schemas.microsoft.com/office/powerpoint/2010/main" val="3470422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36</a:t>
            </a:fld>
            <a:endParaRPr lang="en-US"/>
          </a:p>
        </p:txBody>
      </p:sp>
      <p:sp>
        <p:nvSpPr>
          <p:cNvPr id="6" name="Content Placeholder 5"/>
          <p:cNvSpPr>
            <a:spLocks noGrp="1"/>
          </p:cNvSpPr>
          <p:nvPr>
            <p:ph idx="1"/>
          </p:nvPr>
        </p:nvSpPr>
        <p:spPr>
          <a:xfrm>
            <a:off x="628650" y="1428514"/>
            <a:ext cx="8064413" cy="4604642"/>
          </a:xfrm>
        </p:spPr>
        <p:txBody>
          <a:bodyPr>
            <a:noAutofit/>
          </a:bodyPr>
          <a:lstStyle/>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package cau_truc_ifelse;</a:t>
            </a:r>
            <a:endParaRPr lang="en-US" sz="2500" b="1" dirty="0">
              <a:latin typeface="Courier" panose="02020500000000000000" pitchFamily="18" charset="0"/>
              <a:ea typeface="Courier" panose="02020500000000000000" pitchFamily="18" charset="0"/>
              <a:cs typeface="Courier" panose="02020500000000000000" pitchFamily="18" charset="0"/>
            </a:endParaRP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import java.util.Scanner;</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public class TimSoNhoNhat {</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public static void main(String[] args){</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a:t>
            </a:r>
            <a:r>
              <a:rPr lang="en-US" sz="2500" b="1" dirty="0">
                <a:latin typeface="Courier" panose="02020500000000000000" pitchFamily="18" charset="0"/>
                <a:ea typeface="Courier" panose="02020500000000000000" pitchFamily="18" charset="0"/>
                <a:cs typeface="Courier" panose="02020500000000000000" pitchFamily="18" charset="0"/>
              </a:rPr>
              <a:t> </a:t>
            </a:r>
            <a:r>
              <a:rPr lang="vi-VN" sz="2500" b="1" dirty="0">
                <a:latin typeface="Courier" panose="02020500000000000000" pitchFamily="18" charset="0"/>
                <a:ea typeface="Courier" panose="02020500000000000000" pitchFamily="18" charset="0"/>
                <a:cs typeface="Courier" panose="02020500000000000000" pitchFamily="18" charset="0"/>
              </a:rPr>
              <a:t>int firstNumber, secondNumber;</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a:t>
            </a:r>
            <a:r>
              <a:rPr lang="en-US" sz="2500" b="1" dirty="0">
                <a:latin typeface="Courier" panose="02020500000000000000" pitchFamily="18" charset="0"/>
                <a:ea typeface="Courier" panose="02020500000000000000" pitchFamily="18" charset="0"/>
                <a:cs typeface="Courier" panose="02020500000000000000" pitchFamily="18" charset="0"/>
              </a:rPr>
              <a:t> </a:t>
            </a:r>
            <a:r>
              <a:rPr lang="vi-VN" sz="2500" b="1" spc="-150" dirty="0">
                <a:latin typeface="Courier" panose="02020500000000000000" pitchFamily="18" charset="0"/>
                <a:ea typeface="Courier" panose="02020500000000000000" pitchFamily="18" charset="0"/>
                <a:cs typeface="Courier" panose="02020500000000000000" pitchFamily="18" charset="0"/>
              </a:rPr>
              <a:t>Scanner scanner = new Scanner(System.in);</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a:t>
            </a:r>
            <a:r>
              <a:rPr lang="en-US" sz="2500" b="1" dirty="0">
                <a:latin typeface="Courier" panose="02020500000000000000" pitchFamily="18" charset="0"/>
                <a:ea typeface="Courier" panose="02020500000000000000" pitchFamily="18" charset="0"/>
                <a:cs typeface="Courier" panose="02020500000000000000" pitchFamily="18" charset="0"/>
              </a:rPr>
              <a:t> </a:t>
            </a:r>
            <a:r>
              <a:rPr lang="vi-VN" sz="2500" b="1" spc="-200" dirty="0">
                <a:latin typeface="Courier" panose="02020500000000000000" pitchFamily="18" charset="0"/>
                <a:ea typeface="Courier" panose="02020500000000000000" pitchFamily="18" charset="0"/>
                <a:cs typeface="Courier" panose="02020500000000000000" pitchFamily="18" charset="0"/>
              </a:rPr>
              <a:t>System.out.println("Nhập vào số thứ nhất: ");</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a:t>
            </a:r>
            <a:r>
              <a:rPr lang="en-US" sz="2500" b="1" dirty="0">
                <a:latin typeface="Courier" panose="02020500000000000000" pitchFamily="18" charset="0"/>
                <a:ea typeface="Courier" panose="02020500000000000000" pitchFamily="18" charset="0"/>
                <a:cs typeface="Courier" panose="02020500000000000000" pitchFamily="18" charset="0"/>
              </a:rPr>
              <a:t> </a:t>
            </a:r>
            <a:r>
              <a:rPr lang="vi-VN" sz="2500" b="1" dirty="0">
                <a:latin typeface="Courier" panose="02020500000000000000" pitchFamily="18" charset="0"/>
                <a:ea typeface="Courier" panose="02020500000000000000" pitchFamily="18" charset="0"/>
                <a:cs typeface="Courier" panose="02020500000000000000" pitchFamily="18" charset="0"/>
              </a:rPr>
              <a:t>firstNumber = scanner.nextInt();</a:t>
            </a:r>
          </a:p>
          <a:p>
            <a:pPr marL="0" indent="0" algn="just">
              <a:lnSpc>
                <a:spcPts val="3400"/>
              </a:lnSpc>
              <a:spcBef>
                <a:spcPts val="0"/>
              </a:spcBef>
              <a:buNone/>
            </a:pPr>
            <a:r>
              <a:rPr lang="en-US" sz="2500" b="1" dirty="0">
                <a:latin typeface="Courier" panose="02020500000000000000" pitchFamily="18" charset="0"/>
                <a:ea typeface="Courier" panose="02020500000000000000" pitchFamily="18" charset="0"/>
                <a:cs typeface="Courier" panose="02020500000000000000" pitchFamily="18" charset="0"/>
              </a:rPr>
              <a:t> </a:t>
            </a:r>
            <a:r>
              <a:rPr lang="vi-VN" sz="2500" b="1" dirty="0">
                <a:latin typeface="Courier" panose="02020500000000000000" pitchFamily="18" charset="0"/>
                <a:ea typeface="Courier" panose="02020500000000000000" pitchFamily="18" charset="0"/>
                <a:cs typeface="Courier" panose="02020500000000000000" pitchFamily="18" charset="0"/>
              </a:rPr>
              <a:t> </a:t>
            </a:r>
            <a:r>
              <a:rPr lang="vi-VN" sz="2500" b="1" spc="-170" dirty="0">
                <a:latin typeface="Courier" panose="02020500000000000000" pitchFamily="18" charset="0"/>
                <a:ea typeface="Courier" panose="02020500000000000000" pitchFamily="18" charset="0"/>
                <a:cs typeface="Courier" panose="02020500000000000000" pitchFamily="18" charset="0"/>
              </a:rPr>
              <a:t>System.out.println("Nhập vào số thứ hai: ");</a:t>
            </a:r>
          </a:p>
          <a:p>
            <a:pPr marL="0" indent="0" algn="just">
              <a:lnSpc>
                <a:spcPts val="3400"/>
              </a:lnSpc>
              <a:spcBef>
                <a:spcPts val="0"/>
              </a:spcBef>
              <a:buNone/>
            </a:pPr>
            <a:r>
              <a:rPr lang="vi-VN" sz="2500" b="1" dirty="0">
                <a:latin typeface="Courier" panose="02020500000000000000" pitchFamily="18" charset="0"/>
                <a:ea typeface="Courier" panose="02020500000000000000" pitchFamily="18" charset="0"/>
                <a:cs typeface="Courier" panose="02020500000000000000" pitchFamily="18" charset="0"/>
              </a:rPr>
              <a:t>   secondNumber = scanner.nextInt(</a:t>
            </a:r>
            <a:r>
              <a:rPr lang="vi-VN" sz="2500" dirty="0"/>
              <a:t>);</a:t>
            </a:r>
            <a:endParaRPr lang="en-US" sz="2500" dirty="0"/>
          </a:p>
          <a:p>
            <a:pPr marL="0" indent="0" algn="just">
              <a:lnSpc>
                <a:spcPts val="34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0" algn="just">
              <a:lnSpc>
                <a:spcPct val="1000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sz="2400" dirty="0"/>
          </a:p>
          <a:p>
            <a:pPr marL="457200" lvl="1" indent="0" algn="just">
              <a:lnSpc>
                <a:spcPts val="3400"/>
              </a:lnSpc>
              <a:spcBef>
                <a:spcPts val="600"/>
              </a:spcBef>
              <a:spcAft>
                <a:spcPts val="600"/>
              </a:spcAft>
              <a:buNone/>
            </a:pPr>
            <a:endParaRPr lang="en-US" b="1" spc="-10" dirty="0"/>
          </a:p>
          <a:p>
            <a:pPr marL="0" indent="0" algn="just">
              <a:lnSpc>
                <a:spcPts val="3400"/>
              </a:lnSpc>
              <a:spcBef>
                <a:spcPts val="600"/>
              </a:spcBef>
              <a:spcAft>
                <a:spcPts val="600"/>
              </a:spcAft>
              <a:buNone/>
            </a:pPr>
            <a:endParaRPr lang="en-US" b="1" dirty="0"/>
          </a:p>
          <a:p>
            <a:pPr marL="0" indent="0" algn="just">
              <a:lnSpc>
                <a:spcPts val="3400"/>
              </a:lnSpc>
              <a:spcBef>
                <a:spcPts val="600"/>
              </a:spcBef>
              <a:spcAft>
                <a:spcPts val="600"/>
              </a:spcAft>
              <a:buNone/>
            </a:pPr>
            <a:endParaRPr lang="en-US" dirty="0"/>
          </a:p>
        </p:txBody>
      </p:sp>
    </p:spTree>
    <p:extLst>
      <p:ext uri="{BB962C8B-B14F-4D97-AF65-F5344CB8AC3E}">
        <p14:creationId xmlns:p14="http://schemas.microsoft.com/office/powerpoint/2010/main" val="2945568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37</a:t>
            </a:fld>
            <a:endParaRPr lang="en-US"/>
          </a:p>
        </p:txBody>
      </p:sp>
      <p:sp>
        <p:nvSpPr>
          <p:cNvPr id="6" name="Content Placeholder 5"/>
          <p:cNvSpPr>
            <a:spLocks noGrp="1"/>
          </p:cNvSpPr>
          <p:nvPr>
            <p:ph idx="1"/>
          </p:nvPr>
        </p:nvSpPr>
        <p:spPr>
          <a:xfrm>
            <a:off x="628650" y="1336775"/>
            <a:ext cx="7886700" cy="4604642"/>
          </a:xfrm>
        </p:spPr>
        <p:txBody>
          <a:bodyPr>
            <a:noAutofit/>
          </a:bodyPr>
          <a:lstStyle/>
          <a:p>
            <a:pPr marL="0" indent="0" algn="just">
              <a:lnSpc>
                <a:spcPts val="3400"/>
              </a:lnSpc>
              <a:spcBef>
                <a:spcPts val="0"/>
              </a:spcBef>
              <a:buNone/>
            </a:pPr>
            <a:r>
              <a:rPr lang="vi-VN" sz="2600" b="1" dirty="0">
                <a:latin typeface="Courier" panose="02020500000000000000" pitchFamily="18" charset="0"/>
                <a:ea typeface="Courier" panose="02020500000000000000" pitchFamily="18" charset="0"/>
                <a:cs typeface="Courier" panose="02020500000000000000" pitchFamily="18" charset="0"/>
              </a:rPr>
              <a:t>int minNumber = firstNumber;// gán giá trị của biến firstNumber cho minNumber</a:t>
            </a:r>
          </a:p>
          <a:p>
            <a:pPr marL="0" indent="0" algn="just">
              <a:lnSpc>
                <a:spcPts val="3400"/>
              </a:lnSpc>
              <a:spcBef>
                <a:spcPts val="0"/>
              </a:spcBef>
              <a:buNone/>
            </a:pPr>
            <a:r>
              <a:rPr lang="vi-VN" sz="2600" b="1" dirty="0">
                <a:latin typeface="Courier" panose="02020500000000000000" pitchFamily="18" charset="0"/>
                <a:ea typeface="Courier" panose="02020500000000000000" pitchFamily="18" charset="0"/>
                <a:cs typeface="Courier" panose="02020500000000000000" pitchFamily="18" charset="0"/>
              </a:rPr>
              <a:t>if (firstNumber &gt; secondNumber) </a:t>
            </a:r>
          </a:p>
          <a:p>
            <a:pPr marL="0" indent="0" algn="just">
              <a:lnSpc>
                <a:spcPts val="3400"/>
              </a:lnSpc>
              <a:spcBef>
                <a:spcPts val="0"/>
              </a:spcBef>
              <a:buNone/>
            </a:pPr>
            <a:r>
              <a:rPr lang="vi-VN" sz="2600" b="1" dirty="0">
                <a:latin typeface="Courier" panose="02020500000000000000" pitchFamily="18" charset="0"/>
                <a:ea typeface="Courier" panose="02020500000000000000" pitchFamily="18" charset="0"/>
                <a:cs typeface="Courier" panose="02020500000000000000" pitchFamily="18" charset="0"/>
              </a:rPr>
              <a:t>      minNumber = secondNumber;</a:t>
            </a:r>
          </a:p>
          <a:p>
            <a:pPr marL="0" indent="0" algn="just">
              <a:lnSpc>
                <a:spcPts val="3400"/>
              </a:lnSpc>
              <a:spcBef>
                <a:spcPts val="0"/>
              </a:spcBef>
              <a:buNone/>
            </a:pPr>
            <a:r>
              <a:rPr lang="vi-VN" sz="2600" b="1" spc="-260" dirty="0">
                <a:latin typeface="Courier" panose="02020500000000000000" pitchFamily="18" charset="0"/>
                <a:ea typeface="Courier" panose="02020500000000000000" pitchFamily="18" charset="0"/>
                <a:cs typeface="Courier" panose="02020500000000000000" pitchFamily="18" charset="0"/>
              </a:rPr>
              <a:t>  System.out.println("Số nhỏ nhất trong 2 số " + firstNumber</a:t>
            </a:r>
            <a:r>
              <a:rPr lang="en-US" sz="2600" b="1" spc="-260" dirty="0">
                <a:latin typeface="Courier" panose="02020500000000000000" pitchFamily="18" charset="0"/>
                <a:ea typeface="Courier" panose="02020500000000000000" pitchFamily="18" charset="0"/>
                <a:cs typeface="Courier" panose="02020500000000000000" pitchFamily="18" charset="0"/>
              </a:rPr>
              <a:t> </a:t>
            </a:r>
            <a:r>
              <a:rPr lang="vi-VN" sz="2600" b="1" spc="-260" dirty="0">
                <a:latin typeface="Courier" panose="02020500000000000000" pitchFamily="18" charset="0"/>
                <a:ea typeface="Courier" panose="02020500000000000000" pitchFamily="18" charset="0"/>
                <a:cs typeface="Courier" panose="02020500000000000000" pitchFamily="18" charset="0"/>
              </a:rPr>
              <a:t>+</a:t>
            </a:r>
            <a:r>
              <a:rPr lang="en-US" sz="2600" b="1" spc="-260" dirty="0">
                <a:latin typeface="Courier" panose="02020500000000000000" pitchFamily="18" charset="0"/>
                <a:ea typeface="Courier" panose="02020500000000000000" pitchFamily="18" charset="0"/>
                <a:cs typeface="Courier" panose="02020500000000000000" pitchFamily="18" charset="0"/>
              </a:rPr>
              <a:t> </a:t>
            </a:r>
            <a:r>
              <a:rPr lang="vi-VN" sz="2600" b="1" spc="-260" dirty="0">
                <a:latin typeface="Courier" panose="02020500000000000000" pitchFamily="18" charset="0"/>
                <a:ea typeface="Courier" panose="02020500000000000000" pitchFamily="18" charset="0"/>
                <a:cs typeface="Courier" panose="02020500000000000000" pitchFamily="18" charset="0"/>
              </a:rPr>
              <a:t>" và "+</a:t>
            </a:r>
            <a:r>
              <a:rPr lang="en-US" sz="2600" b="1" spc="-260" dirty="0">
                <a:latin typeface="Courier" panose="02020500000000000000" pitchFamily="18" charset="0"/>
                <a:ea typeface="Courier" panose="02020500000000000000" pitchFamily="18" charset="0"/>
                <a:cs typeface="Courier" panose="02020500000000000000" pitchFamily="18" charset="0"/>
              </a:rPr>
              <a:t> </a:t>
            </a:r>
            <a:r>
              <a:rPr lang="vi-VN" sz="2600" b="1" spc="-260" dirty="0">
                <a:latin typeface="Courier" panose="02020500000000000000" pitchFamily="18" charset="0"/>
                <a:ea typeface="Courier" panose="02020500000000000000" pitchFamily="18" charset="0"/>
                <a:cs typeface="Courier" panose="02020500000000000000" pitchFamily="18" charset="0"/>
              </a:rPr>
              <a:t>secondNumber+ "là " + minNumber);</a:t>
            </a:r>
          </a:p>
          <a:p>
            <a:pPr marL="0" indent="0" algn="just">
              <a:lnSpc>
                <a:spcPts val="3400"/>
              </a:lnSpc>
              <a:spcBef>
                <a:spcPts val="0"/>
              </a:spcBef>
              <a:buNone/>
            </a:pPr>
            <a:r>
              <a:rPr lang="vi-VN" sz="2600" b="1" dirty="0">
                <a:latin typeface="Courier" panose="02020500000000000000" pitchFamily="18" charset="0"/>
                <a:ea typeface="Courier" panose="02020500000000000000" pitchFamily="18" charset="0"/>
                <a:cs typeface="Courier" panose="02020500000000000000" pitchFamily="18" charset="0"/>
              </a:rPr>
              <a:t>    } </a:t>
            </a:r>
          </a:p>
          <a:p>
            <a:pPr marL="0" indent="0" algn="just">
              <a:lnSpc>
                <a:spcPts val="3400"/>
              </a:lnSpc>
              <a:spcBef>
                <a:spcPts val="0"/>
              </a:spcBef>
              <a:buNone/>
            </a:pPr>
            <a:r>
              <a:rPr lang="vi-VN" sz="2600" b="1" dirty="0">
                <a:latin typeface="Courier" panose="02020500000000000000" pitchFamily="18" charset="0"/>
                <a:ea typeface="Courier" panose="02020500000000000000" pitchFamily="18" charset="0"/>
                <a:cs typeface="Courier" panose="02020500000000000000" pitchFamily="18" charset="0"/>
              </a:rPr>
              <a:t>}</a:t>
            </a:r>
            <a:endParaRPr lang="en-US" sz="2600" spc="-1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sz="2400" dirty="0"/>
          </a:p>
          <a:p>
            <a:pPr marL="457200" lvl="1" indent="0" algn="just">
              <a:lnSpc>
                <a:spcPts val="3400"/>
              </a:lnSpc>
              <a:spcBef>
                <a:spcPts val="600"/>
              </a:spcBef>
              <a:spcAft>
                <a:spcPts val="600"/>
              </a:spcAft>
              <a:buNone/>
            </a:pPr>
            <a:endParaRPr lang="en-US" b="1" spc="-10" dirty="0"/>
          </a:p>
          <a:p>
            <a:pPr marL="0" indent="0" algn="just">
              <a:lnSpc>
                <a:spcPts val="3400"/>
              </a:lnSpc>
              <a:spcBef>
                <a:spcPts val="600"/>
              </a:spcBef>
              <a:spcAft>
                <a:spcPts val="600"/>
              </a:spcAft>
              <a:buNone/>
            </a:pPr>
            <a:endParaRPr lang="en-US" b="1" dirty="0"/>
          </a:p>
          <a:p>
            <a:pPr marL="0" indent="0" algn="just">
              <a:lnSpc>
                <a:spcPts val="3400"/>
              </a:lnSpc>
              <a:spcBef>
                <a:spcPts val="600"/>
              </a:spcBef>
              <a:spcAft>
                <a:spcPts val="600"/>
              </a:spcAft>
              <a:buNone/>
            </a:pPr>
            <a:endParaRPr lang="en-US" dirty="0"/>
          </a:p>
        </p:txBody>
      </p:sp>
    </p:spTree>
    <p:extLst>
      <p:ext uri="{BB962C8B-B14F-4D97-AF65-F5344CB8AC3E}">
        <p14:creationId xmlns:p14="http://schemas.microsoft.com/office/powerpoint/2010/main" val="3333120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38</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lvl="1" algn="just">
              <a:lnSpc>
                <a:spcPts val="3200"/>
              </a:lnSpc>
              <a:spcBef>
                <a:spcPts val="300"/>
              </a:spcBef>
              <a:spcAft>
                <a:spcPts val="300"/>
              </a:spcAft>
            </a:pPr>
            <a:r>
              <a:rPr lang="en-US" b="1" i="1" dirty="0"/>
              <a:t>Câu lệnh switch – case có dạng:</a:t>
            </a:r>
          </a:p>
          <a:p>
            <a:pPr marL="0" indent="969963">
              <a:spcBef>
                <a:spcPts val="300"/>
              </a:spcBef>
              <a:spcAft>
                <a:spcPts val="300"/>
              </a:spcAft>
              <a:buNone/>
            </a:pPr>
            <a:r>
              <a:rPr lang="en-US" dirty="0">
                <a:solidFill>
                  <a:schemeClr val="accent2">
                    <a:lumMod val="75000"/>
                  </a:schemeClr>
                </a:solidFill>
                <a:latin typeface="+mn-lt"/>
                <a:cs typeface="+mn-cs"/>
              </a:rPr>
              <a:t>switch (biểu thức){</a:t>
            </a:r>
          </a:p>
          <a:p>
            <a:pPr marL="0" indent="969963">
              <a:spcBef>
                <a:spcPts val="300"/>
              </a:spcBef>
              <a:spcAft>
                <a:spcPts val="300"/>
              </a:spcAft>
              <a:buNone/>
            </a:pPr>
            <a:r>
              <a:rPr lang="en-US" dirty="0">
                <a:solidFill>
                  <a:schemeClr val="accent2">
                    <a:lumMod val="75000"/>
                  </a:schemeClr>
                </a:solidFill>
                <a:latin typeface="+mn-lt"/>
                <a:cs typeface="+mn-cs"/>
              </a:rPr>
              <a:t>  case giá trị 1: câu lệnh 1 ;</a:t>
            </a:r>
          </a:p>
          <a:p>
            <a:pPr marL="0" indent="969963">
              <a:spcBef>
                <a:spcPts val="300"/>
              </a:spcBef>
              <a:spcAft>
                <a:spcPts val="300"/>
              </a:spcAft>
              <a:buNone/>
            </a:pPr>
            <a:r>
              <a:rPr lang="en-US" dirty="0">
                <a:solidFill>
                  <a:schemeClr val="accent2">
                    <a:lumMod val="75000"/>
                  </a:schemeClr>
                </a:solidFill>
                <a:latin typeface="+mn-lt"/>
                <a:cs typeface="+mn-cs"/>
              </a:rPr>
              <a:t>    break;</a:t>
            </a:r>
          </a:p>
          <a:p>
            <a:pPr marL="0" indent="969963">
              <a:spcBef>
                <a:spcPts val="300"/>
              </a:spcBef>
              <a:spcAft>
                <a:spcPts val="300"/>
              </a:spcAft>
              <a:buNone/>
            </a:pPr>
            <a:r>
              <a:rPr lang="en-US" dirty="0">
                <a:solidFill>
                  <a:schemeClr val="accent2">
                    <a:lumMod val="75000"/>
                  </a:schemeClr>
                </a:solidFill>
                <a:latin typeface="+mn-lt"/>
                <a:cs typeface="+mn-cs"/>
              </a:rPr>
              <a:t>  case giá trị 2: câu lệnh 2;</a:t>
            </a:r>
          </a:p>
          <a:p>
            <a:pPr marL="0" indent="969963">
              <a:spcBef>
                <a:spcPts val="300"/>
              </a:spcBef>
              <a:spcAft>
                <a:spcPts val="300"/>
              </a:spcAft>
              <a:buNone/>
            </a:pPr>
            <a:r>
              <a:rPr lang="en-US" dirty="0">
                <a:solidFill>
                  <a:schemeClr val="accent2">
                    <a:lumMod val="75000"/>
                  </a:schemeClr>
                </a:solidFill>
                <a:latin typeface="+mn-lt"/>
                <a:cs typeface="+mn-cs"/>
              </a:rPr>
              <a:t>    break;</a:t>
            </a:r>
          </a:p>
          <a:p>
            <a:pPr marL="0" indent="969963">
              <a:spcBef>
                <a:spcPts val="300"/>
              </a:spcBef>
              <a:spcAft>
                <a:spcPts val="300"/>
              </a:spcAft>
              <a:buNone/>
            </a:pPr>
            <a:r>
              <a:rPr lang="en-US" dirty="0">
                <a:solidFill>
                  <a:schemeClr val="accent2">
                    <a:lumMod val="75000"/>
                  </a:schemeClr>
                </a:solidFill>
                <a:latin typeface="+mn-lt"/>
                <a:cs typeface="+mn-cs"/>
              </a:rPr>
              <a:t>...</a:t>
            </a:r>
          </a:p>
          <a:p>
            <a:pPr marL="0" indent="969963">
              <a:spcBef>
                <a:spcPts val="300"/>
              </a:spcBef>
              <a:spcAft>
                <a:spcPts val="300"/>
              </a:spcAft>
              <a:buNone/>
            </a:pPr>
            <a:r>
              <a:rPr lang="en-US" dirty="0">
                <a:solidFill>
                  <a:schemeClr val="accent2">
                    <a:lumMod val="75000"/>
                  </a:schemeClr>
                </a:solidFill>
                <a:latin typeface="+mn-lt"/>
                <a:cs typeface="+mn-cs"/>
              </a:rPr>
              <a:t>  case giá trị N: câu lệnh N;</a:t>
            </a:r>
          </a:p>
          <a:p>
            <a:pPr marL="0" indent="969963">
              <a:spcBef>
                <a:spcPts val="300"/>
              </a:spcBef>
              <a:spcAft>
                <a:spcPts val="300"/>
              </a:spcAft>
              <a:buNone/>
            </a:pPr>
            <a:r>
              <a:rPr lang="en-US" dirty="0">
                <a:solidFill>
                  <a:schemeClr val="accent2">
                    <a:lumMod val="75000"/>
                  </a:schemeClr>
                </a:solidFill>
                <a:latin typeface="+mn-lt"/>
                <a:cs typeface="+mn-cs"/>
              </a:rPr>
              <a:t>    break;</a:t>
            </a:r>
          </a:p>
          <a:p>
            <a:pPr marL="0" indent="969963">
              <a:spcBef>
                <a:spcPts val="300"/>
              </a:spcBef>
              <a:spcAft>
                <a:spcPts val="300"/>
              </a:spcAft>
              <a:buNone/>
            </a:pPr>
            <a:r>
              <a:rPr lang="en-US" dirty="0">
                <a:solidFill>
                  <a:schemeClr val="accent2">
                    <a:lumMod val="75000"/>
                  </a:schemeClr>
                </a:solidFill>
                <a:latin typeface="+mn-lt"/>
                <a:cs typeface="+mn-cs"/>
              </a:rPr>
              <a:t>[default: câu lệnh;]</a:t>
            </a:r>
          </a:p>
          <a:p>
            <a:pPr marL="0" indent="969963">
              <a:spcBef>
                <a:spcPts val="300"/>
              </a:spcBef>
              <a:spcAft>
                <a:spcPts val="300"/>
              </a:spcAft>
              <a:buNone/>
            </a:pPr>
            <a:r>
              <a:rPr lang="en-US" dirty="0">
                <a:solidFill>
                  <a:schemeClr val="accent2">
                    <a:lumMod val="75000"/>
                  </a:schemeClr>
                </a:solidFill>
                <a:latin typeface="+mn-lt"/>
                <a:cs typeface="+mn-cs"/>
              </a:rPr>
              <a:t>}</a:t>
            </a:r>
          </a:p>
          <a:p>
            <a:pPr marL="457200" lvl="1" indent="0" algn="just">
              <a:lnSpc>
                <a:spcPts val="3400"/>
              </a:lnSpc>
              <a:spcBef>
                <a:spcPts val="600"/>
              </a:spcBef>
              <a:spcAft>
                <a:spcPts val="600"/>
              </a:spcAft>
              <a:buNone/>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641540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39</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marL="457200" lvl="1" indent="0" algn="just">
              <a:lnSpc>
                <a:spcPts val="3400"/>
              </a:lnSpc>
              <a:spcBef>
                <a:spcPts val="600"/>
              </a:spcBef>
              <a:spcAft>
                <a:spcPts val="600"/>
              </a:spcAft>
              <a:buNone/>
            </a:pPr>
            <a:r>
              <a:rPr lang="en-US" spc="-10" dirty="0"/>
              <a:t>Trong đó:</a:t>
            </a:r>
          </a:p>
          <a:p>
            <a:pPr algn="just">
              <a:lnSpc>
                <a:spcPct val="100000"/>
              </a:lnSpc>
              <a:spcBef>
                <a:spcPts val="0"/>
              </a:spcBef>
              <a:buSzPct val="80000"/>
              <a:buFont typeface="Wingdings" panose="05000000000000000000" pitchFamily="2" charset="2"/>
              <a:buChar char="ü"/>
            </a:pPr>
            <a:r>
              <a:rPr lang="en-US" sz="2400" dirty="0">
                <a:solidFill>
                  <a:schemeClr val="accent2">
                    <a:lumMod val="75000"/>
                  </a:schemeClr>
                </a:solidFill>
                <a:latin typeface="+mn-lt"/>
                <a:cs typeface="+mn-cs"/>
              </a:rPr>
              <a:t>biểu thức </a:t>
            </a:r>
            <a:r>
              <a:rPr lang="en-US" sz="2400" dirty="0">
                <a:latin typeface="+mn-lt"/>
              </a:rPr>
              <a:t>là một biểu thức số học.</a:t>
            </a:r>
          </a:p>
          <a:p>
            <a:pPr algn="just">
              <a:lnSpc>
                <a:spcPct val="100000"/>
              </a:lnSpc>
              <a:spcBef>
                <a:spcPts val="0"/>
              </a:spcBef>
              <a:buSzPct val="80000"/>
              <a:buFont typeface="Wingdings" panose="05000000000000000000" pitchFamily="2" charset="2"/>
              <a:buChar char="ü"/>
            </a:pPr>
            <a:r>
              <a:rPr lang="en-US" sz="2400" dirty="0">
                <a:solidFill>
                  <a:schemeClr val="accent2">
                    <a:lumMod val="75000"/>
                  </a:schemeClr>
                </a:solidFill>
                <a:latin typeface="+mn-lt"/>
                <a:cs typeface="+mn-cs"/>
              </a:rPr>
              <a:t>giá trị 1</a:t>
            </a:r>
            <a:r>
              <a:rPr lang="en-US" sz="2400" dirty="0">
                <a:latin typeface="+mn-lt"/>
                <a:cs typeface="Courier New" panose="02070309020205020404" pitchFamily="49" charset="0"/>
              </a:rPr>
              <a:t>, </a:t>
            </a:r>
            <a:r>
              <a:rPr lang="en-US" sz="2400" dirty="0">
                <a:solidFill>
                  <a:schemeClr val="accent2">
                    <a:lumMod val="75000"/>
                  </a:schemeClr>
                </a:solidFill>
                <a:latin typeface="+mn-lt"/>
                <a:cs typeface="+mn-cs"/>
              </a:rPr>
              <a:t>giá trị 2</a:t>
            </a:r>
            <a:r>
              <a:rPr lang="en-US" sz="2400" dirty="0">
                <a:latin typeface="+mn-lt"/>
                <a:cs typeface="Courier New" panose="02070309020205020404" pitchFamily="49" charset="0"/>
              </a:rPr>
              <a:t>,..., </a:t>
            </a:r>
            <a:r>
              <a:rPr lang="en-US" sz="2400" dirty="0">
                <a:solidFill>
                  <a:schemeClr val="accent2">
                    <a:lumMod val="75000"/>
                  </a:schemeClr>
                </a:solidFill>
                <a:latin typeface="+mn-lt"/>
                <a:cs typeface="+mn-cs"/>
              </a:rPr>
              <a:t>giá trị N </a:t>
            </a:r>
            <a:r>
              <a:rPr lang="en-US" sz="2400" dirty="0">
                <a:latin typeface="+mn-lt"/>
              </a:rPr>
              <a:t>là những giá trị phù hợp về kiểu kết quả của </a:t>
            </a:r>
            <a:r>
              <a:rPr lang="en-US" sz="2400" dirty="0">
                <a:solidFill>
                  <a:schemeClr val="accent2">
                    <a:lumMod val="75000"/>
                  </a:schemeClr>
                </a:solidFill>
                <a:latin typeface="+mn-lt"/>
                <a:cs typeface="+mn-cs"/>
              </a:rPr>
              <a:t>biểu thức.</a:t>
            </a:r>
          </a:p>
          <a:p>
            <a:pPr algn="just">
              <a:lnSpc>
                <a:spcPct val="100000"/>
              </a:lnSpc>
              <a:spcBef>
                <a:spcPts val="0"/>
              </a:spcBef>
              <a:buSzPct val="80000"/>
              <a:buFont typeface="Wingdings" panose="05000000000000000000" pitchFamily="2" charset="2"/>
              <a:buChar char="ü"/>
            </a:pPr>
            <a:r>
              <a:rPr lang="en-US" sz="2400" dirty="0">
                <a:solidFill>
                  <a:schemeClr val="accent2">
                    <a:lumMod val="75000"/>
                  </a:schemeClr>
                </a:solidFill>
                <a:latin typeface="+mn-lt"/>
                <a:cs typeface="+mn-cs"/>
              </a:rPr>
              <a:t>câu lệnh 1</a:t>
            </a:r>
            <a:r>
              <a:rPr lang="en-US" sz="2400" spc="-130" dirty="0">
                <a:latin typeface="+mn-lt"/>
                <a:cs typeface="Courier New" panose="02070309020205020404" pitchFamily="49" charset="0"/>
              </a:rPr>
              <a:t>, </a:t>
            </a:r>
            <a:r>
              <a:rPr lang="en-US" sz="2400" dirty="0">
                <a:solidFill>
                  <a:schemeClr val="accent2">
                    <a:lumMod val="75000"/>
                  </a:schemeClr>
                </a:solidFill>
                <a:latin typeface="+mn-lt"/>
                <a:cs typeface="+mn-cs"/>
              </a:rPr>
              <a:t>câu lệnh 2</a:t>
            </a:r>
            <a:r>
              <a:rPr lang="en-US" sz="2400" spc="-130" dirty="0">
                <a:latin typeface="+mn-lt"/>
                <a:cs typeface="Courier New" panose="02070309020205020404" pitchFamily="49" charset="0"/>
              </a:rPr>
              <a:t>,..., </a:t>
            </a:r>
            <a:r>
              <a:rPr lang="en-US" sz="2400" dirty="0">
                <a:solidFill>
                  <a:schemeClr val="accent2">
                    <a:lumMod val="75000"/>
                  </a:schemeClr>
                </a:solidFill>
                <a:latin typeface="+mn-lt"/>
                <a:cs typeface="+mn-cs"/>
              </a:rPr>
              <a:t>câu lệnh N </a:t>
            </a:r>
            <a:r>
              <a:rPr lang="en-US" sz="2400" spc="-130" dirty="0">
                <a:latin typeface="+mn-lt"/>
              </a:rPr>
              <a:t>là các câu lệnh cần thực hiện khi gán giá trị của </a:t>
            </a:r>
            <a:r>
              <a:rPr lang="en-US" sz="2400" dirty="0">
                <a:solidFill>
                  <a:schemeClr val="accent2">
                    <a:lumMod val="75000"/>
                  </a:schemeClr>
                </a:solidFill>
                <a:latin typeface="+mn-lt"/>
                <a:cs typeface="+mn-cs"/>
              </a:rPr>
              <a:t>biểu thức</a:t>
            </a:r>
            <a:r>
              <a:rPr lang="en-US" sz="2400" spc="-130" dirty="0">
                <a:latin typeface="+mn-lt"/>
              </a:rPr>
              <a:t>, tương ứng bằng </a:t>
            </a:r>
            <a:r>
              <a:rPr lang="en-US" sz="2400" dirty="0">
                <a:solidFill>
                  <a:schemeClr val="accent2">
                    <a:lumMod val="75000"/>
                  </a:schemeClr>
                </a:solidFill>
                <a:latin typeface="+mn-lt"/>
                <a:cs typeface="+mn-cs"/>
              </a:rPr>
              <a:t>giá trị 1</a:t>
            </a:r>
            <a:r>
              <a:rPr lang="en-US" sz="2400" spc="-130" dirty="0">
                <a:latin typeface="+mn-lt"/>
                <a:cs typeface="Courier New" panose="02070309020205020404" pitchFamily="49" charset="0"/>
              </a:rPr>
              <a:t>, </a:t>
            </a:r>
            <a:r>
              <a:rPr lang="en-US" sz="2400" dirty="0">
                <a:solidFill>
                  <a:schemeClr val="accent2">
                    <a:lumMod val="75000"/>
                  </a:schemeClr>
                </a:solidFill>
                <a:latin typeface="+mn-lt"/>
                <a:cs typeface="+mn-cs"/>
              </a:rPr>
              <a:t>giá trị 2</a:t>
            </a:r>
            <a:r>
              <a:rPr lang="en-US" sz="2400" spc="-130" dirty="0">
                <a:latin typeface="+mn-lt"/>
                <a:cs typeface="Courier New" panose="02070309020205020404" pitchFamily="49" charset="0"/>
              </a:rPr>
              <a:t>,..., </a:t>
            </a:r>
            <a:r>
              <a:rPr lang="en-US" sz="2400" dirty="0">
                <a:solidFill>
                  <a:schemeClr val="accent2">
                    <a:lumMod val="75000"/>
                  </a:schemeClr>
                </a:solidFill>
                <a:latin typeface="+mn-lt"/>
                <a:cs typeface="+mn-cs"/>
              </a:rPr>
              <a:t>giá trị N</a:t>
            </a:r>
            <a:r>
              <a:rPr lang="en-US" sz="2400" spc="-130" dirty="0">
                <a:latin typeface="+mn-lt"/>
              </a:rPr>
              <a:t>.</a:t>
            </a:r>
          </a:p>
          <a:p>
            <a:pPr algn="just">
              <a:lnSpc>
                <a:spcPct val="100000"/>
              </a:lnSpc>
              <a:spcBef>
                <a:spcPts val="0"/>
              </a:spcBef>
              <a:buSzPct val="80000"/>
              <a:buFont typeface="Wingdings" panose="05000000000000000000" pitchFamily="2" charset="2"/>
              <a:buChar char="ü"/>
            </a:pPr>
            <a:r>
              <a:rPr lang="en-US" sz="2400" dirty="0">
                <a:solidFill>
                  <a:schemeClr val="accent2">
                    <a:lumMod val="75000"/>
                  </a:schemeClr>
                </a:solidFill>
                <a:latin typeface="+mn-lt"/>
                <a:cs typeface="+mn-cs"/>
              </a:rPr>
              <a:t>break</a:t>
            </a:r>
            <a:r>
              <a:rPr lang="en-US" sz="2400" b="1" dirty="0">
                <a:latin typeface="+mn-lt"/>
              </a:rPr>
              <a:t>: </a:t>
            </a:r>
            <a:r>
              <a:rPr lang="en-US" sz="2400" dirty="0">
                <a:latin typeface="+mn-lt"/>
              </a:rPr>
              <a:t>từ khóa được sử dụng để bỏ qua tất cả các câu lệnh sau đó để kết thúc và giành quyền điều khiển cho cấu trúc bên ngoài lệnh</a:t>
            </a:r>
            <a:r>
              <a:rPr lang="en-US" sz="2400" b="1" dirty="0">
                <a:latin typeface="+mn-lt"/>
              </a:rPr>
              <a:t> </a:t>
            </a:r>
            <a:r>
              <a:rPr lang="en-US" sz="2400" dirty="0">
                <a:latin typeface="+mn-lt"/>
                <a:cs typeface="Courier New" panose="02070309020205020404" pitchFamily="49" charset="0"/>
              </a:rPr>
              <a:t>swich</a:t>
            </a:r>
            <a:r>
              <a:rPr lang="en-US" sz="2400" b="1" dirty="0">
                <a:latin typeface="+mn-lt"/>
              </a:rPr>
              <a:t>.</a:t>
            </a:r>
            <a:endParaRPr lang="en-US" sz="2400" dirty="0">
              <a:latin typeface="+mn-lt"/>
            </a:endParaRPr>
          </a:p>
          <a:p>
            <a:pPr algn="just">
              <a:lnSpc>
                <a:spcPct val="100000"/>
              </a:lnSpc>
              <a:spcBef>
                <a:spcPts val="0"/>
              </a:spcBef>
              <a:buSzPct val="80000"/>
              <a:buFont typeface="Wingdings" panose="05000000000000000000" pitchFamily="2" charset="2"/>
              <a:buChar char="ü"/>
            </a:pPr>
            <a:r>
              <a:rPr lang="en-US" sz="2400" dirty="0">
                <a:latin typeface="+mn-lt"/>
              </a:rPr>
              <a:t>Tùy chọn</a:t>
            </a:r>
            <a:r>
              <a:rPr lang="en-US" sz="2400" b="1" dirty="0">
                <a:latin typeface="+mn-lt"/>
              </a:rPr>
              <a:t> </a:t>
            </a:r>
            <a:r>
              <a:rPr lang="en-US" sz="2400" dirty="0">
                <a:latin typeface="+mn-lt"/>
              </a:rPr>
              <a:t>[</a:t>
            </a:r>
            <a:r>
              <a:rPr lang="en-US" sz="2400" b="1" dirty="0">
                <a:latin typeface="+mn-lt"/>
              </a:rPr>
              <a:t>default</a:t>
            </a:r>
            <a:r>
              <a:rPr lang="en-US" sz="2400" dirty="0">
                <a:latin typeface="+mn-lt"/>
              </a:rPr>
              <a:t>: câu lệnh;] được sử dụng để thực hiện câu lệnh câu lệnh chỉ khi tất cả các trường hợp là sai (false).</a:t>
            </a:r>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15056626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40</a:t>
            </a:fld>
            <a:endParaRPr lang="en-US"/>
          </a:p>
        </p:txBody>
      </p:sp>
      <p:sp>
        <p:nvSpPr>
          <p:cNvPr id="3" name="TextBox 2"/>
          <p:cNvSpPr txBox="1"/>
          <p:nvPr/>
        </p:nvSpPr>
        <p:spPr>
          <a:xfrm>
            <a:off x="1746250" y="3695700"/>
            <a:ext cx="5626100" cy="1569660"/>
          </a:xfrm>
          <a:prstGeom prst="rect">
            <a:avLst/>
          </a:prstGeom>
          <a:noFill/>
        </p:spPr>
        <p:txBody>
          <a:bodyPr wrap="square" rtlCol="0">
            <a:spAutoFit/>
          </a:bodyPr>
          <a:lstStyle/>
          <a:p>
            <a:pPr marL="0" lvl="1"/>
            <a:r>
              <a:rPr lang="en-US" sz="2600" spc="-10" dirty="0">
                <a:solidFill>
                  <a:schemeClr val="bg1"/>
                </a:solidFill>
              </a:rPr>
              <a:t>Viết chương trình nhập vào một số ngày và hiển thị tương ứng trong tuần lễ.</a:t>
            </a:r>
          </a:p>
          <a:p>
            <a:endParaRPr lang="en-US" dirty="0"/>
          </a:p>
        </p:txBody>
      </p:sp>
    </p:spTree>
    <p:extLst>
      <p:ext uri="{BB962C8B-B14F-4D97-AF65-F5344CB8AC3E}">
        <p14:creationId xmlns:p14="http://schemas.microsoft.com/office/powerpoint/2010/main" val="17628644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41</a:t>
            </a:fld>
            <a:endParaRPr lang="en-US"/>
          </a:p>
        </p:txBody>
      </p:sp>
      <p:sp>
        <p:nvSpPr>
          <p:cNvPr id="6" name="Content Placeholder 5"/>
          <p:cNvSpPr>
            <a:spLocks noGrp="1"/>
          </p:cNvSpPr>
          <p:nvPr>
            <p:ph idx="1"/>
          </p:nvPr>
        </p:nvSpPr>
        <p:spPr>
          <a:xfrm>
            <a:off x="628650" y="1326996"/>
            <a:ext cx="7886700" cy="4783061"/>
          </a:xfrm>
        </p:spPr>
        <p:txBody>
          <a:bodyPr>
            <a:noAutofit/>
          </a:bodyPr>
          <a:lstStyle/>
          <a:p>
            <a:pPr marL="1081088" lvl="1" indent="-1081088" algn="just">
              <a:lnSpc>
                <a:spcPts val="3400"/>
              </a:lnSpc>
              <a:spcBef>
                <a:spcPts val="600"/>
              </a:spcBef>
              <a:spcAft>
                <a:spcPts val="600"/>
              </a:spcAft>
              <a:buNone/>
            </a:pPr>
            <a:r>
              <a:rPr lang="en-US" b="1" spc="-10" dirty="0"/>
              <a:t>Ví dụ</a:t>
            </a:r>
            <a:r>
              <a:rPr lang="en-US" spc="-10" dirty="0"/>
              <a:t>: chương trình nhập vào một số ngày và hiển thị tương ứng trong tuần lễ</a:t>
            </a:r>
          </a:p>
          <a:p>
            <a:pPr marL="457200" lvl="1" indent="-457200"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import</a:t>
            </a:r>
            <a:r>
              <a:rPr lang="en-US" sz="2400" spc="-10" dirty="0">
                <a:latin typeface="Courier New" panose="02070309020205020404" pitchFamily="49" charset="0"/>
                <a:cs typeface="Courier New" panose="02070309020205020404" pitchFamily="49" charset="0"/>
              </a:rPr>
              <a:t>java.until.Scanner</a:t>
            </a:r>
            <a:r>
              <a:rPr lang="en-US" sz="2400" spc="-100" dirty="0">
                <a:latin typeface="Courier New" panose="02070309020205020404" pitchFamily="49" charset="0"/>
                <a:cs typeface="Courier New" panose="02070309020205020404" pitchFamily="49" charset="0"/>
              </a:rPr>
              <a:t>;</a:t>
            </a:r>
            <a:r>
              <a:rPr lang="en-US" sz="2400" spc="-100" dirty="0"/>
              <a:t>//Sử dụng lớp </a:t>
            </a:r>
            <a:r>
              <a:rPr lang="en-US" sz="2400" spc="-100" dirty="0">
                <a:latin typeface="Courier New" panose="02070309020205020404" pitchFamily="49" charset="0"/>
                <a:cs typeface="Courier New" panose="02070309020205020404" pitchFamily="49" charset="0"/>
              </a:rPr>
              <a:t>Scanner</a:t>
            </a:r>
          </a:p>
          <a:p>
            <a:pPr marL="457200" lvl="1" indent="3657600" algn="just">
              <a:lnSpc>
                <a:spcPct val="100000"/>
              </a:lnSpc>
              <a:spcBef>
                <a:spcPts val="0"/>
              </a:spcBef>
              <a:buNone/>
            </a:pPr>
            <a:r>
              <a:rPr lang="en-US" sz="2400" spc="-100" dirty="0"/>
              <a:t>để đọc dữ liệu từ bàn phím</a:t>
            </a:r>
          </a:p>
          <a:p>
            <a:pPr marL="457200" lvl="1" indent="-457200"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public</a:t>
            </a:r>
            <a:r>
              <a:rPr lang="en-US" sz="2400" spc="-10" dirty="0">
                <a:latin typeface="Courier New" panose="02070309020205020404" pitchFamily="49" charset="0"/>
                <a:cs typeface="Courier New" panose="02070309020205020404" pitchFamily="49" charset="0"/>
              </a:rPr>
              <a:t> </a:t>
            </a:r>
            <a:r>
              <a:rPr lang="en-US" sz="2400" b="1" spc="-10" dirty="0">
                <a:latin typeface="Courier New" panose="02070309020205020404" pitchFamily="49" charset="0"/>
                <a:cs typeface="Courier New" panose="02070309020205020404" pitchFamily="49" charset="0"/>
              </a:rPr>
              <a:t>class</a:t>
            </a:r>
            <a:r>
              <a:rPr lang="en-US" sz="2400" spc="-10" dirty="0">
                <a:latin typeface="Courier New" panose="02070309020205020404" pitchFamily="49" charset="0"/>
                <a:cs typeface="Courier New" panose="02070309020205020404" pitchFamily="49" charset="0"/>
              </a:rPr>
              <a:t> SwitchDemo {</a:t>
            </a:r>
          </a:p>
          <a:p>
            <a:pPr marL="457200" lvl="1" indent="-166688"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public static void </a:t>
            </a:r>
            <a:r>
              <a:rPr lang="en-US" sz="2400" spc="-10" dirty="0">
                <a:latin typeface="Courier New" panose="02070309020205020404" pitchFamily="49" charset="0"/>
                <a:cs typeface="Courier New" panose="02070309020205020404" pitchFamily="49" charset="0"/>
              </a:rPr>
              <a:t>main(String agre[]) {</a:t>
            </a:r>
          </a:p>
          <a:p>
            <a:pPr marL="457200" lvl="1" indent="166688" algn="just">
              <a:lnSpc>
                <a:spcPct val="100000"/>
              </a:lnSpc>
              <a:spcBef>
                <a:spcPts val="0"/>
              </a:spcBef>
              <a:buNone/>
            </a:pPr>
            <a:r>
              <a:rPr lang="en-US" sz="2400" spc="-10" dirty="0">
                <a:latin typeface="Courier New" panose="02070309020205020404" pitchFamily="49" charset="0"/>
                <a:cs typeface="Courier New" panose="02070309020205020404" pitchFamily="49" charset="0"/>
              </a:rPr>
              <a:t>Scanner scan=</a:t>
            </a:r>
            <a:r>
              <a:rPr lang="en-US" sz="2400" b="1" spc="-10" dirty="0">
                <a:latin typeface="Courier New" panose="02070309020205020404" pitchFamily="49" charset="0"/>
                <a:cs typeface="Courier New" panose="02070309020205020404" pitchFamily="49" charset="0"/>
              </a:rPr>
              <a:t>new</a:t>
            </a:r>
            <a:r>
              <a:rPr lang="en-US" sz="2400" spc="-10" dirty="0">
                <a:latin typeface="Courier New" panose="02070309020205020404" pitchFamily="49" charset="0"/>
                <a:cs typeface="Courier New" panose="02070309020205020404" pitchFamily="49" charset="0"/>
              </a:rPr>
              <a:t>Scanner (system.in);</a:t>
            </a:r>
          </a:p>
          <a:p>
            <a:pPr marL="457200" lvl="1" indent="166688"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int</a:t>
            </a:r>
            <a:r>
              <a:rPr lang="en-US" sz="2400" spc="-10" dirty="0">
                <a:latin typeface="Courier New" panose="02070309020205020404" pitchFamily="49" charset="0"/>
                <a:cs typeface="Courier New" panose="02070309020205020404" pitchFamily="49" charset="0"/>
              </a:rPr>
              <a:t> ngay=scan.nextInt();</a:t>
            </a:r>
            <a:r>
              <a:rPr lang="en-US" sz="2400" spc="-10" dirty="0"/>
              <a:t>//Đọc vào một số</a:t>
            </a:r>
          </a:p>
          <a:p>
            <a:pPr marL="457200" lvl="1" indent="4738688" algn="just">
              <a:lnSpc>
                <a:spcPct val="100000"/>
              </a:lnSpc>
              <a:spcBef>
                <a:spcPts val="0"/>
              </a:spcBef>
              <a:buNone/>
            </a:pPr>
            <a:r>
              <a:rPr lang="en-US" sz="2400" spc="-10" dirty="0"/>
              <a:t>nguyên</a:t>
            </a:r>
          </a:p>
          <a:p>
            <a:pPr marL="457200" lvl="1" indent="166688"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switch</a:t>
            </a:r>
            <a:r>
              <a:rPr lang="en-US" sz="2400" spc="-10" dirty="0">
                <a:latin typeface="Courier New" panose="02070309020205020404" pitchFamily="49" charset="0"/>
                <a:cs typeface="Courier New" panose="02070309020205020404" pitchFamily="49" charset="0"/>
              </a:rPr>
              <a:t>(ngay){</a:t>
            </a:r>
          </a:p>
          <a:p>
            <a:pPr marL="457200" lvl="1" indent="166688"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0:system.out.println(“Chu nhat”);</a:t>
            </a:r>
          </a:p>
          <a:p>
            <a:pPr marL="457200" lvl="1" indent="166688" algn="just">
              <a:lnSpc>
                <a:spcPct val="1000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ct val="1000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sz="240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26433578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Điều khiển rẽ nhánh</a:t>
            </a:r>
          </a:p>
        </p:txBody>
      </p:sp>
      <p:sp>
        <p:nvSpPr>
          <p:cNvPr id="4" name="Slide Number Placeholder 3"/>
          <p:cNvSpPr>
            <a:spLocks noGrp="1"/>
          </p:cNvSpPr>
          <p:nvPr>
            <p:ph type="sldNum" sz="quarter" idx="12"/>
          </p:nvPr>
        </p:nvSpPr>
        <p:spPr/>
        <p:txBody>
          <a:bodyPr/>
          <a:lstStyle/>
          <a:p>
            <a:fld id="{DF4C498B-416A-4F27-9E1B-2DAD6BC6C92F}" type="slidenum">
              <a:rPr lang="en-US" smtClean="0"/>
              <a:t>42</a:t>
            </a:fld>
            <a:endParaRPr lang="en-US"/>
          </a:p>
        </p:txBody>
      </p:sp>
      <p:sp>
        <p:nvSpPr>
          <p:cNvPr id="6" name="Content Placeholder 5"/>
          <p:cNvSpPr>
            <a:spLocks noGrp="1"/>
          </p:cNvSpPr>
          <p:nvPr>
            <p:ph idx="1"/>
          </p:nvPr>
        </p:nvSpPr>
        <p:spPr>
          <a:xfrm>
            <a:off x="628650" y="1260090"/>
            <a:ext cx="7886700" cy="5394480"/>
          </a:xfrm>
        </p:spPr>
        <p:txBody>
          <a:bodyPr>
            <a:noAutofit/>
          </a:bodyPr>
          <a:lstStyle/>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1:system.out.println(“Thu hai”);</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2:system.out.println(“Thu ba”);</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3:system.out.println(“Thu tu”);</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4:system.out.println(“Thu nam”);</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5:system.out.println(“Thu sau”);</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Case</a:t>
            </a:r>
            <a:r>
              <a:rPr lang="en-US" sz="2400" spc="-10" dirty="0">
                <a:latin typeface="Courier New" panose="02070309020205020404" pitchFamily="49" charset="0"/>
                <a:cs typeface="Courier New" panose="02070309020205020404" pitchFamily="49" charset="0"/>
              </a:rPr>
              <a:t> 6:system.out.println(“Thu bay”);</a:t>
            </a:r>
          </a:p>
          <a:p>
            <a:pPr marL="457200" lvl="1" indent="166688" algn="just">
              <a:lnSpc>
                <a:spcPts val="2800"/>
              </a:lnSpc>
              <a:spcBef>
                <a:spcPts val="0"/>
              </a:spcBef>
              <a:buNone/>
            </a:pPr>
            <a:r>
              <a:rPr lang="en-US" sz="2400" b="1" spc="-10" dirty="0">
                <a:latin typeface="Courier New" panose="02070309020205020404" pitchFamily="49" charset="0"/>
                <a:cs typeface="Courier New" panose="02070309020205020404" pitchFamily="49" charset="0"/>
              </a:rPr>
              <a:t>        break</a:t>
            </a:r>
            <a:r>
              <a:rPr lang="en-US" sz="2400" spc="-10" dirty="0">
                <a:latin typeface="Courier New" panose="02070309020205020404" pitchFamily="49" charset="0"/>
                <a:cs typeface="Courier New" panose="02070309020205020404" pitchFamily="49" charset="0"/>
              </a:rPr>
              <a:t>;</a:t>
            </a:r>
          </a:p>
          <a:p>
            <a:pPr marL="457200" lvl="1" indent="166688" algn="just">
              <a:lnSpc>
                <a:spcPts val="2800"/>
              </a:lnSpc>
              <a:spcBef>
                <a:spcPts val="0"/>
              </a:spcBef>
              <a:buNone/>
            </a:pPr>
            <a:r>
              <a:rPr lang="en-US" sz="2400" b="1" spc="-90" dirty="0">
                <a:latin typeface="Courier New" panose="02070309020205020404" pitchFamily="49" charset="0"/>
                <a:cs typeface="Courier New" panose="02070309020205020404" pitchFamily="49" charset="0"/>
              </a:rPr>
              <a:t>default:</a:t>
            </a:r>
            <a:r>
              <a:rPr lang="en-US" sz="2400" spc="-90" dirty="0">
                <a:latin typeface="Courier New" panose="02070309020205020404" pitchFamily="49" charset="0"/>
                <a:cs typeface="Courier New" panose="02070309020205020404" pitchFamily="49" charset="0"/>
              </a:rPr>
              <a:t>system.out.println(“So ngay trong tuan sai”);</a:t>
            </a:r>
          </a:p>
          <a:p>
            <a:pPr marL="457200" lvl="1" indent="-166688" algn="just">
              <a:lnSpc>
                <a:spcPts val="2800"/>
              </a:lnSpc>
              <a:spcBef>
                <a:spcPts val="0"/>
              </a:spcBef>
              <a:buNone/>
            </a:pPr>
            <a:r>
              <a:rPr lang="en-US" sz="2400" spc="-10" dirty="0">
                <a:latin typeface="Courier New" panose="02070309020205020404" pitchFamily="49" charset="0"/>
                <a:cs typeface="Courier New" panose="02070309020205020404" pitchFamily="49" charset="0"/>
              </a:rPr>
              <a:t>}}}</a:t>
            </a:r>
          </a:p>
          <a:p>
            <a:pPr marL="457200" lvl="1" indent="166688" algn="just">
              <a:lnSpc>
                <a:spcPct val="100000"/>
              </a:lnSpc>
              <a:spcBef>
                <a:spcPts val="0"/>
              </a:spcBef>
              <a:buNone/>
            </a:pPr>
            <a:endParaRPr lang="en-US" sz="2400" spc="-1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sz="240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2487367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43</a:t>
            </a:fld>
            <a:endParaRPr lang="en-US" dirty="0"/>
          </a:p>
        </p:txBody>
      </p:sp>
      <p:sp>
        <p:nvSpPr>
          <p:cNvPr id="6" name="Content Placeholder 5"/>
          <p:cNvSpPr>
            <a:spLocks noGrp="1"/>
          </p:cNvSpPr>
          <p:nvPr>
            <p:ph idx="1"/>
          </p:nvPr>
        </p:nvSpPr>
        <p:spPr>
          <a:xfrm>
            <a:off x="628650" y="1393902"/>
            <a:ext cx="4293572" cy="3777947"/>
          </a:xfrm>
        </p:spPr>
        <p:txBody>
          <a:bodyPr/>
          <a:lstStyle/>
          <a:p>
            <a:pPr algn="just">
              <a:lnSpc>
                <a:spcPts val="3200"/>
              </a:lnSpc>
              <a:spcBef>
                <a:spcPts val="300"/>
              </a:spcBef>
              <a:spcAft>
                <a:spcPts val="300"/>
              </a:spcAft>
            </a:pPr>
            <a:r>
              <a:rPr lang="en-US" b="1" dirty="0"/>
              <a:t>Chu trình while </a:t>
            </a:r>
            <a:r>
              <a:rPr lang="en-US" b="1" spc="-10" dirty="0"/>
              <a:t>:</a:t>
            </a:r>
          </a:p>
          <a:p>
            <a:pPr lvl="1" algn="just">
              <a:lnSpc>
                <a:spcPts val="3300"/>
              </a:lnSpc>
              <a:spcBef>
                <a:spcPts val="300"/>
              </a:spcBef>
              <a:spcAft>
                <a:spcPts val="300"/>
              </a:spcAft>
            </a:pPr>
            <a:r>
              <a:rPr lang="en-US" dirty="0"/>
              <a:t>Cú pháp </a:t>
            </a:r>
            <a:r>
              <a:rPr lang="en-US" b="1" i="1" dirty="0"/>
              <a:t>: </a:t>
            </a:r>
          </a:p>
          <a:p>
            <a:pPr indent="519113">
              <a:lnSpc>
                <a:spcPts val="3300"/>
              </a:lnSpc>
              <a:spcBef>
                <a:spcPts val="300"/>
              </a:spcBef>
              <a:spcAft>
                <a:spcPts val="300"/>
              </a:spcAft>
              <a:buNone/>
            </a:pPr>
            <a:r>
              <a:rPr lang="en-US" dirty="0">
                <a:solidFill>
                  <a:schemeClr val="accent2">
                    <a:lumMod val="75000"/>
                  </a:schemeClr>
                </a:solidFill>
              </a:rPr>
              <a:t>while (điều kiện)</a:t>
            </a:r>
          </a:p>
          <a:p>
            <a:pPr indent="741363">
              <a:lnSpc>
                <a:spcPts val="3300"/>
              </a:lnSpc>
              <a:spcBef>
                <a:spcPts val="300"/>
              </a:spcBef>
              <a:spcAft>
                <a:spcPts val="300"/>
              </a:spcAft>
              <a:buNone/>
            </a:pPr>
            <a:r>
              <a:rPr lang="en-US" dirty="0">
                <a:solidFill>
                  <a:schemeClr val="accent2">
                    <a:lumMod val="75000"/>
                  </a:schemeClr>
                </a:solidFill>
              </a:rPr>
              <a:t>câu lệnh;</a:t>
            </a:r>
          </a:p>
          <a:p>
            <a:pPr lvl="1" algn="just">
              <a:lnSpc>
                <a:spcPts val="3300"/>
              </a:lnSpc>
              <a:spcBef>
                <a:spcPts val="300"/>
              </a:spcBef>
              <a:spcAft>
                <a:spcPts val="300"/>
              </a:spcAft>
            </a:pPr>
            <a:r>
              <a:rPr lang="en-US" spc="-100" dirty="0">
                <a:cs typeface="Arial"/>
              </a:rPr>
              <a:t>Thực hiện </a:t>
            </a:r>
            <a:r>
              <a:rPr lang="en-US" sz="2800" dirty="0">
                <a:solidFill>
                  <a:schemeClr val="accent2">
                    <a:lumMod val="75000"/>
                  </a:schemeClr>
                </a:solidFill>
                <a:latin typeface="Arial" panose="020B0604020202020204" pitchFamily="34" charset="0"/>
                <a:cs typeface="Arial" panose="020B0604020202020204" pitchFamily="34" charset="0"/>
              </a:rPr>
              <a:t>câu lệnh</a:t>
            </a:r>
            <a:r>
              <a:rPr lang="en-US" spc="-100" dirty="0">
                <a:latin typeface="Courier New" panose="02070309020205020404" pitchFamily="49" charset="0"/>
                <a:cs typeface="Courier New" panose="02070309020205020404" pitchFamily="49" charset="0"/>
              </a:rPr>
              <a:t> </a:t>
            </a:r>
            <a:r>
              <a:rPr lang="en-US" spc="-100" dirty="0">
                <a:cs typeface="Arial"/>
              </a:rPr>
              <a:t>trong khi biểu thức </a:t>
            </a:r>
            <a:r>
              <a:rPr lang="en-US" sz="2800" dirty="0">
                <a:solidFill>
                  <a:schemeClr val="accent2">
                    <a:lumMod val="75000"/>
                  </a:schemeClr>
                </a:solidFill>
                <a:latin typeface="Arial" panose="020B0604020202020204" pitchFamily="34" charset="0"/>
                <a:cs typeface="Arial" panose="020B0604020202020204" pitchFamily="34" charset="0"/>
              </a:rPr>
              <a:t>điều kiện</a:t>
            </a:r>
            <a:r>
              <a:rPr lang="en-US" spc="-100" dirty="0">
                <a:cs typeface="Arial"/>
              </a:rPr>
              <a:t> có giá trị là true.</a:t>
            </a: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grpSp>
        <p:nvGrpSpPr>
          <p:cNvPr id="18" name="Group 17"/>
          <p:cNvGrpSpPr/>
          <p:nvPr/>
        </p:nvGrpSpPr>
        <p:grpSpPr>
          <a:xfrm>
            <a:off x="5359508" y="1393902"/>
            <a:ext cx="3479228" cy="3777947"/>
            <a:chOff x="4790795" y="1306283"/>
            <a:chExt cx="4672749" cy="4716563"/>
          </a:xfrm>
        </p:grpSpPr>
        <p:sp>
          <p:nvSpPr>
            <p:cNvPr id="14" name="object 25"/>
            <p:cNvSpPr/>
            <p:nvPr/>
          </p:nvSpPr>
          <p:spPr>
            <a:xfrm>
              <a:off x="6618833" y="1764283"/>
              <a:ext cx="1905" cy="679450"/>
            </a:xfrm>
            <a:custGeom>
              <a:avLst/>
              <a:gdLst/>
              <a:ahLst/>
              <a:cxnLst/>
              <a:rect l="l" t="t" r="r" b="b"/>
              <a:pathLst>
                <a:path w="1904" h="679450">
                  <a:moveTo>
                    <a:pt x="1562" y="0"/>
                  </a:moveTo>
                  <a:lnTo>
                    <a:pt x="0" y="679323"/>
                  </a:lnTo>
                </a:path>
              </a:pathLst>
            </a:custGeom>
            <a:ln w="25400">
              <a:solidFill>
                <a:srgbClr val="4A7EBB"/>
              </a:solidFill>
              <a:tailEnd type="arrow"/>
            </a:ln>
          </p:spPr>
          <p:txBody>
            <a:bodyPr wrap="square" lIns="0" tIns="0" rIns="0" bIns="0" rtlCol="0"/>
            <a:lstStyle/>
            <a:p>
              <a:endParaRPr/>
            </a:p>
          </p:txBody>
        </p:sp>
        <p:grpSp>
          <p:nvGrpSpPr>
            <p:cNvPr id="3" name="Group 2"/>
            <p:cNvGrpSpPr/>
            <p:nvPr/>
          </p:nvGrpSpPr>
          <p:grpSpPr>
            <a:xfrm>
              <a:off x="4790795" y="1306283"/>
              <a:ext cx="4672749" cy="4716563"/>
              <a:chOff x="4790795" y="1306283"/>
              <a:chExt cx="4672749" cy="4716563"/>
            </a:xfrm>
          </p:grpSpPr>
          <p:sp>
            <p:nvSpPr>
              <p:cNvPr id="5" name="object 12"/>
              <p:cNvSpPr/>
              <p:nvPr/>
            </p:nvSpPr>
            <p:spPr>
              <a:xfrm>
                <a:off x="6391046" y="1306283"/>
                <a:ext cx="457161" cy="457200"/>
              </a:xfrm>
              <a:prstGeom prst="rect">
                <a:avLst/>
              </a:prstGeom>
              <a:blipFill>
                <a:blip r:embed="rId3" cstate="print"/>
                <a:stretch>
                  <a:fillRect/>
                </a:stretch>
              </a:blipFill>
            </p:spPr>
            <p:txBody>
              <a:bodyPr wrap="square" lIns="0" tIns="0" rIns="0" bIns="0" rtlCol="0"/>
              <a:lstStyle/>
              <a:p>
                <a:endParaRPr/>
              </a:p>
            </p:txBody>
          </p:sp>
          <p:sp>
            <p:nvSpPr>
              <p:cNvPr id="7" name="object 14"/>
              <p:cNvSpPr/>
              <p:nvPr/>
            </p:nvSpPr>
            <p:spPr>
              <a:xfrm>
                <a:off x="6348984" y="5477255"/>
                <a:ext cx="544055" cy="545591"/>
              </a:xfrm>
              <a:prstGeom prst="rect">
                <a:avLst/>
              </a:prstGeom>
              <a:blipFill>
                <a:blip r:embed="rId4" cstate="print"/>
                <a:stretch>
                  <a:fillRect/>
                </a:stretch>
              </a:blipFill>
            </p:spPr>
            <p:txBody>
              <a:bodyPr wrap="square" lIns="0" tIns="0" rIns="0" bIns="0" rtlCol="0"/>
              <a:lstStyle/>
              <a:p>
                <a:endParaRPr/>
              </a:p>
            </p:txBody>
          </p:sp>
          <p:sp>
            <p:nvSpPr>
              <p:cNvPr id="8" name="object 15"/>
              <p:cNvSpPr/>
              <p:nvPr/>
            </p:nvSpPr>
            <p:spPr>
              <a:xfrm>
                <a:off x="5019395" y="2455379"/>
                <a:ext cx="3200400" cy="908685"/>
              </a:xfrm>
              <a:custGeom>
                <a:avLst/>
                <a:gdLst/>
                <a:ahLst/>
                <a:cxnLst/>
                <a:rect l="l" t="t" r="r" b="b"/>
                <a:pathLst>
                  <a:path w="3200400" h="908685">
                    <a:moveTo>
                      <a:pt x="0" y="454151"/>
                    </a:moveTo>
                    <a:lnTo>
                      <a:pt x="1600200" y="0"/>
                    </a:lnTo>
                    <a:lnTo>
                      <a:pt x="3200400" y="454151"/>
                    </a:lnTo>
                    <a:lnTo>
                      <a:pt x="1600200" y="908303"/>
                    </a:lnTo>
                    <a:lnTo>
                      <a:pt x="0" y="454151"/>
                    </a:lnTo>
                    <a:close/>
                  </a:path>
                </a:pathLst>
              </a:custGeom>
              <a:ln w="25399">
                <a:solidFill>
                  <a:srgbClr val="F79646"/>
                </a:solidFill>
              </a:ln>
            </p:spPr>
            <p:txBody>
              <a:bodyPr wrap="square" lIns="0" tIns="0" rIns="0" bIns="0" rtlCol="0"/>
              <a:lstStyle/>
              <a:p>
                <a:endParaRPr/>
              </a:p>
            </p:txBody>
          </p:sp>
          <p:sp>
            <p:nvSpPr>
              <p:cNvPr id="9" name="object 17"/>
              <p:cNvSpPr/>
              <p:nvPr/>
            </p:nvSpPr>
            <p:spPr>
              <a:xfrm>
                <a:off x="5247995" y="4201883"/>
                <a:ext cx="2743200" cy="914400"/>
              </a:xfrm>
              <a:custGeom>
                <a:avLst/>
                <a:gdLst/>
                <a:ahLst/>
                <a:cxnLst/>
                <a:rect l="l" t="t" r="r" b="b"/>
                <a:pathLst>
                  <a:path w="2743200" h="914400">
                    <a:moveTo>
                      <a:pt x="0" y="152400"/>
                    </a:moveTo>
                    <a:lnTo>
                      <a:pt x="7769" y="104226"/>
                    </a:lnTo>
                    <a:lnTo>
                      <a:pt x="29405" y="62391"/>
                    </a:lnTo>
                    <a:lnTo>
                      <a:pt x="62396" y="29402"/>
                    </a:lnTo>
                    <a:lnTo>
                      <a:pt x="104231" y="7768"/>
                    </a:lnTo>
                    <a:lnTo>
                      <a:pt x="152400" y="0"/>
                    </a:lnTo>
                    <a:lnTo>
                      <a:pt x="2590800" y="0"/>
                    </a:lnTo>
                    <a:lnTo>
                      <a:pt x="2638968" y="7768"/>
                    </a:lnTo>
                    <a:lnTo>
                      <a:pt x="2680803" y="29402"/>
                    </a:lnTo>
                    <a:lnTo>
                      <a:pt x="2713794" y="62391"/>
                    </a:lnTo>
                    <a:lnTo>
                      <a:pt x="2735430" y="104226"/>
                    </a:lnTo>
                    <a:lnTo>
                      <a:pt x="2743200" y="152400"/>
                    </a:lnTo>
                    <a:lnTo>
                      <a:pt x="2743200" y="762000"/>
                    </a:lnTo>
                    <a:lnTo>
                      <a:pt x="2735430" y="810168"/>
                    </a:lnTo>
                    <a:lnTo>
                      <a:pt x="2713794" y="852003"/>
                    </a:lnTo>
                    <a:lnTo>
                      <a:pt x="2680803" y="884994"/>
                    </a:lnTo>
                    <a:lnTo>
                      <a:pt x="2638968" y="906630"/>
                    </a:lnTo>
                    <a:lnTo>
                      <a:pt x="2590800" y="914400"/>
                    </a:lnTo>
                    <a:lnTo>
                      <a:pt x="152400" y="914400"/>
                    </a:lnTo>
                    <a:lnTo>
                      <a:pt x="104231" y="906630"/>
                    </a:lnTo>
                    <a:lnTo>
                      <a:pt x="62396" y="884994"/>
                    </a:lnTo>
                    <a:lnTo>
                      <a:pt x="29405" y="852003"/>
                    </a:lnTo>
                    <a:lnTo>
                      <a:pt x="7769" y="810168"/>
                    </a:lnTo>
                    <a:lnTo>
                      <a:pt x="0" y="762000"/>
                    </a:lnTo>
                    <a:lnTo>
                      <a:pt x="0" y="152400"/>
                    </a:lnTo>
                    <a:close/>
                  </a:path>
                </a:pathLst>
              </a:custGeom>
              <a:ln w="25400">
                <a:solidFill>
                  <a:srgbClr val="F79646"/>
                </a:solidFill>
              </a:ln>
            </p:spPr>
            <p:txBody>
              <a:bodyPr wrap="square" lIns="0" tIns="0" rIns="0" bIns="0" rtlCol="0"/>
              <a:lstStyle/>
              <a:p>
                <a:endParaRPr/>
              </a:p>
            </p:txBody>
          </p:sp>
          <p:sp>
            <p:nvSpPr>
              <p:cNvPr id="10" name="object 18"/>
              <p:cNvSpPr txBox="1"/>
              <p:nvPr/>
            </p:nvSpPr>
            <p:spPr>
              <a:xfrm>
                <a:off x="5488024" y="4383541"/>
                <a:ext cx="2206316" cy="477101"/>
              </a:xfrm>
              <a:prstGeom prst="rect">
                <a:avLst/>
              </a:prstGeom>
            </p:spPr>
            <p:txBody>
              <a:bodyPr vert="horz" wrap="square" lIns="0" tIns="12700" rIns="0" bIns="0" rtlCol="0">
                <a:spAutoFit/>
              </a:bodyPr>
              <a:lstStyle/>
              <a:p>
                <a:pPr marL="12700" algn="ctr">
                  <a:lnSpc>
                    <a:spcPct val="100000"/>
                  </a:lnSpc>
                  <a:spcBef>
                    <a:spcPts val="100"/>
                  </a:spcBef>
                </a:pPr>
                <a:r>
                  <a:rPr lang="en-US" sz="2400" spc="-85" dirty="0">
                    <a:latin typeface="Arial"/>
                    <a:cs typeface="Arial"/>
                  </a:rPr>
                  <a:t>câu lệnh</a:t>
                </a:r>
                <a:endParaRPr sz="2400" spc="-85" dirty="0">
                  <a:latin typeface="Arial"/>
                  <a:cs typeface="Arial"/>
                </a:endParaRPr>
              </a:p>
            </p:txBody>
          </p:sp>
          <p:sp>
            <p:nvSpPr>
              <p:cNvPr id="11" name="object 19"/>
              <p:cNvSpPr/>
              <p:nvPr/>
            </p:nvSpPr>
            <p:spPr>
              <a:xfrm>
                <a:off x="6618833" y="3364484"/>
                <a:ext cx="1905" cy="826135"/>
              </a:xfrm>
              <a:custGeom>
                <a:avLst/>
                <a:gdLst/>
                <a:ahLst/>
                <a:cxnLst/>
                <a:rect l="l" t="t" r="r" b="b"/>
                <a:pathLst>
                  <a:path w="1904" h="826135">
                    <a:moveTo>
                      <a:pt x="1562" y="0"/>
                    </a:moveTo>
                    <a:lnTo>
                      <a:pt x="0" y="825627"/>
                    </a:lnTo>
                  </a:path>
                </a:pathLst>
              </a:custGeom>
              <a:ln w="25400">
                <a:solidFill>
                  <a:srgbClr val="4A7EBB"/>
                </a:solidFill>
                <a:tailEnd type="arrow"/>
              </a:ln>
            </p:spPr>
            <p:txBody>
              <a:bodyPr wrap="square" lIns="0" tIns="0" rIns="0" bIns="0" rtlCol="0"/>
              <a:lstStyle/>
              <a:p>
                <a:endParaRPr/>
              </a:p>
            </p:txBody>
          </p:sp>
          <p:sp>
            <p:nvSpPr>
              <p:cNvPr id="12" name="object 21"/>
              <p:cNvSpPr/>
              <p:nvPr/>
            </p:nvSpPr>
            <p:spPr>
              <a:xfrm>
                <a:off x="4790795" y="2909531"/>
                <a:ext cx="457200" cy="1750060"/>
              </a:xfrm>
              <a:custGeom>
                <a:avLst/>
                <a:gdLst/>
                <a:ahLst/>
                <a:cxnLst/>
                <a:rect l="l" t="t" r="r" b="b"/>
                <a:pathLst>
                  <a:path w="457200" h="1750060">
                    <a:moveTo>
                      <a:pt x="457200" y="1749552"/>
                    </a:moveTo>
                    <a:lnTo>
                      <a:pt x="0" y="1749552"/>
                    </a:lnTo>
                    <a:lnTo>
                      <a:pt x="0" y="0"/>
                    </a:lnTo>
                    <a:lnTo>
                      <a:pt x="216027" y="0"/>
                    </a:lnTo>
                  </a:path>
                </a:pathLst>
              </a:custGeom>
              <a:ln w="25400">
                <a:solidFill>
                  <a:srgbClr val="4A7EBB"/>
                </a:solidFill>
                <a:tailEnd type="arrow"/>
              </a:ln>
            </p:spPr>
            <p:txBody>
              <a:bodyPr wrap="square" lIns="0" tIns="0" rIns="0" bIns="0" rtlCol="0"/>
              <a:lstStyle/>
              <a:p>
                <a:endParaRPr/>
              </a:p>
            </p:txBody>
          </p:sp>
          <p:sp>
            <p:nvSpPr>
              <p:cNvPr id="13" name="object 23"/>
              <p:cNvSpPr/>
              <p:nvPr/>
            </p:nvSpPr>
            <p:spPr>
              <a:xfrm>
                <a:off x="6860768" y="2909531"/>
                <a:ext cx="1588135" cy="2816860"/>
              </a:xfrm>
              <a:custGeom>
                <a:avLst/>
                <a:gdLst/>
                <a:ahLst/>
                <a:cxnLst/>
                <a:rect l="l" t="t" r="r" b="b"/>
                <a:pathLst>
                  <a:path w="1588134" h="2816860">
                    <a:moveTo>
                      <a:pt x="1359027" y="0"/>
                    </a:moveTo>
                    <a:lnTo>
                      <a:pt x="1587627" y="0"/>
                    </a:lnTo>
                    <a:lnTo>
                      <a:pt x="1587627" y="2816352"/>
                    </a:lnTo>
                    <a:lnTo>
                      <a:pt x="0" y="2816352"/>
                    </a:lnTo>
                  </a:path>
                </a:pathLst>
              </a:custGeom>
              <a:ln w="25400">
                <a:solidFill>
                  <a:srgbClr val="4A7EBB"/>
                </a:solidFill>
                <a:tailEnd type="arrow"/>
              </a:ln>
            </p:spPr>
            <p:txBody>
              <a:bodyPr wrap="square" lIns="0" tIns="0" rIns="0" bIns="0" rtlCol="0"/>
              <a:lstStyle/>
              <a:p>
                <a:endParaRPr/>
              </a:p>
            </p:txBody>
          </p:sp>
          <p:sp>
            <p:nvSpPr>
              <p:cNvPr id="15" name="object 28"/>
              <p:cNvSpPr txBox="1"/>
              <p:nvPr/>
            </p:nvSpPr>
            <p:spPr>
              <a:xfrm>
                <a:off x="8690446" y="3587354"/>
                <a:ext cx="773098" cy="351378"/>
              </a:xfrm>
              <a:prstGeom prst="rect">
                <a:avLst/>
              </a:prstGeom>
            </p:spPr>
            <p:txBody>
              <a:bodyPr vert="horz" wrap="square" lIns="0" tIns="12700" rIns="0" bIns="0" rtlCol="0">
                <a:spAutoFit/>
              </a:bodyPr>
              <a:lstStyle/>
              <a:p>
                <a:pPr marL="12700">
                  <a:lnSpc>
                    <a:spcPct val="100000"/>
                  </a:lnSpc>
                  <a:spcBef>
                    <a:spcPts val="100"/>
                  </a:spcBef>
                </a:pPr>
                <a:r>
                  <a:rPr sz="2200" spc="-65" dirty="0">
                    <a:latin typeface="Arial"/>
                    <a:cs typeface="Arial"/>
                  </a:rPr>
                  <a:t>f</a:t>
                </a:r>
                <a:r>
                  <a:rPr sz="2200" spc="-60" dirty="0">
                    <a:latin typeface="Arial"/>
                    <a:cs typeface="Arial"/>
                  </a:rPr>
                  <a:t>a</a:t>
                </a:r>
                <a:r>
                  <a:rPr sz="2200" spc="5" dirty="0">
                    <a:latin typeface="Arial"/>
                    <a:cs typeface="Arial"/>
                  </a:rPr>
                  <a:t>l</a:t>
                </a:r>
                <a:r>
                  <a:rPr sz="2200" spc="-200" dirty="0">
                    <a:latin typeface="Arial"/>
                    <a:cs typeface="Arial"/>
                  </a:rPr>
                  <a:t>s</a:t>
                </a:r>
                <a:r>
                  <a:rPr sz="2200" spc="-110" dirty="0">
                    <a:latin typeface="Arial"/>
                    <a:cs typeface="Arial"/>
                  </a:rPr>
                  <a:t>e</a:t>
                </a:r>
                <a:endParaRPr sz="2200" dirty="0">
                  <a:latin typeface="Arial"/>
                  <a:cs typeface="Arial"/>
                </a:endParaRPr>
              </a:p>
            </p:txBody>
          </p:sp>
          <p:sp>
            <p:nvSpPr>
              <p:cNvPr id="16" name="object 16"/>
              <p:cNvSpPr txBox="1"/>
              <p:nvPr/>
            </p:nvSpPr>
            <p:spPr>
              <a:xfrm>
                <a:off x="5947472" y="2685873"/>
                <a:ext cx="1456937" cy="419464"/>
              </a:xfrm>
              <a:prstGeom prst="rect">
                <a:avLst/>
              </a:prstGeom>
            </p:spPr>
            <p:txBody>
              <a:bodyPr vert="horz" wrap="square" lIns="0" tIns="12700" rIns="0" bIns="0" rtlCol="0">
                <a:spAutoFit/>
              </a:bodyPr>
              <a:lstStyle/>
              <a:p>
                <a:pPr marL="12700">
                  <a:lnSpc>
                    <a:spcPct val="100000"/>
                  </a:lnSpc>
                  <a:spcBef>
                    <a:spcPts val="100"/>
                  </a:spcBef>
                </a:pPr>
                <a:r>
                  <a:rPr lang="en-US" sz="2100" spc="-85" dirty="0">
                    <a:latin typeface="Arial"/>
                    <a:cs typeface="Arial"/>
                  </a:rPr>
                  <a:t>điều kiện</a:t>
                </a:r>
                <a:endParaRPr sz="2100" dirty="0">
                  <a:latin typeface="Arial"/>
                  <a:cs typeface="Arial"/>
                </a:endParaRPr>
              </a:p>
            </p:txBody>
          </p:sp>
          <p:sp>
            <p:nvSpPr>
              <p:cNvPr id="17" name="object 27"/>
              <p:cNvSpPr txBox="1"/>
              <p:nvPr/>
            </p:nvSpPr>
            <p:spPr>
              <a:xfrm>
                <a:off x="6717232" y="3575173"/>
                <a:ext cx="687178" cy="351378"/>
              </a:xfrm>
              <a:prstGeom prst="rect">
                <a:avLst/>
              </a:prstGeom>
            </p:spPr>
            <p:txBody>
              <a:bodyPr vert="horz" wrap="square" lIns="0" tIns="12700" rIns="0" bIns="0" rtlCol="0">
                <a:spAutoFit/>
              </a:bodyPr>
              <a:lstStyle/>
              <a:p>
                <a:pPr marL="12700">
                  <a:lnSpc>
                    <a:spcPct val="100000"/>
                  </a:lnSpc>
                  <a:spcBef>
                    <a:spcPts val="100"/>
                  </a:spcBef>
                </a:pPr>
                <a:r>
                  <a:rPr sz="2200" spc="10" dirty="0">
                    <a:latin typeface="Arial"/>
                    <a:cs typeface="Arial"/>
                  </a:rPr>
                  <a:t>tr</a:t>
                </a:r>
                <a:r>
                  <a:rPr sz="2200" spc="35" dirty="0">
                    <a:latin typeface="Arial"/>
                    <a:cs typeface="Arial"/>
                  </a:rPr>
                  <a:t>u</a:t>
                </a:r>
                <a:r>
                  <a:rPr sz="2200" spc="-110" dirty="0">
                    <a:latin typeface="Arial"/>
                    <a:cs typeface="Arial"/>
                  </a:rPr>
                  <a:t>e</a:t>
                </a:r>
                <a:endParaRPr sz="2200" dirty="0">
                  <a:latin typeface="Arial"/>
                  <a:cs typeface="Arial"/>
                </a:endParaRPr>
              </a:p>
            </p:txBody>
          </p:sp>
        </p:grpSp>
      </p:grpSp>
      <p:sp>
        <p:nvSpPr>
          <p:cNvPr id="20" name="TextBox 19"/>
          <p:cNvSpPr txBox="1"/>
          <p:nvPr/>
        </p:nvSpPr>
        <p:spPr>
          <a:xfrm>
            <a:off x="628650" y="5074019"/>
            <a:ext cx="7886700" cy="1469633"/>
          </a:xfrm>
          <a:prstGeom prst="rect">
            <a:avLst/>
          </a:prstGeom>
          <a:noFill/>
        </p:spPr>
        <p:txBody>
          <a:bodyPr wrap="square" rtlCol="0">
            <a:spAutoFit/>
          </a:bodyPr>
          <a:lstStyle/>
          <a:p>
            <a:pPr>
              <a:spcBef>
                <a:spcPts val="300"/>
              </a:spcBef>
              <a:spcAft>
                <a:spcPts val="300"/>
              </a:spcAft>
            </a:pPr>
            <a:r>
              <a:rPr lang="en-US" sz="2800" dirty="0">
                <a:solidFill>
                  <a:schemeClr val="accent2">
                    <a:lumMod val="75000"/>
                  </a:schemeClr>
                </a:solidFill>
                <a:latin typeface="Arial" panose="020B0604020202020204" pitchFamily="34" charset="0"/>
                <a:cs typeface="Arial" panose="020B0604020202020204" pitchFamily="34" charset="0"/>
              </a:rPr>
              <a:t>điều kiện </a:t>
            </a:r>
            <a:r>
              <a:rPr lang="en-US" sz="2600" spc="-100" dirty="0">
                <a:cs typeface="Arial"/>
              </a:rPr>
              <a:t>là biểu thức logic.</a:t>
            </a:r>
          </a:p>
          <a:p>
            <a:pPr algn="just">
              <a:spcBef>
                <a:spcPts val="300"/>
              </a:spcBef>
              <a:spcAft>
                <a:spcPts val="300"/>
              </a:spcAft>
            </a:pPr>
            <a:r>
              <a:rPr lang="en-US" sz="2800" dirty="0">
                <a:solidFill>
                  <a:schemeClr val="accent2">
                    <a:lumMod val="75000"/>
                  </a:schemeClr>
                </a:solidFill>
                <a:latin typeface="Arial" panose="020B0604020202020204" pitchFamily="34" charset="0"/>
                <a:cs typeface="Arial" panose="020B0604020202020204" pitchFamily="34" charset="0"/>
              </a:rPr>
              <a:t>câu lệnh </a:t>
            </a:r>
            <a:r>
              <a:rPr lang="en-US" sz="2600" dirty="0"/>
              <a:t>có thể là một câu lệnh phức.</a:t>
            </a:r>
            <a:endParaRPr lang="en-US" sz="2600" spc="-100" dirty="0">
              <a:cs typeface="Arial"/>
            </a:endParaRPr>
          </a:p>
          <a:p>
            <a:endParaRPr lang="en-US" sz="2600" spc="-100" dirty="0">
              <a:cs typeface="Arial"/>
            </a:endParaRPr>
          </a:p>
        </p:txBody>
      </p:sp>
    </p:spTree>
    <p:extLst>
      <p:ext uri="{BB962C8B-B14F-4D97-AF65-F5344CB8AC3E}">
        <p14:creationId xmlns:p14="http://schemas.microsoft.com/office/powerpoint/2010/main" val="2816643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66828" y="6335756"/>
            <a:ext cx="2057400" cy="365125"/>
          </a:xfrm>
        </p:spPr>
        <p:txBody>
          <a:bodyPr/>
          <a:lstStyle/>
          <a:p>
            <a:fld id="{DF4C498B-416A-4F27-9E1B-2DAD6BC6C92F}" type="slidenum">
              <a:rPr lang="en-US" smtClean="0"/>
              <a:t>44</a:t>
            </a:fld>
            <a:endParaRPr lang="en-US" dirty="0"/>
          </a:p>
        </p:txBody>
      </p:sp>
      <p:sp>
        <p:nvSpPr>
          <p:cNvPr id="6" name="Content Placeholder 5"/>
          <p:cNvSpPr>
            <a:spLocks noGrp="1"/>
          </p:cNvSpPr>
          <p:nvPr>
            <p:ph idx="1"/>
          </p:nvPr>
        </p:nvSpPr>
        <p:spPr>
          <a:xfrm>
            <a:off x="628649" y="1393902"/>
            <a:ext cx="3909897" cy="4739269"/>
          </a:xfrm>
        </p:spPr>
        <p:txBody>
          <a:bodyPr>
            <a:noAutofit/>
          </a:bodyPr>
          <a:lstStyle/>
          <a:p>
            <a:pPr algn="just">
              <a:lnSpc>
                <a:spcPts val="3200"/>
              </a:lnSpc>
              <a:spcBef>
                <a:spcPts val="300"/>
              </a:spcBef>
              <a:spcAft>
                <a:spcPts val="300"/>
              </a:spcAft>
            </a:pPr>
            <a:r>
              <a:rPr lang="en-US" b="1" i="1" dirty="0"/>
              <a:t>Ví dụ:</a:t>
            </a:r>
            <a:endParaRPr lang="en-US" b="1" spc="-10" dirty="0"/>
          </a:p>
          <a:p>
            <a:pPr marL="241300" indent="0">
              <a:lnSpc>
                <a:spcPct val="100000"/>
              </a:lnSpc>
              <a:spcBef>
                <a:spcPts val="595"/>
              </a:spcBef>
              <a:buNone/>
            </a:pPr>
            <a:r>
              <a:rPr lang="en-US" sz="2600" spc="-100" dirty="0">
                <a:latin typeface="Courier New" panose="02070309020205020404" pitchFamily="49" charset="0"/>
                <a:cs typeface="Courier New" panose="02070309020205020404" pitchFamily="49" charset="0"/>
              </a:rPr>
              <a:t>int i = 1;</a:t>
            </a:r>
          </a:p>
          <a:p>
            <a:pPr marL="241300" indent="0">
              <a:lnSpc>
                <a:spcPct val="100000"/>
              </a:lnSpc>
              <a:spcBef>
                <a:spcPts val="595"/>
              </a:spcBef>
              <a:buNone/>
            </a:pPr>
            <a:r>
              <a:rPr lang="en-US" sz="2600" spc="-100" dirty="0">
                <a:latin typeface="Courier New" panose="02070309020205020404" pitchFamily="49" charset="0"/>
                <a:cs typeface="Courier New" panose="02070309020205020404" pitchFamily="49" charset="0"/>
              </a:rPr>
              <a:t>while (i &lt; 20) {  System.out.println(“Hello World!”);  </a:t>
            </a:r>
          </a:p>
          <a:p>
            <a:pPr marL="241300" indent="0">
              <a:lnSpc>
                <a:spcPct val="100000"/>
              </a:lnSpc>
              <a:spcBef>
                <a:spcPts val="595"/>
              </a:spcBef>
              <a:buNone/>
            </a:pPr>
            <a:r>
              <a:rPr lang="en-US" sz="2600" spc="-100" dirty="0">
                <a:latin typeface="Courier New" panose="02070309020205020404" pitchFamily="49" charset="0"/>
                <a:cs typeface="Courier New" panose="02070309020205020404" pitchFamily="49" charset="0"/>
              </a:rPr>
              <a:t>i++;</a:t>
            </a:r>
          </a:p>
          <a:p>
            <a:pPr marL="241300" indent="0">
              <a:lnSpc>
                <a:spcPct val="100000"/>
              </a:lnSpc>
              <a:spcBef>
                <a:spcPts val="570"/>
              </a:spcBef>
              <a:buNone/>
            </a:pPr>
            <a:r>
              <a:rPr lang="en-US" sz="2600" spc="-100" dirty="0">
                <a:latin typeface="Courier New" panose="02070309020205020404" pitchFamily="49" charset="0"/>
                <a:cs typeface="Courier New" panose="02070309020205020404" pitchFamily="49" charset="0"/>
              </a:rPr>
              <a:t>}</a:t>
            </a:r>
          </a:p>
          <a:p>
            <a:pPr marL="241300" indent="0">
              <a:lnSpc>
                <a:spcPct val="100000"/>
              </a:lnSpc>
              <a:spcBef>
                <a:spcPts val="570"/>
              </a:spcBef>
              <a:buNone/>
            </a:pPr>
            <a:r>
              <a:rPr lang="en-US" sz="2400" spc="-20" dirty="0">
                <a:cs typeface="Arial"/>
              </a:rPr>
              <a:t>Đoạn </a:t>
            </a:r>
            <a:r>
              <a:rPr lang="en-US" sz="2400" spc="-30" dirty="0">
                <a:cs typeface="Arial"/>
              </a:rPr>
              <a:t>mã </a:t>
            </a:r>
            <a:r>
              <a:rPr lang="en-US" sz="2400" spc="20" dirty="0">
                <a:cs typeface="Arial"/>
              </a:rPr>
              <a:t>trên </a:t>
            </a:r>
            <a:r>
              <a:rPr lang="en-US" sz="2400" spc="-15" dirty="0">
                <a:cs typeface="Arial"/>
              </a:rPr>
              <a:t>xuất </a:t>
            </a:r>
            <a:r>
              <a:rPr lang="en-US" sz="2400" spc="-45" dirty="0">
                <a:cs typeface="Arial"/>
              </a:rPr>
              <a:t>19 </a:t>
            </a:r>
            <a:r>
              <a:rPr lang="en-US" sz="2400" spc="55" dirty="0">
                <a:cs typeface="Arial"/>
              </a:rPr>
              <a:t>dòng  </a:t>
            </a:r>
            <a:r>
              <a:rPr lang="en-US" sz="2600" spc="-100" dirty="0">
                <a:latin typeface="Courier New" panose="02070309020205020404" pitchFamily="49" charset="0"/>
                <a:cs typeface="Courier New" panose="02070309020205020404" pitchFamily="49" charset="0"/>
              </a:rPr>
              <a:t>Hello World! </a:t>
            </a:r>
            <a:r>
              <a:rPr lang="en-US" sz="2400" spc="-40" dirty="0">
                <a:cs typeface="Arial"/>
              </a:rPr>
              <a:t>ra </a:t>
            </a:r>
            <a:r>
              <a:rPr lang="en-US" sz="2400" spc="-10" dirty="0">
                <a:cs typeface="Arial"/>
              </a:rPr>
              <a:t>màn hình.</a:t>
            </a:r>
            <a:endParaRPr lang="en-US" sz="2400" dirty="0">
              <a:cs typeface="Arial"/>
            </a:endParaRP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grpSp>
        <p:nvGrpSpPr>
          <p:cNvPr id="42" name="Group 41"/>
          <p:cNvGrpSpPr/>
          <p:nvPr/>
        </p:nvGrpSpPr>
        <p:grpSpPr>
          <a:xfrm>
            <a:off x="5290280" y="1514962"/>
            <a:ext cx="3063189" cy="4113198"/>
            <a:chOff x="5624817" y="1259701"/>
            <a:chExt cx="3063189" cy="4113198"/>
          </a:xfrm>
        </p:grpSpPr>
        <p:sp>
          <p:nvSpPr>
            <p:cNvPr id="28" name="object 21"/>
            <p:cNvSpPr/>
            <p:nvPr/>
          </p:nvSpPr>
          <p:spPr>
            <a:xfrm>
              <a:off x="6964692" y="1716087"/>
              <a:ext cx="1905" cy="368935"/>
            </a:xfrm>
            <a:custGeom>
              <a:avLst/>
              <a:gdLst/>
              <a:ahLst/>
              <a:cxnLst/>
              <a:rect l="l" t="t" r="r" b="b"/>
              <a:pathLst>
                <a:path w="1904" h="368935">
                  <a:moveTo>
                    <a:pt x="1536" y="0"/>
                  </a:moveTo>
                  <a:lnTo>
                    <a:pt x="0" y="368427"/>
                  </a:lnTo>
                </a:path>
              </a:pathLst>
            </a:custGeom>
            <a:ln w="25400">
              <a:solidFill>
                <a:srgbClr val="4A7EBB"/>
              </a:solidFill>
              <a:tailEnd type="arrow"/>
            </a:ln>
          </p:spPr>
          <p:txBody>
            <a:bodyPr wrap="square" lIns="0" tIns="0" rIns="0" bIns="0" rtlCol="0"/>
            <a:lstStyle/>
            <a:p>
              <a:endParaRPr/>
            </a:p>
          </p:txBody>
        </p:sp>
        <p:grpSp>
          <p:nvGrpSpPr>
            <p:cNvPr id="41" name="Group 40"/>
            <p:cNvGrpSpPr/>
            <p:nvPr/>
          </p:nvGrpSpPr>
          <p:grpSpPr>
            <a:xfrm>
              <a:off x="5624817" y="1259701"/>
              <a:ext cx="3063189" cy="4113198"/>
              <a:chOff x="5624817" y="1259701"/>
              <a:chExt cx="3063189" cy="4113198"/>
            </a:xfrm>
          </p:grpSpPr>
          <p:sp>
            <p:nvSpPr>
              <p:cNvPr id="21" name="object 14"/>
              <p:cNvSpPr/>
              <p:nvPr/>
            </p:nvSpPr>
            <p:spPr>
              <a:xfrm>
                <a:off x="8142414" y="2847022"/>
                <a:ext cx="545592" cy="544068"/>
              </a:xfrm>
              <a:prstGeom prst="rect">
                <a:avLst/>
              </a:prstGeom>
              <a:blipFill>
                <a:blip r:embed="rId3" cstate="print"/>
                <a:stretch>
                  <a:fillRect/>
                </a:stretch>
              </a:blipFill>
            </p:spPr>
            <p:txBody>
              <a:bodyPr wrap="square" lIns="0" tIns="0" rIns="0" bIns="0" rtlCol="0"/>
              <a:lstStyle/>
              <a:p>
                <a:endParaRPr/>
              </a:p>
            </p:txBody>
          </p:sp>
          <p:sp>
            <p:nvSpPr>
              <p:cNvPr id="22" name="object 15"/>
              <p:cNvSpPr/>
              <p:nvPr/>
            </p:nvSpPr>
            <p:spPr>
              <a:xfrm>
                <a:off x="6307010" y="2858033"/>
                <a:ext cx="1371600" cy="612775"/>
              </a:xfrm>
              <a:custGeom>
                <a:avLst/>
                <a:gdLst/>
                <a:ahLst/>
                <a:cxnLst/>
                <a:rect l="l" t="t" r="r" b="b"/>
                <a:pathLst>
                  <a:path w="1371600" h="612775">
                    <a:moveTo>
                      <a:pt x="0" y="306324"/>
                    </a:moveTo>
                    <a:lnTo>
                      <a:pt x="685800" y="0"/>
                    </a:lnTo>
                    <a:lnTo>
                      <a:pt x="1371600" y="306324"/>
                    </a:lnTo>
                    <a:lnTo>
                      <a:pt x="685800" y="612648"/>
                    </a:lnTo>
                    <a:lnTo>
                      <a:pt x="0" y="306324"/>
                    </a:lnTo>
                    <a:close/>
                  </a:path>
                </a:pathLst>
              </a:custGeom>
              <a:ln w="25400">
                <a:solidFill>
                  <a:srgbClr val="F79646"/>
                </a:solidFill>
              </a:ln>
            </p:spPr>
            <p:txBody>
              <a:bodyPr wrap="square" lIns="0" tIns="0" rIns="0" bIns="0" rtlCol="0"/>
              <a:lstStyle/>
              <a:p>
                <a:endParaRPr/>
              </a:p>
            </p:txBody>
          </p:sp>
          <p:sp>
            <p:nvSpPr>
              <p:cNvPr id="23" name="object 16"/>
              <p:cNvSpPr txBox="1"/>
              <p:nvPr/>
            </p:nvSpPr>
            <p:spPr>
              <a:xfrm>
                <a:off x="6753758" y="2999524"/>
                <a:ext cx="506615" cy="320601"/>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i</a:t>
                </a:r>
                <a:r>
                  <a:rPr sz="2000" spc="-155" dirty="0">
                    <a:latin typeface="Arial"/>
                    <a:cs typeface="Arial"/>
                  </a:rPr>
                  <a:t>&lt;</a:t>
                </a:r>
                <a:r>
                  <a:rPr sz="2000" spc="-90" dirty="0">
                    <a:latin typeface="Arial"/>
                    <a:cs typeface="Arial"/>
                  </a:rPr>
                  <a:t>20</a:t>
                </a:r>
                <a:endParaRPr sz="2000" dirty="0">
                  <a:latin typeface="Arial"/>
                  <a:cs typeface="Arial"/>
                </a:endParaRPr>
              </a:p>
            </p:txBody>
          </p:sp>
          <p:sp>
            <p:nvSpPr>
              <p:cNvPr id="24" name="object 17"/>
              <p:cNvSpPr/>
              <p:nvPr/>
            </p:nvSpPr>
            <p:spPr>
              <a:xfrm>
                <a:off x="5898629" y="4001287"/>
                <a:ext cx="2133600" cy="612775"/>
              </a:xfrm>
              <a:custGeom>
                <a:avLst/>
                <a:gdLst/>
                <a:ahLst/>
                <a:cxnLst/>
                <a:rect l="l" t="t" r="r" b="b"/>
                <a:pathLst>
                  <a:path w="2133600" h="612775">
                    <a:moveTo>
                      <a:pt x="0" y="612647"/>
                    </a:moveTo>
                    <a:lnTo>
                      <a:pt x="426720" y="0"/>
                    </a:lnTo>
                    <a:lnTo>
                      <a:pt x="2133600" y="0"/>
                    </a:lnTo>
                    <a:lnTo>
                      <a:pt x="1706880" y="612647"/>
                    </a:lnTo>
                    <a:lnTo>
                      <a:pt x="0" y="612647"/>
                    </a:lnTo>
                    <a:close/>
                  </a:path>
                </a:pathLst>
              </a:custGeom>
              <a:ln w="25400">
                <a:solidFill>
                  <a:srgbClr val="F79646"/>
                </a:solidFill>
              </a:ln>
            </p:spPr>
            <p:txBody>
              <a:bodyPr wrap="square" lIns="0" tIns="0" rIns="0" bIns="0" rtlCol="0"/>
              <a:lstStyle/>
              <a:p>
                <a:endParaRPr/>
              </a:p>
            </p:txBody>
          </p:sp>
          <p:sp>
            <p:nvSpPr>
              <p:cNvPr id="25" name="object 18"/>
              <p:cNvSpPr txBox="1"/>
              <p:nvPr/>
            </p:nvSpPr>
            <p:spPr>
              <a:xfrm>
                <a:off x="6283171" y="4175988"/>
                <a:ext cx="1363041" cy="320601"/>
              </a:xfrm>
              <a:prstGeom prst="rect">
                <a:avLst/>
              </a:prstGeom>
            </p:spPr>
            <p:txBody>
              <a:bodyPr vert="horz" wrap="square" lIns="0" tIns="12700" rIns="0" bIns="0" rtlCol="0">
                <a:spAutoFit/>
              </a:bodyPr>
              <a:lstStyle/>
              <a:p>
                <a:pPr marL="12700" marR="5080" indent="42545">
                  <a:lnSpc>
                    <a:spcPct val="100000"/>
                  </a:lnSpc>
                  <a:spcBef>
                    <a:spcPts val="100"/>
                  </a:spcBef>
                </a:pPr>
                <a:r>
                  <a:rPr sz="2000" spc="-70" dirty="0">
                    <a:latin typeface="Arial"/>
                    <a:cs typeface="Arial"/>
                  </a:rPr>
                  <a:t>Hello  </a:t>
                </a:r>
                <a:r>
                  <a:rPr sz="2000" spc="-175" dirty="0">
                    <a:latin typeface="Arial"/>
                    <a:cs typeface="Arial"/>
                  </a:rPr>
                  <a:t>W</a:t>
                </a:r>
                <a:r>
                  <a:rPr sz="2000" spc="-60" dirty="0">
                    <a:latin typeface="Arial"/>
                    <a:cs typeface="Arial"/>
                  </a:rPr>
                  <a:t>o</a:t>
                </a:r>
                <a:r>
                  <a:rPr sz="2000" spc="20" dirty="0">
                    <a:latin typeface="Arial"/>
                    <a:cs typeface="Arial"/>
                  </a:rPr>
                  <a:t>r</a:t>
                </a:r>
                <a:r>
                  <a:rPr sz="2000" spc="5" dirty="0">
                    <a:latin typeface="Arial"/>
                    <a:cs typeface="Arial"/>
                  </a:rPr>
                  <a:t>l</a:t>
                </a:r>
                <a:r>
                  <a:rPr sz="2000" spc="-60" dirty="0">
                    <a:latin typeface="Arial"/>
                    <a:cs typeface="Arial"/>
                  </a:rPr>
                  <a:t>d</a:t>
                </a:r>
                <a:endParaRPr sz="2000" dirty="0">
                  <a:latin typeface="Arial"/>
                  <a:cs typeface="Arial"/>
                </a:endParaRPr>
              </a:p>
            </p:txBody>
          </p:sp>
          <p:sp>
            <p:nvSpPr>
              <p:cNvPr id="26" name="object 19"/>
              <p:cNvSpPr/>
              <p:nvPr/>
            </p:nvSpPr>
            <p:spPr>
              <a:xfrm>
                <a:off x="6324600" y="4915699"/>
                <a:ext cx="1371600" cy="457200"/>
              </a:xfrm>
              <a:custGeom>
                <a:avLst/>
                <a:gdLst/>
                <a:ahLst/>
                <a:cxnLst/>
                <a:rect l="l" t="t" r="r" b="b"/>
                <a:pathLst>
                  <a:path w="1371600" h="457200">
                    <a:moveTo>
                      <a:pt x="0" y="76200"/>
                    </a:moveTo>
                    <a:lnTo>
                      <a:pt x="5987" y="46537"/>
                    </a:lnTo>
                    <a:lnTo>
                      <a:pt x="22317" y="22317"/>
                    </a:lnTo>
                    <a:lnTo>
                      <a:pt x="46537" y="5987"/>
                    </a:lnTo>
                    <a:lnTo>
                      <a:pt x="76200" y="0"/>
                    </a:lnTo>
                    <a:lnTo>
                      <a:pt x="1295400" y="0"/>
                    </a:lnTo>
                    <a:lnTo>
                      <a:pt x="1325062" y="5987"/>
                    </a:lnTo>
                    <a:lnTo>
                      <a:pt x="1349282" y="22317"/>
                    </a:lnTo>
                    <a:lnTo>
                      <a:pt x="1365612" y="46537"/>
                    </a:lnTo>
                    <a:lnTo>
                      <a:pt x="1371600" y="76200"/>
                    </a:lnTo>
                    <a:lnTo>
                      <a:pt x="1371600" y="381000"/>
                    </a:lnTo>
                    <a:lnTo>
                      <a:pt x="1365612" y="410656"/>
                    </a:lnTo>
                    <a:lnTo>
                      <a:pt x="1349282" y="434878"/>
                    </a:lnTo>
                    <a:lnTo>
                      <a:pt x="1325062" y="451210"/>
                    </a:lnTo>
                    <a:lnTo>
                      <a:pt x="1295400" y="457200"/>
                    </a:lnTo>
                    <a:lnTo>
                      <a:pt x="76200" y="457200"/>
                    </a:lnTo>
                    <a:lnTo>
                      <a:pt x="46537" y="451210"/>
                    </a:lnTo>
                    <a:lnTo>
                      <a:pt x="22317" y="434878"/>
                    </a:lnTo>
                    <a:lnTo>
                      <a:pt x="5987" y="410656"/>
                    </a:lnTo>
                    <a:lnTo>
                      <a:pt x="0" y="381000"/>
                    </a:lnTo>
                    <a:lnTo>
                      <a:pt x="0" y="76200"/>
                    </a:lnTo>
                    <a:close/>
                  </a:path>
                </a:pathLst>
              </a:custGeom>
              <a:ln w="25400">
                <a:solidFill>
                  <a:srgbClr val="F79646"/>
                </a:solidFill>
              </a:ln>
            </p:spPr>
            <p:txBody>
              <a:bodyPr wrap="square" lIns="0" tIns="0" rIns="0" bIns="0" rtlCol="0"/>
              <a:lstStyle/>
              <a:p>
                <a:endParaRPr/>
              </a:p>
            </p:txBody>
          </p:sp>
          <p:sp>
            <p:nvSpPr>
              <p:cNvPr id="27" name="object 20"/>
              <p:cNvSpPr txBox="1"/>
              <p:nvPr/>
            </p:nvSpPr>
            <p:spPr>
              <a:xfrm>
                <a:off x="6856006" y="4979199"/>
                <a:ext cx="503799" cy="320601"/>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i</a:t>
                </a:r>
                <a:r>
                  <a:rPr sz="2000" spc="-140" dirty="0">
                    <a:latin typeface="Arial"/>
                    <a:cs typeface="Arial"/>
                  </a:rPr>
                  <a:t>++</a:t>
                </a:r>
                <a:endParaRPr sz="2000" dirty="0">
                  <a:latin typeface="Arial"/>
                  <a:cs typeface="Arial"/>
                </a:endParaRPr>
              </a:p>
            </p:txBody>
          </p:sp>
          <p:sp>
            <p:nvSpPr>
              <p:cNvPr id="29" name="object 27"/>
              <p:cNvSpPr/>
              <p:nvPr/>
            </p:nvSpPr>
            <p:spPr>
              <a:xfrm>
                <a:off x="5624817" y="3164611"/>
                <a:ext cx="668020" cy="1979930"/>
              </a:xfrm>
              <a:custGeom>
                <a:avLst/>
                <a:gdLst/>
                <a:ahLst/>
                <a:cxnLst/>
                <a:rect l="l" t="t" r="r" b="b"/>
                <a:pathLst>
                  <a:path w="668020" h="1979929">
                    <a:moveTo>
                      <a:pt x="667512" y="1979676"/>
                    </a:moveTo>
                    <a:lnTo>
                      <a:pt x="0" y="1979676"/>
                    </a:lnTo>
                    <a:lnTo>
                      <a:pt x="0" y="0"/>
                    </a:lnTo>
                    <a:lnTo>
                      <a:pt x="642239" y="0"/>
                    </a:lnTo>
                  </a:path>
                </a:pathLst>
              </a:custGeom>
              <a:ln w="25400">
                <a:solidFill>
                  <a:srgbClr val="4A7EBB"/>
                </a:solidFill>
                <a:tailEnd type="arrow"/>
              </a:ln>
            </p:spPr>
            <p:txBody>
              <a:bodyPr wrap="square" lIns="0" tIns="0" rIns="0" bIns="0" rtlCol="0"/>
              <a:lstStyle/>
              <a:p>
                <a:endParaRPr/>
              </a:p>
            </p:txBody>
          </p:sp>
          <p:sp>
            <p:nvSpPr>
              <p:cNvPr id="30" name="object 30"/>
              <p:cNvSpPr/>
              <p:nvPr/>
            </p:nvSpPr>
            <p:spPr>
              <a:xfrm>
                <a:off x="5898629" y="2096300"/>
                <a:ext cx="2133600" cy="457200"/>
              </a:xfrm>
              <a:custGeom>
                <a:avLst/>
                <a:gdLst/>
                <a:ahLst/>
                <a:cxnLst/>
                <a:rect l="l" t="t" r="r" b="b"/>
                <a:pathLst>
                  <a:path w="2133600" h="457200">
                    <a:moveTo>
                      <a:pt x="0" y="76200"/>
                    </a:moveTo>
                    <a:lnTo>
                      <a:pt x="5987" y="46537"/>
                    </a:lnTo>
                    <a:lnTo>
                      <a:pt x="22317" y="22317"/>
                    </a:lnTo>
                    <a:lnTo>
                      <a:pt x="46537" y="5987"/>
                    </a:lnTo>
                    <a:lnTo>
                      <a:pt x="76200" y="0"/>
                    </a:lnTo>
                    <a:lnTo>
                      <a:pt x="2057400" y="0"/>
                    </a:lnTo>
                    <a:lnTo>
                      <a:pt x="2087062" y="5987"/>
                    </a:lnTo>
                    <a:lnTo>
                      <a:pt x="2111282" y="22317"/>
                    </a:lnTo>
                    <a:lnTo>
                      <a:pt x="2127612" y="46537"/>
                    </a:lnTo>
                    <a:lnTo>
                      <a:pt x="2133600" y="76200"/>
                    </a:lnTo>
                    <a:lnTo>
                      <a:pt x="2133600" y="381000"/>
                    </a:lnTo>
                    <a:lnTo>
                      <a:pt x="2127612" y="410656"/>
                    </a:lnTo>
                    <a:lnTo>
                      <a:pt x="2111282" y="434878"/>
                    </a:lnTo>
                    <a:lnTo>
                      <a:pt x="2087062" y="451210"/>
                    </a:lnTo>
                    <a:lnTo>
                      <a:pt x="2057400" y="457200"/>
                    </a:lnTo>
                    <a:lnTo>
                      <a:pt x="76200" y="457200"/>
                    </a:lnTo>
                    <a:lnTo>
                      <a:pt x="46537" y="451210"/>
                    </a:lnTo>
                    <a:lnTo>
                      <a:pt x="22317" y="434878"/>
                    </a:lnTo>
                    <a:lnTo>
                      <a:pt x="5987" y="410656"/>
                    </a:lnTo>
                    <a:lnTo>
                      <a:pt x="0" y="381000"/>
                    </a:lnTo>
                    <a:lnTo>
                      <a:pt x="0" y="76200"/>
                    </a:lnTo>
                    <a:close/>
                  </a:path>
                </a:pathLst>
              </a:custGeom>
              <a:ln w="25400">
                <a:solidFill>
                  <a:srgbClr val="F79646"/>
                </a:solidFill>
              </a:ln>
            </p:spPr>
            <p:txBody>
              <a:bodyPr wrap="square" lIns="0" tIns="0" rIns="0" bIns="0" rtlCol="0"/>
              <a:lstStyle/>
              <a:p>
                <a:endParaRPr/>
              </a:p>
            </p:txBody>
          </p:sp>
          <p:sp>
            <p:nvSpPr>
              <p:cNvPr id="31" name="object 31"/>
              <p:cNvSpPr txBox="1"/>
              <p:nvPr/>
            </p:nvSpPr>
            <p:spPr>
              <a:xfrm>
                <a:off x="6810997" y="2159799"/>
                <a:ext cx="366306" cy="320601"/>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i</a:t>
                </a:r>
                <a:r>
                  <a:rPr sz="2000" spc="-125" dirty="0">
                    <a:latin typeface="Arial"/>
                    <a:cs typeface="Arial"/>
                  </a:rPr>
                  <a:t>=1</a:t>
                </a:r>
                <a:endParaRPr sz="2000" dirty="0">
                  <a:latin typeface="Arial"/>
                  <a:cs typeface="Arial"/>
                </a:endParaRPr>
              </a:p>
            </p:txBody>
          </p:sp>
          <p:sp>
            <p:nvSpPr>
              <p:cNvPr id="33" name="object 12"/>
              <p:cNvSpPr/>
              <p:nvPr/>
            </p:nvSpPr>
            <p:spPr>
              <a:xfrm>
                <a:off x="6764210" y="1259701"/>
                <a:ext cx="457200" cy="457187"/>
              </a:xfrm>
              <a:prstGeom prst="rect">
                <a:avLst/>
              </a:prstGeom>
              <a:blipFill>
                <a:blip r:embed="rId4" cstate="print"/>
                <a:stretch>
                  <a:fillRect/>
                </a:stretch>
              </a:blipFill>
            </p:spPr>
            <p:txBody>
              <a:bodyPr wrap="square" lIns="0" tIns="0" rIns="0" bIns="0" rtlCol="0"/>
              <a:lstStyle/>
              <a:p>
                <a:endParaRPr/>
              </a:p>
            </p:txBody>
          </p:sp>
          <p:sp>
            <p:nvSpPr>
              <p:cNvPr id="34" name="object 21"/>
              <p:cNvSpPr/>
              <p:nvPr/>
            </p:nvSpPr>
            <p:spPr>
              <a:xfrm>
                <a:off x="6992810" y="1716087"/>
                <a:ext cx="1905" cy="368935"/>
              </a:xfrm>
              <a:custGeom>
                <a:avLst/>
                <a:gdLst/>
                <a:ahLst/>
                <a:cxnLst/>
                <a:rect l="l" t="t" r="r" b="b"/>
                <a:pathLst>
                  <a:path w="1904" h="368935">
                    <a:moveTo>
                      <a:pt x="1536" y="0"/>
                    </a:moveTo>
                    <a:lnTo>
                      <a:pt x="0" y="368427"/>
                    </a:lnTo>
                  </a:path>
                </a:pathLst>
              </a:custGeom>
              <a:ln w="12700">
                <a:solidFill>
                  <a:srgbClr val="4A7EBB"/>
                </a:solidFill>
              </a:ln>
            </p:spPr>
            <p:txBody>
              <a:bodyPr wrap="square" lIns="0" tIns="0" rIns="0" bIns="0" rtlCol="0"/>
              <a:lstStyle/>
              <a:p>
                <a:endParaRPr/>
              </a:p>
            </p:txBody>
          </p:sp>
          <p:sp>
            <p:nvSpPr>
              <p:cNvPr id="35" name="object 23"/>
              <p:cNvSpPr/>
              <p:nvPr/>
            </p:nvSpPr>
            <p:spPr>
              <a:xfrm>
                <a:off x="7037768" y="3471735"/>
                <a:ext cx="1905" cy="518159"/>
              </a:xfrm>
              <a:custGeom>
                <a:avLst/>
                <a:gdLst/>
                <a:ahLst/>
                <a:cxnLst/>
                <a:rect l="l" t="t" r="r" b="b"/>
                <a:pathLst>
                  <a:path w="1904" h="518160">
                    <a:moveTo>
                      <a:pt x="1549" y="0"/>
                    </a:moveTo>
                    <a:lnTo>
                      <a:pt x="0" y="517779"/>
                    </a:lnTo>
                  </a:path>
                </a:pathLst>
              </a:custGeom>
              <a:ln w="25400">
                <a:solidFill>
                  <a:srgbClr val="4A7EBB"/>
                </a:solidFill>
                <a:tailEnd type="arrow"/>
              </a:ln>
            </p:spPr>
            <p:txBody>
              <a:bodyPr wrap="square" lIns="0" tIns="0" rIns="0" bIns="0" rtlCol="0"/>
              <a:lstStyle/>
              <a:p>
                <a:endParaRPr/>
              </a:p>
            </p:txBody>
          </p:sp>
          <p:sp>
            <p:nvSpPr>
              <p:cNvPr id="36" name="object 34"/>
              <p:cNvSpPr txBox="1"/>
              <p:nvPr/>
            </p:nvSpPr>
            <p:spPr>
              <a:xfrm>
                <a:off x="7166152" y="3519957"/>
                <a:ext cx="41529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t>
                </a:r>
                <a:r>
                  <a:rPr sz="1800" spc="35" dirty="0">
                    <a:latin typeface="Arial"/>
                    <a:cs typeface="Arial"/>
                  </a:rPr>
                  <a:t>u</a:t>
                </a:r>
                <a:r>
                  <a:rPr sz="1800" spc="-110" dirty="0">
                    <a:latin typeface="Arial"/>
                    <a:cs typeface="Arial"/>
                  </a:rPr>
                  <a:t>e</a:t>
                </a:r>
                <a:endParaRPr sz="1800" dirty="0">
                  <a:latin typeface="Arial"/>
                  <a:cs typeface="Arial"/>
                </a:endParaRPr>
              </a:p>
            </p:txBody>
          </p:sp>
          <p:sp>
            <p:nvSpPr>
              <p:cNvPr id="37" name="object 25"/>
              <p:cNvSpPr/>
              <p:nvPr/>
            </p:nvSpPr>
            <p:spPr>
              <a:xfrm>
                <a:off x="7010400" y="4613935"/>
                <a:ext cx="0" cy="289560"/>
              </a:xfrm>
              <a:custGeom>
                <a:avLst/>
                <a:gdLst/>
                <a:ahLst/>
                <a:cxnLst/>
                <a:rect l="l" t="t" r="r" b="b"/>
                <a:pathLst>
                  <a:path h="289560">
                    <a:moveTo>
                      <a:pt x="0" y="0"/>
                    </a:moveTo>
                    <a:lnTo>
                      <a:pt x="0" y="289178"/>
                    </a:lnTo>
                  </a:path>
                </a:pathLst>
              </a:custGeom>
              <a:ln w="25400">
                <a:solidFill>
                  <a:srgbClr val="4A7EBB"/>
                </a:solidFill>
                <a:tailEnd type="arrow"/>
              </a:ln>
            </p:spPr>
            <p:txBody>
              <a:bodyPr wrap="square" lIns="0" tIns="0" rIns="0" bIns="0" rtlCol="0"/>
              <a:lstStyle/>
              <a:p>
                <a:endParaRPr/>
              </a:p>
            </p:txBody>
          </p:sp>
          <p:sp>
            <p:nvSpPr>
              <p:cNvPr id="38" name="object 32"/>
              <p:cNvSpPr/>
              <p:nvPr/>
            </p:nvSpPr>
            <p:spPr>
              <a:xfrm>
                <a:off x="7009676" y="2554287"/>
                <a:ext cx="1905" cy="292735"/>
              </a:xfrm>
              <a:custGeom>
                <a:avLst/>
                <a:gdLst/>
                <a:ahLst/>
                <a:cxnLst/>
                <a:rect l="l" t="t" r="r" b="b"/>
                <a:pathLst>
                  <a:path w="1904" h="292735">
                    <a:moveTo>
                      <a:pt x="1524" y="0"/>
                    </a:moveTo>
                    <a:lnTo>
                      <a:pt x="0" y="292227"/>
                    </a:lnTo>
                  </a:path>
                </a:pathLst>
              </a:custGeom>
              <a:ln w="25400">
                <a:solidFill>
                  <a:srgbClr val="4A7EBB"/>
                </a:solidFill>
                <a:tailEnd type="arrow"/>
              </a:ln>
            </p:spPr>
            <p:txBody>
              <a:bodyPr wrap="square" lIns="0" tIns="0" rIns="0" bIns="0" rtlCol="0"/>
              <a:lstStyle/>
              <a:p>
                <a:endParaRPr/>
              </a:p>
            </p:txBody>
          </p:sp>
          <p:cxnSp>
            <p:nvCxnSpPr>
              <p:cNvPr id="39" name="Straight Arrow Connector 38"/>
              <p:cNvCxnSpPr/>
              <p:nvPr/>
            </p:nvCxnSpPr>
            <p:spPr>
              <a:xfrm>
                <a:off x="7678610" y="3149384"/>
                <a:ext cx="50831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0" name="object 34"/>
              <p:cNvSpPr txBox="1"/>
              <p:nvPr/>
            </p:nvSpPr>
            <p:spPr>
              <a:xfrm>
                <a:off x="7634985" y="2780753"/>
                <a:ext cx="595567" cy="289823"/>
              </a:xfrm>
              <a:prstGeom prst="rect">
                <a:avLst/>
              </a:prstGeom>
            </p:spPr>
            <p:txBody>
              <a:bodyPr vert="horz" wrap="square" lIns="0" tIns="12700" rIns="0" bIns="0" rtlCol="0">
                <a:spAutoFit/>
              </a:bodyPr>
              <a:lstStyle/>
              <a:p>
                <a:pPr marL="12700">
                  <a:lnSpc>
                    <a:spcPct val="100000"/>
                  </a:lnSpc>
                  <a:spcBef>
                    <a:spcPts val="100"/>
                  </a:spcBef>
                </a:pPr>
                <a:r>
                  <a:rPr lang="en-US" sz="1800" spc="10" dirty="0">
                    <a:latin typeface="Arial"/>
                    <a:cs typeface="Arial"/>
                  </a:rPr>
                  <a:t>false</a:t>
                </a:r>
                <a:endParaRPr sz="1800" dirty="0">
                  <a:latin typeface="Arial"/>
                  <a:cs typeface="Arial"/>
                </a:endParaRPr>
              </a:p>
            </p:txBody>
          </p:sp>
        </p:grpSp>
      </p:grpSp>
    </p:spTree>
    <p:extLst>
      <p:ext uri="{BB962C8B-B14F-4D97-AF65-F5344CB8AC3E}">
        <p14:creationId xmlns:p14="http://schemas.microsoft.com/office/powerpoint/2010/main" val="253497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45</a:t>
            </a:fld>
            <a:endParaRPr lang="en-US" dirty="0"/>
          </a:p>
        </p:txBody>
      </p:sp>
      <p:sp>
        <p:nvSpPr>
          <p:cNvPr id="6" name="Content Placeholder 5"/>
          <p:cNvSpPr>
            <a:spLocks noGrp="1"/>
          </p:cNvSpPr>
          <p:nvPr>
            <p:ph idx="1"/>
          </p:nvPr>
        </p:nvSpPr>
        <p:spPr>
          <a:xfrm>
            <a:off x="394474" y="1393902"/>
            <a:ext cx="4601271" cy="4930703"/>
          </a:xfrm>
        </p:spPr>
        <p:txBody>
          <a:bodyPr>
            <a:noAutofit/>
          </a:bodyPr>
          <a:lstStyle/>
          <a:p>
            <a:pPr algn="just">
              <a:lnSpc>
                <a:spcPts val="3200"/>
              </a:lnSpc>
              <a:spcBef>
                <a:spcPts val="300"/>
              </a:spcBef>
              <a:spcAft>
                <a:spcPts val="300"/>
              </a:spcAft>
            </a:pPr>
            <a:r>
              <a:rPr lang="en-US" b="1" dirty="0"/>
              <a:t>Chu trình do - while </a:t>
            </a:r>
            <a:r>
              <a:rPr lang="en-US" b="1" spc="-10" dirty="0"/>
              <a:t>:</a:t>
            </a:r>
          </a:p>
          <a:p>
            <a:pPr marL="457200" lvl="1" indent="-290513" algn="just">
              <a:lnSpc>
                <a:spcPts val="3300"/>
              </a:lnSpc>
              <a:spcBef>
                <a:spcPts val="300"/>
              </a:spcBef>
              <a:spcAft>
                <a:spcPts val="300"/>
              </a:spcAft>
            </a:pPr>
            <a:r>
              <a:rPr lang="en-US" dirty="0"/>
              <a:t>Cú pháp </a:t>
            </a:r>
            <a:r>
              <a:rPr lang="en-US" b="1" i="1" dirty="0"/>
              <a:t>: </a:t>
            </a:r>
          </a:p>
          <a:p>
            <a:pPr marL="0" indent="457200">
              <a:lnSpc>
                <a:spcPts val="2700"/>
              </a:lnSpc>
              <a:spcBef>
                <a:spcPts val="300"/>
              </a:spcBef>
              <a:spcAft>
                <a:spcPts val="300"/>
              </a:spcAft>
              <a:buNone/>
            </a:pPr>
            <a:r>
              <a:rPr lang="en-US" dirty="0">
                <a:solidFill>
                  <a:schemeClr val="accent2">
                    <a:lumMod val="75000"/>
                  </a:schemeClr>
                </a:solidFill>
              </a:rPr>
              <a:t>do {</a:t>
            </a:r>
          </a:p>
          <a:p>
            <a:pPr marL="0" indent="457200">
              <a:lnSpc>
                <a:spcPts val="2700"/>
              </a:lnSpc>
              <a:spcBef>
                <a:spcPts val="300"/>
              </a:spcBef>
              <a:spcAft>
                <a:spcPts val="300"/>
              </a:spcAft>
              <a:buNone/>
            </a:pPr>
            <a:r>
              <a:rPr lang="en-US" dirty="0">
                <a:solidFill>
                  <a:schemeClr val="accent2">
                    <a:lumMod val="75000"/>
                  </a:schemeClr>
                </a:solidFill>
              </a:rPr>
              <a:t>câu lệnh;</a:t>
            </a:r>
          </a:p>
          <a:p>
            <a:pPr marL="0" indent="457200">
              <a:lnSpc>
                <a:spcPts val="2700"/>
              </a:lnSpc>
              <a:spcBef>
                <a:spcPts val="300"/>
              </a:spcBef>
              <a:spcAft>
                <a:spcPts val="300"/>
              </a:spcAft>
              <a:buNone/>
            </a:pPr>
            <a:r>
              <a:rPr lang="en-US" dirty="0">
                <a:solidFill>
                  <a:schemeClr val="accent2">
                    <a:lumMod val="75000"/>
                  </a:schemeClr>
                </a:solidFill>
              </a:rPr>
              <a:t>} while (điều kiện)</a:t>
            </a:r>
          </a:p>
          <a:p>
            <a:pPr marL="512763" marR="5080" lvl="1" indent="-277813" algn="just">
              <a:lnSpc>
                <a:spcPct val="100000"/>
              </a:lnSpc>
              <a:spcBef>
                <a:spcPts val="595"/>
              </a:spcBef>
            </a:pPr>
            <a:r>
              <a:rPr lang="vi-VN" spc="-95" dirty="0">
                <a:latin typeface="Arial"/>
                <a:cs typeface="Arial"/>
              </a:rPr>
              <a:t>Tương </a:t>
            </a:r>
            <a:r>
              <a:rPr lang="vi-VN" spc="-25" dirty="0">
                <a:latin typeface="Arial"/>
                <a:cs typeface="Arial"/>
              </a:rPr>
              <a:t>tự </a:t>
            </a:r>
            <a:r>
              <a:rPr lang="vi-VN" dirty="0">
                <a:latin typeface="Arial"/>
                <a:cs typeface="Arial"/>
              </a:rPr>
              <a:t>lệnh lặp while </a:t>
            </a:r>
            <a:r>
              <a:rPr lang="vi-VN" spc="-10" dirty="0">
                <a:latin typeface="Arial"/>
                <a:cs typeface="Arial"/>
              </a:rPr>
              <a:t>chỉ  </a:t>
            </a:r>
            <a:r>
              <a:rPr lang="vi-VN" spc="-50" dirty="0">
                <a:latin typeface="Arial"/>
                <a:cs typeface="Arial"/>
              </a:rPr>
              <a:t>khác </a:t>
            </a:r>
            <a:r>
              <a:rPr lang="vi-VN" spc="-145" dirty="0">
                <a:latin typeface="Arial"/>
                <a:cs typeface="Arial"/>
              </a:rPr>
              <a:t>ở </a:t>
            </a:r>
            <a:r>
              <a:rPr lang="vi-VN" spc="-5" dirty="0">
                <a:latin typeface="Arial"/>
                <a:cs typeface="Arial"/>
              </a:rPr>
              <a:t>chỗ </a:t>
            </a:r>
            <a:r>
              <a:rPr lang="vi-VN" spc="15" dirty="0">
                <a:latin typeface="Arial"/>
                <a:cs typeface="Arial"/>
              </a:rPr>
              <a:t>điều </a:t>
            </a:r>
            <a:r>
              <a:rPr lang="vi-VN" spc="-10" dirty="0">
                <a:latin typeface="Arial"/>
                <a:cs typeface="Arial"/>
              </a:rPr>
              <a:t>kiện </a:t>
            </a:r>
            <a:r>
              <a:rPr lang="vi-VN" spc="-95" dirty="0">
                <a:latin typeface="Arial"/>
                <a:cs typeface="Arial"/>
              </a:rPr>
              <a:t>được  </a:t>
            </a:r>
            <a:r>
              <a:rPr lang="vi-VN" dirty="0">
                <a:latin typeface="Arial"/>
                <a:cs typeface="Arial"/>
              </a:rPr>
              <a:t>kiểm </a:t>
            </a:r>
            <a:r>
              <a:rPr lang="vi-VN" spc="20" dirty="0">
                <a:latin typeface="Arial"/>
                <a:cs typeface="Arial"/>
              </a:rPr>
              <a:t>tra </a:t>
            </a:r>
            <a:r>
              <a:rPr lang="vi-VN" spc="-110" dirty="0">
                <a:latin typeface="Arial"/>
                <a:cs typeface="Arial"/>
              </a:rPr>
              <a:t>sau, </a:t>
            </a:r>
            <a:r>
              <a:rPr lang="vi-VN" spc="-20" dirty="0">
                <a:latin typeface="Arial"/>
                <a:cs typeface="Arial"/>
              </a:rPr>
              <a:t>nghĩa </a:t>
            </a:r>
            <a:r>
              <a:rPr lang="vi-VN" spc="-40" dirty="0">
                <a:latin typeface="Arial"/>
                <a:cs typeface="Arial"/>
              </a:rPr>
              <a:t>là </a:t>
            </a:r>
            <a:r>
              <a:rPr lang="vi-VN" spc="15" dirty="0">
                <a:latin typeface="Arial"/>
                <a:cs typeface="Arial"/>
              </a:rPr>
              <a:t>công  </a:t>
            </a:r>
            <a:r>
              <a:rPr lang="vi-VN" spc="-50" dirty="0">
                <a:latin typeface="Arial"/>
                <a:cs typeface="Arial"/>
              </a:rPr>
              <a:t>việc </a:t>
            </a:r>
            <a:r>
              <a:rPr lang="vi-VN" spc="-90" dirty="0">
                <a:latin typeface="Arial"/>
                <a:cs typeface="Arial"/>
              </a:rPr>
              <a:t>được </a:t>
            </a:r>
            <a:r>
              <a:rPr lang="vi-VN" spc="-30" dirty="0">
                <a:latin typeface="Arial"/>
                <a:cs typeface="Arial"/>
              </a:rPr>
              <a:t>thực </a:t>
            </a:r>
            <a:r>
              <a:rPr lang="vi-VN" dirty="0">
                <a:latin typeface="Arial"/>
                <a:cs typeface="Arial"/>
              </a:rPr>
              <a:t>hiện </a:t>
            </a:r>
            <a:r>
              <a:rPr lang="vi-VN" spc="25" dirty="0">
                <a:latin typeface="Arial"/>
                <a:cs typeface="Arial"/>
              </a:rPr>
              <a:t>ít </a:t>
            </a:r>
            <a:r>
              <a:rPr lang="vi-VN" spc="15" dirty="0">
                <a:latin typeface="Arial"/>
                <a:cs typeface="Arial"/>
              </a:rPr>
              <a:t>nhất  </a:t>
            </a:r>
            <a:r>
              <a:rPr lang="en-US" spc="15" dirty="0">
                <a:latin typeface="Arial"/>
                <a:cs typeface="Arial"/>
              </a:rPr>
              <a:t>một</a:t>
            </a:r>
            <a:r>
              <a:rPr lang="vi-VN" dirty="0">
                <a:latin typeface="Arial"/>
                <a:cs typeface="Arial"/>
              </a:rPr>
              <a:t> </a:t>
            </a:r>
            <a:r>
              <a:rPr lang="vi-VN" spc="-55" dirty="0">
                <a:latin typeface="Arial"/>
                <a:cs typeface="Arial"/>
              </a:rPr>
              <a:t>lần.</a:t>
            </a:r>
            <a:endParaRPr lang="vi-VN" dirty="0">
              <a:latin typeface="Arial"/>
              <a:cs typeface="Arial"/>
            </a:endParaRP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grpSp>
        <p:nvGrpSpPr>
          <p:cNvPr id="19" name="Group 18"/>
          <p:cNvGrpSpPr/>
          <p:nvPr/>
        </p:nvGrpSpPr>
        <p:grpSpPr>
          <a:xfrm>
            <a:off x="5556560" y="1566166"/>
            <a:ext cx="2958790" cy="4297591"/>
            <a:chOff x="5181600" y="1601404"/>
            <a:chExt cx="3442180" cy="4639376"/>
          </a:xfrm>
        </p:grpSpPr>
        <p:sp>
          <p:nvSpPr>
            <p:cNvPr id="22" name="object 16"/>
            <p:cNvSpPr/>
            <p:nvPr/>
          </p:nvSpPr>
          <p:spPr>
            <a:xfrm>
              <a:off x="6739128" y="5695188"/>
              <a:ext cx="545592" cy="545592"/>
            </a:xfrm>
            <a:prstGeom prst="rect">
              <a:avLst/>
            </a:prstGeom>
            <a:blipFill>
              <a:blip r:embed="rId3" cstate="print"/>
              <a:stretch>
                <a:fillRect/>
              </a:stretch>
            </a:blipFill>
          </p:spPr>
          <p:txBody>
            <a:bodyPr wrap="square" lIns="0" tIns="0" rIns="0" bIns="0" rtlCol="0"/>
            <a:lstStyle/>
            <a:p>
              <a:endParaRPr/>
            </a:p>
          </p:txBody>
        </p:sp>
        <p:sp>
          <p:nvSpPr>
            <p:cNvPr id="23" name="object 17"/>
            <p:cNvSpPr/>
            <p:nvPr/>
          </p:nvSpPr>
          <p:spPr>
            <a:xfrm>
              <a:off x="5423380" y="4192044"/>
              <a:ext cx="3200400" cy="908685"/>
            </a:xfrm>
            <a:custGeom>
              <a:avLst/>
              <a:gdLst/>
              <a:ahLst/>
              <a:cxnLst/>
              <a:rect l="l" t="t" r="r" b="b"/>
              <a:pathLst>
                <a:path w="3200400" h="908685">
                  <a:moveTo>
                    <a:pt x="0" y="454151"/>
                  </a:moveTo>
                  <a:lnTo>
                    <a:pt x="1600200" y="0"/>
                  </a:lnTo>
                  <a:lnTo>
                    <a:pt x="3200400" y="454151"/>
                  </a:lnTo>
                  <a:lnTo>
                    <a:pt x="1600200" y="908303"/>
                  </a:lnTo>
                  <a:lnTo>
                    <a:pt x="0" y="454151"/>
                  </a:lnTo>
                  <a:close/>
                </a:path>
              </a:pathLst>
            </a:custGeom>
            <a:ln w="25399">
              <a:solidFill>
                <a:srgbClr val="F79646"/>
              </a:solidFill>
            </a:ln>
          </p:spPr>
          <p:txBody>
            <a:bodyPr wrap="square" lIns="0" tIns="0" rIns="0" bIns="0" rtlCol="0"/>
            <a:lstStyle/>
            <a:p>
              <a:endParaRPr/>
            </a:p>
          </p:txBody>
        </p:sp>
        <p:sp>
          <p:nvSpPr>
            <p:cNvPr id="24" name="object 18"/>
            <p:cNvSpPr txBox="1"/>
            <p:nvPr/>
          </p:nvSpPr>
          <p:spPr>
            <a:xfrm>
              <a:off x="6460585" y="4428005"/>
              <a:ext cx="1360436" cy="351378"/>
            </a:xfrm>
            <a:prstGeom prst="rect">
              <a:avLst/>
            </a:prstGeom>
          </p:spPr>
          <p:txBody>
            <a:bodyPr vert="horz" wrap="square" lIns="0" tIns="12700" rIns="0" bIns="0" rtlCol="0">
              <a:spAutoFit/>
            </a:bodyPr>
            <a:lstStyle/>
            <a:p>
              <a:pPr marL="12700">
                <a:lnSpc>
                  <a:spcPct val="100000"/>
                </a:lnSpc>
                <a:spcBef>
                  <a:spcPts val="100"/>
                </a:spcBef>
              </a:pPr>
              <a:r>
                <a:rPr lang="en-US" sz="2000" spc="-85" dirty="0">
                  <a:latin typeface="Arial"/>
                  <a:cs typeface="Arial"/>
                </a:rPr>
                <a:t>điều kiện</a:t>
              </a:r>
              <a:endParaRPr sz="2000" dirty="0">
                <a:latin typeface="Arial"/>
                <a:cs typeface="Arial"/>
              </a:endParaRPr>
            </a:p>
          </p:txBody>
        </p:sp>
        <p:sp>
          <p:nvSpPr>
            <p:cNvPr id="25" name="object 19"/>
            <p:cNvSpPr/>
            <p:nvPr/>
          </p:nvSpPr>
          <p:spPr>
            <a:xfrm>
              <a:off x="6096000" y="2618232"/>
              <a:ext cx="1828800" cy="914400"/>
            </a:xfrm>
            <a:custGeom>
              <a:avLst/>
              <a:gdLst/>
              <a:ahLst/>
              <a:cxnLst/>
              <a:rect l="l" t="t" r="r" b="b"/>
              <a:pathLst>
                <a:path w="1828800" h="914400">
                  <a:moveTo>
                    <a:pt x="0" y="152400"/>
                  </a:moveTo>
                  <a:lnTo>
                    <a:pt x="7769" y="104226"/>
                  </a:lnTo>
                  <a:lnTo>
                    <a:pt x="29405" y="62391"/>
                  </a:lnTo>
                  <a:lnTo>
                    <a:pt x="62396" y="29402"/>
                  </a:lnTo>
                  <a:lnTo>
                    <a:pt x="104231" y="7768"/>
                  </a:lnTo>
                  <a:lnTo>
                    <a:pt x="152400" y="0"/>
                  </a:lnTo>
                  <a:lnTo>
                    <a:pt x="1676400" y="0"/>
                  </a:lnTo>
                  <a:lnTo>
                    <a:pt x="1724568" y="7768"/>
                  </a:lnTo>
                  <a:lnTo>
                    <a:pt x="1766403" y="29402"/>
                  </a:lnTo>
                  <a:lnTo>
                    <a:pt x="1799394" y="62391"/>
                  </a:lnTo>
                  <a:lnTo>
                    <a:pt x="1821030" y="104226"/>
                  </a:lnTo>
                  <a:lnTo>
                    <a:pt x="1828800" y="152400"/>
                  </a:lnTo>
                  <a:lnTo>
                    <a:pt x="1828800" y="762000"/>
                  </a:lnTo>
                  <a:lnTo>
                    <a:pt x="1821030" y="810168"/>
                  </a:lnTo>
                  <a:lnTo>
                    <a:pt x="1799394" y="852003"/>
                  </a:lnTo>
                  <a:lnTo>
                    <a:pt x="1766403" y="884994"/>
                  </a:lnTo>
                  <a:lnTo>
                    <a:pt x="1724568" y="906630"/>
                  </a:lnTo>
                  <a:lnTo>
                    <a:pt x="1676400" y="914400"/>
                  </a:lnTo>
                  <a:lnTo>
                    <a:pt x="152400" y="914400"/>
                  </a:lnTo>
                  <a:lnTo>
                    <a:pt x="104231" y="906630"/>
                  </a:lnTo>
                  <a:lnTo>
                    <a:pt x="62396" y="884994"/>
                  </a:lnTo>
                  <a:lnTo>
                    <a:pt x="29405" y="852003"/>
                  </a:lnTo>
                  <a:lnTo>
                    <a:pt x="7769" y="810168"/>
                  </a:lnTo>
                  <a:lnTo>
                    <a:pt x="0" y="762000"/>
                  </a:lnTo>
                  <a:lnTo>
                    <a:pt x="0" y="152400"/>
                  </a:lnTo>
                  <a:close/>
                </a:path>
              </a:pathLst>
            </a:custGeom>
            <a:ln w="25400">
              <a:solidFill>
                <a:srgbClr val="F79646"/>
              </a:solidFill>
            </a:ln>
          </p:spPr>
          <p:txBody>
            <a:bodyPr wrap="square" lIns="0" tIns="0" rIns="0" bIns="0" rtlCol="0"/>
            <a:lstStyle/>
            <a:p>
              <a:endParaRPr/>
            </a:p>
          </p:txBody>
        </p:sp>
        <p:sp>
          <p:nvSpPr>
            <p:cNvPr id="26" name="object 20"/>
            <p:cNvSpPr txBox="1"/>
            <p:nvPr/>
          </p:nvSpPr>
          <p:spPr>
            <a:xfrm>
              <a:off x="6444070" y="2849121"/>
              <a:ext cx="1258624" cy="346098"/>
            </a:xfrm>
            <a:prstGeom prst="rect">
              <a:avLst/>
            </a:prstGeom>
          </p:spPr>
          <p:txBody>
            <a:bodyPr vert="horz" wrap="square" lIns="0" tIns="12700" rIns="0" bIns="0" rtlCol="0">
              <a:spAutoFit/>
            </a:bodyPr>
            <a:lstStyle/>
            <a:p>
              <a:pPr marL="12700">
                <a:lnSpc>
                  <a:spcPct val="100000"/>
                </a:lnSpc>
                <a:spcBef>
                  <a:spcPts val="100"/>
                </a:spcBef>
              </a:pPr>
              <a:r>
                <a:rPr lang="en-US" sz="2000" spc="-155" dirty="0">
                  <a:latin typeface="Arial"/>
                  <a:cs typeface="Arial"/>
                </a:rPr>
                <a:t>câu lệnh</a:t>
              </a:r>
              <a:endParaRPr sz="2000" dirty="0">
                <a:latin typeface="Arial"/>
                <a:cs typeface="Arial"/>
              </a:endParaRPr>
            </a:p>
          </p:txBody>
        </p:sp>
        <p:sp>
          <p:nvSpPr>
            <p:cNvPr id="27" name="object 21"/>
            <p:cNvSpPr/>
            <p:nvPr/>
          </p:nvSpPr>
          <p:spPr>
            <a:xfrm>
              <a:off x="7010400" y="3532632"/>
              <a:ext cx="0" cy="624840"/>
            </a:xfrm>
            <a:custGeom>
              <a:avLst/>
              <a:gdLst/>
              <a:ahLst/>
              <a:cxnLst/>
              <a:rect l="l" t="t" r="r" b="b"/>
              <a:pathLst>
                <a:path h="624839">
                  <a:moveTo>
                    <a:pt x="0" y="0"/>
                  </a:moveTo>
                  <a:lnTo>
                    <a:pt x="0" y="624459"/>
                  </a:lnTo>
                </a:path>
              </a:pathLst>
            </a:custGeom>
            <a:ln w="25400">
              <a:solidFill>
                <a:srgbClr val="4A7EBB"/>
              </a:solidFill>
              <a:tailEnd type="arrow"/>
            </a:ln>
          </p:spPr>
          <p:txBody>
            <a:bodyPr wrap="square" lIns="0" tIns="0" rIns="0" bIns="0" rtlCol="0"/>
            <a:lstStyle/>
            <a:p>
              <a:endParaRPr/>
            </a:p>
          </p:txBody>
        </p:sp>
        <p:sp>
          <p:nvSpPr>
            <p:cNvPr id="28" name="object 23"/>
            <p:cNvSpPr/>
            <p:nvPr/>
          </p:nvSpPr>
          <p:spPr>
            <a:xfrm>
              <a:off x="5181600" y="3075432"/>
              <a:ext cx="902335" cy="1548765"/>
            </a:xfrm>
            <a:custGeom>
              <a:avLst/>
              <a:gdLst/>
              <a:ahLst/>
              <a:cxnLst/>
              <a:rect l="l" t="t" r="r" b="b"/>
              <a:pathLst>
                <a:path w="902335" h="1548764">
                  <a:moveTo>
                    <a:pt x="228600" y="1548383"/>
                  </a:moveTo>
                  <a:lnTo>
                    <a:pt x="0" y="1548383"/>
                  </a:lnTo>
                  <a:lnTo>
                    <a:pt x="0" y="0"/>
                  </a:lnTo>
                  <a:lnTo>
                    <a:pt x="901826" y="0"/>
                  </a:lnTo>
                </a:path>
              </a:pathLst>
            </a:custGeom>
            <a:ln w="25400">
              <a:solidFill>
                <a:srgbClr val="4A7EBB"/>
              </a:solidFill>
              <a:tailEnd type="arrow"/>
            </a:ln>
          </p:spPr>
          <p:txBody>
            <a:bodyPr wrap="square" lIns="0" tIns="0" rIns="0" bIns="0" rtlCol="0"/>
            <a:lstStyle/>
            <a:p>
              <a:endParaRPr/>
            </a:p>
          </p:txBody>
        </p:sp>
        <p:sp>
          <p:nvSpPr>
            <p:cNvPr id="29" name="object 25"/>
            <p:cNvSpPr/>
            <p:nvPr/>
          </p:nvSpPr>
          <p:spPr>
            <a:xfrm>
              <a:off x="7010400" y="1981200"/>
              <a:ext cx="0" cy="624840"/>
            </a:xfrm>
            <a:custGeom>
              <a:avLst/>
              <a:gdLst/>
              <a:ahLst/>
              <a:cxnLst/>
              <a:rect l="l" t="t" r="r" b="b"/>
              <a:pathLst>
                <a:path h="624839">
                  <a:moveTo>
                    <a:pt x="0" y="0"/>
                  </a:moveTo>
                  <a:lnTo>
                    <a:pt x="0" y="624459"/>
                  </a:lnTo>
                </a:path>
              </a:pathLst>
            </a:custGeom>
            <a:ln w="25400">
              <a:solidFill>
                <a:srgbClr val="4A7EBB"/>
              </a:solidFill>
              <a:tailEnd type="arrow"/>
            </a:ln>
          </p:spPr>
          <p:txBody>
            <a:bodyPr wrap="square" lIns="0" tIns="0" rIns="0" bIns="0" rtlCol="0"/>
            <a:lstStyle/>
            <a:p>
              <a:endParaRPr/>
            </a:p>
          </p:txBody>
        </p:sp>
        <p:sp>
          <p:nvSpPr>
            <p:cNvPr id="30" name="object 27"/>
            <p:cNvSpPr txBox="1"/>
            <p:nvPr/>
          </p:nvSpPr>
          <p:spPr>
            <a:xfrm>
              <a:off x="5245299" y="3745548"/>
              <a:ext cx="634481" cy="312872"/>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t>
              </a:r>
              <a:r>
                <a:rPr sz="1800" spc="35" dirty="0">
                  <a:latin typeface="Arial"/>
                  <a:cs typeface="Arial"/>
                </a:rPr>
                <a:t>u</a:t>
              </a:r>
              <a:r>
                <a:rPr sz="1800" spc="-110" dirty="0">
                  <a:latin typeface="Arial"/>
                  <a:cs typeface="Arial"/>
                </a:rPr>
                <a:t>e</a:t>
              </a:r>
              <a:endParaRPr sz="1800" dirty="0">
                <a:latin typeface="Arial"/>
                <a:cs typeface="Arial"/>
              </a:endParaRPr>
            </a:p>
          </p:txBody>
        </p:sp>
        <p:sp>
          <p:nvSpPr>
            <p:cNvPr id="31" name="object 28"/>
            <p:cNvSpPr txBox="1"/>
            <p:nvPr/>
          </p:nvSpPr>
          <p:spPr>
            <a:xfrm>
              <a:off x="7132807" y="5203697"/>
              <a:ext cx="688214" cy="312872"/>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f</a:t>
              </a:r>
              <a:r>
                <a:rPr sz="1800" spc="-60" dirty="0">
                  <a:latin typeface="Arial"/>
                  <a:cs typeface="Arial"/>
                </a:rPr>
                <a:t>a</a:t>
              </a:r>
              <a:r>
                <a:rPr sz="1800" spc="5" dirty="0">
                  <a:latin typeface="Arial"/>
                  <a:cs typeface="Arial"/>
                </a:rPr>
                <a:t>l</a:t>
              </a:r>
              <a:r>
                <a:rPr sz="1800" spc="-200" dirty="0">
                  <a:latin typeface="Arial"/>
                  <a:cs typeface="Arial"/>
                </a:rPr>
                <a:t>s</a:t>
              </a:r>
              <a:r>
                <a:rPr sz="1800" spc="-110" dirty="0">
                  <a:latin typeface="Arial"/>
                  <a:cs typeface="Arial"/>
                </a:rPr>
                <a:t>e</a:t>
              </a:r>
              <a:endParaRPr sz="1800" dirty="0">
                <a:latin typeface="Arial"/>
                <a:cs typeface="Arial"/>
              </a:endParaRPr>
            </a:p>
          </p:txBody>
        </p:sp>
        <p:sp>
          <p:nvSpPr>
            <p:cNvPr id="32" name="object 29"/>
            <p:cNvSpPr/>
            <p:nvPr/>
          </p:nvSpPr>
          <p:spPr>
            <a:xfrm>
              <a:off x="7009625" y="5078768"/>
              <a:ext cx="1905" cy="624840"/>
            </a:xfrm>
            <a:custGeom>
              <a:avLst/>
              <a:gdLst/>
              <a:ahLst/>
              <a:cxnLst/>
              <a:rect l="l" t="t" r="r" b="b"/>
              <a:pathLst>
                <a:path w="1904" h="624839">
                  <a:moveTo>
                    <a:pt x="1562" y="0"/>
                  </a:moveTo>
                  <a:lnTo>
                    <a:pt x="0" y="624458"/>
                  </a:lnTo>
                </a:path>
              </a:pathLst>
            </a:custGeom>
            <a:ln w="25400">
              <a:solidFill>
                <a:srgbClr val="4A7EBB"/>
              </a:solidFill>
              <a:tailEnd type="arrow"/>
            </a:ln>
          </p:spPr>
          <p:txBody>
            <a:bodyPr wrap="square" lIns="0" tIns="0" rIns="0" bIns="0" rtlCol="0"/>
            <a:lstStyle/>
            <a:p>
              <a:endParaRPr/>
            </a:p>
          </p:txBody>
        </p:sp>
        <p:sp>
          <p:nvSpPr>
            <p:cNvPr id="33" name="object 14"/>
            <p:cNvSpPr/>
            <p:nvPr/>
          </p:nvSpPr>
          <p:spPr>
            <a:xfrm>
              <a:off x="6781025" y="1601404"/>
              <a:ext cx="457200" cy="457200"/>
            </a:xfrm>
            <a:prstGeom prst="rect">
              <a:avLst/>
            </a:prstGeom>
            <a:blipFill>
              <a:blip r:embed="rId4"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3174365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66828" y="6335756"/>
            <a:ext cx="2057400" cy="365125"/>
          </a:xfrm>
        </p:spPr>
        <p:txBody>
          <a:bodyPr/>
          <a:lstStyle/>
          <a:p>
            <a:fld id="{DF4C498B-416A-4F27-9E1B-2DAD6BC6C92F}" type="slidenum">
              <a:rPr lang="en-US" smtClean="0"/>
              <a:t>46</a:t>
            </a:fld>
            <a:endParaRPr lang="en-US" dirty="0"/>
          </a:p>
        </p:txBody>
      </p:sp>
      <p:sp>
        <p:nvSpPr>
          <p:cNvPr id="6" name="Content Placeholder 5"/>
          <p:cNvSpPr>
            <a:spLocks noGrp="1"/>
          </p:cNvSpPr>
          <p:nvPr>
            <p:ph idx="1"/>
          </p:nvPr>
        </p:nvSpPr>
        <p:spPr>
          <a:xfrm>
            <a:off x="628649" y="1393902"/>
            <a:ext cx="5537702" cy="4739269"/>
          </a:xfrm>
        </p:spPr>
        <p:txBody>
          <a:bodyPr>
            <a:noAutofit/>
          </a:bodyPr>
          <a:lstStyle/>
          <a:p>
            <a:pPr algn="just">
              <a:lnSpc>
                <a:spcPts val="3200"/>
              </a:lnSpc>
              <a:spcBef>
                <a:spcPts val="300"/>
              </a:spcBef>
              <a:spcAft>
                <a:spcPts val="300"/>
              </a:spcAft>
            </a:pPr>
            <a:r>
              <a:rPr lang="en-US" b="1" i="1" dirty="0"/>
              <a:t>Ví dụ:</a:t>
            </a:r>
          </a:p>
          <a:p>
            <a:pPr marL="0" indent="166688" algn="just">
              <a:lnSpc>
                <a:spcPts val="3200"/>
              </a:lnSpc>
              <a:spcBef>
                <a:spcPts val="600"/>
              </a:spcBef>
              <a:buNone/>
            </a:pPr>
            <a:r>
              <a:rPr lang="en-US" sz="2600" spc="-100" dirty="0">
                <a:latin typeface="Courier New" panose="02070309020205020404" pitchFamily="49" charset="0"/>
                <a:cs typeface="Courier New" panose="02070309020205020404" pitchFamily="49" charset="0"/>
              </a:rPr>
              <a:t>int so = -1; </a:t>
            </a:r>
          </a:p>
          <a:p>
            <a:pPr marL="241300" marR="3253740" indent="0">
              <a:lnSpc>
                <a:spcPct val="120000"/>
              </a:lnSpc>
              <a:spcBef>
                <a:spcPts val="0"/>
              </a:spcBef>
              <a:buNone/>
            </a:pPr>
            <a:r>
              <a:rPr lang="en-US" sz="2600" spc="-100" dirty="0">
                <a:latin typeface="Courier New" panose="02070309020205020404" pitchFamily="49" charset="0"/>
                <a:cs typeface="Courier New" panose="02070309020205020404" pitchFamily="49" charset="0"/>
              </a:rPr>
              <a:t>do {</a:t>
            </a:r>
          </a:p>
          <a:p>
            <a:pPr marL="698500" indent="-407988">
              <a:lnSpc>
                <a:spcPct val="100000"/>
              </a:lnSpc>
              <a:spcBef>
                <a:spcPts val="0"/>
              </a:spcBef>
              <a:buNone/>
            </a:pPr>
            <a:r>
              <a:rPr lang="en-US" sz="2600" spc="-100" dirty="0">
                <a:latin typeface="Courier New" panose="02070309020205020404" pitchFamily="49" charset="0"/>
                <a:cs typeface="Courier New" panose="02070309020205020404" pitchFamily="49" charset="0"/>
              </a:rPr>
              <a:t>so = scanner.nextDouble();</a:t>
            </a:r>
          </a:p>
          <a:p>
            <a:pPr marL="241300" indent="0">
              <a:lnSpc>
                <a:spcPct val="100000"/>
              </a:lnSpc>
              <a:spcBef>
                <a:spcPts val="0"/>
              </a:spcBef>
              <a:buNone/>
            </a:pPr>
            <a:r>
              <a:rPr lang="en-US" sz="2600" spc="-100" dirty="0">
                <a:latin typeface="Courier New" panose="02070309020205020404" pitchFamily="49" charset="0"/>
                <a:cs typeface="Courier New" panose="02070309020205020404" pitchFamily="49" charset="0"/>
              </a:rPr>
              <a:t>}</a:t>
            </a:r>
          </a:p>
          <a:p>
            <a:pPr marL="241300" indent="0">
              <a:lnSpc>
                <a:spcPct val="100000"/>
              </a:lnSpc>
              <a:spcBef>
                <a:spcPts val="0"/>
              </a:spcBef>
              <a:buNone/>
            </a:pPr>
            <a:r>
              <a:rPr lang="en-US" sz="2600" spc="-100" dirty="0">
                <a:latin typeface="Courier New" panose="02070309020205020404" pitchFamily="49" charset="0"/>
                <a:cs typeface="Courier New" panose="02070309020205020404" pitchFamily="49" charset="0"/>
              </a:rPr>
              <a:t>while (so &lt; 0);</a:t>
            </a:r>
          </a:p>
          <a:p>
            <a:pPr marL="241300" lvl="1" indent="0">
              <a:lnSpc>
                <a:spcPct val="100000"/>
              </a:lnSpc>
              <a:spcBef>
                <a:spcPts val="1800"/>
              </a:spcBef>
              <a:buSzPct val="130000"/>
              <a:buNone/>
            </a:pPr>
            <a:r>
              <a:rPr lang="vi-VN" sz="2400" spc="-20" dirty="0">
                <a:latin typeface="Arial"/>
                <a:cs typeface="Arial"/>
              </a:rPr>
              <a:t>Đoạn </a:t>
            </a:r>
            <a:r>
              <a:rPr lang="vi-VN" sz="2400" spc="-30" dirty="0">
                <a:latin typeface="Arial"/>
                <a:cs typeface="Arial"/>
              </a:rPr>
              <a:t>mã </a:t>
            </a:r>
            <a:r>
              <a:rPr lang="vi-VN" sz="2400" spc="20" dirty="0">
                <a:latin typeface="Arial"/>
                <a:cs typeface="Arial"/>
              </a:rPr>
              <a:t>trên </a:t>
            </a:r>
            <a:r>
              <a:rPr lang="vi-VN" sz="2400" spc="-10" dirty="0">
                <a:latin typeface="Arial"/>
                <a:cs typeface="Arial"/>
              </a:rPr>
              <a:t>chỉ </a:t>
            </a:r>
            <a:r>
              <a:rPr lang="vi-VN" sz="2400" spc="-5" dirty="0">
                <a:latin typeface="Arial"/>
                <a:cs typeface="Arial"/>
              </a:rPr>
              <a:t>cho </a:t>
            </a:r>
            <a:r>
              <a:rPr lang="vi-VN" sz="2400" spc="20" dirty="0">
                <a:latin typeface="Arial"/>
                <a:cs typeface="Arial"/>
              </a:rPr>
              <a:t>phép </a:t>
            </a:r>
            <a:r>
              <a:rPr lang="vi-VN" sz="2400" spc="-5" dirty="0">
                <a:latin typeface="Arial"/>
                <a:cs typeface="Arial"/>
              </a:rPr>
              <a:t>nhập  </a:t>
            </a:r>
            <a:r>
              <a:rPr lang="vi-VN" sz="2400" spc="-60" dirty="0">
                <a:latin typeface="Arial"/>
                <a:cs typeface="Arial"/>
              </a:rPr>
              <a:t>số </a:t>
            </a:r>
            <a:r>
              <a:rPr lang="vi-VN" sz="2400" dirty="0">
                <a:latin typeface="Arial"/>
                <a:cs typeface="Arial"/>
              </a:rPr>
              <a:t>nguyên </a:t>
            </a:r>
            <a:r>
              <a:rPr lang="vi-VN" sz="2400" spc="-35" dirty="0">
                <a:latin typeface="Arial"/>
                <a:cs typeface="Arial"/>
              </a:rPr>
              <a:t>dương </a:t>
            </a:r>
            <a:r>
              <a:rPr lang="vi-VN" sz="2400" spc="-25" dirty="0">
                <a:latin typeface="Arial"/>
                <a:cs typeface="Arial"/>
              </a:rPr>
              <a:t>từ </a:t>
            </a:r>
            <a:r>
              <a:rPr lang="vi-VN" sz="2400" spc="-20" dirty="0">
                <a:latin typeface="Arial"/>
                <a:cs typeface="Arial"/>
              </a:rPr>
              <a:t>bàn</a:t>
            </a:r>
            <a:r>
              <a:rPr lang="vi-VN" sz="2400" spc="75" dirty="0">
                <a:latin typeface="Arial"/>
                <a:cs typeface="Arial"/>
              </a:rPr>
              <a:t> </a:t>
            </a:r>
            <a:r>
              <a:rPr lang="vi-VN" sz="2400" spc="-20" dirty="0">
                <a:latin typeface="Arial"/>
                <a:cs typeface="Arial"/>
              </a:rPr>
              <a:t>phím.</a:t>
            </a:r>
            <a:endParaRPr lang="vi-VN" sz="2400" dirty="0">
              <a:latin typeface="Arial"/>
              <a:cs typeface="Arial"/>
            </a:endParaRPr>
          </a:p>
          <a:p>
            <a:pPr marL="241300" indent="0">
              <a:lnSpc>
                <a:spcPct val="100000"/>
              </a:lnSpc>
              <a:spcBef>
                <a:spcPts val="575"/>
              </a:spcBef>
              <a:buNone/>
            </a:pPr>
            <a:endParaRPr lang="en-US" sz="2600" spc="-100" dirty="0">
              <a:latin typeface="Courier New" panose="02070309020205020404" pitchFamily="49" charset="0"/>
              <a:cs typeface="Courier New" panose="02070309020205020404" pitchFamily="49" charset="0"/>
            </a:endParaRPr>
          </a:p>
          <a:p>
            <a:pPr lvl="1" algn="just">
              <a:lnSpc>
                <a:spcPts val="3400"/>
              </a:lnSpc>
              <a:spcBef>
                <a:spcPts val="600"/>
              </a:spcBef>
              <a:spcAft>
                <a:spcPts val="600"/>
              </a:spcAft>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grpSp>
        <p:nvGrpSpPr>
          <p:cNvPr id="3" name="Group 2"/>
          <p:cNvGrpSpPr/>
          <p:nvPr/>
        </p:nvGrpSpPr>
        <p:grpSpPr>
          <a:xfrm>
            <a:off x="6166351" y="1416391"/>
            <a:ext cx="2405266" cy="4716780"/>
            <a:chOff x="6129134" y="1295400"/>
            <a:chExt cx="2405266" cy="4716780"/>
          </a:xfrm>
        </p:grpSpPr>
        <p:sp>
          <p:nvSpPr>
            <p:cNvPr id="43" name="object 16"/>
            <p:cNvSpPr/>
            <p:nvPr/>
          </p:nvSpPr>
          <p:spPr>
            <a:xfrm>
              <a:off x="7196328" y="5466588"/>
              <a:ext cx="545592" cy="545592"/>
            </a:xfrm>
            <a:prstGeom prst="rect">
              <a:avLst/>
            </a:prstGeom>
            <a:blipFill>
              <a:blip r:embed="rId3" cstate="print"/>
              <a:stretch>
                <a:fillRect/>
              </a:stretch>
            </a:blipFill>
          </p:spPr>
          <p:txBody>
            <a:bodyPr wrap="square" lIns="0" tIns="0" rIns="0" bIns="0" rtlCol="0"/>
            <a:lstStyle/>
            <a:p>
              <a:endParaRPr/>
            </a:p>
          </p:txBody>
        </p:sp>
        <p:sp>
          <p:nvSpPr>
            <p:cNvPr id="44" name="object 17"/>
            <p:cNvSpPr/>
            <p:nvPr/>
          </p:nvSpPr>
          <p:spPr>
            <a:xfrm>
              <a:off x="6400800" y="4458703"/>
              <a:ext cx="2133600" cy="658495"/>
            </a:xfrm>
            <a:custGeom>
              <a:avLst/>
              <a:gdLst/>
              <a:ahLst/>
              <a:cxnLst/>
              <a:rect l="l" t="t" r="r" b="b"/>
              <a:pathLst>
                <a:path w="2133600" h="658495">
                  <a:moveTo>
                    <a:pt x="0" y="329183"/>
                  </a:moveTo>
                  <a:lnTo>
                    <a:pt x="1066800" y="0"/>
                  </a:lnTo>
                  <a:lnTo>
                    <a:pt x="2133600" y="329183"/>
                  </a:lnTo>
                  <a:lnTo>
                    <a:pt x="1066800" y="658367"/>
                  </a:lnTo>
                  <a:lnTo>
                    <a:pt x="0" y="329183"/>
                  </a:lnTo>
                  <a:close/>
                </a:path>
              </a:pathLst>
            </a:custGeom>
            <a:ln w="25400">
              <a:solidFill>
                <a:srgbClr val="F79646"/>
              </a:solidFill>
            </a:ln>
          </p:spPr>
          <p:txBody>
            <a:bodyPr wrap="square" lIns="0" tIns="0" rIns="0" bIns="0" rtlCol="0"/>
            <a:lstStyle/>
            <a:p>
              <a:endParaRPr/>
            </a:p>
          </p:txBody>
        </p:sp>
        <p:sp>
          <p:nvSpPr>
            <p:cNvPr id="45" name="object 18"/>
            <p:cNvSpPr txBox="1"/>
            <p:nvPr/>
          </p:nvSpPr>
          <p:spPr>
            <a:xfrm>
              <a:off x="7173619" y="4622787"/>
              <a:ext cx="703095" cy="320601"/>
            </a:xfrm>
            <a:prstGeom prst="rect">
              <a:avLst/>
            </a:prstGeom>
          </p:spPr>
          <p:txBody>
            <a:bodyPr vert="horz" wrap="square" lIns="0" tIns="12700" rIns="0" bIns="0" rtlCol="0">
              <a:spAutoFit/>
            </a:bodyPr>
            <a:lstStyle/>
            <a:p>
              <a:pPr marL="12700">
                <a:lnSpc>
                  <a:spcPct val="100000"/>
                </a:lnSpc>
                <a:spcBef>
                  <a:spcPts val="100"/>
                </a:spcBef>
              </a:pPr>
              <a:r>
                <a:rPr sz="2000" spc="-215" dirty="0">
                  <a:latin typeface="Arial"/>
                  <a:cs typeface="Arial"/>
                </a:rPr>
                <a:t>Số </a:t>
              </a:r>
              <a:r>
                <a:rPr sz="2000" spc="-155" dirty="0">
                  <a:latin typeface="Arial"/>
                  <a:cs typeface="Arial"/>
                </a:rPr>
                <a:t>&lt;</a:t>
              </a:r>
              <a:r>
                <a:rPr sz="2000" spc="-45" dirty="0">
                  <a:latin typeface="Arial"/>
                  <a:cs typeface="Arial"/>
                </a:rPr>
                <a:t> </a:t>
              </a:r>
              <a:r>
                <a:rPr sz="2000" spc="-90" dirty="0">
                  <a:latin typeface="Arial"/>
                  <a:cs typeface="Arial"/>
                </a:rPr>
                <a:t>0</a:t>
              </a:r>
              <a:endParaRPr sz="2000">
                <a:latin typeface="Arial"/>
                <a:cs typeface="Arial"/>
              </a:endParaRPr>
            </a:p>
          </p:txBody>
        </p:sp>
        <p:sp>
          <p:nvSpPr>
            <p:cNvPr id="46" name="object 19"/>
            <p:cNvSpPr/>
            <p:nvPr/>
          </p:nvSpPr>
          <p:spPr>
            <a:xfrm>
              <a:off x="6553200" y="3352800"/>
              <a:ext cx="1828800" cy="664845"/>
            </a:xfrm>
            <a:custGeom>
              <a:avLst/>
              <a:gdLst/>
              <a:ahLst/>
              <a:cxnLst/>
              <a:rect l="l" t="t" r="r" b="b"/>
              <a:pathLst>
                <a:path w="1828800" h="664845">
                  <a:moveTo>
                    <a:pt x="0" y="110744"/>
                  </a:moveTo>
                  <a:lnTo>
                    <a:pt x="8702" y="67637"/>
                  </a:lnTo>
                  <a:lnTo>
                    <a:pt x="32435" y="32435"/>
                  </a:lnTo>
                  <a:lnTo>
                    <a:pt x="67637" y="8702"/>
                  </a:lnTo>
                  <a:lnTo>
                    <a:pt x="110744" y="0"/>
                  </a:lnTo>
                  <a:lnTo>
                    <a:pt x="1718056" y="0"/>
                  </a:lnTo>
                  <a:lnTo>
                    <a:pt x="1761162" y="8702"/>
                  </a:lnTo>
                  <a:lnTo>
                    <a:pt x="1796364" y="32435"/>
                  </a:lnTo>
                  <a:lnTo>
                    <a:pt x="1820097" y="67637"/>
                  </a:lnTo>
                  <a:lnTo>
                    <a:pt x="1828800" y="110744"/>
                  </a:lnTo>
                  <a:lnTo>
                    <a:pt x="1828800" y="553720"/>
                  </a:lnTo>
                  <a:lnTo>
                    <a:pt x="1820097" y="596826"/>
                  </a:lnTo>
                  <a:lnTo>
                    <a:pt x="1796364" y="632028"/>
                  </a:lnTo>
                  <a:lnTo>
                    <a:pt x="1761162" y="655761"/>
                  </a:lnTo>
                  <a:lnTo>
                    <a:pt x="1718056" y="664464"/>
                  </a:lnTo>
                  <a:lnTo>
                    <a:pt x="110744" y="664464"/>
                  </a:lnTo>
                  <a:lnTo>
                    <a:pt x="67637" y="655761"/>
                  </a:lnTo>
                  <a:lnTo>
                    <a:pt x="32435" y="632028"/>
                  </a:lnTo>
                  <a:lnTo>
                    <a:pt x="8702" y="596826"/>
                  </a:lnTo>
                  <a:lnTo>
                    <a:pt x="0" y="553720"/>
                  </a:lnTo>
                  <a:lnTo>
                    <a:pt x="0" y="110744"/>
                  </a:lnTo>
                  <a:close/>
                </a:path>
              </a:pathLst>
            </a:custGeom>
            <a:ln w="25400">
              <a:solidFill>
                <a:srgbClr val="F79646"/>
              </a:solidFill>
            </a:ln>
          </p:spPr>
          <p:txBody>
            <a:bodyPr wrap="square" lIns="0" tIns="0" rIns="0" bIns="0" rtlCol="0"/>
            <a:lstStyle/>
            <a:p>
              <a:endParaRPr/>
            </a:p>
          </p:txBody>
        </p:sp>
        <p:sp>
          <p:nvSpPr>
            <p:cNvPr id="47" name="object 20"/>
            <p:cNvSpPr txBox="1"/>
            <p:nvPr/>
          </p:nvSpPr>
          <p:spPr>
            <a:xfrm>
              <a:off x="7074941" y="3519932"/>
              <a:ext cx="942786" cy="320601"/>
            </a:xfrm>
            <a:prstGeom prst="rect">
              <a:avLst/>
            </a:prstGeom>
          </p:spPr>
          <p:txBody>
            <a:bodyPr vert="horz" wrap="square" lIns="0" tIns="12700" rIns="0" bIns="0" rtlCol="0">
              <a:spAutoFit/>
            </a:bodyPr>
            <a:lstStyle/>
            <a:p>
              <a:pPr marL="12700">
                <a:lnSpc>
                  <a:spcPct val="100000"/>
                </a:lnSpc>
                <a:spcBef>
                  <a:spcPts val="100"/>
                </a:spcBef>
              </a:pPr>
              <a:r>
                <a:rPr sz="2000" spc="-100" dirty="0">
                  <a:latin typeface="Arial"/>
                  <a:cs typeface="Arial"/>
                </a:rPr>
                <a:t>Nhập</a:t>
              </a:r>
              <a:r>
                <a:rPr sz="2000" spc="-165" dirty="0">
                  <a:latin typeface="Arial"/>
                  <a:cs typeface="Arial"/>
                </a:rPr>
                <a:t> </a:t>
              </a:r>
              <a:r>
                <a:rPr sz="2000" spc="-125" dirty="0">
                  <a:latin typeface="Arial"/>
                  <a:cs typeface="Arial"/>
                </a:rPr>
                <a:t>số</a:t>
              </a:r>
              <a:endParaRPr sz="2000" dirty="0">
                <a:latin typeface="Arial"/>
                <a:cs typeface="Arial"/>
              </a:endParaRPr>
            </a:p>
          </p:txBody>
        </p:sp>
        <p:sp>
          <p:nvSpPr>
            <p:cNvPr id="48" name="object 23"/>
            <p:cNvSpPr/>
            <p:nvPr/>
          </p:nvSpPr>
          <p:spPr>
            <a:xfrm>
              <a:off x="6172200" y="3685032"/>
              <a:ext cx="368935" cy="1102995"/>
            </a:xfrm>
            <a:custGeom>
              <a:avLst/>
              <a:gdLst/>
              <a:ahLst/>
              <a:cxnLst/>
              <a:rect l="l" t="t" r="r" b="b"/>
              <a:pathLst>
                <a:path w="368934" h="1102995">
                  <a:moveTo>
                    <a:pt x="228600" y="1102855"/>
                  </a:moveTo>
                  <a:lnTo>
                    <a:pt x="0" y="1102855"/>
                  </a:lnTo>
                  <a:lnTo>
                    <a:pt x="0" y="0"/>
                  </a:lnTo>
                  <a:lnTo>
                    <a:pt x="368427" y="0"/>
                  </a:lnTo>
                </a:path>
              </a:pathLst>
            </a:custGeom>
            <a:ln w="25400">
              <a:solidFill>
                <a:srgbClr val="4A7EBB"/>
              </a:solidFill>
              <a:tailEnd type="arrow"/>
            </a:ln>
          </p:spPr>
          <p:txBody>
            <a:bodyPr wrap="square" lIns="0" tIns="0" rIns="0" bIns="0" rtlCol="0"/>
            <a:lstStyle/>
            <a:p>
              <a:endParaRPr/>
            </a:p>
          </p:txBody>
        </p:sp>
        <p:sp>
          <p:nvSpPr>
            <p:cNvPr id="49" name="object 25"/>
            <p:cNvSpPr/>
            <p:nvPr/>
          </p:nvSpPr>
          <p:spPr>
            <a:xfrm>
              <a:off x="7467600" y="1752600"/>
              <a:ext cx="0" cy="466090"/>
            </a:xfrm>
            <a:custGeom>
              <a:avLst/>
              <a:gdLst/>
              <a:ahLst/>
              <a:cxnLst/>
              <a:rect l="l" t="t" r="r" b="b"/>
              <a:pathLst>
                <a:path h="466089">
                  <a:moveTo>
                    <a:pt x="0" y="0"/>
                  </a:moveTo>
                  <a:lnTo>
                    <a:pt x="0" y="465963"/>
                  </a:lnTo>
                </a:path>
              </a:pathLst>
            </a:custGeom>
            <a:ln w="25400">
              <a:solidFill>
                <a:srgbClr val="4A7EBB"/>
              </a:solidFill>
              <a:tailEnd type="arrow"/>
            </a:ln>
          </p:spPr>
          <p:txBody>
            <a:bodyPr wrap="square" lIns="0" tIns="0" rIns="0" bIns="0" rtlCol="0"/>
            <a:lstStyle/>
            <a:p>
              <a:endParaRPr/>
            </a:p>
          </p:txBody>
        </p:sp>
        <p:sp>
          <p:nvSpPr>
            <p:cNvPr id="50" name="object 27"/>
            <p:cNvSpPr txBox="1"/>
            <p:nvPr/>
          </p:nvSpPr>
          <p:spPr>
            <a:xfrm>
              <a:off x="6129134" y="4742179"/>
              <a:ext cx="41529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t>
              </a:r>
              <a:r>
                <a:rPr sz="1800" spc="35" dirty="0">
                  <a:latin typeface="Arial"/>
                  <a:cs typeface="Arial"/>
                </a:rPr>
                <a:t>u</a:t>
              </a:r>
              <a:r>
                <a:rPr sz="1800" spc="-110" dirty="0">
                  <a:latin typeface="Arial"/>
                  <a:cs typeface="Arial"/>
                </a:rPr>
                <a:t>e</a:t>
              </a:r>
              <a:endParaRPr sz="1800">
                <a:latin typeface="Arial"/>
                <a:cs typeface="Arial"/>
              </a:endParaRPr>
            </a:p>
          </p:txBody>
        </p:sp>
        <p:sp>
          <p:nvSpPr>
            <p:cNvPr id="51" name="object 28"/>
            <p:cNvSpPr txBox="1"/>
            <p:nvPr/>
          </p:nvSpPr>
          <p:spPr>
            <a:xfrm>
              <a:off x="7646011" y="5151276"/>
              <a:ext cx="456565" cy="299720"/>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f</a:t>
              </a:r>
              <a:r>
                <a:rPr sz="1800" spc="-60" dirty="0">
                  <a:latin typeface="Arial"/>
                  <a:cs typeface="Arial"/>
                </a:rPr>
                <a:t>a</a:t>
              </a:r>
              <a:r>
                <a:rPr sz="1800" spc="5" dirty="0">
                  <a:latin typeface="Arial"/>
                  <a:cs typeface="Arial"/>
                </a:rPr>
                <a:t>l</a:t>
              </a:r>
              <a:r>
                <a:rPr sz="1800" spc="-200" dirty="0">
                  <a:latin typeface="Arial"/>
                  <a:cs typeface="Arial"/>
                </a:rPr>
                <a:t>s</a:t>
              </a:r>
              <a:r>
                <a:rPr sz="1800" spc="-110" dirty="0">
                  <a:latin typeface="Arial"/>
                  <a:cs typeface="Arial"/>
                </a:rPr>
                <a:t>e</a:t>
              </a:r>
              <a:endParaRPr sz="1800">
                <a:latin typeface="Arial"/>
                <a:cs typeface="Arial"/>
              </a:endParaRPr>
            </a:p>
          </p:txBody>
        </p:sp>
        <p:sp>
          <p:nvSpPr>
            <p:cNvPr id="53" name="object 31"/>
            <p:cNvSpPr/>
            <p:nvPr/>
          </p:nvSpPr>
          <p:spPr>
            <a:xfrm>
              <a:off x="6553200" y="2231135"/>
              <a:ext cx="1828800" cy="664845"/>
            </a:xfrm>
            <a:custGeom>
              <a:avLst/>
              <a:gdLst/>
              <a:ahLst/>
              <a:cxnLst/>
              <a:rect l="l" t="t" r="r" b="b"/>
              <a:pathLst>
                <a:path w="1828800" h="664844">
                  <a:moveTo>
                    <a:pt x="0" y="110744"/>
                  </a:moveTo>
                  <a:lnTo>
                    <a:pt x="8702" y="67637"/>
                  </a:lnTo>
                  <a:lnTo>
                    <a:pt x="32435" y="32435"/>
                  </a:lnTo>
                  <a:lnTo>
                    <a:pt x="67637" y="8702"/>
                  </a:lnTo>
                  <a:lnTo>
                    <a:pt x="110744" y="0"/>
                  </a:lnTo>
                  <a:lnTo>
                    <a:pt x="1718056" y="0"/>
                  </a:lnTo>
                  <a:lnTo>
                    <a:pt x="1761162" y="8702"/>
                  </a:lnTo>
                  <a:lnTo>
                    <a:pt x="1796364" y="32435"/>
                  </a:lnTo>
                  <a:lnTo>
                    <a:pt x="1820097" y="67637"/>
                  </a:lnTo>
                  <a:lnTo>
                    <a:pt x="1828800" y="110744"/>
                  </a:lnTo>
                  <a:lnTo>
                    <a:pt x="1828800" y="553720"/>
                  </a:lnTo>
                  <a:lnTo>
                    <a:pt x="1820097" y="596826"/>
                  </a:lnTo>
                  <a:lnTo>
                    <a:pt x="1796364" y="632028"/>
                  </a:lnTo>
                  <a:lnTo>
                    <a:pt x="1761162" y="655761"/>
                  </a:lnTo>
                  <a:lnTo>
                    <a:pt x="1718056" y="664464"/>
                  </a:lnTo>
                  <a:lnTo>
                    <a:pt x="110744" y="664464"/>
                  </a:lnTo>
                  <a:lnTo>
                    <a:pt x="67637" y="655761"/>
                  </a:lnTo>
                  <a:lnTo>
                    <a:pt x="32435" y="632028"/>
                  </a:lnTo>
                  <a:lnTo>
                    <a:pt x="8702" y="596826"/>
                  </a:lnTo>
                  <a:lnTo>
                    <a:pt x="0" y="553720"/>
                  </a:lnTo>
                  <a:lnTo>
                    <a:pt x="0" y="110744"/>
                  </a:lnTo>
                  <a:close/>
                </a:path>
              </a:pathLst>
            </a:custGeom>
            <a:ln w="25400">
              <a:solidFill>
                <a:srgbClr val="F79646"/>
              </a:solidFill>
            </a:ln>
          </p:spPr>
          <p:txBody>
            <a:bodyPr wrap="square" lIns="0" tIns="0" rIns="0" bIns="0" rtlCol="0"/>
            <a:lstStyle/>
            <a:p>
              <a:endParaRPr/>
            </a:p>
          </p:txBody>
        </p:sp>
        <p:sp>
          <p:nvSpPr>
            <p:cNvPr id="54" name="object 32"/>
            <p:cNvSpPr txBox="1"/>
            <p:nvPr/>
          </p:nvSpPr>
          <p:spPr>
            <a:xfrm>
              <a:off x="6876539" y="2398267"/>
              <a:ext cx="985167" cy="320601"/>
            </a:xfrm>
            <a:prstGeom prst="rect">
              <a:avLst/>
            </a:prstGeom>
          </p:spPr>
          <p:txBody>
            <a:bodyPr vert="horz" wrap="square" lIns="0" tIns="12700" rIns="0" bIns="0" rtlCol="0">
              <a:spAutoFit/>
            </a:bodyPr>
            <a:lstStyle/>
            <a:p>
              <a:pPr marL="12700" algn="ctr">
                <a:lnSpc>
                  <a:spcPct val="100000"/>
                </a:lnSpc>
                <a:spcBef>
                  <a:spcPts val="100"/>
                </a:spcBef>
              </a:pPr>
              <a:r>
                <a:rPr sz="2000" spc="-120" dirty="0">
                  <a:latin typeface="Arial"/>
                  <a:cs typeface="Arial"/>
                </a:rPr>
                <a:t>s</a:t>
              </a:r>
              <a:r>
                <a:rPr sz="2000" spc="-140" dirty="0">
                  <a:latin typeface="Arial"/>
                  <a:cs typeface="Arial"/>
                </a:rPr>
                <a:t>ố</a:t>
              </a:r>
              <a:r>
                <a:rPr lang="en-US" sz="2000" spc="-140" dirty="0">
                  <a:latin typeface="Arial"/>
                  <a:cs typeface="Arial"/>
                </a:rPr>
                <a:t> </a:t>
              </a:r>
              <a:r>
                <a:rPr sz="2000" spc="-155" dirty="0">
                  <a:latin typeface="Arial"/>
                  <a:cs typeface="Arial"/>
                </a:rPr>
                <a:t>=</a:t>
              </a:r>
              <a:r>
                <a:rPr lang="en-US" sz="2000" spc="-155" dirty="0">
                  <a:latin typeface="Arial"/>
                  <a:cs typeface="Arial"/>
                </a:rPr>
                <a:t> </a:t>
              </a:r>
              <a:r>
                <a:rPr sz="2000" spc="-50" dirty="0">
                  <a:latin typeface="Arial"/>
                  <a:cs typeface="Arial"/>
                </a:rPr>
                <a:t>-</a:t>
              </a:r>
              <a:r>
                <a:rPr sz="2000" spc="-90" dirty="0">
                  <a:latin typeface="Arial"/>
                  <a:cs typeface="Arial"/>
                </a:rPr>
                <a:t>1</a:t>
              </a:r>
              <a:endParaRPr sz="2000" dirty="0">
                <a:latin typeface="Arial"/>
                <a:cs typeface="Arial"/>
              </a:endParaRPr>
            </a:p>
          </p:txBody>
        </p:sp>
        <p:sp>
          <p:nvSpPr>
            <p:cNvPr id="55" name="object 33"/>
            <p:cNvSpPr/>
            <p:nvPr/>
          </p:nvSpPr>
          <p:spPr>
            <a:xfrm>
              <a:off x="7467600" y="2895600"/>
              <a:ext cx="0" cy="445134"/>
            </a:xfrm>
            <a:custGeom>
              <a:avLst/>
              <a:gdLst/>
              <a:ahLst/>
              <a:cxnLst/>
              <a:rect l="l" t="t" r="r" b="b"/>
              <a:pathLst>
                <a:path h="445135">
                  <a:moveTo>
                    <a:pt x="0" y="0"/>
                  </a:moveTo>
                  <a:lnTo>
                    <a:pt x="0" y="444627"/>
                  </a:lnTo>
                </a:path>
              </a:pathLst>
            </a:custGeom>
            <a:ln w="25400">
              <a:solidFill>
                <a:srgbClr val="4A7EBB"/>
              </a:solidFill>
              <a:tailEnd type="arrow"/>
            </a:ln>
          </p:spPr>
          <p:txBody>
            <a:bodyPr wrap="square" lIns="0" tIns="0" rIns="0" bIns="0" rtlCol="0"/>
            <a:lstStyle/>
            <a:p>
              <a:endParaRPr/>
            </a:p>
          </p:txBody>
        </p:sp>
        <p:sp>
          <p:nvSpPr>
            <p:cNvPr id="57" name="object 29"/>
            <p:cNvSpPr/>
            <p:nvPr/>
          </p:nvSpPr>
          <p:spPr>
            <a:xfrm>
              <a:off x="7467600" y="5117071"/>
              <a:ext cx="0" cy="356870"/>
            </a:xfrm>
            <a:custGeom>
              <a:avLst/>
              <a:gdLst/>
              <a:ahLst/>
              <a:cxnLst/>
              <a:rect l="l" t="t" r="r" b="b"/>
              <a:pathLst>
                <a:path h="356870">
                  <a:moveTo>
                    <a:pt x="0" y="0"/>
                  </a:moveTo>
                  <a:lnTo>
                    <a:pt x="0" y="356755"/>
                  </a:lnTo>
                </a:path>
              </a:pathLst>
            </a:custGeom>
            <a:ln w="25400">
              <a:solidFill>
                <a:srgbClr val="4A7EBB"/>
              </a:solidFill>
              <a:tailEnd type="arrow"/>
            </a:ln>
          </p:spPr>
          <p:txBody>
            <a:bodyPr wrap="square" lIns="0" tIns="0" rIns="0" bIns="0" rtlCol="0"/>
            <a:lstStyle/>
            <a:p>
              <a:endParaRPr/>
            </a:p>
          </p:txBody>
        </p:sp>
        <p:sp>
          <p:nvSpPr>
            <p:cNvPr id="58" name="object 14"/>
            <p:cNvSpPr/>
            <p:nvPr/>
          </p:nvSpPr>
          <p:spPr>
            <a:xfrm>
              <a:off x="7239000" y="1295400"/>
              <a:ext cx="457200" cy="457200"/>
            </a:xfrm>
            <a:prstGeom prst="rect">
              <a:avLst/>
            </a:prstGeom>
            <a:blipFill>
              <a:blip r:embed="rId4" cstate="print"/>
              <a:stretch>
                <a:fillRect/>
              </a:stretch>
            </a:blipFill>
          </p:spPr>
          <p:txBody>
            <a:bodyPr wrap="square" lIns="0" tIns="0" rIns="0" bIns="0" rtlCol="0"/>
            <a:lstStyle/>
            <a:p>
              <a:endParaRPr/>
            </a:p>
          </p:txBody>
        </p:sp>
        <p:sp>
          <p:nvSpPr>
            <p:cNvPr id="59" name="object 21"/>
            <p:cNvSpPr/>
            <p:nvPr/>
          </p:nvSpPr>
          <p:spPr>
            <a:xfrm>
              <a:off x="7467600" y="4017264"/>
              <a:ext cx="0" cy="429259"/>
            </a:xfrm>
            <a:custGeom>
              <a:avLst/>
              <a:gdLst/>
              <a:ahLst/>
              <a:cxnLst/>
              <a:rect l="l" t="t" r="r" b="b"/>
              <a:pathLst>
                <a:path h="429260">
                  <a:moveTo>
                    <a:pt x="0" y="0"/>
                  </a:moveTo>
                  <a:lnTo>
                    <a:pt x="0" y="428866"/>
                  </a:lnTo>
                </a:path>
              </a:pathLst>
            </a:custGeom>
            <a:ln w="25400">
              <a:solidFill>
                <a:srgbClr val="4A7EBB"/>
              </a:solidFill>
              <a:tailEnd type="arrow"/>
            </a:ln>
          </p:spPr>
          <p:txBody>
            <a:bodyPr wrap="square" lIns="0" tIns="0" rIns="0" bIns="0" rtlCol="0"/>
            <a:lstStyle/>
            <a:p>
              <a:endParaRPr/>
            </a:p>
          </p:txBody>
        </p:sp>
      </p:grpSp>
    </p:spTree>
    <p:extLst>
      <p:ext uri="{BB962C8B-B14F-4D97-AF65-F5344CB8AC3E}">
        <p14:creationId xmlns:p14="http://schemas.microsoft.com/office/powerpoint/2010/main" val="11155524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47</a:t>
            </a:fld>
            <a:endParaRPr lang="en-US"/>
          </a:p>
        </p:txBody>
      </p:sp>
      <p:sp>
        <p:nvSpPr>
          <p:cNvPr id="3" name="TextBox 2"/>
          <p:cNvSpPr txBox="1"/>
          <p:nvPr/>
        </p:nvSpPr>
        <p:spPr>
          <a:xfrm>
            <a:off x="1672683" y="3178096"/>
            <a:ext cx="5397190" cy="2092881"/>
          </a:xfrm>
          <a:prstGeom prst="rect">
            <a:avLst/>
          </a:prstGeom>
          <a:noFill/>
        </p:spPr>
        <p:txBody>
          <a:bodyPr wrap="square" rtlCol="0">
            <a:spAutoFit/>
          </a:bodyPr>
          <a:lstStyle/>
          <a:p>
            <a:r>
              <a:rPr lang="en-US" sz="2600" dirty="0">
                <a:solidFill>
                  <a:schemeClr val="bg1"/>
                </a:solidFill>
              </a:rPr>
              <a:t>V</a:t>
            </a:r>
            <a:r>
              <a:rPr lang="vi-VN" sz="2600" dirty="0">
                <a:solidFill>
                  <a:schemeClr val="bg1"/>
                </a:solidFill>
              </a:rPr>
              <a:t>iết chương trình nhập vào các số nguyên và tính tổng các số đó, nếu tổng lớn hơn &gt; 100 thì kết thúc vòng lặp và hiển thị thông báo tổng của các số đã nhập.</a:t>
            </a:r>
            <a:endParaRPr lang="en-US" sz="2600" dirty="0">
              <a:solidFill>
                <a:schemeClr val="bg1"/>
              </a:solidFill>
            </a:endParaRPr>
          </a:p>
        </p:txBody>
      </p:sp>
    </p:spTree>
    <p:extLst>
      <p:ext uri="{BB962C8B-B14F-4D97-AF65-F5344CB8AC3E}">
        <p14:creationId xmlns:p14="http://schemas.microsoft.com/office/powerpoint/2010/main" val="2066641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66828" y="6335756"/>
            <a:ext cx="2057400" cy="365125"/>
          </a:xfrm>
        </p:spPr>
        <p:txBody>
          <a:bodyPr/>
          <a:lstStyle/>
          <a:p>
            <a:fld id="{DF4C498B-416A-4F27-9E1B-2DAD6BC6C92F}" type="slidenum">
              <a:rPr lang="en-US" smtClean="0"/>
              <a:t>48</a:t>
            </a:fld>
            <a:endParaRPr lang="en-US" dirty="0"/>
          </a:p>
        </p:txBody>
      </p:sp>
      <p:sp>
        <p:nvSpPr>
          <p:cNvPr id="6" name="Content Placeholder 5"/>
          <p:cNvSpPr>
            <a:spLocks noGrp="1"/>
          </p:cNvSpPr>
          <p:nvPr>
            <p:ph idx="1"/>
          </p:nvPr>
        </p:nvSpPr>
        <p:spPr>
          <a:xfrm>
            <a:off x="468352" y="1260090"/>
            <a:ext cx="8046998" cy="4739269"/>
          </a:xfrm>
        </p:spPr>
        <p:txBody>
          <a:bodyPr>
            <a:noAutofit/>
          </a:bodyPr>
          <a:lstStyle/>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package vong_lap_do_while;</a:t>
            </a:r>
            <a:endParaRPr lang="en-US" sz="2200" b="1" dirty="0">
              <a:latin typeface="Courier" panose="02020500000000000000" pitchFamily="18" charset="0"/>
              <a:ea typeface="Courier" panose="02020500000000000000" pitchFamily="18" charset="0"/>
              <a:cs typeface="Courier" panose="02020500000000000000" pitchFamily="18" charset="0"/>
            </a:endParaRP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import java.util.Scanner;</a:t>
            </a:r>
            <a:endParaRPr lang="en-US" sz="2200" b="1" dirty="0">
              <a:latin typeface="Courier" panose="02020500000000000000" pitchFamily="18" charset="0"/>
              <a:ea typeface="Courier" panose="02020500000000000000" pitchFamily="18" charset="0"/>
              <a:cs typeface="Courier" panose="02020500000000000000" pitchFamily="18" charset="0"/>
            </a:endParaRP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public class TinhTongCacSoNguyen {</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public static void main(String[] args) {</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int number, sum = 0;</a:t>
            </a:r>
          </a:p>
          <a:p>
            <a:pPr marL="0" indent="0">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a:t>
            </a:r>
            <a:r>
              <a:rPr lang="vi-VN" sz="2200" b="1" spc="-90" dirty="0">
                <a:latin typeface="Courier" panose="02020500000000000000" pitchFamily="18" charset="0"/>
                <a:ea typeface="Courier" panose="02020500000000000000" pitchFamily="18" charset="0"/>
                <a:cs typeface="Courier" panose="02020500000000000000" pitchFamily="18" charset="0"/>
              </a:rPr>
              <a:t>Scanner scanner = new Scanner(System.in);      </a:t>
            </a:r>
          </a:p>
          <a:p>
            <a:pPr marL="0" indent="0" algn="just">
              <a:lnSpc>
                <a:spcPts val="29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a:t>
            </a:r>
            <a:r>
              <a:rPr lang="vi-VN" sz="2200" b="1" dirty="0">
                <a:latin typeface="Courier" panose="02020500000000000000" pitchFamily="18" charset="0"/>
                <a:ea typeface="Courier" panose="02020500000000000000" pitchFamily="18" charset="0"/>
                <a:cs typeface="Courier" panose="02020500000000000000" pitchFamily="18" charset="0"/>
              </a:rPr>
              <a:t>do {</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a:t>
            </a:r>
            <a:r>
              <a:rPr lang="vi-VN" sz="2200" b="1" spc="-140" dirty="0">
                <a:latin typeface="Courier" panose="02020500000000000000" pitchFamily="18" charset="0"/>
                <a:ea typeface="Courier" panose="02020500000000000000" pitchFamily="18" charset="0"/>
                <a:cs typeface="Courier" panose="02020500000000000000" pitchFamily="18" charset="0"/>
              </a:rPr>
              <a:t>System.out.println("</a:t>
            </a:r>
            <a:r>
              <a:rPr lang="vi-VN" sz="2200" b="1" spc="-300" dirty="0">
                <a:latin typeface="Courier" panose="02020500000000000000" pitchFamily="18" charset="0"/>
                <a:ea typeface="Courier" panose="02020500000000000000" pitchFamily="18" charset="0"/>
                <a:cs typeface="Courier" panose="02020500000000000000" pitchFamily="18" charset="0"/>
              </a:rPr>
              <a:t>Nhập vào số nguyên bất kỳ: ");</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number = scanner.nextInt();</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a:t>
            </a:r>
            <a:r>
              <a:rPr lang="en-US" sz="2200" b="1" dirty="0">
                <a:latin typeface="Courier" panose="02020500000000000000" pitchFamily="18" charset="0"/>
                <a:ea typeface="Courier" panose="02020500000000000000" pitchFamily="18" charset="0"/>
                <a:cs typeface="Courier" panose="02020500000000000000" pitchFamily="18" charset="0"/>
              </a:rPr>
              <a:t> </a:t>
            </a:r>
            <a:r>
              <a:rPr lang="vi-VN" sz="2200" b="1" dirty="0">
                <a:latin typeface="Courier" panose="02020500000000000000" pitchFamily="18" charset="0"/>
                <a:ea typeface="Courier" panose="02020500000000000000" pitchFamily="18" charset="0"/>
                <a:cs typeface="Courier" panose="02020500000000000000" pitchFamily="18" charset="0"/>
              </a:rPr>
              <a:t>sum += number;//sum = sum + number;</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 while (sum &lt; 100); </a:t>
            </a:r>
          </a:p>
          <a:p>
            <a:pPr marL="0" indent="0" algn="just">
              <a:lnSpc>
                <a:spcPts val="29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a:t>
            </a:r>
            <a:r>
              <a:rPr lang="vi-VN" sz="2200" b="1" dirty="0">
                <a:latin typeface="Courier" panose="02020500000000000000" pitchFamily="18" charset="0"/>
                <a:ea typeface="Courier" panose="02020500000000000000" pitchFamily="18" charset="0"/>
                <a:cs typeface="Courier" panose="02020500000000000000" pitchFamily="18" charset="0"/>
              </a:rPr>
              <a:t>System.out.println("</a:t>
            </a:r>
            <a:r>
              <a:rPr lang="vi-VN" sz="2200" b="1" spc="-200" dirty="0">
                <a:latin typeface="Courier" panose="02020500000000000000" pitchFamily="18" charset="0"/>
                <a:ea typeface="Courier" panose="02020500000000000000" pitchFamily="18" charset="0"/>
                <a:cs typeface="Courier" panose="02020500000000000000" pitchFamily="18" charset="0"/>
              </a:rPr>
              <a:t>Tổng các số nguyên vừa nhập = "+sum</a:t>
            </a:r>
            <a:r>
              <a:rPr lang="vi-VN" sz="2200" b="1" dirty="0">
                <a:latin typeface="Courier" panose="02020500000000000000" pitchFamily="18" charset="0"/>
                <a:ea typeface="Courier" panose="02020500000000000000" pitchFamily="18" charset="0"/>
                <a:cs typeface="Courier" panose="02020500000000000000" pitchFamily="18" charset="0"/>
              </a:rPr>
              <a:t>);</a:t>
            </a:r>
          </a:p>
          <a:p>
            <a:pPr marL="0" indent="0" algn="just">
              <a:lnSpc>
                <a:spcPts val="2900"/>
              </a:lnSpc>
              <a:spcBef>
                <a:spcPts val="0"/>
              </a:spcBef>
              <a:buNone/>
            </a:pPr>
            <a:r>
              <a:rPr lang="vi-VN" sz="2200" b="1" dirty="0">
                <a:latin typeface="Courier" panose="02020500000000000000" pitchFamily="18" charset="0"/>
                <a:ea typeface="Courier" panose="02020500000000000000" pitchFamily="18" charset="0"/>
                <a:cs typeface="Courier" panose="02020500000000000000" pitchFamily="18" charset="0"/>
              </a:rPr>
              <a:t>    } }</a:t>
            </a:r>
            <a:endParaRPr lang="en-US" sz="2200" spc="-100" dirty="0">
              <a:latin typeface="Courier" panose="02020500000000000000" pitchFamily="18" charset="0"/>
              <a:ea typeface="Courier" panose="02020500000000000000" pitchFamily="18" charset="0"/>
              <a:cs typeface="Courier" panose="02020500000000000000" pitchFamily="18" charset="0"/>
            </a:endParaRPr>
          </a:p>
          <a:p>
            <a:pPr marL="457200" lvl="1" indent="0" algn="just">
              <a:lnSpc>
                <a:spcPts val="3400"/>
              </a:lnSpc>
              <a:spcBef>
                <a:spcPts val="600"/>
              </a:spcBef>
              <a:spcAft>
                <a:spcPts val="600"/>
              </a:spcAft>
              <a:buNone/>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14285325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49</a:t>
            </a:fld>
            <a:endParaRPr lang="en-US" dirty="0"/>
          </a:p>
        </p:txBody>
      </p:sp>
      <p:sp>
        <p:nvSpPr>
          <p:cNvPr id="6" name="Content Placeholder 5"/>
          <p:cNvSpPr>
            <a:spLocks noGrp="1"/>
          </p:cNvSpPr>
          <p:nvPr>
            <p:ph idx="1"/>
          </p:nvPr>
        </p:nvSpPr>
        <p:spPr>
          <a:xfrm>
            <a:off x="394474" y="1393902"/>
            <a:ext cx="6215825" cy="4930703"/>
          </a:xfrm>
        </p:spPr>
        <p:txBody>
          <a:bodyPr>
            <a:noAutofit/>
          </a:bodyPr>
          <a:lstStyle/>
          <a:p>
            <a:pPr algn="just">
              <a:lnSpc>
                <a:spcPts val="3200"/>
              </a:lnSpc>
              <a:spcBef>
                <a:spcPts val="300"/>
              </a:spcBef>
              <a:spcAft>
                <a:spcPts val="300"/>
              </a:spcAft>
            </a:pPr>
            <a:r>
              <a:rPr lang="en-US" b="1" dirty="0"/>
              <a:t>Chu trình for</a:t>
            </a:r>
            <a:r>
              <a:rPr lang="en-US" b="1" spc="-10" dirty="0"/>
              <a:t>:</a:t>
            </a:r>
          </a:p>
          <a:p>
            <a:pPr marL="457200" lvl="1" indent="-290513" algn="just">
              <a:lnSpc>
                <a:spcPts val="3300"/>
              </a:lnSpc>
              <a:spcBef>
                <a:spcPts val="300"/>
              </a:spcBef>
              <a:spcAft>
                <a:spcPts val="300"/>
              </a:spcAft>
            </a:pPr>
            <a:r>
              <a:rPr lang="en-US" dirty="0"/>
              <a:t>Cú pháp:</a:t>
            </a:r>
            <a:endParaRPr lang="en-US" sz="2600" spc="-100" dirty="0">
              <a:latin typeface="+mj-lt"/>
              <a:cs typeface="Courier New" panose="02070309020205020404" pitchFamily="49" charset="0"/>
            </a:endParaRPr>
          </a:p>
          <a:p>
            <a:pPr marL="241300" indent="-130175">
              <a:lnSpc>
                <a:spcPct val="100000"/>
              </a:lnSpc>
              <a:spcBef>
                <a:spcPts val="595"/>
              </a:spcBef>
              <a:buNone/>
            </a:pPr>
            <a:r>
              <a:rPr lang="en-US" b="1" dirty="0">
                <a:solidFill>
                  <a:schemeClr val="accent2">
                    <a:lumMod val="75000"/>
                  </a:schemeClr>
                </a:solidFill>
              </a:rPr>
              <a:t>for</a:t>
            </a:r>
            <a:r>
              <a:rPr lang="en-US" dirty="0">
                <a:solidFill>
                  <a:schemeClr val="accent2">
                    <a:lumMod val="75000"/>
                  </a:schemeClr>
                </a:solidFill>
              </a:rPr>
              <a:t> </a:t>
            </a:r>
            <a:r>
              <a:rPr lang="vi-VN" sz="2600" spc="-60" dirty="0">
                <a:latin typeface="Arial"/>
                <a:cs typeface="Arial"/>
              </a:rPr>
              <a:t>(</a:t>
            </a:r>
            <a:r>
              <a:rPr lang="vi-VN" sz="2600" b="1" spc="-60" dirty="0">
                <a:solidFill>
                  <a:srgbClr val="FF3300"/>
                </a:solidFill>
                <a:latin typeface="Arial"/>
                <a:cs typeface="Arial"/>
              </a:rPr>
              <a:t>khởi </a:t>
            </a:r>
            <a:r>
              <a:rPr lang="vi-VN" sz="2600" b="1" spc="-10" dirty="0">
                <a:solidFill>
                  <a:srgbClr val="FF3300"/>
                </a:solidFill>
                <a:latin typeface="Arial"/>
                <a:cs typeface="Arial"/>
              </a:rPr>
              <a:t>đầu</a:t>
            </a:r>
            <a:r>
              <a:rPr lang="vi-VN" sz="2600" spc="-150" dirty="0">
                <a:latin typeface="Arial"/>
                <a:cs typeface="Arial"/>
              </a:rPr>
              <a:t>; </a:t>
            </a:r>
            <a:r>
              <a:rPr lang="vi-VN" sz="2600" b="1" dirty="0">
                <a:solidFill>
                  <a:srgbClr val="FF3300"/>
                </a:solidFill>
                <a:latin typeface="Arial"/>
                <a:cs typeface="Arial"/>
              </a:rPr>
              <a:t>điều </a:t>
            </a:r>
            <a:r>
              <a:rPr lang="vi-VN" sz="2600" b="1" spc="-40" dirty="0">
                <a:solidFill>
                  <a:srgbClr val="FF3300"/>
                </a:solidFill>
                <a:latin typeface="Arial"/>
                <a:cs typeface="Arial"/>
              </a:rPr>
              <a:t>kiện</a:t>
            </a:r>
            <a:r>
              <a:rPr lang="vi-VN" sz="2600" spc="-40" dirty="0">
                <a:latin typeface="Arial"/>
                <a:cs typeface="Arial"/>
              </a:rPr>
              <a:t>; </a:t>
            </a:r>
            <a:r>
              <a:rPr lang="vi-VN" sz="2600" b="1" spc="-125" dirty="0">
                <a:solidFill>
                  <a:srgbClr val="FF3300"/>
                </a:solidFill>
                <a:latin typeface="Arial"/>
                <a:cs typeface="Arial"/>
              </a:rPr>
              <a:t>bước</a:t>
            </a:r>
            <a:r>
              <a:rPr lang="vi-VN" sz="2600" b="1" spc="155" dirty="0">
                <a:solidFill>
                  <a:srgbClr val="FF3300"/>
                </a:solidFill>
                <a:latin typeface="Arial"/>
                <a:cs typeface="Arial"/>
              </a:rPr>
              <a:t> </a:t>
            </a:r>
            <a:r>
              <a:rPr lang="vi-VN" sz="2600" b="1" spc="-50" dirty="0">
                <a:solidFill>
                  <a:srgbClr val="FF3300"/>
                </a:solidFill>
                <a:latin typeface="Arial"/>
                <a:cs typeface="Arial"/>
              </a:rPr>
              <a:t>nhảy</a:t>
            </a:r>
            <a:r>
              <a:rPr lang="vi-VN" sz="2600" spc="-50" dirty="0">
                <a:latin typeface="Arial"/>
                <a:cs typeface="Arial"/>
              </a:rPr>
              <a:t>)</a:t>
            </a:r>
            <a:r>
              <a:rPr lang="en-US" sz="2600" spc="-50" dirty="0">
                <a:latin typeface="Arial"/>
                <a:cs typeface="Arial"/>
              </a:rPr>
              <a:t> </a:t>
            </a:r>
            <a:r>
              <a:rPr lang="vi-VN" sz="2600" spc="-50" dirty="0">
                <a:latin typeface="Arial"/>
                <a:cs typeface="Arial"/>
              </a:rPr>
              <a:t>{</a:t>
            </a:r>
            <a:r>
              <a:rPr lang="en-US" sz="2600" b="1" spc="-10" dirty="0">
                <a:solidFill>
                  <a:srgbClr val="FF3300"/>
                </a:solidFill>
                <a:latin typeface="Arial"/>
                <a:cs typeface="Arial"/>
              </a:rPr>
              <a:t>Câu lệnh</a:t>
            </a:r>
            <a:r>
              <a:rPr lang="en-US" sz="2600" spc="220" dirty="0">
                <a:latin typeface="Arial"/>
                <a:cs typeface="Arial"/>
              </a:rPr>
              <a:t>;</a:t>
            </a:r>
            <a:r>
              <a:rPr lang="vi-VN" sz="2600" spc="-80" dirty="0">
                <a:latin typeface="Arial"/>
                <a:cs typeface="Arial"/>
              </a:rPr>
              <a:t>}</a:t>
            </a:r>
            <a:endParaRPr lang="en-US" sz="2600" spc="-80" dirty="0">
              <a:latin typeface="Arial"/>
              <a:cs typeface="Arial"/>
            </a:endParaRPr>
          </a:p>
          <a:p>
            <a:pPr marL="355600" indent="-244475">
              <a:lnSpc>
                <a:spcPct val="100000"/>
              </a:lnSpc>
              <a:spcBef>
                <a:spcPts val="675"/>
              </a:spcBef>
              <a:buSzPct val="80000"/>
              <a:buFont typeface="Wingdings" panose="05000000000000000000" pitchFamily="2" charset="2"/>
              <a:buChar char="ü"/>
              <a:tabLst>
                <a:tab pos="299720" algn="l"/>
              </a:tabLst>
            </a:pPr>
            <a:r>
              <a:rPr lang="vi-VN" sz="2400" spc="-140" dirty="0"/>
              <a:t>B1: </a:t>
            </a:r>
            <a:r>
              <a:rPr lang="vi-VN" sz="2400" spc="-120" dirty="0"/>
              <a:t>Thực </a:t>
            </a:r>
            <a:r>
              <a:rPr lang="vi-VN" sz="2400" dirty="0"/>
              <a:t>hiện </a:t>
            </a:r>
            <a:r>
              <a:rPr lang="vi-VN" sz="2400" spc="60" dirty="0"/>
              <a:t>&lt;&lt;khởi</a:t>
            </a:r>
            <a:r>
              <a:rPr lang="vi-VN" sz="2400" spc="250" dirty="0"/>
              <a:t> </a:t>
            </a:r>
            <a:r>
              <a:rPr lang="vi-VN" sz="2400" spc="90" dirty="0"/>
              <a:t>đầu&gt;&gt;</a:t>
            </a:r>
          </a:p>
          <a:p>
            <a:pPr marL="355600" indent="-244475">
              <a:lnSpc>
                <a:spcPct val="100000"/>
              </a:lnSpc>
              <a:spcBef>
                <a:spcPts val="575"/>
              </a:spcBef>
              <a:buSzPct val="80000"/>
              <a:buFont typeface="Wingdings" panose="05000000000000000000" pitchFamily="2" charset="2"/>
              <a:buChar char="ü"/>
              <a:tabLst>
                <a:tab pos="299720" algn="l"/>
              </a:tabLst>
            </a:pPr>
            <a:r>
              <a:rPr lang="vi-VN" sz="2400" spc="-140" dirty="0"/>
              <a:t>B2: </a:t>
            </a:r>
            <a:r>
              <a:rPr lang="vi-VN" sz="2400" spc="-50" dirty="0"/>
              <a:t>Kiểm </a:t>
            </a:r>
            <a:r>
              <a:rPr lang="vi-VN" sz="2400" spc="20" dirty="0"/>
              <a:t>tra </a:t>
            </a:r>
            <a:r>
              <a:rPr lang="vi-VN" sz="2400" spc="90" dirty="0"/>
              <a:t>&lt;&lt;điều</a:t>
            </a:r>
            <a:r>
              <a:rPr lang="vi-VN" sz="2400" spc="100" dirty="0"/>
              <a:t> </a:t>
            </a:r>
            <a:r>
              <a:rPr lang="vi-VN" sz="2400" spc="75" dirty="0"/>
              <a:t>kiện&gt;&gt;</a:t>
            </a:r>
          </a:p>
          <a:p>
            <a:pPr marL="512763" lvl="1" indent="-166688">
              <a:lnSpc>
                <a:spcPct val="100000"/>
              </a:lnSpc>
              <a:spcBef>
                <a:spcPts val="484"/>
              </a:spcBef>
              <a:buSzPct val="80000"/>
              <a:buFont typeface="Wingdings" panose="05000000000000000000" pitchFamily="2" charset="2"/>
              <a:buChar char="v"/>
              <a:tabLst>
                <a:tab pos="698500" algn="l"/>
              </a:tabLst>
            </a:pPr>
            <a:r>
              <a:rPr lang="vi-VN" sz="2400" spc="-100" dirty="0">
                <a:latin typeface="Arial"/>
                <a:cs typeface="Arial"/>
              </a:rPr>
              <a:t>True:</a:t>
            </a:r>
            <a:r>
              <a:rPr lang="vi-VN" sz="2400" dirty="0">
                <a:latin typeface="Arial"/>
                <a:cs typeface="Arial"/>
              </a:rPr>
              <a:t> </a:t>
            </a:r>
            <a:r>
              <a:rPr lang="vi-VN" sz="2400" spc="-110" dirty="0">
                <a:latin typeface="Arial"/>
                <a:cs typeface="Arial"/>
              </a:rPr>
              <a:t>B3</a:t>
            </a:r>
            <a:endParaRPr lang="vi-VN" sz="2400" dirty="0">
              <a:latin typeface="Arial"/>
              <a:cs typeface="Arial"/>
            </a:endParaRPr>
          </a:p>
          <a:p>
            <a:pPr marL="512763" lvl="1" indent="-166688">
              <a:lnSpc>
                <a:spcPct val="100000"/>
              </a:lnSpc>
              <a:spcBef>
                <a:spcPts val="480"/>
              </a:spcBef>
              <a:buSzPct val="80000"/>
              <a:buFont typeface="Wingdings" panose="05000000000000000000" pitchFamily="2" charset="2"/>
              <a:buChar char="v"/>
              <a:tabLst>
                <a:tab pos="698500" algn="l"/>
              </a:tabLst>
            </a:pPr>
            <a:r>
              <a:rPr lang="vi-VN" sz="2400" spc="-120" dirty="0">
                <a:latin typeface="Arial"/>
                <a:cs typeface="Arial"/>
              </a:rPr>
              <a:t>False: </a:t>
            </a:r>
            <a:r>
              <a:rPr lang="vi-VN" sz="2400" spc="15" dirty="0">
                <a:latin typeface="Arial"/>
                <a:cs typeface="Arial"/>
              </a:rPr>
              <a:t>kết</a:t>
            </a:r>
            <a:r>
              <a:rPr lang="vi-VN" sz="2400" spc="100" dirty="0">
                <a:latin typeface="Arial"/>
                <a:cs typeface="Arial"/>
              </a:rPr>
              <a:t> </a:t>
            </a:r>
            <a:r>
              <a:rPr lang="vi-VN" sz="2400" spc="25" dirty="0">
                <a:latin typeface="Arial"/>
                <a:cs typeface="Arial"/>
              </a:rPr>
              <a:t>thúc</a:t>
            </a:r>
            <a:endParaRPr lang="vi-VN" sz="2400" dirty="0">
              <a:latin typeface="Arial"/>
              <a:cs typeface="Arial"/>
            </a:endParaRPr>
          </a:p>
          <a:p>
            <a:pPr marL="355600" indent="-244475">
              <a:lnSpc>
                <a:spcPct val="100000"/>
              </a:lnSpc>
              <a:spcBef>
                <a:spcPts val="570"/>
              </a:spcBef>
              <a:buSzPct val="80000"/>
              <a:buFont typeface="Wingdings" panose="05000000000000000000" pitchFamily="2" charset="2"/>
              <a:buChar char="ü"/>
              <a:tabLst>
                <a:tab pos="299720" algn="l"/>
              </a:tabLst>
            </a:pPr>
            <a:r>
              <a:rPr lang="vi-VN" sz="2400" spc="-140" dirty="0"/>
              <a:t>B3: </a:t>
            </a:r>
            <a:r>
              <a:rPr lang="vi-VN" sz="2400" spc="-120" dirty="0"/>
              <a:t>Thực </a:t>
            </a:r>
            <a:r>
              <a:rPr lang="vi-VN" sz="2400" dirty="0"/>
              <a:t>hiện </a:t>
            </a:r>
            <a:r>
              <a:rPr lang="vi-VN" sz="2400" spc="240" dirty="0"/>
              <a:t>&lt;&lt; </a:t>
            </a:r>
            <a:r>
              <a:rPr lang="vi-VN" sz="2400" spc="15" dirty="0"/>
              <a:t>công </a:t>
            </a:r>
            <a:r>
              <a:rPr lang="vi-VN" sz="2400" spc="-50" dirty="0"/>
              <a:t>việc</a:t>
            </a:r>
            <a:r>
              <a:rPr lang="vi-VN" sz="2400" spc="-40" dirty="0"/>
              <a:t> </a:t>
            </a:r>
            <a:r>
              <a:rPr lang="vi-VN" sz="2400" spc="240" dirty="0"/>
              <a:t>&gt;&gt;</a:t>
            </a:r>
          </a:p>
          <a:p>
            <a:pPr marL="355600" indent="-244475">
              <a:lnSpc>
                <a:spcPct val="100000"/>
              </a:lnSpc>
              <a:spcBef>
                <a:spcPts val="575"/>
              </a:spcBef>
              <a:buSzPct val="80000"/>
              <a:buFont typeface="Wingdings" panose="05000000000000000000" pitchFamily="2" charset="2"/>
              <a:buChar char="ü"/>
              <a:tabLst>
                <a:tab pos="299720" algn="l"/>
              </a:tabLst>
            </a:pPr>
            <a:r>
              <a:rPr lang="vi-VN" sz="2400" spc="-140" dirty="0"/>
              <a:t>B4: </a:t>
            </a:r>
            <a:r>
              <a:rPr lang="vi-VN" sz="2400" spc="-120" dirty="0"/>
              <a:t>Thực </a:t>
            </a:r>
            <a:r>
              <a:rPr lang="vi-VN" sz="2400" dirty="0"/>
              <a:t>hiện </a:t>
            </a:r>
            <a:r>
              <a:rPr lang="vi-VN" sz="2400" spc="20" dirty="0"/>
              <a:t>&lt;&lt;bước</a:t>
            </a:r>
            <a:r>
              <a:rPr lang="vi-VN" sz="2400" spc="200" dirty="0"/>
              <a:t> </a:t>
            </a:r>
            <a:r>
              <a:rPr lang="vi-VN" sz="2400" spc="60" dirty="0"/>
              <a:t>nhảy&gt;&gt;</a:t>
            </a:r>
          </a:p>
          <a:p>
            <a:pPr marL="355600" indent="-244475">
              <a:lnSpc>
                <a:spcPct val="100000"/>
              </a:lnSpc>
              <a:spcBef>
                <a:spcPts val="580"/>
              </a:spcBef>
              <a:buSzPct val="80000"/>
              <a:buFont typeface="Wingdings" panose="05000000000000000000" pitchFamily="2" charset="2"/>
              <a:buChar char="ü"/>
              <a:tabLst>
                <a:tab pos="299720" algn="l"/>
              </a:tabLst>
            </a:pPr>
            <a:r>
              <a:rPr lang="vi-VN" sz="2400" spc="-140" dirty="0"/>
              <a:t>B5: </a:t>
            </a:r>
            <a:r>
              <a:rPr lang="vi-VN" sz="2400" spc="-175" dirty="0"/>
              <a:t>Trở </a:t>
            </a:r>
            <a:r>
              <a:rPr lang="vi-VN" sz="2400" spc="-10" dirty="0"/>
              <a:t>lại</a:t>
            </a:r>
            <a:r>
              <a:rPr lang="vi-VN" sz="2400" spc="-180" dirty="0"/>
              <a:t> </a:t>
            </a:r>
            <a:r>
              <a:rPr lang="vi-VN" sz="2400" spc="-135" dirty="0"/>
              <a:t>B2</a:t>
            </a:r>
          </a:p>
          <a:p>
            <a:pPr marL="241300" indent="-130175">
              <a:lnSpc>
                <a:spcPct val="100000"/>
              </a:lnSpc>
              <a:spcBef>
                <a:spcPts val="595"/>
              </a:spcBef>
              <a:buNone/>
            </a:pPr>
            <a:endParaRPr lang="vi-VN" sz="2600" dirty="0">
              <a:latin typeface="Arial"/>
              <a:cs typeface="Arial"/>
            </a:endParaRPr>
          </a:p>
          <a:p>
            <a:pPr marL="457200" lvl="1" indent="0" algn="just">
              <a:lnSpc>
                <a:spcPts val="3400"/>
              </a:lnSpc>
              <a:spcBef>
                <a:spcPts val="600"/>
              </a:spcBef>
              <a:spcAft>
                <a:spcPts val="600"/>
              </a:spcAft>
              <a:buNone/>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
        <p:nvSpPr>
          <p:cNvPr id="51" name="object 34"/>
          <p:cNvSpPr/>
          <p:nvPr/>
        </p:nvSpPr>
        <p:spPr>
          <a:xfrm>
            <a:off x="6467183" y="4105828"/>
            <a:ext cx="1981200" cy="582295"/>
          </a:xfrm>
          <a:custGeom>
            <a:avLst/>
            <a:gdLst/>
            <a:ahLst/>
            <a:cxnLst/>
            <a:rect l="l" t="t" r="r" b="b"/>
            <a:pathLst>
              <a:path w="1981200" h="582295">
                <a:moveTo>
                  <a:pt x="0" y="97028"/>
                </a:moveTo>
                <a:lnTo>
                  <a:pt x="7625" y="59257"/>
                </a:lnTo>
                <a:lnTo>
                  <a:pt x="28421" y="28416"/>
                </a:lnTo>
                <a:lnTo>
                  <a:pt x="59262" y="7623"/>
                </a:lnTo>
                <a:lnTo>
                  <a:pt x="97028" y="0"/>
                </a:lnTo>
                <a:lnTo>
                  <a:pt x="1884172" y="0"/>
                </a:lnTo>
                <a:lnTo>
                  <a:pt x="1921937" y="7623"/>
                </a:lnTo>
                <a:lnTo>
                  <a:pt x="1952778" y="28416"/>
                </a:lnTo>
                <a:lnTo>
                  <a:pt x="1973574" y="59257"/>
                </a:lnTo>
                <a:lnTo>
                  <a:pt x="1981200" y="97028"/>
                </a:lnTo>
                <a:lnTo>
                  <a:pt x="1981200" y="485140"/>
                </a:lnTo>
                <a:lnTo>
                  <a:pt x="1973574" y="522905"/>
                </a:lnTo>
                <a:lnTo>
                  <a:pt x="1952778" y="553746"/>
                </a:lnTo>
                <a:lnTo>
                  <a:pt x="1921937" y="574542"/>
                </a:lnTo>
                <a:lnTo>
                  <a:pt x="1884172" y="582168"/>
                </a:lnTo>
                <a:lnTo>
                  <a:pt x="97028" y="582168"/>
                </a:lnTo>
                <a:lnTo>
                  <a:pt x="59262" y="574542"/>
                </a:lnTo>
                <a:lnTo>
                  <a:pt x="28421" y="553746"/>
                </a:lnTo>
                <a:lnTo>
                  <a:pt x="7625" y="522905"/>
                </a:lnTo>
                <a:lnTo>
                  <a:pt x="0" y="485140"/>
                </a:lnTo>
                <a:lnTo>
                  <a:pt x="0" y="97028"/>
                </a:lnTo>
                <a:close/>
              </a:path>
            </a:pathLst>
          </a:custGeom>
          <a:ln w="25400">
            <a:solidFill>
              <a:srgbClr val="F79646"/>
            </a:solidFill>
          </a:ln>
        </p:spPr>
        <p:txBody>
          <a:bodyPr wrap="square" lIns="0" tIns="0" rIns="0" bIns="0" rtlCol="0"/>
          <a:lstStyle/>
          <a:p>
            <a:endParaRPr/>
          </a:p>
        </p:txBody>
      </p:sp>
      <p:grpSp>
        <p:nvGrpSpPr>
          <p:cNvPr id="3" name="Group 2"/>
          <p:cNvGrpSpPr/>
          <p:nvPr/>
        </p:nvGrpSpPr>
        <p:grpSpPr>
          <a:xfrm>
            <a:off x="6054587" y="1393902"/>
            <a:ext cx="2859989" cy="4929662"/>
            <a:chOff x="5633059" y="1219200"/>
            <a:chExt cx="2859989" cy="5069453"/>
          </a:xfrm>
        </p:grpSpPr>
        <p:sp>
          <p:nvSpPr>
            <p:cNvPr id="18" name="object 13"/>
            <p:cNvSpPr/>
            <p:nvPr/>
          </p:nvSpPr>
          <p:spPr>
            <a:xfrm>
              <a:off x="6808901" y="1219200"/>
              <a:ext cx="457149" cy="457200"/>
            </a:xfrm>
            <a:prstGeom prst="rect">
              <a:avLst/>
            </a:prstGeom>
            <a:blipFill>
              <a:blip r:embed="rId3" cstate="print"/>
              <a:stretch>
                <a:fillRect/>
              </a:stretch>
            </a:blipFill>
          </p:spPr>
          <p:txBody>
            <a:bodyPr wrap="square" lIns="0" tIns="0" rIns="0" bIns="0" rtlCol="0"/>
            <a:lstStyle/>
            <a:p>
              <a:endParaRPr/>
            </a:p>
          </p:txBody>
        </p:sp>
        <p:sp>
          <p:nvSpPr>
            <p:cNvPr id="20" name="object 15"/>
            <p:cNvSpPr/>
            <p:nvPr/>
          </p:nvSpPr>
          <p:spPr>
            <a:xfrm>
              <a:off x="6694334" y="5743061"/>
              <a:ext cx="545592" cy="545592"/>
            </a:xfrm>
            <a:prstGeom prst="rect">
              <a:avLst/>
            </a:prstGeom>
            <a:blipFill>
              <a:blip r:embed="rId4" cstate="print"/>
              <a:stretch>
                <a:fillRect/>
              </a:stretch>
            </a:blipFill>
          </p:spPr>
          <p:txBody>
            <a:bodyPr wrap="square" lIns="0" tIns="0" rIns="0" bIns="0" rtlCol="0"/>
            <a:lstStyle/>
            <a:p>
              <a:endParaRPr/>
            </a:p>
          </p:txBody>
        </p:sp>
        <p:sp>
          <p:nvSpPr>
            <p:cNvPr id="21" name="object 16"/>
            <p:cNvSpPr/>
            <p:nvPr/>
          </p:nvSpPr>
          <p:spPr>
            <a:xfrm>
              <a:off x="5894450" y="3003499"/>
              <a:ext cx="2286000" cy="658495"/>
            </a:xfrm>
            <a:custGeom>
              <a:avLst/>
              <a:gdLst/>
              <a:ahLst/>
              <a:cxnLst/>
              <a:rect l="l" t="t" r="r" b="b"/>
              <a:pathLst>
                <a:path w="2286000" h="658495">
                  <a:moveTo>
                    <a:pt x="0" y="329184"/>
                  </a:moveTo>
                  <a:lnTo>
                    <a:pt x="1143000" y="0"/>
                  </a:lnTo>
                  <a:lnTo>
                    <a:pt x="2286000" y="329184"/>
                  </a:lnTo>
                  <a:lnTo>
                    <a:pt x="1143000" y="658368"/>
                  </a:lnTo>
                  <a:lnTo>
                    <a:pt x="0" y="329184"/>
                  </a:lnTo>
                  <a:close/>
                </a:path>
              </a:pathLst>
            </a:custGeom>
            <a:ln w="25400">
              <a:solidFill>
                <a:srgbClr val="F79646"/>
              </a:solidFill>
            </a:ln>
          </p:spPr>
          <p:txBody>
            <a:bodyPr wrap="square" lIns="0" tIns="0" rIns="0" bIns="0" rtlCol="0"/>
            <a:lstStyle/>
            <a:p>
              <a:endParaRPr/>
            </a:p>
          </p:txBody>
        </p:sp>
        <p:sp>
          <p:nvSpPr>
            <p:cNvPr id="34" name="object 17"/>
            <p:cNvSpPr txBox="1"/>
            <p:nvPr/>
          </p:nvSpPr>
          <p:spPr>
            <a:xfrm>
              <a:off x="6587997" y="3167583"/>
              <a:ext cx="898525" cy="299720"/>
            </a:xfrm>
            <a:prstGeom prst="rect">
              <a:avLst/>
            </a:prstGeom>
          </p:spPr>
          <p:txBody>
            <a:bodyPr vert="horz" wrap="square" lIns="0" tIns="12700" rIns="0" bIns="0" rtlCol="0">
              <a:spAutoFit/>
            </a:bodyPr>
            <a:lstStyle/>
            <a:p>
              <a:pPr marL="12700">
                <a:lnSpc>
                  <a:spcPct val="100000"/>
                </a:lnSpc>
                <a:spcBef>
                  <a:spcPts val="100"/>
                </a:spcBef>
              </a:pPr>
              <a:r>
                <a:rPr sz="1800" spc="-85" dirty="0">
                  <a:latin typeface="Arial"/>
                  <a:cs typeface="Arial"/>
                </a:rPr>
                <a:t>Điều</a:t>
              </a:r>
              <a:r>
                <a:rPr sz="1800" spc="-155" dirty="0">
                  <a:latin typeface="Arial"/>
                  <a:cs typeface="Arial"/>
                </a:rPr>
                <a:t> </a:t>
              </a:r>
              <a:r>
                <a:rPr sz="1800" spc="-60" dirty="0">
                  <a:latin typeface="Arial"/>
                  <a:cs typeface="Arial"/>
                </a:rPr>
                <a:t>kiện</a:t>
              </a:r>
              <a:endParaRPr sz="1800" dirty="0">
                <a:latin typeface="Arial"/>
                <a:cs typeface="Arial"/>
              </a:endParaRPr>
            </a:p>
          </p:txBody>
        </p:sp>
        <p:sp>
          <p:nvSpPr>
            <p:cNvPr id="35" name="object 18"/>
            <p:cNvSpPr/>
            <p:nvPr/>
          </p:nvSpPr>
          <p:spPr>
            <a:xfrm>
              <a:off x="6203314" y="2048865"/>
              <a:ext cx="1684833" cy="566758"/>
            </a:xfrm>
            <a:custGeom>
              <a:avLst/>
              <a:gdLst/>
              <a:ahLst/>
              <a:cxnLst/>
              <a:rect l="l" t="t" r="r" b="b"/>
              <a:pathLst>
                <a:path w="1371600" h="582294">
                  <a:moveTo>
                    <a:pt x="0" y="97027"/>
                  </a:moveTo>
                  <a:lnTo>
                    <a:pt x="7625" y="59257"/>
                  </a:lnTo>
                  <a:lnTo>
                    <a:pt x="28421" y="28416"/>
                  </a:lnTo>
                  <a:lnTo>
                    <a:pt x="59262" y="7623"/>
                  </a:lnTo>
                  <a:lnTo>
                    <a:pt x="97028" y="0"/>
                  </a:lnTo>
                  <a:lnTo>
                    <a:pt x="1274572" y="0"/>
                  </a:lnTo>
                  <a:lnTo>
                    <a:pt x="1312337" y="7623"/>
                  </a:lnTo>
                  <a:lnTo>
                    <a:pt x="1343178" y="28416"/>
                  </a:lnTo>
                  <a:lnTo>
                    <a:pt x="1363974" y="59257"/>
                  </a:lnTo>
                  <a:lnTo>
                    <a:pt x="1371600" y="97027"/>
                  </a:lnTo>
                  <a:lnTo>
                    <a:pt x="1371600" y="485139"/>
                  </a:lnTo>
                  <a:lnTo>
                    <a:pt x="1363974" y="522905"/>
                  </a:lnTo>
                  <a:lnTo>
                    <a:pt x="1343178" y="553746"/>
                  </a:lnTo>
                  <a:lnTo>
                    <a:pt x="1312337" y="574542"/>
                  </a:lnTo>
                  <a:lnTo>
                    <a:pt x="1274572" y="582167"/>
                  </a:lnTo>
                  <a:lnTo>
                    <a:pt x="97028" y="582167"/>
                  </a:lnTo>
                  <a:lnTo>
                    <a:pt x="59262" y="574542"/>
                  </a:lnTo>
                  <a:lnTo>
                    <a:pt x="28421" y="553746"/>
                  </a:lnTo>
                  <a:lnTo>
                    <a:pt x="7625" y="522905"/>
                  </a:lnTo>
                  <a:lnTo>
                    <a:pt x="0" y="485139"/>
                  </a:lnTo>
                  <a:lnTo>
                    <a:pt x="0" y="97027"/>
                  </a:lnTo>
                  <a:close/>
                </a:path>
              </a:pathLst>
            </a:custGeom>
            <a:ln w="25400">
              <a:solidFill>
                <a:srgbClr val="F79646"/>
              </a:solidFill>
            </a:ln>
          </p:spPr>
          <p:txBody>
            <a:bodyPr wrap="square" lIns="0" tIns="0" rIns="0" bIns="0" rtlCol="0"/>
            <a:lstStyle/>
            <a:p>
              <a:endParaRPr/>
            </a:p>
          </p:txBody>
        </p:sp>
        <p:sp>
          <p:nvSpPr>
            <p:cNvPr id="36" name="object 19"/>
            <p:cNvSpPr txBox="1"/>
            <p:nvPr/>
          </p:nvSpPr>
          <p:spPr>
            <a:xfrm>
              <a:off x="6608952" y="2174849"/>
              <a:ext cx="857885" cy="299720"/>
            </a:xfrm>
            <a:prstGeom prst="rect">
              <a:avLst/>
            </a:prstGeom>
          </p:spPr>
          <p:txBody>
            <a:bodyPr vert="horz" wrap="square" lIns="0" tIns="12700" rIns="0" bIns="0" rtlCol="0">
              <a:spAutoFit/>
            </a:bodyPr>
            <a:lstStyle/>
            <a:p>
              <a:pPr marL="12700">
                <a:lnSpc>
                  <a:spcPct val="100000"/>
                </a:lnSpc>
                <a:spcBef>
                  <a:spcPts val="100"/>
                </a:spcBef>
              </a:pPr>
              <a:r>
                <a:rPr sz="1800" spc="-114" dirty="0">
                  <a:latin typeface="Arial"/>
                  <a:cs typeface="Arial"/>
                </a:rPr>
                <a:t>Khởi</a:t>
              </a:r>
              <a:r>
                <a:rPr sz="1800" spc="-165" dirty="0">
                  <a:latin typeface="Arial"/>
                  <a:cs typeface="Arial"/>
                </a:rPr>
                <a:t> </a:t>
              </a:r>
              <a:r>
                <a:rPr sz="1800" spc="-70" dirty="0">
                  <a:latin typeface="Arial"/>
                  <a:cs typeface="Arial"/>
                </a:rPr>
                <a:t>đầu</a:t>
              </a:r>
              <a:endParaRPr sz="1800" dirty="0">
                <a:latin typeface="Arial"/>
                <a:cs typeface="Arial"/>
              </a:endParaRPr>
            </a:p>
          </p:txBody>
        </p:sp>
        <p:sp>
          <p:nvSpPr>
            <p:cNvPr id="37" name="object 20"/>
            <p:cNvSpPr/>
            <p:nvPr/>
          </p:nvSpPr>
          <p:spPr>
            <a:xfrm>
              <a:off x="7213791" y="3332683"/>
              <a:ext cx="1195768" cy="2595928"/>
            </a:xfrm>
            <a:custGeom>
              <a:avLst/>
              <a:gdLst/>
              <a:ahLst/>
              <a:cxnLst/>
              <a:rect l="l" t="t" r="r" b="b"/>
              <a:pathLst>
                <a:path w="1130934" h="2839720">
                  <a:moveTo>
                    <a:pt x="901826" y="0"/>
                  </a:moveTo>
                  <a:lnTo>
                    <a:pt x="1130427" y="0"/>
                  </a:lnTo>
                  <a:lnTo>
                    <a:pt x="1130427" y="2839516"/>
                  </a:lnTo>
                  <a:lnTo>
                    <a:pt x="0" y="2839516"/>
                  </a:lnTo>
                </a:path>
              </a:pathLst>
            </a:custGeom>
            <a:ln w="25400">
              <a:solidFill>
                <a:srgbClr val="4A7EBB"/>
              </a:solidFill>
              <a:tailEnd type="arrow"/>
            </a:ln>
          </p:spPr>
          <p:txBody>
            <a:bodyPr wrap="square" lIns="0" tIns="0" rIns="0" bIns="0" rtlCol="0"/>
            <a:lstStyle/>
            <a:p>
              <a:endParaRPr/>
            </a:p>
          </p:txBody>
        </p:sp>
        <p:sp>
          <p:nvSpPr>
            <p:cNvPr id="38" name="object 22"/>
            <p:cNvSpPr/>
            <p:nvPr/>
          </p:nvSpPr>
          <p:spPr>
            <a:xfrm>
              <a:off x="7036713" y="1677200"/>
              <a:ext cx="1905" cy="360045"/>
            </a:xfrm>
            <a:custGeom>
              <a:avLst/>
              <a:gdLst/>
              <a:ahLst/>
              <a:cxnLst/>
              <a:rect l="l" t="t" r="r" b="b"/>
              <a:pathLst>
                <a:path w="1904" h="360044">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39" name="object 24"/>
            <p:cNvSpPr txBox="1"/>
            <p:nvPr/>
          </p:nvSpPr>
          <p:spPr>
            <a:xfrm>
              <a:off x="7269309" y="3657970"/>
              <a:ext cx="41529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t>
              </a:r>
              <a:r>
                <a:rPr sz="1800" spc="35" dirty="0">
                  <a:latin typeface="Arial"/>
                  <a:cs typeface="Arial"/>
                </a:rPr>
                <a:t>u</a:t>
              </a:r>
              <a:r>
                <a:rPr sz="1800" spc="-110" dirty="0">
                  <a:latin typeface="Arial"/>
                  <a:cs typeface="Arial"/>
                </a:rPr>
                <a:t>e</a:t>
              </a:r>
              <a:endParaRPr sz="1800" dirty="0">
                <a:latin typeface="Arial"/>
                <a:cs typeface="Arial"/>
              </a:endParaRPr>
            </a:p>
          </p:txBody>
        </p:sp>
        <p:sp>
          <p:nvSpPr>
            <p:cNvPr id="40" name="object 25"/>
            <p:cNvSpPr txBox="1"/>
            <p:nvPr/>
          </p:nvSpPr>
          <p:spPr>
            <a:xfrm>
              <a:off x="8036483" y="3001162"/>
              <a:ext cx="456565" cy="299720"/>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f</a:t>
              </a:r>
              <a:r>
                <a:rPr sz="1800" spc="-60" dirty="0">
                  <a:latin typeface="Arial"/>
                  <a:cs typeface="Arial"/>
                </a:rPr>
                <a:t>a</a:t>
              </a:r>
              <a:r>
                <a:rPr sz="1800" spc="5" dirty="0">
                  <a:latin typeface="Arial"/>
                  <a:cs typeface="Arial"/>
                </a:rPr>
                <a:t>l</a:t>
              </a:r>
              <a:r>
                <a:rPr sz="1800" spc="-200" dirty="0">
                  <a:latin typeface="Arial"/>
                  <a:cs typeface="Arial"/>
                </a:rPr>
                <a:t>s</a:t>
              </a:r>
              <a:r>
                <a:rPr sz="1800" spc="-110" dirty="0">
                  <a:latin typeface="Arial"/>
                  <a:cs typeface="Arial"/>
                </a:rPr>
                <a:t>e</a:t>
              </a:r>
              <a:endParaRPr sz="1800">
                <a:latin typeface="Arial"/>
                <a:cs typeface="Arial"/>
              </a:endParaRPr>
            </a:p>
          </p:txBody>
        </p:sp>
        <p:sp>
          <p:nvSpPr>
            <p:cNvPr id="42" name="object 30"/>
            <p:cNvSpPr txBox="1"/>
            <p:nvPr/>
          </p:nvSpPr>
          <p:spPr>
            <a:xfrm>
              <a:off x="6547243" y="4160316"/>
              <a:ext cx="916940" cy="299720"/>
            </a:xfrm>
            <a:prstGeom prst="rect">
              <a:avLst/>
            </a:prstGeom>
          </p:spPr>
          <p:txBody>
            <a:bodyPr vert="horz" wrap="square" lIns="0" tIns="12700" rIns="0" bIns="0" rtlCol="0">
              <a:spAutoFit/>
            </a:bodyPr>
            <a:lstStyle/>
            <a:p>
              <a:pPr marL="12700">
                <a:lnSpc>
                  <a:spcPct val="100000"/>
                </a:lnSpc>
                <a:spcBef>
                  <a:spcPts val="100"/>
                </a:spcBef>
              </a:pPr>
              <a:r>
                <a:rPr lang="en-US" sz="1800" spc="-155" dirty="0">
                  <a:latin typeface="Arial"/>
                  <a:cs typeface="Arial"/>
                </a:rPr>
                <a:t>Câu lệnh</a:t>
              </a:r>
              <a:endParaRPr sz="1800" dirty="0">
                <a:latin typeface="Arial"/>
                <a:cs typeface="Arial"/>
              </a:endParaRPr>
            </a:p>
          </p:txBody>
        </p:sp>
        <p:sp>
          <p:nvSpPr>
            <p:cNvPr id="44" name="object 34"/>
            <p:cNvSpPr/>
            <p:nvPr/>
          </p:nvSpPr>
          <p:spPr>
            <a:xfrm>
              <a:off x="6014059" y="4988966"/>
              <a:ext cx="1981200" cy="582295"/>
            </a:xfrm>
            <a:custGeom>
              <a:avLst/>
              <a:gdLst/>
              <a:ahLst/>
              <a:cxnLst/>
              <a:rect l="l" t="t" r="r" b="b"/>
              <a:pathLst>
                <a:path w="1981200" h="582295">
                  <a:moveTo>
                    <a:pt x="0" y="97028"/>
                  </a:moveTo>
                  <a:lnTo>
                    <a:pt x="7625" y="59257"/>
                  </a:lnTo>
                  <a:lnTo>
                    <a:pt x="28421" y="28416"/>
                  </a:lnTo>
                  <a:lnTo>
                    <a:pt x="59262" y="7623"/>
                  </a:lnTo>
                  <a:lnTo>
                    <a:pt x="97028" y="0"/>
                  </a:lnTo>
                  <a:lnTo>
                    <a:pt x="1884172" y="0"/>
                  </a:lnTo>
                  <a:lnTo>
                    <a:pt x="1921937" y="7623"/>
                  </a:lnTo>
                  <a:lnTo>
                    <a:pt x="1952778" y="28416"/>
                  </a:lnTo>
                  <a:lnTo>
                    <a:pt x="1973574" y="59257"/>
                  </a:lnTo>
                  <a:lnTo>
                    <a:pt x="1981200" y="97028"/>
                  </a:lnTo>
                  <a:lnTo>
                    <a:pt x="1981200" y="485140"/>
                  </a:lnTo>
                  <a:lnTo>
                    <a:pt x="1973574" y="522905"/>
                  </a:lnTo>
                  <a:lnTo>
                    <a:pt x="1952778" y="553746"/>
                  </a:lnTo>
                  <a:lnTo>
                    <a:pt x="1921937" y="574542"/>
                  </a:lnTo>
                  <a:lnTo>
                    <a:pt x="1884172" y="582168"/>
                  </a:lnTo>
                  <a:lnTo>
                    <a:pt x="97028" y="582168"/>
                  </a:lnTo>
                  <a:lnTo>
                    <a:pt x="59262" y="574542"/>
                  </a:lnTo>
                  <a:lnTo>
                    <a:pt x="28421" y="553746"/>
                  </a:lnTo>
                  <a:lnTo>
                    <a:pt x="7625" y="522905"/>
                  </a:lnTo>
                  <a:lnTo>
                    <a:pt x="0" y="485140"/>
                  </a:lnTo>
                  <a:lnTo>
                    <a:pt x="0" y="97028"/>
                  </a:lnTo>
                  <a:close/>
                </a:path>
              </a:pathLst>
            </a:custGeom>
            <a:ln w="25400">
              <a:solidFill>
                <a:srgbClr val="F79646"/>
              </a:solidFill>
            </a:ln>
          </p:spPr>
          <p:txBody>
            <a:bodyPr wrap="square" lIns="0" tIns="0" rIns="0" bIns="0" rtlCol="0"/>
            <a:lstStyle/>
            <a:p>
              <a:endParaRPr/>
            </a:p>
          </p:txBody>
        </p:sp>
        <p:sp>
          <p:nvSpPr>
            <p:cNvPr id="45" name="object 35"/>
            <p:cNvSpPr txBox="1"/>
            <p:nvPr/>
          </p:nvSpPr>
          <p:spPr>
            <a:xfrm>
              <a:off x="6495427" y="5114950"/>
              <a:ext cx="1017905"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Arial"/>
                  <a:cs typeface="Arial"/>
                </a:rPr>
                <a:t>Bước</a:t>
              </a:r>
              <a:r>
                <a:rPr sz="1800" spc="-155" dirty="0">
                  <a:latin typeface="Arial"/>
                  <a:cs typeface="Arial"/>
                </a:rPr>
                <a:t> </a:t>
              </a:r>
              <a:r>
                <a:rPr sz="1800" spc="-95" dirty="0">
                  <a:latin typeface="Arial"/>
                  <a:cs typeface="Arial"/>
                </a:rPr>
                <a:t>nhảy</a:t>
              </a:r>
              <a:endParaRPr sz="1800">
                <a:latin typeface="Arial"/>
                <a:cs typeface="Arial"/>
              </a:endParaRPr>
            </a:p>
          </p:txBody>
        </p:sp>
        <p:sp>
          <p:nvSpPr>
            <p:cNvPr id="46" name="object 36"/>
            <p:cNvSpPr/>
            <p:nvPr/>
          </p:nvSpPr>
          <p:spPr>
            <a:xfrm>
              <a:off x="7003922" y="4640235"/>
              <a:ext cx="1905" cy="360045"/>
            </a:xfrm>
            <a:custGeom>
              <a:avLst/>
              <a:gdLst/>
              <a:ahLst/>
              <a:cxnLst/>
              <a:rect l="l" t="t" r="r" b="b"/>
              <a:pathLst>
                <a:path w="1904" h="360045">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47" name="object 38"/>
            <p:cNvSpPr/>
            <p:nvPr/>
          </p:nvSpPr>
          <p:spPr>
            <a:xfrm>
              <a:off x="5633059" y="3332683"/>
              <a:ext cx="381000" cy="1947545"/>
            </a:xfrm>
            <a:custGeom>
              <a:avLst/>
              <a:gdLst/>
              <a:ahLst/>
              <a:cxnLst/>
              <a:rect l="l" t="t" r="r" b="b"/>
              <a:pathLst>
                <a:path w="381000" h="1947545">
                  <a:moveTo>
                    <a:pt x="381000" y="1947367"/>
                  </a:moveTo>
                  <a:lnTo>
                    <a:pt x="0" y="1947367"/>
                  </a:lnTo>
                  <a:lnTo>
                    <a:pt x="0" y="0"/>
                  </a:lnTo>
                  <a:lnTo>
                    <a:pt x="216026" y="0"/>
                  </a:lnTo>
                </a:path>
              </a:pathLst>
            </a:custGeom>
            <a:ln w="25400">
              <a:solidFill>
                <a:srgbClr val="4A7EBB"/>
              </a:solidFill>
              <a:tailEnd type="arrow"/>
            </a:ln>
          </p:spPr>
          <p:txBody>
            <a:bodyPr wrap="square" lIns="0" tIns="0" rIns="0" bIns="0" rtlCol="0"/>
            <a:lstStyle/>
            <a:p>
              <a:endParaRPr/>
            </a:p>
          </p:txBody>
        </p:sp>
        <p:sp>
          <p:nvSpPr>
            <p:cNvPr id="52" name="object 26"/>
            <p:cNvSpPr/>
            <p:nvPr/>
          </p:nvSpPr>
          <p:spPr>
            <a:xfrm>
              <a:off x="7036713" y="3662667"/>
              <a:ext cx="1905" cy="360045"/>
            </a:xfrm>
            <a:custGeom>
              <a:avLst/>
              <a:gdLst/>
              <a:ahLst/>
              <a:cxnLst/>
              <a:rect l="l" t="t" r="r" b="b"/>
              <a:pathLst>
                <a:path w="1904" h="360045">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53" name="object 31"/>
            <p:cNvSpPr/>
            <p:nvPr/>
          </p:nvSpPr>
          <p:spPr>
            <a:xfrm>
              <a:off x="7036713" y="2631833"/>
              <a:ext cx="1905" cy="360045"/>
            </a:xfrm>
            <a:custGeom>
              <a:avLst/>
              <a:gdLst/>
              <a:ahLst/>
              <a:cxnLst/>
              <a:rect l="l" t="t" r="r" b="b"/>
              <a:pathLst>
                <a:path w="1904" h="360044">
                  <a:moveTo>
                    <a:pt x="1536" y="0"/>
                  </a:moveTo>
                  <a:lnTo>
                    <a:pt x="0" y="359892"/>
                  </a:lnTo>
                </a:path>
              </a:pathLst>
            </a:custGeom>
            <a:ln w="25400">
              <a:solidFill>
                <a:srgbClr val="4A7EBB"/>
              </a:solidFill>
              <a:tailEnd type="arrow"/>
            </a:ln>
          </p:spPr>
          <p:txBody>
            <a:bodyPr wrap="square" lIns="0" tIns="0" rIns="0" bIns="0" rtlCol="0"/>
            <a:lstStyle/>
            <a:p>
              <a:endParaRPr/>
            </a:p>
          </p:txBody>
        </p:sp>
      </p:grpSp>
    </p:spTree>
    <p:extLst>
      <p:ext uri="{BB962C8B-B14F-4D97-AF65-F5344CB8AC3E}">
        <p14:creationId xmlns:p14="http://schemas.microsoft.com/office/powerpoint/2010/main" val="2712493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50</a:t>
            </a:fld>
            <a:endParaRPr lang="en-US" dirty="0"/>
          </a:p>
        </p:txBody>
      </p:sp>
      <p:sp>
        <p:nvSpPr>
          <p:cNvPr id="6" name="Content Placeholder 5"/>
          <p:cNvSpPr>
            <a:spLocks noGrp="1"/>
          </p:cNvSpPr>
          <p:nvPr>
            <p:ph idx="1"/>
          </p:nvPr>
        </p:nvSpPr>
        <p:spPr>
          <a:xfrm>
            <a:off x="394474" y="1349298"/>
            <a:ext cx="5086175" cy="4930703"/>
          </a:xfrm>
        </p:spPr>
        <p:txBody>
          <a:bodyPr>
            <a:noAutofit/>
          </a:bodyPr>
          <a:lstStyle/>
          <a:p>
            <a:pPr algn="just">
              <a:lnSpc>
                <a:spcPts val="3200"/>
              </a:lnSpc>
              <a:spcBef>
                <a:spcPts val="300"/>
              </a:spcBef>
              <a:spcAft>
                <a:spcPts val="300"/>
              </a:spcAft>
            </a:pPr>
            <a:r>
              <a:rPr lang="en-US" b="1" i="1" dirty="0"/>
              <a:t>Ví dụ</a:t>
            </a:r>
            <a:r>
              <a:rPr lang="en-US" b="1" i="1" spc="-10" dirty="0"/>
              <a:t>:</a:t>
            </a:r>
          </a:p>
          <a:p>
            <a:pPr marL="166687" lvl="1" indent="0" algn="just">
              <a:lnSpc>
                <a:spcPts val="3000"/>
              </a:lnSpc>
              <a:spcBef>
                <a:spcPts val="300"/>
              </a:spcBef>
              <a:spcAft>
                <a:spcPts val="300"/>
              </a:spcAft>
              <a:buNone/>
            </a:pPr>
            <a:r>
              <a:rPr lang="en-US" spc="-100" dirty="0">
                <a:latin typeface="Courier New" panose="02070309020205020404" pitchFamily="49" charset="0"/>
                <a:cs typeface="Courier New" panose="02070309020205020404" pitchFamily="49" charset="0"/>
              </a:rPr>
              <a:t>int count;</a:t>
            </a:r>
          </a:p>
          <a:p>
            <a:pPr marL="166687" lvl="1" indent="0">
              <a:lnSpc>
                <a:spcPts val="3000"/>
              </a:lnSpc>
              <a:spcBef>
                <a:spcPts val="300"/>
              </a:spcBef>
              <a:spcAft>
                <a:spcPts val="300"/>
              </a:spcAft>
              <a:buNone/>
            </a:pPr>
            <a:r>
              <a:rPr lang="en-US" spc="-300" dirty="0">
                <a:latin typeface="Courier New" panose="02070309020205020404" pitchFamily="49" charset="0"/>
                <a:cs typeface="Courier New" panose="02070309020205020404" pitchFamily="49" charset="0"/>
              </a:rPr>
              <a:t>for (count=0; count&lt;100; count++){</a:t>
            </a:r>
          </a:p>
          <a:p>
            <a:pPr marL="166687" lvl="1" indent="0" algn="just">
              <a:lnSpc>
                <a:spcPts val="3000"/>
              </a:lnSpc>
              <a:spcBef>
                <a:spcPts val="300"/>
              </a:spcBef>
              <a:spcAft>
                <a:spcPts val="300"/>
              </a:spcAft>
              <a:buNone/>
            </a:pPr>
            <a:r>
              <a:rPr lang="en-US" spc="-100" dirty="0">
                <a:latin typeface="Courier New" panose="02070309020205020404" pitchFamily="49" charset="0"/>
                <a:cs typeface="Courier New" panose="02070309020205020404" pitchFamily="49" charset="0"/>
              </a:rPr>
              <a:t>System.out.println(“Count=“+count);</a:t>
            </a:r>
          </a:p>
          <a:p>
            <a:pPr marL="166687" lvl="1" indent="0" algn="just">
              <a:lnSpc>
                <a:spcPts val="3000"/>
              </a:lnSpc>
              <a:spcBef>
                <a:spcPts val="300"/>
              </a:spcBef>
              <a:spcAft>
                <a:spcPts val="300"/>
              </a:spcAft>
              <a:buNone/>
            </a:pPr>
            <a:r>
              <a:rPr lang="en-US" spc="-100" dirty="0">
                <a:latin typeface="Courier New" panose="02070309020205020404" pitchFamily="49" charset="0"/>
                <a:cs typeface="Courier New" panose="02070309020205020404" pitchFamily="49" charset="0"/>
              </a:rPr>
              <a:t>}</a:t>
            </a:r>
          </a:p>
          <a:p>
            <a:pPr marL="0" lvl="1" indent="457200" algn="just">
              <a:lnSpc>
                <a:spcPts val="3100"/>
              </a:lnSpc>
              <a:spcBef>
                <a:spcPts val="600"/>
              </a:spcBef>
              <a:spcAft>
                <a:spcPts val="600"/>
              </a:spcAft>
              <a:buNone/>
            </a:pPr>
            <a:r>
              <a:rPr lang="en-US" spc="-10" dirty="0"/>
              <a:t>Chương trình sẽ in ra dòng chữ “Count = i” với i là giá trị của count tăng dần sau mỗi lần lặp, cho đến khi count = 100 thì ngừng.</a:t>
            </a:r>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
        <p:nvSpPr>
          <p:cNvPr id="51" name="object 34"/>
          <p:cNvSpPr/>
          <p:nvPr/>
        </p:nvSpPr>
        <p:spPr>
          <a:xfrm>
            <a:off x="6467183" y="4105828"/>
            <a:ext cx="1981200" cy="582295"/>
          </a:xfrm>
          <a:custGeom>
            <a:avLst/>
            <a:gdLst/>
            <a:ahLst/>
            <a:cxnLst/>
            <a:rect l="l" t="t" r="r" b="b"/>
            <a:pathLst>
              <a:path w="1981200" h="582295">
                <a:moveTo>
                  <a:pt x="0" y="97028"/>
                </a:moveTo>
                <a:lnTo>
                  <a:pt x="7625" y="59257"/>
                </a:lnTo>
                <a:lnTo>
                  <a:pt x="28421" y="28416"/>
                </a:lnTo>
                <a:lnTo>
                  <a:pt x="59262" y="7623"/>
                </a:lnTo>
                <a:lnTo>
                  <a:pt x="97028" y="0"/>
                </a:lnTo>
                <a:lnTo>
                  <a:pt x="1884172" y="0"/>
                </a:lnTo>
                <a:lnTo>
                  <a:pt x="1921937" y="7623"/>
                </a:lnTo>
                <a:lnTo>
                  <a:pt x="1952778" y="28416"/>
                </a:lnTo>
                <a:lnTo>
                  <a:pt x="1973574" y="59257"/>
                </a:lnTo>
                <a:lnTo>
                  <a:pt x="1981200" y="97028"/>
                </a:lnTo>
                <a:lnTo>
                  <a:pt x="1981200" y="485140"/>
                </a:lnTo>
                <a:lnTo>
                  <a:pt x="1973574" y="522905"/>
                </a:lnTo>
                <a:lnTo>
                  <a:pt x="1952778" y="553746"/>
                </a:lnTo>
                <a:lnTo>
                  <a:pt x="1921937" y="574542"/>
                </a:lnTo>
                <a:lnTo>
                  <a:pt x="1884172" y="582168"/>
                </a:lnTo>
                <a:lnTo>
                  <a:pt x="97028" y="582168"/>
                </a:lnTo>
                <a:lnTo>
                  <a:pt x="59262" y="574542"/>
                </a:lnTo>
                <a:lnTo>
                  <a:pt x="28421" y="553746"/>
                </a:lnTo>
                <a:lnTo>
                  <a:pt x="7625" y="522905"/>
                </a:lnTo>
                <a:lnTo>
                  <a:pt x="0" y="485140"/>
                </a:lnTo>
                <a:lnTo>
                  <a:pt x="0" y="97028"/>
                </a:lnTo>
                <a:close/>
              </a:path>
            </a:pathLst>
          </a:custGeom>
          <a:ln w="25400">
            <a:solidFill>
              <a:srgbClr val="F79646"/>
            </a:solidFill>
          </a:ln>
        </p:spPr>
        <p:txBody>
          <a:bodyPr wrap="square" lIns="0" tIns="0" rIns="0" bIns="0" rtlCol="0"/>
          <a:lstStyle/>
          <a:p>
            <a:endParaRPr/>
          </a:p>
        </p:txBody>
      </p:sp>
      <p:grpSp>
        <p:nvGrpSpPr>
          <p:cNvPr id="3" name="Group 2"/>
          <p:cNvGrpSpPr/>
          <p:nvPr/>
        </p:nvGrpSpPr>
        <p:grpSpPr>
          <a:xfrm>
            <a:off x="6054587" y="1393902"/>
            <a:ext cx="2859989" cy="4929662"/>
            <a:chOff x="5633059" y="1219200"/>
            <a:chExt cx="2859989" cy="5069453"/>
          </a:xfrm>
        </p:grpSpPr>
        <p:sp>
          <p:nvSpPr>
            <p:cNvPr id="18" name="object 13"/>
            <p:cNvSpPr/>
            <p:nvPr/>
          </p:nvSpPr>
          <p:spPr>
            <a:xfrm>
              <a:off x="6808901" y="1219200"/>
              <a:ext cx="457149" cy="457200"/>
            </a:xfrm>
            <a:prstGeom prst="rect">
              <a:avLst/>
            </a:prstGeom>
            <a:blipFill>
              <a:blip r:embed="rId3" cstate="print"/>
              <a:stretch>
                <a:fillRect/>
              </a:stretch>
            </a:blipFill>
          </p:spPr>
          <p:txBody>
            <a:bodyPr wrap="square" lIns="0" tIns="0" rIns="0" bIns="0" rtlCol="0"/>
            <a:lstStyle/>
            <a:p>
              <a:endParaRPr/>
            </a:p>
          </p:txBody>
        </p:sp>
        <p:sp>
          <p:nvSpPr>
            <p:cNvPr id="20" name="object 15"/>
            <p:cNvSpPr/>
            <p:nvPr/>
          </p:nvSpPr>
          <p:spPr>
            <a:xfrm>
              <a:off x="6694334" y="5743061"/>
              <a:ext cx="545592" cy="545592"/>
            </a:xfrm>
            <a:prstGeom prst="rect">
              <a:avLst/>
            </a:prstGeom>
            <a:blipFill>
              <a:blip r:embed="rId4" cstate="print"/>
              <a:stretch>
                <a:fillRect/>
              </a:stretch>
            </a:blipFill>
          </p:spPr>
          <p:txBody>
            <a:bodyPr wrap="square" lIns="0" tIns="0" rIns="0" bIns="0" rtlCol="0"/>
            <a:lstStyle/>
            <a:p>
              <a:endParaRPr/>
            </a:p>
          </p:txBody>
        </p:sp>
        <p:sp>
          <p:nvSpPr>
            <p:cNvPr id="21" name="object 16"/>
            <p:cNvSpPr/>
            <p:nvPr/>
          </p:nvSpPr>
          <p:spPr>
            <a:xfrm>
              <a:off x="5894450" y="3003499"/>
              <a:ext cx="2286000" cy="658495"/>
            </a:xfrm>
            <a:custGeom>
              <a:avLst/>
              <a:gdLst/>
              <a:ahLst/>
              <a:cxnLst/>
              <a:rect l="l" t="t" r="r" b="b"/>
              <a:pathLst>
                <a:path w="2286000" h="658495">
                  <a:moveTo>
                    <a:pt x="0" y="329184"/>
                  </a:moveTo>
                  <a:lnTo>
                    <a:pt x="1143000" y="0"/>
                  </a:lnTo>
                  <a:lnTo>
                    <a:pt x="2286000" y="329184"/>
                  </a:lnTo>
                  <a:lnTo>
                    <a:pt x="1143000" y="658368"/>
                  </a:lnTo>
                  <a:lnTo>
                    <a:pt x="0" y="329184"/>
                  </a:lnTo>
                  <a:close/>
                </a:path>
              </a:pathLst>
            </a:custGeom>
            <a:ln w="25400">
              <a:solidFill>
                <a:srgbClr val="F79646"/>
              </a:solidFill>
            </a:ln>
          </p:spPr>
          <p:txBody>
            <a:bodyPr wrap="square" lIns="0" tIns="0" rIns="0" bIns="0" rtlCol="0"/>
            <a:lstStyle/>
            <a:p>
              <a:endParaRPr/>
            </a:p>
          </p:txBody>
        </p:sp>
        <p:sp>
          <p:nvSpPr>
            <p:cNvPr id="34" name="object 17"/>
            <p:cNvSpPr txBox="1"/>
            <p:nvPr/>
          </p:nvSpPr>
          <p:spPr>
            <a:xfrm>
              <a:off x="6587997" y="3167583"/>
              <a:ext cx="1135888" cy="298042"/>
            </a:xfrm>
            <a:prstGeom prst="rect">
              <a:avLst/>
            </a:prstGeom>
          </p:spPr>
          <p:txBody>
            <a:bodyPr vert="horz" wrap="square" lIns="0" tIns="12700" rIns="0" bIns="0" rtlCol="0">
              <a:spAutoFit/>
            </a:bodyPr>
            <a:lstStyle/>
            <a:p>
              <a:pPr marL="12700">
                <a:lnSpc>
                  <a:spcPct val="100000"/>
                </a:lnSpc>
                <a:spcBef>
                  <a:spcPts val="100"/>
                </a:spcBef>
              </a:pPr>
              <a:r>
                <a:rPr lang="en-US" spc="-85" dirty="0">
                  <a:latin typeface="Arial"/>
                  <a:cs typeface="Arial"/>
                </a:rPr>
                <a:t>c</a:t>
              </a:r>
              <a:r>
                <a:rPr lang="en-US" sz="1800" spc="-85" dirty="0">
                  <a:latin typeface="Arial"/>
                  <a:cs typeface="Arial"/>
                </a:rPr>
                <a:t>ount&lt;100</a:t>
              </a:r>
              <a:endParaRPr sz="1800" dirty="0">
                <a:latin typeface="Arial"/>
                <a:cs typeface="Arial"/>
              </a:endParaRPr>
            </a:p>
          </p:txBody>
        </p:sp>
        <p:sp>
          <p:nvSpPr>
            <p:cNvPr id="35" name="object 18"/>
            <p:cNvSpPr/>
            <p:nvPr/>
          </p:nvSpPr>
          <p:spPr>
            <a:xfrm>
              <a:off x="6203314" y="2048865"/>
              <a:ext cx="1684833" cy="566758"/>
            </a:xfrm>
            <a:custGeom>
              <a:avLst/>
              <a:gdLst/>
              <a:ahLst/>
              <a:cxnLst/>
              <a:rect l="l" t="t" r="r" b="b"/>
              <a:pathLst>
                <a:path w="1371600" h="582294">
                  <a:moveTo>
                    <a:pt x="0" y="97027"/>
                  </a:moveTo>
                  <a:lnTo>
                    <a:pt x="7625" y="59257"/>
                  </a:lnTo>
                  <a:lnTo>
                    <a:pt x="28421" y="28416"/>
                  </a:lnTo>
                  <a:lnTo>
                    <a:pt x="59262" y="7623"/>
                  </a:lnTo>
                  <a:lnTo>
                    <a:pt x="97028" y="0"/>
                  </a:lnTo>
                  <a:lnTo>
                    <a:pt x="1274572" y="0"/>
                  </a:lnTo>
                  <a:lnTo>
                    <a:pt x="1312337" y="7623"/>
                  </a:lnTo>
                  <a:lnTo>
                    <a:pt x="1343178" y="28416"/>
                  </a:lnTo>
                  <a:lnTo>
                    <a:pt x="1363974" y="59257"/>
                  </a:lnTo>
                  <a:lnTo>
                    <a:pt x="1371600" y="97027"/>
                  </a:lnTo>
                  <a:lnTo>
                    <a:pt x="1371600" y="485139"/>
                  </a:lnTo>
                  <a:lnTo>
                    <a:pt x="1363974" y="522905"/>
                  </a:lnTo>
                  <a:lnTo>
                    <a:pt x="1343178" y="553746"/>
                  </a:lnTo>
                  <a:lnTo>
                    <a:pt x="1312337" y="574542"/>
                  </a:lnTo>
                  <a:lnTo>
                    <a:pt x="1274572" y="582167"/>
                  </a:lnTo>
                  <a:lnTo>
                    <a:pt x="97028" y="582167"/>
                  </a:lnTo>
                  <a:lnTo>
                    <a:pt x="59262" y="574542"/>
                  </a:lnTo>
                  <a:lnTo>
                    <a:pt x="28421" y="553746"/>
                  </a:lnTo>
                  <a:lnTo>
                    <a:pt x="7625" y="522905"/>
                  </a:lnTo>
                  <a:lnTo>
                    <a:pt x="0" y="485139"/>
                  </a:lnTo>
                  <a:lnTo>
                    <a:pt x="0" y="97027"/>
                  </a:lnTo>
                  <a:close/>
                </a:path>
              </a:pathLst>
            </a:custGeom>
            <a:ln w="25400">
              <a:solidFill>
                <a:srgbClr val="F79646"/>
              </a:solidFill>
            </a:ln>
          </p:spPr>
          <p:txBody>
            <a:bodyPr wrap="square" lIns="0" tIns="0" rIns="0" bIns="0" rtlCol="0"/>
            <a:lstStyle/>
            <a:p>
              <a:endParaRPr/>
            </a:p>
          </p:txBody>
        </p:sp>
        <p:sp>
          <p:nvSpPr>
            <p:cNvPr id="36" name="object 19"/>
            <p:cNvSpPr txBox="1"/>
            <p:nvPr/>
          </p:nvSpPr>
          <p:spPr>
            <a:xfrm>
              <a:off x="6608952" y="2174849"/>
              <a:ext cx="987247" cy="298042"/>
            </a:xfrm>
            <a:prstGeom prst="rect">
              <a:avLst/>
            </a:prstGeom>
          </p:spPr>
          <p:txBody>
            <a:bodyPr vert="horz" wrap="square" lIns="0" tIns="12700" rIns="0" bIns="0" rtlCol="0">
              <a:spAutoFit/>
            </a:bodyPr>
            <a:lstStyle/>
            <a:p>
              <a:pPr marL="12700">
                <a:lnSpc>
                  <a:spcPct val="100000"/>
                </a:lnSpc>
                <a:spcBef>
                  <a:spcPts val="100"/>
                </a:spcBef>
              </a:pPr>
              <a:r>
                <a:rPr lang="en-US" spc="-114" dirty="0">
                  <a:latin typeface="Arial"/>
                  <a:cs typeface="Arial"/>
                </a:rPr>
                <a:t>c</a:t>
              </a:r>
              <a:r>
                <a:rPr lang="en-US" sz="1800" spc="-114" dirty="0">
                  <a:latin typeface="Arial"/>
                  <a:cs typeface="Arial"/>
                </a:rPr>
                <a:t>ount = 0</a:t>
              </a:r>
              <a:endParaRPr sz="1800" dirty="0">
                <a:latin typeface="Arial"/>
                <a:cs typeface="Arial"/>
              </a:endParaRPr>
            </a:p>
          </p:txBody>
        </p:sp>
        <p:sp>
          <p:nvSpPr>
            <p:cNvPr id="37" name="object 20"/>
            <p:cNvSpPr/>
            <p:nvPr/>
          </p:nvSpPr>
          <p:spPr>
            <a:xfrm>
              <a:off x="7213791" y="3332683"/>
              <a:ext cx="1195768" cy="2595928"/>
            </a:xfrm>
            <a:custGeom>
              <a:avLst/>
              <a:gdLst/>
              <a:ahLst/>
              <a:cxnLst/>
              <a:rect l="l" t="t" r="r" b="b"/>
              <a:pathLst>
                <a:path w="1130934" h="2839720">
                  <a:moveTo>
                    <a:pt x="901826" y="0"/>
                  </a:moveTo>
                  <a:lnTo>
                    <a:pt x="1130427" y="0"/>
                  </a:lnTo>
                  <a:lnTo>
                    <a:pt x="1130427" y="2839516"/>
                  </a:lnTo>
                  <a:lnTo>
                    <a:pt x="0" y="2839516"/>
                  </a:lnTo>
                </a:path>
              </a:pathLst>
            </a:custGeom>
            <a:ln w="25400">
              <a:solidFill>
                <a:srgbClr val="4A7EBB"/>
              </a:solidFill>
              <a:tailEnd type="arrow"/>
            </a:ln>
          </p:spPr>
          <p:txBody>
            <a:bodyPr wrap="square" lIns="0" tIns="0" rIns="0" bIns="0" rtlCol="0"/>
            <a:lstStyle/>
            <a:p>
              <a:endParaRPr/>
            </a:p>
          </p:txBody>
        </p:sp>
        <p:sp>
          <p:nvSpPr>
            <p:cNvPr id="38" name="object 22"/>
            <p:cNvSpPr/>
            <p:nvPr/>
          </p:nvSpPr>
          <p:spPr>
            <a:xfrm>
              <a:off x="7036713" y="1677200"/>
              <a:ext cx="1905" cy="360045"/>
            </a:xfrm>
            <a:custGeom>
              <a:avLst/>
              <a:gdLst/>
              <a:ahLst/>
              <a:cxnLst/>
              <a:rect l="l" t="t" r="r" b="b"/>
              <a:pathLst>
                <a:path w="1904" h="360044">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39" name="object 24"/>
            <p:cNvSpPr txBox="1"/>
            <p:nvPr/>
          </p:nvSpPr>
          <p:spPr>
            <a:xfrm>
              <a:off x="7269309" y="3657970"/>
              <a:ext cx="41529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t>
              </a:r>
              <a:r>
                <a:rPr sz="1800" spc="35" dirty="0">
                  <a:latin typeface="Arial"/>
                  <a:cs typeface="Arial"/>
                </a:rPr>
                <a:t>u</a:t>
              </a:r>
              <a:r>
                <a:rPr sz="1800" spc="-110" dirty="0">
                  <a:latin typeface="Arial"/>
                  <a:cs typeface="Arial"/>
                </a:rPr>
                <a:t>e</a:t>
              </a:r>
              <a:endParaRPr sz="1800" dirty="0">
                <a:latin typeface="Arial"/>
                <a:cs typeface="Arial"/>
              </a:endParaRPr>
            </a:p>
          </p:txBody>
        </p:sp>
        <p:sp>
          <p:nvSpPr>
            <p:cNvPr id="40" name="object 25"/>
            <p:cNvSpPr txBox="1"/>
            <p:nvPr/>
          </p:nvSpPr>
          <p:spPr>
            <a:xfrm>
              <a:off x="8036483" y="3001162"/>
              <a:ext cx="456565" cy="299720"/>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f</a:t>
              </a:r>
              <a:r>
                <a:rPr sz="1800" spc="-60" dirty="0">
                  <a:latin typeface="Arial"/>
                  <a:cs typeface="Arial"/>
                </a:rPr>
                <a:t>a</a:t>
              </a:r>
              <a:r>
                <a:rPr sz="1800" spc="5" dirty="0">
                  <a:latin typeface="Arial"/>
                  <a:cs typeface="Arial"/>
                </a:rPr>
                <a:t>l</a:t>
              </a:r>
              <a:r>
                <a:rPr sz="1800" spc="-200" dirty="0">
                  <a:latin typeface="Arial"/>
                  <a:cs typeface="Arial"/>
                </a:rPr>
                <a:t>s</a:t>
              </a:r>
              <a:r>
                <a:rPr sz="1800" spc="-110" dirty="0">
                  <a:latin typeface="Arial"/>
                  <a:cs typeface="Arial"/>
                </a:rPr>
                <a:t>e</a:t>
              </a:r>
              <a:endParaRPr sz="1800">
                <a:latin typeface="Arial"/>
                <a:cs typeface="Arial"/>
              </a:endParaRPr>
            </a:p>
          </p:txBody>
        </p:sp>
        <p:sp>
          <p:nvSpPr>
            <p:cNvPr id="42" name="object 30"/>
            <p:cNvSpPr txBox="1"/>
            <p:nvPr/>
          </p:nvSpPr>
          <p:spPr>
            <a:xfrm>
              <a:off x="6547243" y="4160316"/>
              <a:ext cx="916940" cy="299720"/>
            </a:xfrm>
            <a:prstGeom prst="rect">
              <a:avLst/>
            </a:prstGeom>
          </p:spPr>
          <p:txBody>
            <a:bodyPr vert="horz" wrap="square" lIns="0" tIns="12700" rIns="0" bIns="0" rtlCol="0">
              <a:spAutoFit/>
            </a:bodyPr>
            <a:lstStyle/>
            <a:p>
              <a:pPr marL="12700">
                <a:lnSpc>
                  <a:spcPct val="100000"/>
                </a:lnSpc>
                <a:spcBef>
                  <a:spcPts val="100"/>
                </a:spcBef>
              </a:pPr>
              <a:r>
                <a:rPr lang="en-US" sz="1800" spc="-155" dirty="0">
                  <a:latin typeface="Arial"/>
                  <a:cs typeface="Arial"/>
                </a:rPr>
                <a:t>“count = i</a:t>
              </a:r>
              <a:endParaRPr sz="1800" dirty="0">
                <a:latin typeface="Arial"/>
                <a:cs typeface="Arial"/>
              </a:endParaRPr>
            </a:p>
          </p:txBody>
        </p:sp>
        <p:sp>
          <p:nvSpPr>
            <p:cNvPr id="44" name="object 34"/>
            <p:cNvSpPr/>
            <p:nvPr/>
          </p:nvSpPr>
          <p:spPr>
            <a:xfrm>
              <a:off x="6014059" y="4988966"/>
              <a:ext cx="1981200" cy="582295"/>
            </a:xfrm>
            <a:custGeom>
              <a:avLst/>
              <a:gdLst/>
              <a:ahLst/>
              <a:cxnLst/>
              <a:rect l="l" t="t" r="r" b="b"/>
              <a:pathLst>
                <a:path w="1981200" h="582295">
                  <a:moveTo>
                    <a:pt x="0" y="97028"/>
                  </a:moveTo>
                  <a:lnTo>
                    <a:pt x="7625" y="59257"/>
                  </a:lnTo>
                  <a:lnTo>
                    <a:pt x="28421" y="28416"/>
                  </a:lnTo>
                  <a:lnTo>
                    <a:pt x="59262" y="7623"/>
                  </a:lnTo>
                  <a:lnTo>
                    <a:pt x="97028" y="0"/>
                  </a:lnTo>
                  <a:lnTo>
                    <a:pt x="1884172" y="0"/>
                  </a:lnTo>
                  <a:lnTo>
                    <a:pt x="1921937" y="7623"/>
                  </a:lnTo>
                  <a:lnTo>
                    <a:pt x="1952778" y="28416"/>
                  </a:lnTo>
                  <a:lnTo>
                    <a:pt x="1973574" y="59257"/>
                  </a:lnTo>
                  <a:lnTo>
                    <a:pt x="1981200" y="97028"/>
                  </a:lnTo>
                  <a:lnTo>
                    <a:pt x="1981200" y="485140"/>
                  </a:lnTo>
                  <a:lnTo>
                    <a:pt x="1973574" y="522905"/>
                  </a:lnTo>
                  <a:lnTo>
                    <a:pt x="1952778" y="553746"/>
                  </a:lnTo>
                  <a:lnTo>
                    <a:pt x="1921937" y="574542"/>
                  </a:lnTo>
                  <a:lnTo>
                    <a:pt x="1884172" y="582168"/>
                  </a:lnTo>
                  <a:lnTo>
                    <a:pt x="97028" y="582168"/>
                  </a:lnTo>
                  <a:lnTo>
                    <a:pt x="59262" y="574542"/>
                  </a:lnTo>
                  <a:lnTo>
                    <a:pt x="28421" y="553746"/>
                  </a:lnTo>
                  <a:lnTo>
                    <a:pt x="7625" y="522905"/>
                  </a:lnTo>
                  <a:lnTo>
                    <a:pt x="0" y="485140"/>
                  </a:lnTo>
                  <a:lnTo>
                    <a:pt x="0" y="97028"/>
                  </a:lnTo>
                  <a:close/>
                </a:path>
              </a:pathLst>
            </a:custGeom>
            <a:ln w="25400">
              <a:solidFill>
                <a:srgbClr val="F79646"/>
              </a:solidFill>
            </a:ln>
          </p:spPr>
          <p:txBody>
            <a:bodyPr wrap="square" lIns="0" tIns="0" rIns="0" bIns="0" rtlCol="0"/>
            <a:lstStyle/>
            <a:p>
              <a:endParaRPr/>
            </a:p>
          </p:txBody>
        </p:sp>
        <p:sp>
          <p:nvSpPr>
            <p:cNvPr id="45" name="object 35"/>
            <p:cNvSpPr txBox="1"/>
            <p:nvPr/>
          </p:nvSpPr>
          <p:spPr>
            <a:xfrm>
              <a:off x="6495427" y="5114951"/>
              <a:ext cx="1189172" cy="298042"/>
            </a:xfrm>
            <a:prstGeom prst="rect">
              <a:avLst/>
            </a:prstGeom>
          </p:spPr>
          <p:txBody>
            <a:bodyPr vert="horz" wrap="square" lIns="0" tIns="12700" rIns="0" bIns="0" rtlCol="0">
              <a:spAutoFit/>
            </a:bodyPr>
            <a:lstStyle/>
            <a:p>
              <a:pPr marL="12700">
                <a:lnSpc>
                  <a:spcPct val="100000"/>
                </a:lnSpc>
                <a:spcBef>
                  <a:spcPts val="100"/>
                </a:spcBef>
              </a:pPr>
              <a:r>
                <a:rPr lang="en-US" spc="-160" dirty="0">
                  <a:latin typeface="Arial"/>
                  <a:cs typeface="Arial"/>
                </a:rPr>
                <a:t>c</a:t>
              </a:r>
              <a:r>
                <a:rPr lang="en-US" sz="1800" spc="-160" dirty="0">
                  <a:latin typeface="Arial"/>
                  <a:cs typeface="Arial"/>
                </a:rPr>
                <a:t>ountc++</a:t>
              </a:r>
              <a:endParaRPr sz="1800" dirty="0">
                <a:latin typeface="Arial"/>
                <a:cs typeface="Arial"/>
              </a:endParaRPr>
            </a:p>
          </p:txBody>
        </p:sp>
        <p:sp>
          <p:nvSpPr>
            <p:cNvPr id="46" name="object 36"/>
            <p:cNvSpPr/>
            <p:nvPr/>
          </p:nvSpPr>
          <p:spPr>
            <a:xfrm>
              <a:off x="7003922" y="4640235"/>
              <a:ext cx="1905" cy="360045"/>
            </a:xfrm>
            <a:custGeom>
              <a:avLst/>
              <a:gdLst/>
              <a:ahLst/>
              <a:cxnLst/>
              <a:rect l="l" t="t" r="r" b="b"/>
              <a:pathLst>
                <a:path w="1904" h="360045">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47" name="object 38"/>
            <p:cNvSpPr/>
            <p:nvPr/>
          </p:nvSpPr>
          <p:spPr>
            <a:xfrm>
              <a:off x="5633059" y="3332683"/>
              <a:ext cx="381000" cy="1947545"/>
            </a:xfrm>
            <a:custGeom>
              <a:avLst/>
              <a:gdLst/>
              <a:ahLst/>
              <a:cxnLst/>
              <a:rect l="l" t="t" r="r" b="b"/>
              <a:pathLst>
                <a:path w="381000" h="1947545">
                  <a:moveTo>
                    <a:pt x="381000" y="1947367"/>
                  </a:moveTo>
                  <a:lnTo>
                    <a:pt x="0" y="1947367"/>
                  </a:lnTo>
                  <a:lnTo>
                    <a:pt x="0" y="0"/>
                  </a:lnTo>
                  <a:lnTo>
                    <a:pt x="216026" y="0"/>
                  </a:lnTo>
                </a:path>
              </a:pathLst>
            </a:custGeom>
            <a:ln w="25400">
              <a:solidFill>
                <a:srgbClr val="4A7EBB"/>
              </a:solidFill>
              <a:tailEnd type="arrow"/>
            </a:ln>
          </p:spPr>
          <p:txBody>
            <a:bodyPr wrap="square" lIns="0" tIns="0" rIns="0" bIns="0" rtlCol="0"/>
            <a:lstStyle/>
            <a:p>
              <a:endParaRPr/>
            </a:p>
          </p:txBody>
        </p:sp>
        <p:sp>
          <p:nvSpPr>
            <p:cNvPr id="52" name="object 26"/>
            <p:cNvSpPr/>
            <p:nvPr/>
          </p:nvSpPr>
          <p:spPr>
            <a:xfrm>
              <a:off x="7036713" y="3662667"/>
              <a:ext cx="1905" cy="360045"/>
            </a:xfrm>
            <a:custGeom>
              <a:avLst/>
              <a:gdLst/>
              <a:ahLst/>
              <a:cxnLst/>
              <a:rect l="l" t="t" r="r" b="b"/>
              <a:pathLst>
                <a:path w="1904" h="360045">
                  <a:moveTo>
                    <a:pt x="1536" y="0"/>
                  </a:moveTo>
                  <a:lnTo>
                    <a:pt x="0" y="359892"/>
                  </a:lnTo>
                </a:path>
              </a:pathLst>
            </a:custGeom>
            <a:ln w="25400">
              <a:solidFill>
                <a:srgbClr val="4A7EBB"/>
              </a:solidFill>
              <a:tailEnd type="arrow"/>
            </a:ln>
          </p:spPr>
          <p:txBody>
            <a:bodyPr wrap="square" lIns="0" tIns="0" rIns="0" bIns="0" rtlCol="0"/>
            <a:lstStyle/>
            <a:p>
              <a:endParaRPr/>
            </a:p>
          </p:txBody>
        </p:sp>
        <p:sp>
          <p:nvSpPr>
            <p:cNvPr id="53" name="object 31"/>
            <p:cNvSpPr/>
            <p:nvPr/>
          </p:nvSpPr>
          <p:spPr>
            <a:xfrm>
              <a:off x="7036713" y="2631833"/>
              <a:ext cx="1905" cy="360045"/>
            </a:xfrm>
            <a:custGeom>
              <a:avLst/>
              <a:gdLst/>
              <a:ahLst/>
              <a:cxnLst/>
              <a:rect l="l" t="t" r="r" b="b"/>
              <a:pathLst>
                <a:path w="1904" h="360044">
                  <a:moveTo>
                    <a:pt x="1536" y="0"/>
                  </a:moveTo>
                  <a:lnTo>
                    <a:pt x="0" y="359892"/>
                  </a:lnTo>
                </a:path>
              </a:pathLst>
            </a:custGeom>
            <a:ln w="25400">
              <a:solidFill>
                <a:srgbClr val="4A7EBB"/>
              </a:solidFill>
              <a:tailEnd type="arrow"/>
            </a:ln>
          </p:spPr>
          <p:txBody>
            <a:bodyPr wrap="square" lIns="0" tIns="0" rIns="0" bIns="0" rtlCol="0"/>
            <a:lstStyle/>
            <a:p>
              <a:endParaRPr/>
            </a:p>
          </p:txBody>
        </p:sp>
      </p:grpSp>
    </p:spTree>
    <p:extLst>
      <p:ext uri="{BB962C8B-B14F-4D97-AF65-F5344CB8AC3E}">
        <p14:creationId xmlns:p14="http://schemas.microsoft.com/office/powerpoint/2010/main" val="1021643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51</a:t>
            </a:fld>
            <a:endParaRPr lang="en-US"/>
          </a:p>
        </p:txBody>
      </p:sp>
      <p:sp>
        <p:nvSpPr>
          <p:cNvPr id="3" name="TextBox 2"/>
          <p:cNvSpPr txBox="1"/>
          <p:nvPr/>
        </p:nvSpPr>
        <p:spPr>
          <a:xfrm>
            <a:off x="1895707" y="3590692"/>
            <a:ext cx="4382430" cy="892552"/>
          </a:xfrm>
          <a:prstGeom prst="rect">
            <a:avLst/>
          </a:prstGeom>
          <a:noFill/>
        </p:spPr>
        <p:txBody>
          <a:bodyPr wrap="square" rtlCol="0">
            <a:spAutoFit/>
          </a:bodyPr>
          <a:lstStyle/>
          <a:p>
            <a:r>
              <a:rPr lang="en-US" sz="2600" dirty="0">
                <a:solidFill>
                  <a:schemeClr val="bg1"/>
                </a:solidFill>
              </a:rPr>
              <a:t>Viết chương trình in ra màn hình các số nhỏ hơn 5.</a:t>
            </a:r>
          </a:p>
        </p:txBody>
      </p:sp>
    </p:spTree>
    <p:extLst>
      <p:ext uri="{BB962C8B-B14F-4D97-AF65-F5344CB8AC3E}">
        <p14:creationId xmlns:p14="http://schemas.microsoft.com/office/powerpoint/2010/main" val="2527078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Cấu trúc lặp</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52</a:t>
            </a:fld>
            <a:endParaRPr lang="en-US" dirty="0"/>
          </a:p>
        </p:txBody>
      </p:sp>
      <p:sp>
        <p:nvSpPr>
          <p:cNvPr id="6" name="Content Placeholder 5"/>
          <p:cNvSpPr>
            <a:spLocks noGrp="1"/>
          </p:cNvSpPr>
          <p:nvPr>
            <p:ph idx="1"/>
          </p:nvPr>
        </p:nvSpPr>
        <p:spPr>
          <a:xfrm>
            <a:off x="394474" y="1349298"/>
            <a:ext cx="8120876" cy="4930703"/>
          </a:xfrm>
        </p:spPr>
        <p:txBody>
          <a:bodyPr>
            <a:noAutofit/>
          </a:bodyPr>
          <a:lstStyle/>
          <a:p>
            <a:pPr algn="just">
              <a:lnSpc>
                <a:spcPts val="3200"/>
              </a:lnSpc>
              <a:spcBef>
                <a:spcPts val="300"/>
              </a:spcBef>
              <a:spcAft>
                <a:spcPts val="300"/>
              </a:spcAft>
            </a:pPr>
            <a:r>
              <a:rPr lang="en-US" b="1" i="1" dirty="0"/>
              <a:t>Ví dụ</a:t>
            </a:r>
            <a:r>
              <a:rPr lang="en-US" b="1" i="1" spc="-10" dirty="0"/>
              <a:t>:</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package vong_lap_for;</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public class InCacSoNhoHon3 {</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a:t>
            </a:r>
            <a:r>
              <a:rPr lang="vi-VN" b="1" spc="-80" dirty="0">
                <a:latin typeface="Courier" panose="02020500000000000000" pitchFamily="18" charset="0"/>
                <a:ea typeface="Courier" panose="02020500000000000000" pitchFamily="18" charset="0"/>
                <a:cs typeface="Courier" panose="02020500000000000000" pitchFamily="18" charset="0"/>
              </a:rPr>
              <a:t>public static void main(String[] args){</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int number = 0</a:t>
            </a:r>
            <a:endParaRPr lang="en-US" b="1" spc="-10" dirty="0">
              <a:latin typeface="Courier" panose="02020500000000000000" pitchFamily="18" charset="0"/>
              <a:ea typeface="Courier" panose="02020500000000000000" pitchFamily="18" charset="0"/>
              <a:cs typeface="Courier" panose="02020500000000000000" pitchFamily="18" charset="0"/>
            </a:endParaRP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a:t>
            </a:r>
            <a:r>
              <a:rPr lang="en-US" b="1" spc="-10" dirty="0">
                <a:latin typeface="Courier" panose="02020500000000000000" pitchFamily="18" charset="0"/>
                <a:ea typeface="Courier" panose="02020500000000000000" pitchFamily="18" charset="0"/>
                <a:cs typeface="Courier" panose="02020500000000000000" pitchFamily="18" charset="0"/>
              </a:rPr>
              <a:t> </a:t>
            </a:r>
            <a:r>
              <a:rPr lang="vi-VN" b="1" spc="-10" dirty="0">
                <a:latin typeface="Courier" panose="02020500000000000000" pitchFamily="18" charset="0"/>
                <a:ea typeface="Courier" panose="02020500000000000000" pitchFamily="18" charset="0"/>
                <a:cs typeface="Courier" panose="02020500000000000000" pitchFamily="18" charset="0"/>
              </a:rPr>
              <a:t>Trong trường hợp biến number còn nhỏ hơn 3thì in ra giá trị của biến và sau đó tăng lên 1.*/</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for (; number &lt;</a:t>
            </a:r>
            <a:r>
              <a:rPr lang="en-US" b="1" spc="-10" dirty="0">
                <a:latin typeface="Courier" panose="02020500000000000000" pitchFamily="18" charset="0"/>
                <a:ea typeface="Courier" panose="02020500000000000000" pitchFamily="18" charset="0"/>
                <a:cs typeface="Courier" panose="02020500000000000000" pitchFamily="18" charset="0"/>
              </a:rPr>
              <a:t> 5</a:t>
            </a:r>
            <a:r>
              <a:rPr lang="vi-VN" b="1" spc="-10" dirty="0">
                <a:latin typeface="Courier" panose="02020500000000000000" pitchFamily="18" charset="0"/>
                <a:ea typeface="Courier" panose="02020500000000000000" pitchFamily="18" charset="0"/>
                <a:cs typeface="Courier" panose="02020500000000000000" pitchFamily="18" charset="0"/>
              </a:rPr>
              <a:t>; ) {</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System.out.println(number);</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number++;</a:t>
            </a:r>
          </a:p>
          <a:p>
            <a:pPr marL="0" lvl="1" indent="0">
              <a:lnSpc>
                <a:spcPct val="100000"/>
              </a:lnSpc>
              <a:spcBef>
                <a:spcPts val="0"/>
              </a:spcBef>
              <a:buNone/>
            </a:pPr>
            <a:r>
              <a:rPr lang="vi-VN" b="1" spc="-10" dirty="0">
                <a:latin typeface="Courier" panose="02020500000000000000" pitchFamily="18" charset="0"/>
                <a:ea typeface="Courier" panose="02020500000000000000" pitchFamily="18" charset="0"/>
                <a:cs typeface="Courier" panose="02020500000000000000" pitchFamily="18" charset="0"/>
              </a:rPr>
              <a:t>   } }</a:t>
            </a:r>
            <a:r>
              <a:rPr lang="en-US" b="1" spc="-10" dirty="0">
                <a:latin typeface="Courier" panose="02020500000000000000" pitchFamily="18" charset="0"/>
                <a:ea typeface="Courier" panose="02020500000000000000" pitchFamily="18" charset="0"/>
                <a:cs typeface="Courier" panose="02020500000000000000" pitchFamily="18" charset="0"/>
              </a:rPr>
              <a:t> </a:t>
            </a:r>
            <a:r>
              <a:rPr lang="vi-VN" b="1" spc="-10" dirty="0">
                <a:latin typeface="Courier" panose="02020500000000000000" pitchFamily="18" charset="0"/>
                <a:ea typeface="Courier" panose="02020500000000000000" pitchFamily="18" charset="0"/>
                <a:cs typeface="Courier" panose="02020500000000000000" pitchFamily="18" charset="0"/>
              </a:rPr>
              <a:t>}</a:t>
            </a:r>
            <a:endParaRPr lang="en-US" b="1" dirty="0"/>
          </a:p>
          <a:p>
            <a:pPr marL="0" indent="0" algn="just">
              <a:lnSpc>
                <a:spcPct val="100000"/>
              </a:lnSpc>
              <a:spcBef>
                <a:spcPts val="0"/>
              </a:spcBef>
            </a:pPr>
            <a:endParaRPr lang="en-US" dirty="0"/>
          </a:p>
        </p:txBody>
      </p:sp>
    </p:spTree>
    <p:extLst>
      <p:ext uri="{BB962C8B-B14F-4D97-AF65-F5344CB8AC3E}">
        <p14:creationId xmlns:p14="http://schemas.microsoft.com/office/powerpoint/2010/main" val="33477459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lệnh chuyển điều khiển</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53</a:t>
            </a:fld>
            <a:endParaRPr lang="en-US" dirty="0"/>
          </a:p>
        </p:txBody>
      </p:sp>
      <p:sp>
        <p:nvSpPr>
          <p:cNvPr id="6" name="Content Placeholder 5"/>
          <p:cNvSpPr>
            <a:spLocks noGrp="1"/>
          </p:cNvSpPr>
          <p:nvPr>
            <p:ph idx="1"/>
          </p:nvPr>
        </p:nvSpPr>
        <p:spPr>
          <a:xfrm>
            <a:off x="394474" y="1393902"/>
            <a:ext cx="8120876" cy="4930703"/>
          </a:xfrm>
        </p:spPr>
        <p:txBody>
          <a:bodyPr>
            <a:noAutofit/>
          </a:bodyPr>
          <a:lstStyle/>
          <a:p>
            <a:pPr algn="just">
              <a:lnSpc>
                <a:spcPts val="3200"/>
              </a:lnSpc>
              <a:spcBef>
                <a:spcPts val="300"/>
              </a:spcBef>
              <a:spcAft>
                <a:spcPts val="300"/>
              </a:spcAft>
            </a:pPr>
            <a:r>
              <a:rPr lang="en-US" b="1" dirty="0"/>
              <a:t>Break</a:t>
            </a:r>
            <a:r>
              <a:rPr lang="en-US" b="1" spc="-10" dirty="0"/>
              <a:t>: </a:t>
            </a:r>
            <a:r>
              <a:rPr lang="en-US" spc="-10" dirty="0">
                <a:latin typeface="Arial"/>
                <a:cs typeface="Arial"/>
              </a:rPr>
              <a:t>dùng để ngắt lệnh lặp.</a:t>
            </a:r>
          </a:p>
          <a:p>
            <a:pPr algn="just">
              <a:lnSpc>
                <a:spcPts val="3200"/>
              </a:lnSpc>
              <a:spcBef>
                <a:spcPts val="300"/>
              </a:spcBef>
              <a:spcAft>
                <a:spcPts val="300"/>
              </a:spcAft>
            </a:pPr>
            <a:r>
              <a:rPr lang="en-US" b="1" spc="-10" dirty="0"/>
              <a:t>Continue: </a:t>
            </a:r>
            <a:r>
              <a:rPr lang="en-US" spc="55" dirty="0">
                <a:latin typeface="Arial"/>
                <a:cs typeface="Arial"/>
              </a:rPr>
              <a:t>dùng </a:t>
            </a:r>
            <a:r>
              <a:rPr lang="en-US" spc="-10" dirty="0">
                <a:latin typeface="Arial"/>
                <a:cs typeface="Arial"/>
              </a:rPr>
              <a:t>để </a:t>
            </a:r>
            <a:r>
              <a:rPr lang="en-US" spc="-40" dirty="0">
                <a:latin typeface="Arial"/>
                <a:cs typeface="Arial"/>
              </a:rPr>
              <a:t>thực </a:t>
            </a:r>
            <a:r>
              <a:rPr lang="en-US" dirty="0">
                <a:latin typeface="Arial"/>
                <a:cs typeface="Arial"/>
              </a:rPr>
              <a:t>hiện </a:t>
            </a:r>
            <a:r>
              <a:rPr lang="en-US" spc="-20" dirty="0">
                <a:latin typeface="Arial"/>
                <a:cs typeface="Arial"/>
              </a:rPr>
              <a:t>lần </a:t>
            </a:r>
            <a:r>
              <a:rPr lang="en-US" dirty="0">
                <a:latin typeface="Arial"/>
                <a:cs typeface="Arial"/>
              </a:rPr>
              <a:t>lặp </a:t>
            </a:r>
            <a:r>
              <a:rPr lang="en-US" spc="50" dirty="0">
                <a:latin typeface="Arial"/>
                <a:cs typeface="Arial"/>
              </a:rPr>
              <a:t>tiếp</a:t>
            </a:r>
            <a:r>
              <a:rPr lang="en-US" spc="-50" dirty="0">
                <a:latin typeface="Arial"/>
                <a:cs typeface="Arial"/>
              </a:rPr>
              <a:t> </a:t>
            </a:r>
            <a:r>
              <a:rPr lang="en-US" spc="45" dirty="0">
                <a:latin typeface="Arial"/>
                <a:cs typeface="Arial"/>
              </a:rPr>
              <a:t>theo  </a:t>
            </a:r>
            <a:r>
              <a:rPr lang="en-US" spc="-20" dirty="0">
                <a:latin typeface="Arial"/>
                <a:cs typeface="Arial"/>
              </a:rPr>
              <a:t>ngay </a:t>
            </a:r>
            <a:r>
              <a:rPr lang="en-US" dirty="0">
                <a:latin typeface="Arial"/>
                <a:cs typeface="Arial"/>
              </a:rPr>
              <a:t>lập</a:t>
            </a:r>
            <a:r>
              <a:rPr lang="en-US" spc="-5" dirty="0">
                <a:latin typeface="Arial"/>
                <a:cs typeface="Arial"/>
              </a:rPr>
              <a:t> </a:t>
            </a:r>
            <a:r>
              <a:rPr lang="en-US" spc="-60" dirty="0">
                <a:latin typeface="Arial"/>
                <a:cs typeface="Arial"/>
              </a:rPr>
              <a:t>tức.</a:t>
            </a:r>
            <a:endParaRPr lang="en-US" dirty="0">
              <a:latin typeface="Arial"/>
              <a:cs typeface="Arial"/>
            </a:endParaRPr>
          </a:p>
          <a:p>
            <a:pPr algn="just">
              <a:lnSpc>
                <a:spcPts val="3200"/>
              </a:lnSpc>
              <a:spcBef>
                <a:spcPts val="300"/>
              </a:spcBef>
              <a:spcAft>
                <a:spcPts val="300"/>
              </a:spcAft>
            </a:pPr>
            <a:endParaRPr lang="en-US" b="1" spc="-10" dirty="0"/>
          </a:p>
          <a:p>
            <a:pPr marL="457200" lvl="1" indent="0" algn="just">
              <a:lnSpc>
                <a:spcPts val="3400"/>
              </a:lnSpc>
              <a:spcBef>
                <a:spcPts val="600"/>
              </a:spcBef>
              <a:spcAft>
                <a:spcPts val="600"/>
              </a:spcAft>
              <a:buNone/>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
        <p:nvSpPr>
          <p:cNvPr id="24" name="object 13"/>
          <p:cNvSpPr/>
          <p:nvPr/>
        </p:nvSpPr>
        <p:spPr>
          <a:xfrm>
            <a:off x="1277946" y="3514791"/>
            <a:ext cx="2102359" cy="2448594"/>
          </a:xfrm>
          <a:prstGeom prst="rect">
            <a:avLst/>
          </a:prstGeom>
          <a:blipFill>
            <a:blip r:embed="rId3" cstate="print"/>
            <a:stretch>
              <a:fillRect/>
            </a:stretch>
          </a:blipFill>
        </p:spPr>
        <p:txBody>
          <a:bodyPr wrap="square" lIns="0" tIns="0" rIns="0" bIns="0" rtlCol="0"/>
          <a:lstStyle/>
          <a:p>
            <a:endParaRPr/>
          </a:p>
        </p:txBody>
      </p:sp>
      <p:sp>
        <p:nvSpPr>
          <p:cNvPr id="25" name="object 14"/>
          <p:cNvSpPr/>
          <p:nvPr/>
        </p:nvSpPr>
        <p:spPr>
          <a:xfrm>
            <a:off x="5551145" y="3527082"/>
            <a:ext cx="2282450" cy="2296987"/>
          </a:xfrm>
          <a:prstGeom prst="rect">
            <a:avLst/>
          </a:prstGeom>
          <a:blipFill>
            <a:blip r:embed="rId4" cstate="print"/>
            <a:stretch>
              <a:fillRect/>
            </a:stretch>
          </a:blipFill>
        </p:spPr>
        <p:txBody>
          <a:bodyPr wrap="square" lIns="0" tIns="0" rIns="0" bIns="0" rtlCol="0"/>
          <a:lstStyle/>
          <a:p>
            <a:endParaRPr/>
          </a:p>
        </p:txBody>
      </p:sp>
      <p:sp>
        <p:nvSpPr>
          <p:cNvPr id="26" name="object 15"/>
          <p:cNvSpPr/>
          <p:nvPr/>
        </p:nvSpPr>
        <p:spPr>
          <a:xfrm>
            <a:off x="736207" y="2927990"/>
            <a:ext cx="3581400" cy="3761740"/>
          </a:xfrm>
          <a:custGeom>
            <a:avLst/>
            <a:gdLst/>
            <a:ahLst/>
            <a:cxnLst/>
            <a:rect l="l" t="t" r="r" b="b"/>
            <a:pathLst>
              <a:path w="3581400" h="3761740">
                <a:moveTo>
                  <a:pt x="0" y="0"/>
                </a:moveTo>
                <a:lnTo>
                  <a:pt x="3581400" y="0"/>
                </a:lnTo>
                <a:lnTo>
                  <a:pt x="3581400" y="3055404"/>
                </a:lnTo>
                <a:lnTo>
                  <a:pt x="3526019" y="3055779"/>
                </a:lnTo>
                <a:lnTo>
                  <a:pt x="3471780" y="3056892"/>
                </a:lnTo>
                <a:lnTo>
                  <a:pt x="3418658" y="3058723"/>
                </a:lnTo>
                <a:lnTo>
                  <a:pt x="3366629" y="3061251"/>
                </a:lnTo>
                <a:lnTo>
                  <a:pt x="3315669" y="3064455"/>
                </a:lnTo>
                <a:lnTo>
                  <a:pt x="3265754" y="3068316"/>
                </a:lnTo>
                <a:lnTo>
                  <a:pt x="3216858" y="3072814"/>
                </a:lnTo>
                <a:lnTo>
                  <a:pt x="3168958" y="3077927"/>
                </a:lnTo>
                <a:lnTo>
                  <a:pt x="3122030" y="3083636"/>
                </a:lnTo>
                <a:lnTo>
                  <a:pt x="3076049" y="3089920"/>
                </a:lnTo>
                <a:lnTo>
                  <a:pt x="3030991" y="3096760"/>
                </a:lnTo>
                <a:lnTo>
                  <a:pt x="2986831" y="3104135"/>
                </a:lnTo>
                <a:lnTo>
                  <a:pt x="2943546" y="3112024"/>
                </a:lnTo>
                <a:lnTo>
                  <a:pt x="2901111" y="3120407"/>
                </a:lnTo>
                <a:lnTo>
                  <a:pt x="2859502" y="3129265"/>
                </a:lnTo>
                <a:lnTo>
                  <a:pt x="2818694" y="3138576"/>
                </a:lnTo>
                <a:lnTo>
                  <a:pt x="2778663" y="3148321"/>
                </a:lnTo>
                <a:lnTo>
                  <a:pt x="2739386" y="3158479"/>
                </a:lnTo>
                <a:lnTo>
                  <a:pt x="2700837" y="3169030"/>
                </a:lnTo>
                <a:lnTo>
                  <a:pt x="2662992" y="3179954"/>
                </a:lnTo>
                <a:lnTo>
                  <a:pt x="2625828" y="3191230"/>
                </a:lnTo>
                <a:lnTo>
                  <a:pt x="2589319" y="3202838"/>
                </a:lnTo>
                <a:lnTo>
                  <a:pt x="2518171" y="3226970"/>
                </a:lnTo>
                <a:lnTo>
                  <a:pt x="2449356" y="3252187"/>
                </a:lnTo>
                <a:lnTo>
                  <a:pt x="2382677" y="3278327"/>
                </a:lnTo>
                <a:lnTo>
                  <a:pt x="2317942" y="3305228"/>
                </a:lnTo>
                <a:lnTo>
                  <a:pt x="2254955" y="3332727"/>
                </a:lnTo>
                <a:lnTo>
                  <a:pt x="2193523" y="3360663"/>
                </a:lnTo>
                <a:lnTo>
                  <a:pt x="2133451" y="3388873"/>
                </a:lnTo>
                <a:lnTo>
                  <a:pt x="2074544" y="3417195"/>
                </a:lnTo>
                <a:lnTo>
                  <a:pt x="2016610" y="3445467"/>
                </a:lnTo>
                <a:lnTo>
                  <a:pt x="1959452" y="3473526"/>
                </a:lnTo>
                <a:lnTo>
                  <a:pt x="1931104" y="3487425"/>
                </a:lnTo>
                <a:lnTo>
                  <a:pt x="1874748" y="3514862"/>
                </a:lnTo>
                <a:lnTo>
                  <a:pt x="1818683" y="3541680"/>
                </a:lnTo>
                <a:lnTo>
                  <a:pt x="1762716" y="3567719"/>
                </a:lnTo>
                <a:lnTo>
                  <a:pt x="1706651" y="3592815"/>
                </a:lnTo>
                <a:lnTo>
                  <a:pt x="1650295" y="3616806"/>
                </a:lnTo>
                <a:lnTo>
                  <a:pt x="1593453" y="3639531"/>
                </a:lnTo>
                <a:lnTo>
                  <a:pt x="1535931" y="3660826"/>
                </a:lnTo>
                <a:lnTo>
                  <a:pt x="1477535" y="3680531"/>
                </a:lnTo>
                <a:lnTo>
                  <a:pt x="1418070" y="3698482"/>
                </a:lnTo>
                <a:lnTo>
                  <a:pt x="1357342" y="3714517"/>
                </a:lnTo>
                <a:lnTo>
                  <a:pt x="1295157" y="3728475"/>
                </a:lnTo>
                <a:lnTo>
                  <a:pt x="1231320" y="3740193"/>
                </a:lnTo>
                <a:lnTo>
                  <a:pt x="1165638" y="3749508"/>
                </a:lnTo>
                <a:lnTo>
                  <a:pt x="1097915" y="3756259"/>
                </a:lnTo>
                <a:lnTo>
                  <a:pt x="1027958" y="3760283"/>
                </a:lnTo>
                <a:lnTo>
                  <a:pt x="955571" y="3761418"/>
                </a:lnTo>
                <a:lnTo>
                  <a:pt x="918407" y="3760852"/>
                </a:lnTo>
                <a:lnTo>
                  <a:pt x="842013" y="3757350"/>
                </a:lnTo>
                <a:lnTo>
                  <a:pt x="802736" y="3754374"/>
                </a:lnTo>
                <a:lnTo>
                  <a:pt x="762705" y="3750554"/>
                </a:lnTo>
                <a:lnTo>
                  <a:pt x="721897" y="3745869"/>
                </a:lnTo>
                <a:lnTo>
                  <a:pt x="680288" y="3740301"/>
                </a:lnTo>
                <a:lnTo>
                  <a:pt x="637853" y="3733827"/>
                </a:lnTo>
                <a:lnTo>
                  <a:pt x="594568" y="3726429"/>
                </a:lnTo>
                <a:lnTo>
                  <a:pt x="550408" y="3718085"/>
                </a:lnTo>
                <a:lnTo>
                  <a:pt x="505350" y="3708776"/>
                </a:lnTo>
                <a:lnTo>
                  <a:pt x="459369" y="3698481"/>
                </a:lnTo>
                <a:lnTo>
                  <a:pt x="412441" y="3687180"/>
                </a:lnTo>
                <a:lnTo>
                  <a:pt x="364541" y="3674853"/>
                </a:lnTo>
                <a:lnTo>
                  <a:pt x="315645" y="3661479"/>
                </a:lnTo>
                <a:lnTo>
                  <a:pt x="265730" y="3647038"/>
                </a:lnTo>
                <a:lnTo>
                  <a:pt x="214770" y="3631510"/>
                </a:lnTo>
                <a:lnTo>
                  <a:pt x="162741" y="3614874"/>
                </a:lnTo>
                <a:lnTo>
                  <a:pt x="109619" y="3597111"/>
                </a:lnTo>
                <a:lnTo>
                  <a:pt x="55380" y="3578200"/>
                </a:lnTo>
                <a:lnTo>
                  <a:pt x="0" y="3558120"/>
                </a:lnTo>
                <a:lnTo>
                  <a:pt x="0" y="0"/>
                </a:lnTo>
                <a:close/>
              </a:path>
            </a:pathLst>
          </a:custGeom>
          <a:ln w="25400">
            <a:solidFill>
              <a:srgbClr val="9BBB59"/>
            </a:solidFill>
          </a:ln>
        </p:spPr>
        <p:txBody>
          <a:bodyPr wrap="square" lIns="0" tIns="0" rIns="0" bIns="0" rtlCol="0"/>
          <a:lstStyle/>
          <a:p>
            <a:endParaRPr/>
          </a:p>
        </p:txBody>
      </p:sp>
      <p:sp>
        <p:nvSpPr>
          <p:cNvPr id="27" name="object 16"/>
          <p:cNvSpPr/>
          <p:nvPr/>
        </p:nvSpPr>
        <p:spPr>
          <a:xfrm>
            <a:off x="4850780" y="2927990"/>
            <a:ext cx="3581400" cy="3761740"/>
          </a:xfrm>
          <a:custGeom>
            <a:avLst/>
            <a:gdLst/>
            <a:ahLst/>
            <a:cxnLst/>
            <a:rect l="l" t="t" r="r" b="b"/>
            <a:pathLst>
              <a:path w="3581400" h="3761740">
                <a:moveTo>
                  <a:pt x="0" y="0"/>
                </a:moveTo>
                <a:lnTo>
                  <a:pt x="3581400" y="0"/>
                </a:lnTo>
                <a:lnTo>
                  <a:pt x="3581400" y="3055404"/>
                </a:lnTo>
                <a:lnTo>
                  <a:pt x="3526019" y="3055779"/>
                </a:lnTo>
                <a:lnTo>
                  <a:pt x="3471780" y="3056892"/>
                </a:lnTo>
                <a:lnTo>
                  <a:pt x="3418658" y="3058723"/>
                </a:lnTo>
                <a:lnTo>
                  <a:pt x="3366629" y="3061251"/>
                </a:lnTo>
                <a:lnTo>
                  <a:pt x="3315669" y="3064455"/>
                </a:lnTo>
                <a:lnTo>
                  <a:pt x="3265754" y="3068316"/>
                </a:lnTo>
                <a:lnTo>
                  <a:pt x="3216858" y="3072814"/>
                </a:lnTo>
                <a:lnTo>
                  <a:pt x="3168958" y="3077927"/>
                </a:lnTo>
                <a:lnTo>
                  <a:pt x="3122030" y="3083636"/>
                </a:lnTo>
                <a:lnTo>
                  <a:pt x="3076049" y="3089920"/>
                </a:lnTo>
                <a:lnTo>
                  <a:pt x="3030991" y="3096760"/>
                </a:lnTo>
                <a:lnTo>
                  <a:pt x="2986831" y="3104135"/>
                </a:lnTo>
                <a:lnTo>
                  <a:pt x="2943546" y="3112024"/>
                </a:lnTo>
                <a:lnTo>
                  <a:pt x="2901111" y="3120407"/>
                </a:lnTo>
                <a:lnTo>
                  <a:pt x="2859502" y="3129265"/>
                </a:lnTo>
                <a:lnTo>
                  <a:pt x="2818694" y="3138576"/>
                </a:lnTo>
                <a:lnTo>
                  <a:pt x="2778663" y="3148321"/>
                </a:lnTo>
                <a:lnTo>
                  <a:pt x="2739386" y="3158479"/>
                </a:lnTo>
                <a:lnTo>
                  <a:pt x="2700837" y="3169030"/>
                </a:lnTo>
                <a:lnTo>
                  <a:pt x="2662992" y="3179954"/>
                </a:lnTo>
                <a:lnTo>
                  <a:pt x="2625828" y="3191230"/>
                </a:lnTo>
                <a:lnTo>
                  <a:pt x="2589319" y="3202838"/>
                </a:lnTo>
                <a:lnTo>
                  <a:pt x="2518171" y="3226970"/>
                </a:lnTo>
                <a:lnTo>
                  <a:pt x="2449356" y="3252187"/>
                </a:lnTo>
                <a:lnTo>
                  <a:pt x="2382677" y="3278327"/>
                </a:lnTo>
                <a:lnTo>
                  <a:pt x="2317942" y="3305228"/>
                </a:lnTo>
                <a:lnTo>
                  <a:pt x="2254955" y="3332727"/>
                </a:lnTo>
                <a:lnTo>
                  <a:pt x="2193523" y="3360663"/>
                </a:lnTo>
                <a:lnTo>
                  <a:pt x="2133451" y="3388873"/>
                </a:lnTo>
                <a:lnTo>
                  <a:pt x="2074544" y="3417195"/>
                </a:lnTo>
                <a:lnTo>
                  <a:pt x="2016610" y="3445467"/>
                </a:lnTo>
                <a:lnTo>
                  <a:pt x="1959452" y="3473526"/>
                </a:lnTo>
                <a:lnTo>
                  <a:pt x="1931104" y="3487425"/>
                </a:lnTo>
                <a:lnTo>
                  <a:pt x="1874748" y="3514862"/>
                </a:lnTo>
                <a:lnTo>
                  <a:pt x="1818683" y="3541680"/>
                </a:lnTo>
                <a:lnTo>
                  <a:pt x="1762716" y="3567719"/>
                </a:lnTo>
                <a:lnTo>
                  <a:pt x="1706651" y="3592815"/>
                </a:lnTo>
                <a:lnTo>
                  <a:pt x="1650295" y="3616806"/>
                </a:lnTo>
                <a:lnTo>
                  <a:pt x="1593453" y="3639531"/>
                </a:lnTo>
                <a:lnTo>
                  <a:pt x="1535931" y="3660826"/>
                </a:lnTo>
                <a:lnTo>
                  <a:pt x="1477535" y="3680531"/>
                </a:lnTo>
                <a:lnTo>
                  <a:pt x="1418070" y="3698482"/>
                </a:lnTo>
                <a:lnTo>
                  <a:pt x="1357342" y="3714517"/>
                </a:lnTo>
                <a:lnTo>
                  <a:pt x="1295157" y="3728475"/>
                </a:lnTo>
                <a:lnTo>
                  <a:pt x="1231320" y="3740193"/>
                </a:lnTo>
                <a:lnTo>
                  <a:pt x="1165638" y="3749508"/>
                </a:lnTo>
                <a:lnTo>
                  <a:pt x="1097915" y="3756259"/>
                </a:lnTo>
                <a:lnTo>
                  <a:pt x="1027958" y="3760283"/>
                </a:lnTo>
                <a:lnTo>
                  <a:pt x="955571" y="3761418"/>
                </a:lnTo>
                <a:lnTo>
                  <a:pt x="918407" y="3760852"/>
                </a:lnTo>
                <a:lnTo>
                  <a:pt x="842013" y="3757350"/>
                </a:lnTo>
                <a:lnTo>
                  <a:pt x="802736" y="3754374"/>
                </a:lnTo>
                <a:lnTo>
                  <a:pt x="762705" y="3750554"/>
                </a:lnTo>
                <a:lnTo>
                  <a:pt x="721897" y="3745869"/>
                </a:lnTo>
                <a:lnTo>
                  <a:pt x="680288" y="3740301"/>
                </a:lnTo>
                <a:lnTo>
                  <a:pt x="637853" y="3733827"/>
                </a:lnTo>
                <a:lnTo>
                  <a:pt x="594568" y="3726429"/>
                </a:lnTo>
                <a:lnTo>
                  <a:pt x="550408" y="3718085"/>
                </a:lnTo>
                <a:lnTo>
                  <a:pt x="505350" y="3708776"/>
                </a:lnTo>
                <a:lnTo>
                  <a:pt x="459369" y="3698481"/>
                </a:lnTo>
                <a:lnTo>
                  <a:pt x="412441" y="3687180"/>
                </a:lnTo>
                <a:lnTo>
                  <a:pt x="364541" y="3674853"/>
                </a:lnTo>
                <a:lnTo>
                  <a:pt x="315645" y="3661479"/>
                </a:lnTo>
                <a:lnTo>
                  <a:pt x="265730" y="3647038"/>
                </a:lnTo>
                <a:lnTo>
                  <a:pt x="214770" y="3631510"/>
                </a:lnTo>
                <a:lnTo>
                  <a:pt x="162741" y="3614874"/>
                </a:lnTo>
                <a:lnTo>
                  <a:pt x="109619" y="3597111"/>
                </a:lnTo>
                <a:lnTo>
                  <a:pt x="55380" y="3578200"/>
                </a:lnTo>
                <a:lnTo>
                  <a:pt x="0" y="3558120"/>
                </a:lnTo>
                <a:lnTo>
                  <a:pt x="0" y="0"/>
                </a:lnTo>
                <a:close/>
              </a:path>
            </a:pathLst>
          </a:custGeom>
          <a:ln w="25400">
            <a:solidFill>
              <a:srgbClr val="9BBB59"/>
            </a:solidFill>
          </a:ln>
        </p:spPr>
        <p:txBody>
          <a:bodyPr wrap="square" lIns="0" tIns="0" rIns="0" bIns="0" rtlCol="0"/>
          <a:lstStyle/>
          <a:p>
            <a:endParaRPr/>
          </a:p>
        </p:txBody>
      </p:sp>
    </p:spTree>
    <p:extLst>
      <p:ext uri="{BB962C8B-B14F-4D97-AF65-F5344CB8AC3E}">
        <p14:creationId xmlns:p14="http://schemas.microsoft.com/office/powerpoint/2010/main" val="40380851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lệnh chuyển điều khiển</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54</a:t>
            </a:fld>
            <a:endParaRPr lang="en-US" dirty="0"/>
          </a:p>
        </p:txBody>
      </p:sp>
      <p:sp>
        <p:nvSpPr>
          <p:cNvPr id="6" name="Content Placeholder 5"/>
          <p:cNvSpPr>
            <a:spLocks noGrp="1"/>
          </p:cNvSpPr>
          <p:nvPr>
            <p:ph idx="1"/>
          </p:nvPr>
        </p:nvSpPr>
        <p:spPr>
          <a:xfrm>
            <a:off x="394474" y="1393902"/>
            <a:ext cx="8120876" cy="4930703"/>
          </a:xfrm>
        </p:spPr>
        <p:txBody>
          <a:bodyPr>
            <a:noAutofit/>
          </a:bodyPr>
          <a:lstStyle/>
          <a:p>
            <a:pPr algn="just">
              <a:lnSpc>
                <a:spcPts val="3200"/>
              </a:lnSpc>
              <a:spcBef>
                <a:spcPts val="300"/>
              </a:spcBef>
              <a:spcAft>
                <a:spcPts val="300"/>
              </a:spcAft>
            </a:pPr>
            <a:r>
              <a:rPr lang="en-US" b="1" i="1" dirty="0"/>
              <a:t>Ví dụ: </a:t>
            </a:r>
            <a:r>
              <a:rPr lang="en-US" spc="-10" dirty="0"/>
              <a:t>Chương trình nhập điểm hợp lệ từ 0 đến 10.</a:t>
            </a:r>
          </a:p>
          <a:p>
            <a:pPr marL="241300" indent="0">
              <a:lnSpc>
                <a:spcPct val="100000"/>
              </a:lnSpc>
              <a:spcBef>
                <a:spcPts val="0"/>
              </a:spcBef>
              <a:buNone/>
            </a:pPr>
            <a:r>
              <a:rPr lang="en-US" sz="2600" spc="65" dirty="0">
                <a:latin typeface="Courier New" panose="02070309020205020404" pitchFamily="49" charset="0"/>
                <a:cs typeface="Courier New" panose="02070309020205020404" pitchFamily="49" charset="0"/>
              </a:rPr>
              <a:t>int </a:t>
            </a:r>
            <a:r>
              <a:rPr lang="en-US" sz="2600" spc="25" dirty="0">
                <a:latin typeface="Courier New" panose="02070309020205020404" pitchFamily="49" charset="0"/>
                <a:cs typeface="Courier New" panose="02070309020205020404" pitchFamily="49" charset="0"/>
              </a:rPr>
              <a:t>diem </a:t>
            </a:r>
            <a:r>
              <a:rPr lang="en-US" sz="2600" spc="240" dirty="0">
                <a:latin typeface="Courier New" panose="02070309020205020404" pitchFamily="49" charset="0"/>
                <a:cs typeface="Courier New" panose="02070309020205020404" pitchFamily="49" charset="0"/>
              </a:rPr>
              <a:t>=</a:t>
            </a:r>
            <a:r>
              <a:rPr lang="en-US" sz="2600" spc="-110" dirty="0">
                <a:latin typeface="Courier New" panose="02070309020205020404" pitchFamily="49" charset="0"/>
                <a:cs typeface="Courier New" panose="02070309020205020404" pitchFamily="49" charset="0"/>
              </a:rPr>
              <a:t> </a:t>
            </a:r>
            <a:r>
              <a:rPr lang="en-US" sz="2600" spc="-95" dirty="0">
                <a:latin typeface="Courier New" panose="02070309020205020404" pitchFamily="49" charset="0"/>
                <a:cs typeface="Courier New" panose="02070309020205020404" pitchFamily="49" charset="0"/>
              </a:rPr>
              <a:t>0;</a:t>
            </a:r>
            <a:endParaRPr lang="en-US" sz="2600" dirty="0">
              <a:latin typeface="Courier New" panose="02070309020205020404" pitchFamily="49" charset="0"/>
              <a:cs typeface="Courier New" panose="02070309020205020404" pitchFamily="49" charset="0"/>
            </a:endParaRPr>
          </a:p>
          <a:p>
            <a:pPr marL="241300" indent="0">
              <a:lnSpc>
                <a:spcPct val="100000"/>
              </a:lnSpc>
              <a:spcBef>
                <a:spcPts val="0"/>
              </a:spcBef>
              <a:buNone/>
            </a:pPr>
            <a:r>
              <a:rPr lang="en-US" sz="2600" spc="-10" dirty="0">
                <a:latin typeface="Courier New" panose="02070309020205020404" pitchFamily="49" charset="0"/>
                <a:cs typeface="Courier New" panose="02070309020205020404" pitchFamily="49" charset="0"/>
              </a:rPr>
              <a:t>while(true){</a:t>
            </a:r>
            <a:endParaRPr lang="en-US" sz="2600" dirty="0">
              <a:latin typeface="Courier New" panose="02070309020205020404" pitchFamily="49" charset="0"/>
              <a:cs typeface="Courier New" panose="02070309020205020404" pitchFamily="49" charset="0"/>
            </a:endParaRPr>
          </a:p>
          <a:p>
            <a:pPr marL="698500" marR="1566545" indent="0">
              <a:lnSpc>
                <a:spcPct val="100000"/>
              </a:lnSpc>
              <a:spcBef>
                <a:spcPts val="0"/>
              </a:spcBef>
              <a:buNone/>
            </a:pPr>
            <a:r>
              <a:rPr lang="en-US" sz="2600" spc="20" dirty="0">
                <a:latin typeface="Courier New" panose="02070309020205020404" pitchFamily="49" charset="0"/>
                <a:cs typeface="Courier New" panose="02070309020205020404" pitchFamily="49" charset="0"/>
              </a:rPr>
              <a:t>diem </a:t>
            </a:r>
            <a:r>
              <a:rPr lang="en-US" sz="2600" spc="200" dirty="0">
                <a:latin typeface="Courier New" panose="02070309020205020404" pitchFamily="49" charset="0"/>
                <a:cs typeface="Courier New" panose="02070309020205020404" pitchFamily="49" charset="0"/>
              </a:rPr>
              <a:t>= </a:t>
            </a:r>
            <a:r>
              <a:rPr lang="en-US" sz="2600" spc="-45" dirty="0">
                <a:latin typeface="Courier New" panose="02070309020205020404" pitchFamily="49" charset="0"/>
                <a:cs typeface="Courier New" panose="02070309020205020404" pitchFamily="49" charset="0"/>
              </a:rPr>
              <a:t>scanner.nextInt();  </a:t>
            </a:r>
            <a:r>
              <a:rPr lang="en-US" sz="2600" spc="15" dirty="0">
                <a:latin typeface="Courier New" panose="02070309020205020404" pitchFamily="49" charset="0"/>
                <a:cs typeface="Courier New" panose="02070309020205020404" pitchFamily="49" charset="0"/>
              </a:rPr>
              <a:t>if(diem </a:t>
            </a:r>
            <a:r>
              <a:rPr lang="en-US" sz="2600" spc="200" dirty="0">
                <a:latin typeface="Courier New" panose="02070309020205020404" pitchFamily="49" charset="0"/>
                <a:cs typeface="Courier New" panose="02070309020205020404" pitchFamily="49" charset="0"/>
              </a:rPr>
              <a:t>&gt;= </a:t>
            </a:r>
            <a:r>
              <a:rPr lang="en-US" sz="2600" spc="-35" dirty="0">
                <a:latin typeface="Courier New" panose="02070309020205020404" pitchFamily="49" charset="0"/>
                <a:cs typeface="Courier New" panose="02070309020205020404" pitchFamily="49" charset="0"/>
              </a:rPr>
              <a:t>0 </a:t>
            </a:r>
            <a:r>
              <a:rPr lang="en-US" sz="2600" spc="265" dirty="0">
                <a:latin typeface="Courier New" panose="02070309020205020404" pitchFamily="49" charset="0"/>
                <a:cs typeface="Courier New" panose="02070309020205020404" pitchFamily="49" charset="0"/>
              </a:rPr>
              <a:t>&amp;&amp;</a:t>
            </a:r>
            <a:r>
              <a:rPr lang="en-US" sz="2600" spc="-315" dirty="0">
                <a:latin typeface="Courier New" panose="02070309020205020404" pitchFamily="49" charset="0"/>
                <a:cs typeface="Courier New" panose="02070309020205020404" pitchFamily="49" charset="0"/>
              </a:rPr>
              <a:t> </a:t>
            </a:r>
            <a:r>
              <a:rPr lang="en-US" sz="2600" spc="20" dirty="0">
                <a:latin typeface="Courier New" panose="02070309020205020404" pitchFamily="49" charset="0"/>
                <a:cs typeface="Courier New" panose="02070309020205020404" pitchFamily="49" charset="0"/>
              </a:rPr>
              <a:t>diem </a:t>
            </a:r>
            <a:r>
              <a:rPr lang="en-US" sz="2600" spc="30" dirty="0">
                <a:latin typeface="Courier New" panose="02070309020205020404" pitchFamily="49" charset="0"/>
                <a:cs typeface="Courier New" panose="02070309020205020404" pitchFamily="49" charset="0"/>
              </a:rPr>
              <a:t>&lt;=10){</a:t>
            </a:r>
            <a:endParaRPr lang="en-US" sz="2600" dirty="0">
              <a:latin typeface="Courier New" panose="02070309020205020404" pitchFamily="49" charset="0"/>
              <a:cs typeface="Courier New" panose="02070309020205020404" pitchFamily="49" charset="0"/>
            </a:endParaRPr>
          </a:p>
          <a:p>
            <a:pPr marL="1155700" indent="0">
              <a:lnSpc>
                <a:spcPct val="100000"/>
              </a:lnSpc>
              <a:spcBef>
                <a:spcPts val="0"/>
              </a:spcBef>
              <a:buNone/>
            </a:pPr>
            <a:r>
              <a:rPr lang="en-US" sz="2600" spc="-30" dirty="0">
                <a:latin typeface="Courier New" panose="02070309020205020404" pitchFamily="49" charset="0"/>
                <a:cs typeface="Courier New" panose="02070309020205020404" pitchFamily="49" charset="0"/>
              </a:rPr>
              <a:t>break;</a:t>
            </a:r>
            <a:endParaRPr lang="en-US" sz="2600" dirty="0">
              <a:latin typeface="Courier New" panose="02070309020205020404" pitchFamily="49" charset="0"/>
              <a:cs typeface="Courier New" panose="02070309020205020404" pitchFamily="49" charset="0"/>
            </a:endParaRPr>
          </a:p>
          <a:p>
            <a:pPr marL="698500" indent="0">
              <a:lnSpc>
                <a:spcPct val="100000"/>
              </a:lnSpc>
              <a:spcBef>
                <a:spcPts val="0"/>
              </a:spcBef>
              <a:buNone/>
            </a:pPr>
            <a:r>
              <a:rPr lang="en-US" sz="2600" spc="-65" dirty="0">
                <a:latin typeface="Courier New" panose="02070309020205020404" pitchFamily="49" charset="0"/>
                <a:cs typeface="Courier New" panose="02070309020205020404" pitchFamily="49" charset="0"/>
              </a:rPr>
              <a:t>}</a:t>
            </a:r>
            <a:endParaRPr lang="en-US" sz="2600" dirty="0">
              <a:latin typeface="Courier New" panose="02070309020205020404" pitchFamily="49" charset="0"/>
              <a:cs typeface="Courier New" panose="02070309020205020404" pitchFamily="49" charset="0"/>
            </a:endParaRPr>
          </a:p>
          <a:p>
            <a:pPr marL="698500" indent="0">
              <a:lnSpc>
                <a:spcPct val="100000"/>
              </a:lnSpc>
              <a:spcBef>
                <a:spcPts val="0"/>
              </a:spcBef>
              <a:buNone/>
            </a:pPr>
            <a:r>
              <a:rPr lang="en-US" sz="2600" spc="-5" dirty="0">
                <a:latin typeface="Courier New" panose="02070309020205020404" pitchFamily="49" charset="0"/>
                <a:cs typeface="Courier New" panose="02070309020205020404" pitchFamily="49" charset="0"/>
              </a:rPr>
              <a:t>System.out.println(“Điểm </a:t>
            </a:r>
            <a:r>
              <a:rPr lang="en-US" sz="2600" spc="5" dirty="0">
                <a:latin typeface="Courier New" panose="02070309020205020404" pitchFamily="49" charset="0"/>
                <a:cs typeface="Courier New" panose="02070309020205020404" pitchFamily="49" charset="0"/>
              </a:rPr>
              <a:t>phải </a:t>
            </a:r>
            <a:r>
              <a:rPr lang="en-US" sz="2600" spc="-20" dirty="0">
                <a:latin typeface="Courier New" panose="02070309020205020404" pitchFamily="49" charset="0"/>
                <a:cs typeface="Courier New" panose="02070309020205020404" pitchFamily="49" charset="0"/>
              </a:rPr>
              <a:t>từ </a:t>
            </a:r>
            <a:r>
              <a:rPr lang="en-US" sz="2600" spc="-35" dirty="0">
                <a:latin typeface="Courier New" panose="02070309020205020404" pitchFamily="49" charset="0"/>
                <a:cs typeface="Courier New" panose="02070309020205020404" pitchFamily="49" charset="0"/>
              </a:rPr>
              <a:t>0 </a:t>
            </a:r>
            <a:r>
              <a:rPr lang="en-US" sz="2600" spc="5" dirty="0">
                <a:latin typeface="Courier New" panose="02070309020205020404" pitchFamily="49" charset="0"/>
                <a:cs typeface="Courier New" panose="02070309020205020404" pitchFamily="49" charset="0"/>
              </a:rPr>
              <a:t>đến</a:t>
            </a:r>
            <a:r>
              <a:rPr lang="en-US" sz="2600" spc="-75" dirty="0">
                <a:latin typeface="Courier New" panose="02070309020205020404" pitchFamily="49" charset="0"/>
                <a:cs typeface="Courier New" panose="02070309020205020404" pitchFamily="49" charset="0"/>
              </a:rPr>
              <a:t> </a:t>
            </a:r>
            <a:r>
              <a:rPr lang="en-US" sz="2600" spc="-40" dirty="0">
                <a:latin typeface="Courier New" panose="02070309020205020404" pitchFamily="49" charset="0"/>
                <a:cs typeface="Courier New" panose="02070309020205020404" pitchFamily="49" charset="0"/>
              </a:rPr>
              <a:t>10”);</a:t>
            </a:r>
            <a:endParaRPr lang="en-US" sz="2600" dirty="0">
              <a:latin typeface="Courier New" panose="02070309020205020404" pitchFamily="49" charset="0"/>
              <a:cs typeface="Courier New" panose="02070309020205020404" pitchFamily="49" charset="0"/>
            </a:endParaRPr>
          </a:p>
          <a:p>
            <a:pPr marL="241300" indent="0">
              <a:lnSpc>
                <a:spcPct val="100000"/>
              </a:lnSpc>
              <a:spcBef>
                <a:spcPts val="0"/>
              </a:spcBef>
              <a:buNone/>
            </a:pPr>
            <a:r>
              <a:rPr lang="en-US" sz="2600" spc="-80" dirty="0">
                <a:latin typeface="Courier New" panose="02070309020205020404" pitchFamily="49" charset="0"/>
                <a:cs typeface="Courier New" panose="02070309020205020404" pitchFamily="49" charset="0"/>
              </a:rPr>
              <a:t>}</a:t>
            </a:r>
            <a:endParaRPr lang="en-US" sz="2600" dirty="0">
              <a:latin typeface="Courier New" panose="02070309020205020404" pitchFamily="49" charset="0"/>
              <a:cs typeface="Courier New" panose="02070309020205020404" pitchFamily="49" charset="0"/>
            </a:endParaRPr>
          </a:p>
          <a:p>
            <a:pPr marL="457200" lvl="1" indent="0" algn="just">
              <a:lnSpc>
                <a:spcPts val="3400"/>
              </a:lnSpc>
              <a:spcBef>
                <a:spcPts val="600"/>
              </a:spcBef>
              <a:spcAft>
                <a:spcPts val="600"/>
              </a:spcAft>
              <a:buNone/>
            </a:pPr>
            <a:endParaRPr lang="en-US" b="1" spc="-10" dirty="0"/>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763187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55</a:t>
            </a:fld>
            <a:endParaRPr lang="en-US"/>
          </a:p>
        </p:txBody>
      </p:sp>
      <p:sp>
        <p:nvSpPr>
          <p:cNvPr id="3" name="TextBox 2"/>
          <p:cNvSpPr txBox="1"/>
          <p:nvPr/>
        </p:nvSpPr>
        <p:spPr>
          <a:xfrm>
            <a:off x="1819041" y="3702206"/>
            <a:ext cx="4638909" cy="1200329"/>
          </a:xfrm>
          <a:prstGeom prst="rect">
            <a:avLst/>
          </a:prstGeom>
          <a:noFill/>
        </p:spPr>
        <p:txBody>
          <a:bodyPr wrap="square" rtlCol="0">
            <a:spAutoFit/>
          </a:bodyPr>
          <a:lstStyle/>
          <a:p>
            <a:r>
              <a:rPr lang="en-US" sz="2400" dirty="0">
                <a:solidFill>
                  <a:srgbClr val="FFFFFF"/>
                </a:solidFill>
              </a:rPr>
              <a:t>Viết chương trình hiển thị các số chia hết cho 5 trong phạm vi từ 0 đến 20.</a:t>
            </a:r>
          </a:p>
        </p:txBody>
      </p:sp>
    </p:spTree>
    <p:extLst>
      <p:ext uri="{BB962C8B-B14F-4D97-AF65-F5344CB8AC3E}">
        <p14:creationId xmlns:p14="http://schemas.microsoft.com/office/powerpoint/2010/main" val="2687246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lệnh chuyển điều khiển</a:t>
            </a:r>
          </a:p>
        </p:txBody>
      </p:sp>
      <p:sp>
        <p:nvSpPr>
          <p:cNvPr id="4" name="Slide Number Placeholder 3"/>
          <p:cNvSpPr>
            <a:spLocks noGrp="1"/>
          </p:cNvSpPr>
          <p:nvPr>
            <p:ph type="sldNum" sz="quarter" idx="12"/>
          </p:nvPr>
        </p:nvSpPr>
        <p:spPr>
          <a:xfrm>
            <a:off x="6493520" y="6324605"/>
            <a:ext cx="2057400" cy="365125"/>
          </a:xfrm>
        </p:spPr>
        <p:txBody>
          <a:bodyPr/>
          <a:lstStyle/>
          <a:p>
            <a:fld id="{DF4C498B-416A-4F27-9E1B-2DAD6BC6C92F}" type="slidenum">
              <a:rPr lang="en-US" smtClean="0"/>
              <a:t>56</a:t>
            </a:fld>
            <a:endParaRPr lang="en-US" dirty="0"/>
          </a:p>
        </p:txBody>
      </p:sp>
      <p:sp>
        <p:nvSpPr>
          <p:cNvPr id="6" name="Content Placeholder 5"/>
          <p:cNvSpPr>
            <a:spLocks noGrp="1"/>
          </p:cNvSpPr>
          <p:nvPr>
            <p:ph idx="1"/>
          </p:nvPr>
        </p:nvSpPr>
        <p:spPr>
          <a:xfrm>
            <a:off x="394473" y="1393902"/>
            <a:ext cx="8448443" cy="4930703"/>
          </a:xfrm>
        </p:spPr>
        <p:txBody>
          <a:bodyPr>
            <a:noAutofit/>
          </a:bodyPr>
          <a:lstStyle/>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public static void main(String[] args) {</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System.out.println("Các số chia hết cho 5 là: ");</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for (int i = 0; i &lt;= 20; i++) {</a:t>
            </a:r>
          </a:p>
          <a:p>
            <a:pPr marL="0" indent="0">
              <a:lnSpc>
                <a:spcPct val="100000"/>
              </a:lnSpc>
              <a:spcBef>
                <a:spcPts val="0"/>
              </a:spcBef>
              <a:buNone/>
            </a:pPr>
            <a:r>
              <a:rPr lang="en-US" sz="2600" b="1" spc="-280" dirty="0">
                <a:latin typeface="Courier" panose="02020500000000000000" pitchFamily="18" charset="0"/>
                <a:ea typeface="Courier" panose="02020500000000000000" pitchFamily="18" charset="0"/>
                <a:cs typeface="Courier" panose="02020500000000000000" pitchFamily="18" charset="0"/>
              </a:rPr>
              <a:t>//nếu i không chia hết cho 5 thì quay lại vòng lặp for</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if (i % 5 != 0) {</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continue;</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System.out.println(i);</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    }</a:t>
            </a:r>
          </a:p>
          <a:p>
            <a:pPr marL="0" indent="0">
              <a:lnSpc>
                <a:spcPct val="100000"/>
              </a:lnSpc>
              <a:spcBef>
                <a:spcPts val="0"/>
              </a:spcBef>
              <a:buNone/>
            </a:pPr>
            <a:r>
              <a:rPr lang="en-US" sz="2600" b="1" dirty="0">
                <a:latin typeface="Courier" panose="02020500000000000000" pitchFamily="18" charset="0"/>
                <a:ea typeface="Courier" panose="02020500000000000000" pitchFamily="18" charset="0"/>
                <a:cs typeface="Courier" panose="02020500000000000000" pitchFamily="18" charset="0"/>
              </a:rPr>
              <a:t>}</a:t>
            </a:r>
          </a:p>
          <a:p>
            <a:pPr marL="457200" lvl="1" indent="0" algn="just">
              <a:lnSpc>
                <a:spcPct val="100000"/>
              </a:lnSpc>
              <a:spcBef>
                <a:spcPts val="0"/>
              </a:spcBef>
              <a:buNone/>
            </a:pPr>
            <a:endParaRPr lang="en-US" sz="2400" b="1" spc="-10" dirty="0">
              <a:latin typeface="Courier" panose="02020500000000000000" pitchFamily="18" charset="0"/>
              <a:ea typeface="Courier" panose="02020500000000000000" pitchFamily="18" charset="0"/>
              <a:cs typeface="Courier" panose="02020500000000000000" pitchFamily="18" charset="0"/>
            </a:endParaRPr>
          </a:p>
          <a:p>
            <a:pPr lvl="1" algn="just">
              <a:lnSpc>
                <a:spcPts val="3400"/>
              </a:lnSpc>
              <a:spcBef>
                <a:spcPts val="600"/>
              </a:spcBef>
              <a:spcAft>
                <a:spcPts val="600"/>
              </a:spcAft>
            </a:pPr>
            <a:endParaRPr lang="en-US" b="1" spc="-10" dirty="0"/>
          </a:p>
          <a:p>
            <a:pPr marL="0" indent="0" algn="just">
              <a:lnSpc>
                <a:spcPts val="3400"/>
              </a:lnSpc>
              <a:spcBef>
                <a:spcPts val="600"/>
              </a:spcBef>
              <a:spcAft>
                <a:spcPts val="600"/>
              </a:spcAft>
              <a:buNone/>
            </a:pPr>
            <a:endParaRPr lang="en-US" b="1" dirty="0"/>
          </a:p>
          <a:p>
            <a:pPr algn="just">
              <a:lnSpc>
                <a:spcPts val="3400"/>
              </a:lnSpc>
              <a:spcBef>
                <a:spcPts val="600"/>
              </a:spcBef>
              <a:spcAft>
                <a:spcPts val="600"/>
              </a:spcAft>
            </a:pPr>
            <a:endParaRPr lang="en-US" dirty="0"/>
          </a:p>
        </p:txBody>
      </p:sp>
    </p:spTree>
    <p:extLst>
      <p:ext uri="{BB962C8B-B14F-4D97-AF65-F5344CB8AC3E}">
        <p14:creationId xmlns:p14="http://schemas.microsoft.com/office/powerpoint/2010/main" val="10454543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Vào – ra dữ liệu</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500"/>
              </a:lnSpc>
              <a:spcBef>
                <a:spcPts val="300"/>
              </a:spcBef>
              <a:spcAft>
                <a:spcPts val="300"/>
              </a:spcAft>
            </a:pPr>
            <a:r>
              <a:rPr lang="en-US" dirty="0"/>
              <a:t>Nhập và xuất dữ liệu là hai thao tác cơ bản của mọi chương trình phần mềm để tương tác thông tin người dùng và máy tính.</a:t>
            </a:r>
          </a:p>
          <a:p>
            <a:pPr algn="just">
              <a:lnSpc>
                <a:spcPts val="3500"/>
              </a:lnSpc>
              <a:spcBef>
                <a:spcPts val="300"/>
              </a:spcBef>
              <a:spcAft>
                <a:spcPts val="300"/>
              </a:spcAft>
            </a:pPr>
            <a:r>
              <a:rPr lang="en-US" dirty="0"/>
              <a:t>Các thao tác nhập/xuất (vào/ra) dữ liệu thực hiện chủ yếu với bàn phím, màn hình và ổ đĩa lưu trữ. </a:t>
            </a:r>
          </a:p>
          <a:p>
            <a:pPr algn="just">
              <a:lnSpc>
                <a:spcPts val="3500"/>
              </a:lnSpc>
              <a:spcBef>
                <a:spcPts val="300"/>
              </a:spcBef>
              <a:spcAft>
                <a:spcPts val="300"/>
              </a:spcAft>
            </a:pPr>
            <a:r>
              <a:rPr lang="en-US" dirty="0"/>
              <a:t>Java cung cấp cơ chế vào/ra dữ liệu theo dòng (stream) ở hai cấp độ:</a:t>
            </a:r>
          </a:p>
          <a:p>
            <a:pPr lvl="1" algn="just">
              <a:lnSpc>
                <a:spcPts val="3500"/>
              </a:lnSpc>
              <a:spcBef>
                <a:spcPts val="300"/>
              </a:spcBef>
              <a:spcAft>
                <a:spcPts val="300"/>
              </a:spcAft>
            </a:pPr>
            <a:r>
              <a:rPr lang="en-US" dirty="0"/>
              <a:t>Mức thấp: dữ liệu được mã hóa dưới dạng byte và làm việc trực tiếp với các thiết bị.</a:t>
            </a:r>
          </a:p>
          <a:p>
            <a:pPr marL="457200" lvl="1" indent="0" algn="just">
              <a:lnSpc>
                <a:spcPts val="3500"/>
              </a:lnSpc>
              <a:spcBef>
                <a:spcPts val="300"/>
              </a:spcBef>
              <a:spcAft>
                <a:spcPts val="300"/>
              </a:spcAft>
              <a:buNone/>
            </a:pPr>
            <a:endParaRPr lang="en-US" dirty="0"/>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57</a:t>
            </a:fld>
            <a:endParaRPr lang="en-US" dirty="0"/>
          </a:p>
        </p:txBody>
      </p:sp>
    </p:spTree>
    <p:extLst>
      <p:ext uri="{BB962C8B-B14F-4D97-AF65-F5344CB8AC3E}">
        <p14:creationId xmlns:p14="http://schemas.microsoft.com/office/powerpoint/2010/main" val="8288599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Vào – ra dữ liệu</a:t>
            </a:r>
          </a:p>
        </p:txBody>
      </p:sp>
      <p:sp>
        <p:nvSpPr>
          <p:cNvPr id="3" name="Content Placeholder 2"/>
          <p:cNvSpPr>
            <a:spLocks noGrp="1"/>
          </p:cNvSpPr>
          <p:nvPr>
            <p:ph idx="1"/>
          </p:nvPr>
        </p:nvSpPr>
        <p:spPr>
          <a:xfrm>
            <a:off x="628650" y="1396499"/>
            <a:ext cx="7886700" cy="5126964"/>
          </a:xfrm>
        </p:spPr>
        <p:txBody>
          <a:bodyPr>
            <a:noAutofit/>
          </a:bodyPr>
          <a:lstStyle/>
          <a:p>
            <a:pPr lvl="1" algn="just">
              <a:lnSpc>
                <a:spcPts val="3500"/>
              </a:lnSpc>
              <a:spcBef>
                <a:spcPts val="300"/>
              </a:spcBef>
              <a:spcAft>
                <a:spcPts val="300"/>
              </a:spcAft>
            </a:pPr>
            <a:r>
              <a:rPr lang="en-US" dirty="0"/>
              <a:t>Mức cao: dữ liệu được định dạng theo từng kiểu để dễ dàng xử lý trong chương trình.</a:t>
            </a:r>
          </a:p>
          <a:p>
            <a:pPr marL="346075" lvl="1" indent="-346075" algn="just">
              <a:lnSpc>
                <a:spcPts val="3500"/>
              </a:lnSpc>
              <a:spcBef>
                <a:spcPts val="300"/>
              </a:spcBef>
              <a:spcAft>
                <a:spcPts val="300"/>
              </a:spcAft>
              <a:buSzPct val="130000"/>
              <a:buFont typeface="Arial" panose="020B0604020202020204" pitchFamily="34" charset="0"/>
              <a:buChar char="•"/>
            </a:pPr>
            <a:r>
              <a:rPr lang="en-US" sz="2800" dirty="0"/>
              <a:t>Mỗi dòng mức thấp hay mức cao đều có hai loại đối tượng:</a:t>
            </a:r>
          </a:p>
          <a:p>
            <a:pPr marL="800100" lvl="2" indent="-342900" algn="just">
              <a:lnSpc>
                <a:spcPts val="3500"/>
              </a:lnSpc>
              <a:spcBef>
                <a:spcPts val="300"/>
              </a:spcBef>
              <a:spcAft>
                <a:spcPts val="300"/>
              </a:spcAft>
              <a:buSzPct val="120000"/>
              <a:buFont typeface="Wingdings" panose="05000000000000000000" pitchFamily="2" charset="2"/>
              <a:buChar char="§"/>
            </a:pPr>
            <a:r>
              <a:rPr lang="en-US" sz="2600" dirty="0"/>
              <a:t>Dòng nhập dữ liệu (input stream): cung cấp thao tác đọc dữ liệu (read) từ các thiết bị nhập vào chương trình.</a:t>
            </a:r>
          </a:p>
          <a:p>
            <a:pPr marL="800100" lvl="2" indent="-342900" algn="just">
              <a:lnSpc>
                <a:spcPts val="3500"/>
              </a:lnSpc>
              <a:spcBef>
                <a:spcPts val="300"/>
              </a:spcBef>
              <a:spcAft>
                <a:spcPts val="300"/>
              </a:spcAft>
              <a:buSzPct val="120000"/>
              <a:buFont typeface="Wingdings" panose="05000000000000000000" pitchFamily="2" charset="2"/>
              <a:buChar char="§"/>
            </a:pPr>
            <a:r>
              <a:rPr lang="en-US" sz="2600" dirty="0"/>
              <a:t>Dòng xuất dữ liệu (output stream) cung cấp thao tác ghi dữ liệu (write) từ chương trình ra các thiết bị.</a:t>
            </a:r>
          </a:p>
          <a:p>
            <a:pPr marL="457200" lvl="1" indent="0" algn="just">
              <a:lnSpc>
                <a:spcPts val="3500"/>
              </a:lnSpc>
              <a:spcBef>
                <a:spcPts val="300"/>
              </a:spcBef>
              <a:spcAft>
                <a:spcPts val="300"/>
              </a:spcAft>
              <a:buNone/>
            </a:pPr>
            <a:endParaRPr lang="en-US" dirty="0"/>
          </a:p>
          <a:p>
            <a:pPr marL="457200" lvl="1" indent="0" algn="just">
              <a:lnSpc>
                <a:spcPts val="3500"/>
              </a:lnSpc>
              <a:spcBef>
                <a:spcPts val="300"/>
              </a:spcBef>
              <a:spcAft>
                <a:spcPts val="300"/>
              </a:spcAft>
              <a:buNone/>
            </a:pPr>
            <a:endParaRPr lang="en-US" dirty="0"/>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58</a:t>
            </a:fld>
            <a:endParaRPr lang="en-US" dirty="0"/>
          </a:p>
        </p:txBody>
      </p:sp>
    </p:spTree>
    <p:extLst>
      <p:ext uri="{BB962C8B-B14F-4D97-AF65-F5344CB8AC3E}">
        <p14:creationId xmlns:p14="http://schemas.microsoft.com/office/powerpoint/2010/main" val="33416474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Vào – ra dữ liệu</a:t>
            </a:r>
          </a:p>
        </p:txBody>
      </p:sp>
      <p:sp>
        <p:nvSpPr>
          <p:cNvPr id="3" name="Content Placeholder 2"/>
          <p:cNvSpPr>
            <a:spLocks noGrp="1"/>
          </p:cNvSpPr>
          <p:nvPr>
            <p:ph idx="1"/>
          </p:nvPr>
        </p:nvSpPr>
        <p:spPr>
          <a:xfrm>
            <a:off x="628650" y="1396499"/>
            <a:ext cx="7886700" cy="5126964"/>
          </a:xfrm>
        </p:spPr>
        <p:txBody>
          <a:bodyPr>
            <a:noAutofit/>
          </a:bodyPr>
          <a:lstStyle/>
          <a:p>
            <a:pPr algn="just"/>
            <a:r>
              <a:rPr lang="en-US" dirty="0"/>
              <a:t>Lớp ‘java.lang.System’ định nghĩa các dòng nhập và xuất chuẩn, chúng là các lớp chính của các dòng byte mà java cung cấp. </a:t>
            </a:r>
          </a:p>
          <a:p>
            <a:pPr algn="just"/>
            <a:r>
              <a:rPr lang="en-US" dirty="0"/>
              <a:t>Chúng ta cũng đã sử dụng các dòng xuất để xuất dữ liệu và hiển thị kết quả trên màn hình. Dòng vào/ra bao gồm:</a:t>
            </a:r>
          </a:p>
          <a:p>
            <a:pPr lvl="1" algn="just"/>
            <a:r>
              <a:rPr lang="en-US" dirty="0"/>
              <a:t>Lớp System.out: Dòng xuất chuẩn dùng để hiển thị kết quả trên màn hình.</a:t>
            </a:r>
          </a:p>
          <a:p>
            <a:pPr lvl="1" algn="just"/>
            <a:r>
              <a:rPr lang="en-US" dirty="0"/>
              <a:t>Lớp System.in: Dòng nhập chuẩn thường đến từ bàn phím và được dùng để đọc các ký tự dữ liệu.</a:t>
            </a:r>
          </a:p>
          <a:p>
            <a:pPr lvl="1" algn="just"/>
            <a:r>
              <a:rPr lang="en-US" dirty="0"/>
              <a:t>Lớp System.err: Đây là dòng lỗi chuẩn.</a:t>
            </a:r>
          </a:p>
          <a:p>
            <a:pPr lvl="1" algn="just"/>
            <a:endParaRPr lang="en-US" dirty="0"/>
          </a:p>
          <a:p>
            <a:pPr marL="800100" lvl="2" indent="-342900" algn="just">
              <a:lnSpc>
                <a:spcPts val="3500"/>
              </a:lnSpc>
              <a:spcBef>
                <a:spcPts val="300"/>
              </a:spcBef>
              <a:spcAft>
                <a:spcPts val="300"/>
              </a:spcAft>
              <a:buSzPct val="120000"/>
              <a:buFont typeface="Wingdings" panose="05000000000000000000" pitchFamily="2" charset="2"/>
              <a:buChar char="§"/>
            </a:pPr>
            <a:endParaRPr lang="en-US" sz="2600" dirty="0"/>
          </a:p>
          <a:p>
            <a:pPr marL="457200" lvl="1" indent="0" algn="just">
              <a:lnSpc>
                <a:spcPts val="3500"/>
              </a:lnSpc>
              <a:spcBef>
                <a:spcPts val="300"/>
              </a:spcBef>
              <a:spcAft>
                <a:spcPts val="300"/>
              </a:spcAft>
              <a:buNone/>
            </a:pPr>
            <a:endParaRPr lang="en-US" dirty="0"/>
          </a:p>
          <a:p>
            <a:pPr marL="457200" lvl="1" indent="0" algn="just">
              <a:lnSpc>
                <a:spcPts val="3500"/>
              </a:lnSpc>
              <a:spcBef>
                <a:spcPts val="300"/>
              </a:spcBef>
              <a:spcAft>
                <a:spcPts val="300"/>
              </a:spcAft>
              <a:buNone/>
            </a:pPr>
            <a:endParaRPr lang="en-US" dirty="0"/>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59</a:t>
            </a:fld>
            <a:endParaRPr lang="en-US" dirty="0"/>
          </a:p>
        </p:txBody>
      </p:sp>
    </p:spTree>
    <p:extLst>
      <p:ext uri="{BB962C8B-B14F-4D97-AF65-F5344CB8AC3E}">
        <p14:creationId xmlns:p14="http://schemas.microsoft.com/office/powerpoint/2010/main" val="9777883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Vào – ra dữ liệu</a:t>
            </a:r>
          </a:p>
        </p:txBody>
      </p:sp>
      <p:sp>
        <p:nvSpPr>
          <p:cNvPr id="3" name="Content Placeholder 2"/>
          <p:cNvSpPr>
            <a:spLocks noGrp="1"/>
          </p:cNvSpPr>
          <p:nvPr>
            <p:ph idx="1"/>
          </p:nvPr>
        </p:nvSpPr>
        <p:spPr>
          <a:xfrm>
            <a:off x="628650" y="1396499"/>
            <a:ext cx="7886700" cy="5126964"/>
          </a:xfrm>
        </p:spPr>
        <p:txBody>
          <a:bodyPr>
            <a:noAutofit/>
          </a:bodyPr>
          <a:lstStyle/>
          <a:p>
            <a:pPr algn="just">
              <a:lnSpc>
                <a:spcPts val="3500"/>
              </a:lnSpc>
              <a:spcBef>
                <a:spcPts val="600"/>
              </a:spcBef>
              <a:spcAft>
                <a:spcPts val="600"/>
              </a:spcAft>
            </a:pPr>
            <a:r>
              <a:rPr lang="en-US" dirty="0"/>
              <a:t>Các lớp ‘InputStream’ và ‘OutputStream’ cung cấp nhiều khả năng vào/ra  khác nhau. </a:t>
            </a:r>
          </a:p>
          <a:p>
            <a:pPr algn="just">
              <a:lnSpc>
                <a:spcPts val="3500"/>
              </a:lnSpc>
              <a:spcBef>
                <a:spcPts val="600"/>
              </a:spcBef>
              <a:spcAft>
                <a:spcPts val="600"/>
              </a:spcAft>
            </a:pPr>
            <a:r>
              <a:rPr lang="en-US" dirty="0"/>
              <a:t>Cả hai lớp này có các lớp thừa kế để thực hiện I/O thông qua các vùng bộ nhớ đệm, các tập tin và ống (pipeline). </a:t>
            </a:r>
          </a:p>
          <a:p>
            <a:pPr algn="just">
              <a:lnSpc>
                <a:spcPts val="3500"/>
              </a:lnSpc>
              <a:spcBef>
                <a:spcPts val="600"/>
              </a:spcBef>
              <a:spcAft>
                <a:spcPts val="600"/>
              </a:spcAft>
            </a:pPr>
            <a:r>
              <a:rPr lang="en-US" dirty="0"/>
              <a:t>Các lớp con của lớp InputStream thực hiện vào, trong khi các lớp con của lớp OutputStream thực hiện ra.</a:t>
            </a:r>
          </a:p>
          <a:p>
            <a:pPr lvl="1" algn="just"/>
            <a:endParaRPr lang="en-US" dirty="0"/>
          </a:p>
          <a:p>
            <a:pPr marL="800100" lvl="2" indent="-342900" algn="just">
              <a:lnSpc>
                <a:spcPts val="3500"/>
              </a:lnSpc>
              <a:spcBef>
                <a:spcPts val="300"/>
              </a:spcBef>
              <a:spcAft>
                <a:spcPts val="300"/>
              </a:spcAft>
              <a:buSzPct val="120000"/>
              <a:buFont typeface="Wingdings" panose="05000000000000000000" pitchFamily="2" charset="2"/>
              <a:buChar char="§"/>
            </a:pPr>
            <a:endParaRPr lang="en-US" sz="2600" dirty="0"/>
          </a:p>
          <a:p>
            <a:pPr marL="457200" lvl="1" indent="0" algn="just">
              <a:lnSpc>
                <a:spcPts val="3500"/>
              </a:lnSpc>
              <a:spcBef>
                <a:spcPts val="300"/>
              </a:spcBef>
              <a:spcAft>
                <a:spcPts val="300"/>
              </a:spcAft>
              <a:buNone/>
            </a:pPr>
            <a:endParaRPr lang="en-US" dirty="0"/>
          </a:p>
          <a:p>
            <a:pPr marL="457200" lvl="1" indent="0" algn="just">
              <a:lnSpc>
                <a:spcPts val="3500"/>
              </a:lnSpc>
              <a:spcBef>
                <a:spcPts val="300"/>
              </a:spcBef>
              <a:spcAft>
                <a:spcPts val="300"/>
              </a:spcAft>
              <a:buNone/>
            </a:pPr>
            <a:endParaRPr lang="en-US" dirty="0"/>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60</a:t>
            </a:fld>
            <a:endParaRPr lang="en-US" dirty="0"/>
          </a:p>
        </p:txBody>
      </p:sp>
    </p:spTree>
    <p:extLst>
      <p:ext uri="{BB962C8B-B14F-4D97-AF65-F5344CB8AC3E}">
        <p14:creationId xmlns:p14="http://schemas.microsoft.com/office/powerpoint/2010/main" val="1706391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In dữ liệu ra màn hình</a:t>
            </a:r>
          </a:p>
        </p:txBody>
      </p:sp>
      <p:sp>
        <p:nvSpPr>
          <p:cNvPr id="3" name="Content Placeholder 2"/>
          <p:cNvSpPr>
            <a:spLocks noGrp="1"/>
          </p:cNvSpPr>
          <p:nvPr>
            <p:ph idx="1"/>
          </p:nvPr>
        </p:nvSpPr>
        <p:spPr>
          <a:xfrm>
            <a:off x="628650" y="1315844"/>
            <a:ext cx="7886700" cy="5207619"/>
          </a:xfrm>
        </p:spPr>
        <p:txBody>
          <a:bodyPr>
            <a:noAutofit/>
          </a:bodyPr>
          <a:lstStyle/>
          <a:p>
            <a:pPr marL="346075" lvl="1" indent="-346075" algn="just">
              <a:lnSpc>
                <a:spcPts val="3300"/>
              </a:lnSpc>
              <a:spcBef>
                <a:spcPts val="300"/>
              </a:spcBef>
              <a:spcAft>
                <a:spcPts val="300"/>
              </a:spcAft>
              <a:buSzPct val="130000"/>
              <a:buFont typeface="Arial" panose="020B0604020202020204" pitchFamily="34" charset="0"/>
              <a:buChar char="•"/>
            </a:pPr>
            <a:r>
              <a:rPr lang="en-US" sz="2800" dirty="0"/>
              <a:t>Sử dụng đối tượng “out” thuộc lớp “PrintStream” cung cấp chức năng in dữ liệu ra màn hình dạng Console.</a:t>
            </a:r>
          </a:p>
          <a:p>
            <a:pPr marL="346075" lvl="1" indent="-346075" algn="just">
              <a:lnSpc>
                <a:spcPts val="3300"/>
              </a:lnSpc>
              <a:spcBef>
                <a:spcPts val="300"/>
              </a:spcBef>
              <a:spcAft>
                <a:spcPts val="300"/>
              </a:spcAft>
              <a:buSzPct val="130000"/>
              <a:buFont typeface="Arial" panose="020B0604020202020204" pitchFamily="34" charset="0"/>
              <a:buChar char="•"/>
            </a:pPr>
            <a:r>
              <a:rPr lang="en-US" sz="2800" dirty="0"/>
              <a:t>Các lệnh thực hiện bao gồm:</a:t>
            </a:r>
          </a:p>
          <a:p>
            <a:pPr marL="0" lvl="1" indent="623888" algn="just">
              <a:lnSpc>
                <a:spcPts val="3300"/>
              </a:lnSpc>
              <a:spcBef>
                <a:spcPts val="300"/>
              </a:spcBef>
              <a:spcAft>
                <a:spcPts val="300"/>
              </a:spcAft>
              <a:buSzPct val="130000"/>
              <a:buNone/>
            </a:pPr>
            <a:r>
              <a:rPr lang="en-US" sz="2800" b="1" dirty="0">
                <a:latin typeface="Courier" panose="02020500000000000000" pitchFamily="18" charset="0"/>
                <a:ea typeface="Courier" panose="02020500000000000000" pitchFamily="18" charset="0"/>
                <a:cs typeface="Courier" panose="02020500000000000000" pitchFamily="18" charset="0"/>
              </a:rPr>
              <a:t>system.out.print(D);</a:t>
            </a:r>
          </a:p>
          <a:p>
            <a:pPr marL="0" lvl="1" indent="623888" algn="just">
              <a:lnSpc>
                <a:spcPts val="3300"/>
              </a:lnSpc>
              <a:spcBef>
                <a:spcPts val="300"/>
              </a:spcBef>
              <a:spcAft>
                <a:spcPts val="300"/>
              </a:spcAft>
              <a:buSzPct val="130000"/>
              <a:buNone/>
            </a:pPr>
            <a:r>
              <a:rPr lang="en-US" sz="2800" b="1" dirty="0">
                <a:latin typeface="Courier" panose="02020500000000000000" pitchFamily="18" charset="0"/>
                <a:ea typeface="Courier" panose="02020500000000000000" pitchFamily="18" charset="0"/>
                <a:cs typeface="Courier" panose="02020500000000000000" pitchFamily="18" charset="0"/>
              </a:rPr>
              <a:t>system.out.println(D);</a:t>
            </a:r>
          </a:p>
          <a:p>
            <a:pPr marL="0" lvl="1" indent="623888" algn="just">
              <a:lnSpc>
                <a:spcPts val="3300"/>
              </a:lnSpc>
              <a:spcBef>
                <a:spcPts val="300"/>
              </a:spcBef>
              <a:spcAft>
                <a:spcPts val="300"/>
              </a:spcAft>
              <a:buSzPct val="130000"/>
              <a:buNone/>
            </a:pPr>
            <a:r>
              <a:rPr lang="en-US" sz="2800" b="1" dirty="0">
                <a:latin typeface="Courier" panose="02020500000000000000" pitchFamily="18" charset="0"/>
                <a:ea typeface="Courier" panose="02020500000000000000" pitchFamily="18" charset="0"/>
                <a:cs typeface="Courier" panose="02020500000000000000" pitchFamily="18" charset="0"/>
              </a:rPr>
              <a:t>system.out.printf(D);</a:t>
            </a:r>
          </a:p>
          <a:p>
            <a:pPr marL="0" lvl="1" indent="0" algn="just">
              <a:lnSpc>
                <a:spcPts val="3300"/>
              </a:lnSpc>
              <a:spcBef>
                <a:spcPts val="300"/>
              </a:spcBef>
              <a:spcAft>
                <a:spcPts val="300"/>
              </a:spcAft>
              <a:buSzPct val="130000"/>
              <a:buNone/>
            </a:pPr>
            <a:r>
              <a:rPr lang="en-US" dirty="0"/>
              <a:t>Trong đó: </a:t>
            </a:r>
          </a:p>
          <a:p>
            <a:pPr marL="0" lvl="1" indent="290513" algn="just">
              <a:lnSpc>
                <a:spcPts val="3300"/>
              </a:lnSpc>
              <a:spcBef>
                <a:spcPts val="0"/>
              </a:spcBef>
              <a:buSzPct val="130000"/>
              <a:buNone/>
            </a:pPr>
            <a:r>
              <a:rPr lang="en-US" sz="2800" b="1" dirty="0">
                <a:latin typeface="Courier" panose="02020500000000000000" pitchFamily="18" charset="0"/>
                <a:ea typeface="Courier" panose="02020500000000000000" pitchFamily="18" charset="0"/>
                <a:cs typeface="Courier" panose="02020500000000000000" pitchFamily="18" charset="0"/>
              </a:rPr>
              <a:t>D</a:t>
            </a:r>
            <a:r>
              <a:rPr lang="en-US" sz="2400" dirty="0"/>
              <a:t> là dữ liệu cần in.</a:t>
            </a:r>
          </a:p>
          <a:p>
            <a:pPr marL="0" lvl="1" indent="290513" algn="just">
              <a:lnSpc>
                <a:spcPts val="3300"/>
              </a:lnSpc>
              <a:spcBef>
                <a:spcPts val="0"/>
              </a:spcBef>
              <a:buSzPct val="130000"/>
              <a:buNone/>
            </a:pPr>
            <a:r>
              <a:rPr lang="en-US" sz="2400" dirty="0"/>
              <a:t>Lệnh “</a:t>
            </a:r>
            <a:r>
              <a:rPr lang="en-US" sz="2400" b="1" dirty="0">
                <a:latin typeface="Courier" panose="02020500000000000000" pitchFamily="18" charset="0"/>
                <a:ea typeface="Courier" panose="02020500000000000000" pitchFamily="18" charset="0"/>
                <a:cs typeface="Courier" panose="02020500000000000000" pitchFamily="18" charset="0"/>
              </a:rPr>
              <a:t>println</a:t>
            </a:r>
            <a:r>
              <a:rPr lang="en-US" sz="2400" dirty="0"/>
              <a:t>” sẽ xuống dòng sau khi in xong.</a:t>
            </a:r>
          </a:p>
          <a:p>
            <a:pPr marL="0" lvl="1" indent="290513" algn="just">
              <a:lnSpc>
                <a:spcPts val="3300"/>
              </a:lnSpc>
              <a:spcBef>
                <a:spcPts val="0"/>
              </a:spcBef>
              <a:buSzPct val="130000"/>
              <a:buNone/>
            </a:pPr>
            <a:r>
              <a:rPr lang="en-US" sz="2400" spc="-100" dirty="0"/>
              <a:t>Lệnh “</a:t>
            </a:r>
            <a:r>
              <a:rPr lang="en-US" sz="2400" b="1" spc="-100" dirty="0">
                <a:latin typeface="Courier" panose="02020500000000000000" pitchFamily="18" charset="0"/>
                <a:ea typeface="Courier" panose="02020500000000000000" pitchFamily="18" charset="0"/>
                <a:cs typeface="Courier" panose="02020500000000000000" pitchFamily="18" charset="0"/>
              </a:rPr>
              <a:t>printf</a:t>
            </a:r>
            <a:r>
              <a:rPr lang="en-US" sz="2400" spc="-100" dirty="0"/>
              <a:t>” sẽ in dữ liệu có định dạng quy định bởi “F”. </a:t>
            </a:r>
            <a:endParaRPr lang="en-US" sz="2400" b="1" spc="-100" dirty="0"/>
          </a:p>
        </p:txBody>
      </p:sp>
      <p:sp>
        <p:nvSpPr>
          <p:cNvPr id="4" name="Slide Number Placeholder 3"/>
          <p:cNvSpPr>
            <a:spLocks noGrp="1"/>
          </p:cNvSpPr>
          <p:nvPr>
            <p:ph type="sldNum" sz="quarter" idx="12"/>
          </p:nvPr>
        </p:nvSpPr>
        <p:spPr/>
        <p:txBody>
          <a:bodyPr/>
          <a:lstStyle/>
          <a:p>
            <a:fld id="{DF4C498B-416A-4F27-9E1B-2DAD6BC6C92F}" type="slidenum">
              <a:rPr lang="en-US" smtClean="0"/>
              <a:t>61</a:t>
            </a:fld>
            <a:endParaRPr lang="en-US" dirty="0"/>
          </a:p>
        </p:txBody>
      </p:sp>
    </p:spTree>
    <p:extLst>
      <p:ext uri="{BB962C8B-B14F-4D97-AF65-F5344CB8AC3E}">
        <p14:creationId xmlns:p14="http://schemas.microsoft.com/office/powerpoint/2010/main" val="38277710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In dữ liệu ra màn hình</a:t>
            </a:r>
          </a:p>
        </p:txBody>
      </p:sp>
      <p:sp>
        <p:nvSpPr>
          <p:cNvPr id="3" name="Content Placeholder 2"/>
          <p:cNvSpPr>
            <a:spLocks noGrp="1"/>
          </p:cNvSpPr>
          <p:nvPr>
            <p:ph idx="1"/>
          </p:nvPr>
        </p:nvSpPr>
        <p:spPr>
          <a:xfrm>
            <a:off x="628650" y="1315844"/>
            <a:ext cx="7886700" cy="5207619"/>
          </a:xfrm>
        </p:spPr>
        <p:txBody>
          <a:bodyPr>
            <a:noAutofit/>
          </a:bodyPr>
          <a:lstStyle/>
          <a:p>
            <a:pPr marL="0" lvl="1" indent="0" algn="just">
              <a:lnSpc>
                <a:spcPts val="3300"/>
              </a:lnSpc>
              <a:spcBef>
                <a:spcPts val="300"/>
              </a:spcBef>
              <a:spcAft>
                <a:spcPts val="300"/>
              </a:spcAft>
              <a:buSzPct val="130000"/>
              <a:buNone/>
            </a:pPr>
            <a:r>
              <a:rPr lang="en-US" dirty="0"/>
              <a:t>“F” gồm các thành phần sau: </a:t>
            </a:r>
          </a:p>
          <a:p>
            <a:pPr marL="0" lvl="1" indent="0" algn="just">
              <a:lnSpc>
                <a:spcPts val="3300"/>
              </a:lnSpc>
              <a:spcBef>
                <a:spcPts val="0"/>
              </a:spcBef>
              <a:buSzPct val="130000"/>
              <a:buNone/>
            </a:pPr>
            <a:r>
              <a:rPr lang="en-US" spc="-150" dirty="0"/>
              <a:t>% [argument_index$] [flags] [width] [.precision] conversion </a:t>
            </a:r>
          </a:p>
          <a:p>
            <a:pPr marL="0" lvl="1" indent="0" algn="just">
              <a:lnSpc>
                <a:spcPts val="3300"/>
              </a:lnSpc>
              <a:spcBef>
                <a:spcPts val="0"/>
              </a:spcBef>
              <a:buSzPct val="130000"/>
              <a:buNone/>
            </a:pPr>
            <a:r>
              <a:rPr lang="en-US" spc="-230" dirty="0"/>
              <a:t>Trong đó:</a:t>
            </a:r>
          </a:p>
          <a:p>
            <a:pPr marL="0" lvl="1" indent="290513" algn="just">
              <a:lnSpc>
                <a:spcPts val="3300"/>
              </a:lnSpc>
              <a:spcBef>
                <a:spcPts val="0"/>
              </a:spcBef>
              <a:buSzPct val="130000"/>
              <a:buNone/>
            </a:pPr>
            <a:r>
              <a:rPr lang="en-US" sz="2400" dirty="0"/>
              <a:t>- Phần trong [ ] là tùy chọn.</a:t>
            </a:r>
          </a:p>
          <a:p>
            <a:pPr marL="0" lvl="1" indent="290513" algn="just">
              <a:lnSpc>
                <a:spcPts val="3300"/>
              </a:lnSpc>
              <a:spcBef>
                <a:spcPts val="0"/>
              </a:spcBef>
              <a:buSzPct val="130000"/>
              <a:buNone/>
            </a:pPr>
            <a:r>
              <a:rPr lang="en-US" sz="2400" dirty="0"/>
              <a:t>- Bắt buộc là “</a:t>
            </a:r>
            <a:r>
              <a:rPr lang="en-US" sz="2400" i="1" dirty="0"/>
              <a:t>%</a:t>
            </a:r>
            <a:r>
              <a:rPr lang="en-US" sz="2400" dirty="0"/>
              <a:t>” và “</a:t>
            </a:r>
            <a:r>
              <a:rPr lang="en-US" sz="2400" i="1" dirty="0"/>
              <a:t>conversion</a:t>
            </a:r>
            <a:r>
              <a:rPr lang="en-US" sz="2400" dirty="0"/>
              <a:t>” để quy định chuyển dữ liệu khi in gồm các kiểu hay dùng như: số nguyên, số thực, xâu ký tự, số hexa, ngày, tháng, năm,...</a:t>
            </a:r>
          </a:p>
          <a:p>
            <a:pPr marL="290513" lvl="1" indent="0" algn="just">
              <a:lnSpc>
                <a:spcPts val="3300"/>
              </a:lnSpc>
              <a:spcBef>
                <a:spcPts val="0"/>
              </a:spcBef>
              <a:buSzPct val="130000"/>
              <a:buNone/>
            </a:pPr>
            <a:r>
              <a:rPr lang="en-US" sz="2400" dirty="0"/>
              <a:t>- </a:t>
            </a:r>
            <a:r>
              <a:rPr lang="en-US" sz="2400" i="1" dirty="0"/>
              <a:t>argument_index</a:t>
            </a:r>
            <a:r>
              <a:rPr lang="en-US" sz="2400" dirty="0"/>
              <a:t>: cho biết quy định này dành cho dữ liệu thứ mấy trong D.</a:t>
            </a:r>
          </a:p>
          <a:p>
            <a:pPr marL="290513" lvl="1" indent="0" algn="just">
              <a:lnSpc>
                <a:spcPts val="3300"/>
              </a:lnSpc>
              <a:spcBef>
                <a:spcPts val="0"/>
              </a:spcBef>
              <a:buSzPct val="130000"/>
              <a:buNone/>
            </a:pPr>
            <a:r>
              <a:rPr lang="en-US" sz="2400" dirty="0"/>
              <a:t>- “</a:t>
            </a:r>
            <a:r>
              <a:rPr lang="en-US" sz="2400" i="1" dirty="0"/>
              <a:t>flags</a:t>
            </a:r>
            <a:r>
              <a:rPr lang="en-US" sz="2400" dirty="0"/>
              <a:t>” quy định trạng thái in ra dữ liệu.</a:t>
            </a:r>
          </a:p>
          <a:p>
            <a:pPr marL="290513" lvl="1" indent="0" algn="just">
              <a:lnSpc>
                <a:spcPts val="3300"/>
              </a:lnSpc>
              <a:spcBef>
                <a:spcPts val="0"/>
              </a:spcBef>
              <a:buSzPct val="130000"/>
              <a:buNone/>
            </a:pPr>
            <a:r>
              <a:rPr lang="en-US" sz="2400" dirty="0"/>
              <a:t>- “</a:t>
            </a:r>
            <a:r>
              <a:rPr lang="en-US" sz="2400" i="1" dirty="0"/>
              <a:t>width</a:t>
            </a:r>
            <a:r>
              <a:rPr lang="en-US" sz="2400" dirty="0"/>
              <a:t>” và “</a:t>
            </a:r>
            <a:r>
              <a:rPr lang="en-US" sz="2400" i="1" dirty="0"/>
              <a:t>precision</a:t>
            </a:r>
            <a:r>
              <a:rPr lang="en-US" sz="2400" dirty="0"/>
              <a:t>” quy định độ rộng dữ liệu in và độ chính xác số thực.</a:t>
            </a:r>
          </a:p>
          <a:p>
            <a:pPr marL="0" lvl="1" indent="290513" algn="just">
              <a:lnSpc>
                <a:spcPts val="3300"/>
              </a:lnSpc>
              <a:spcBef>
                <a:spcPts val="0"/>
              </a:spcBef>
              <a:buSzPct val="130000"/>
              <a:buNone/>
            </a:pPr>
            <a:endParaRPr lang="en-US" dirty="0"/>
          </a:p>
        </p:txBody>
      </p:sp>
      <p:sp>
        <p:nvSpPr>
          <p:cNvPr id="4" name="Slide Number Placeholder 3"/>
          <p:cNvSpPr>
            <a:spLocks noGrp="1"/>
          </p:cNvSpPr>
          <p:nvPr>
            <p:ph type="sldNum" sz="quarter" idx="12"/>
          </p:nvPr>
        </p:nvSpPr>
        <p:spPr/>
        <p:txBody>
          <a:bodyPr/>
          <a:lstStyle/>
          <a:p>
            <a:fld id="{DF4C498B-416A-4F27-9E1B-2DAD6BC6C92F}" type="slidenum">
              <a:rPr lang="en-US" smtClean="0"/>
              <a:t>62</a:t>
            </a:fld>
            <a:endParaRPr lang="en-US" dirty="0"/>
          </a:p>
        </p:txBody>
      </p:sp>
    </p:spTree>
    <p:extLst>
      <p:ext uri="{BB962C8B-B14F-4D97-AF65-F5344CB8AC3E}">
        <p14:creationId xmlns:p14="http://schemas.microsoft.com/office/powerpoint/2010/main" val="16045872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In dữ liệu ra màn hình</a:t>
            </a:r>
          </a:p>
        </p:txBody>
      </p:sp>
      <p:sp>
        <p:nvSpPr>
          <p:cNvPr id="3" name="Content Placeholder 2"/>
          <p:cNvSpPr>
            <a:spLocks noGrp="1"/>
          </p:cNvSpPr>
          <p:nvPr>
            <p:ph idx="1"/>
          </p:nvPr>
        </p:nvSpPr>
        <p:spPr>
          <a:xfrm>
            <a:off x="628650" y="1315844"/>
            <a:ext cx="7886700" cy="5207619"/>
          </a:xfrm>
        </p:spPr>
        <p:txBody>
          <a:bodyPr>
            <a:noAutofit/>
          </a:bodyPr>
          <a:lstStyle/>
          <a:p>
            <a:pPr marL="0" lvl="1" indent="0" algn="just">
              <a:lnSpc>
                <a:spcPts val="3300"/>
              </a:lnSpc>
              <a:spcBef>
                <a:spcPts val="300"/>
              </a:spcBef>
              <a:spcAft>
                <a:spcPts val="300"/>
              </a:spcAft>
              <a:buSzPct val="130000"/>
              <a:buNone/>
            </a:pPr>
            <a:r>
              <a:rPr lang="en-US" sz="2800" b="1" dirty="0"/>
              <a:t>Ví dụ:</a:t>
            </a:r>
          </a:p>
          <a:p>
            <a:pPr marL="0" lvl="1" indent="290513" algn="just">
              <a:lnSpc>
                <a:spcPts val="3300"/>
              </a:lnSpc>
              <a:spcBef>
                <a:spcPts val="0"/>
              </a:spcBef>
              <a:buSzPct val="130000"/>
              <a:buNone/>
            </a:pPr>
            <a:endParaRPr lang="en-US" dirty="0"/>
          </a:p>
        </p:txBody>
      </p:sp>
      <p:sp>
        <p:nvSpPr>
          <p:cNvPr id="4" name="Slide Number Placeholder 3"/>
          <p:cNvSpPr>
            <a:spLocks noGrp="1"/>
          </p:cNvSpPr>
          <p:nvPr>
            <p:ph type="sldNum" sz="quarter" idx="12"/>
          </p:nvPr>
        </p:nvSpPr>
        <p:spPr/>
        <p:txBody>
          <a:bodyPr/>
          <a:lstStyle/>
          <a:p>
            <a:fld id="{DF4C498B-416A-4F27-9E1B-2DAD6BC6C92F}" type="slidenum">
              <a:rPr lang="en-US" smtClean="0"/>
              <a:t>63</a:t>
            </a:fld>
            <a:endParaRPr lang="en-US" dirty="0"/>
          </a:p>
        </p:txBody>
      </p:sp>
      <p:sp>
        <p:nvSpPr>
          <p:cNvPr id="5" name="object 2"/>
          <p:cNvSpPr/>
          <p:nvPr/>
        </p:nvSpPr>
        <p:spPr>
          <a:xfrm>
            <a:off x="628650" y="1919005"/>
            <a:ext cx="7886700" cy="2571714"/>
          </a:xfrm>
          <a:custGeom>
            <a:avLst/>
            <a:gdLst/>
            <a:ahLst/>
            <a:cxnLst/>
            <a:rect l="l" t="t" r="r" b="b"/>
            <a:pathLst>
              <a:path w="7262495" h="1354454">
                <a:moveTo>
                  <a:pt x="0" y="0"/>
                </a:moveTo>
                <a:lnTo>
                  <a:pt x="7262050" y="0"/>
                </a:lnTo>
                <a:lnTo>
                  <a:pt x="7262050" y="1099947"/>
                </a:lnTo>
                <a:lnTo>
                  <a:pt x="7190386" y="1100001"/>
                </a:lnTo>
                <a:lnTo>
                  <a:pt x="7119665" y="1100165"/>
                </a:lnTo>
                <a:lnTo>
                  <a:pt x="7049874" y="1100434"/>
                </a:lnTo>
                <a:lnTo>
                  <a:pt x="6981001" y="1100809"/>
                </a:lnTo>
                <a:lnTo>
                  <a:pt x="6913033" y="1101286"/>
                </a:lnTo>
                <a:lnTo>
                  <a:pt x="6845957" y="1101864"/>
                </a:lnTo>
                <a:lnTo>
                  <a:pt x="6779760" y="1102541"/>
                </a:lnTo>
                <a:lnTo>
                  <a:pt x="6714430" y="1103316"/>
                </a:lnTo>
                <a:lnTo>
                  <a:pt x="6649955" y="1104185"/>
                </a:lnTo>
                <a:lnTo>
                  <a:pt x="6586321" y="1105148"/>
                </a:lnTo>
                <a:lnTo>
                  <a:pt x="6523516" y="1106203"/>
                </a:lnTo>
                <a:lnTo>
                  <a:pt x="6461527" y="1107347"/>
                </a:lnTo>
                <a:lnTo>
                  <a:pt x="6400342" y="1108579"/>
                </a:lnTo>
                <a:lnTo>
                  <a:pt x="6339948" y="1109897"/>
                </a:lnTo>
                <a:lnTo>
                  <a:pt x="6280332" y="1111298"/>
                </a:lnTo>
                <a:lnTo>
                  <a:pt x="6221482" y="1112782"/>
                </a:lnTo>
                <a:lnTo>
                  <a:pt x="6163385" y="1114347"/>
                </a:lnTo>
                <a:lnTo>
                  <a:pt x="6106028" y="1115989"/>
                </a:lnTo>
                <a:lnTo>
                  <a:pt x="6049399" y="1117709"/>
                </a:lnTo>
                <a:lnTo>
                  <a:pt x="5993485" y="1119502"/>
                </a:lnTo>
                <a:lnTo>
                  <a:pt x="5938273" y="1121369"/>
                </a:lnTo>
                <a:lnTo>
                  <a:pt x="5883751" y="1123307"/>
                </a:lnTo>
                <a:lnTo>
                  <a:pt x="5829906" y="1125313"/>
                </a:lnTo>
                <a:lnTo>
                  <a:pt x="5776726" y="1127387"/>
                </a:lnTo>
                <a:lnTo>
                  <a:pt x="5724197" y="1129526"/>
                </a:lnTo>
                <a:lnTo>
                  <a:pt x="5672308" y="1131728"/>
                </a:lnTo>
                <a:lnTo>
                  <a:pt x="5621044" y="1133992"/>
                </a:lnTo>
                <a:lnTo>
                  <a:pt x="5570395" y="1136316"/>
                </a:lnTo>
                <a:lnTo>
                  <a:pt x="5520347" y="1138697"/>
                </a:lnTo>
                <a:lnTo>
                  <a:pt x="5470887" y="1141134"/>
                </a:lnTo>
                <a:lnTo>
                  <a:pt x="5422003" y="1143625"/>
                </a:lnTo>
                <a:lnTo>
                  <a:pt x="5373682" y="1146168"/>
                </a:lnTo>
                <a:lnTo>
                  <a:pt x="5325912" y="1148762"/>
                </a:lnTo>
                <a:lnTo>
                  <a:pt x="5278680" y="1151404"/>
                </a:lnTo>
                <a:lnTo>
                  <a:pt x="5231972" y="1154092"/>
                </a:lnTo>
                <a:lnTo>
                  <a:pt x="5185778" y="1156825"/>
                </a:lnTo>
                <a:lnTo>
                  <a:pt x="5140083" y="1159601"/>
                </a:lnTo>
                <a:lnTo>
                  <a:pt x="5094875" y="1162418"/>
                </a:lnTo>
                <a:lnTo>
                  <a:pt x="5050142" y="1165274"/>
                </a:lnTo>
                <a:lnTo>
                  <a:pt x="5005871" y="1168167"/>
                </a:lnTo>
                <a:lnTo>
                  <a:pt x="4962050" y="1171095"/>
                </a:lnTo>
                <a:lnTo>
                  <a:pt x="4918665" y="1174056"/>
                </a:lnTo>
                <a:lnTo>
                  <a:pt x="4875703" y="1177049"/>
                </a:lnTo>
                <a:lnTo>
                  <a:pt x="4833153" y="1180072"/>
                </a:lnTo>
                <a:lnTo>
                  <a:pt x="4791002" y="1183122"/>
                </a:lnTo>
                <a:lnTo>
                  <a:pt x="4749237" y="1186199"/>
                </a:lnTo>
                <a:lnTo>
                  <a:pt x="4707845" y="1189299"/>
                </a:lnTo>
                <a:lnTo>
                  <a:pt x="4666814" y="1192421"/>
                </a:lnTo>
                <a:lnTo>
                  <a:pt x="4626131" y="1195564"/>
                </a:lnTo>
                <a:lnTo>
                  <a:pt x="4585783" y="1198725"/>
                </a:lnTo>
                <a:lnTo>
                  <a:pt x="4545758" y="1201903"/>
                </a:lnTo>
                <a:lnTo>
                  <a:pt x="4506043" y="1205095"/>
                </a:lnTo>
                <a:lnTo>
                  <a:pt x="4466625" y="1208300"/>
                </a:lnTo>
                <a:lnTo>
                  <a:pt x="4427492" y="1211516"/>
                </a:lnTo>
                <a:lnTo>
                  <a:pt x="4388631" y="1214740"/>
                </a:lnTo>
                <a:lnTo>
                  <a:pt x="4350030" y="1217972"/>
                </a:lnTo>
                <a:lnTo>
                  <a:pt x="4311675" y="1221209"/>
                </a:lnTo>
                <a:lnTo>
                  <a:pt x="4273555" y="1224450"/>
                </a:lnTo>
                <a:lnTo>
                  <a:pt x="4197966" y="1230934"/>
                </a:lnTo>
                <a:lnTo>
                  <a:pt x="4123161" y="1237408"/>
                </a:lnTo>
                <a:lnTo>
                  <a:pt x="4049040" y="1243859"/>
                </a:lnTo>
                <a:lnTo>
                  <a:pt x="4012204" y="1247070"/>
                </a:lnTo>
                <a:lnTo>
                  <a:pt x="3975501" y="1250270"/>
                </a:lnTo>
                <a:lnTo>
                  <a:pt x="3902443" y="1256628"/>
                </a:lnTo>
                <a:lnTo>
                  <a:pt x="3829764" y="1262916"/>
                </a:lnTo>
                <a:lnTo>
                  <a:pt x="3757364" y="1269121"/>
                </a:lnTo>
                <a:lnTo>
                  <a:pt x="3685141" y="1275226"/>
                </a:lnTo>
                <a:lnTo>
                  <a:pt x="3612994" y="1281217"/>
                </a:lnTo>
                <a:lnTo>
                  <a:pt x="3540822" y="1287079"/>
                </a:lnTo>
                <a:lnTo>
                  <a:pt x="3468523" y="1292797"/>
                </a:lnTo>
                <a:lnTo>
                  <a:pt x="3395997" y="1298356"/>
                </a:lnTo>
                <a:lnTo>
                  <a:pt x="3323141" y="1303741"/>
                </a:lnTo>
                <a:lnTo>
                  <a:pt x="3249855" y="1308937"/>
                </a:lnTo>
                <a:lnTo>
                  <a:pt x="3176037" y="1313929"/>
                </a:lnTo>
                <a:lnTo>
                  <a:pt x="3101587" y="1318701"/>
                </a:lnTo>
                <a:lnTo>
                  <a:pt x="3026403" y="1323240"/>
                </a:lnTo>
                <a:lnTo>
                  <a:pt x="2950383" y="1327529"/>
                </a:lnTo>
                <a:lnTo>
                  <a:pt x="2912029" y="1329576"/>
                </a:lnTo>
                <a:lnTo>
                  <a:pt x="2873427" y="1331555"/>
                </a:lnTo>
                <a:lnTo>
                  <a:pt x="2834566" y="1333463"/>
                </a:lnTo>
                <a:lnTo>
                  <a:pt x="2795433" y="1335301"/>
                </a:lnTo>
                <a:lnTo>
                  <a:pt x="2756015" y="1337064"/>
                </a:lnTo>
                <a:lnTo>
                  <a:pt x="2716300" y="1338753"/>
                </a:lnTo>
                <a:lnTo>
                  <a:pt x="2676275" y="1340364"/>
                </a:lnTo>
                <a:lnTo>
                  <a:pt x="2635927" y="1341896"/>
                </a:lnTo>
                <a:lnTo>
                  <a:pt x="2595244" y="1343346"/>
                </a:lnTo>
                <a:lnTo>
                  <a:pt x="2554213" y="1344714"/>
                </a:lnTo>
                <a:lnTo>
                  <a:pt x="2512821" y="1345997"/>
                </a:lnTo>
                <a:lnTo>
                  <a:pt x="2471055" y="1347194"/>
                </a:lnTo>
                <a:lnTo>
                  <a:pt x="2428904" y="1348302"/>
                </a:lnTo>
                <a:lnTo>
                  <a:pt x="2386354" y="1349319"/>
                </a:lnTo>
                <a:lnTo>
                  <a:pt x="2343393" y="1350244"/>
                </a:lnTo>
                <a:lnTo>
                  <a:pt x="2300007" y="1351075"/>
                </a:lnTo>
                <a:lnTo>
                  <a:pt x="2256185" y="1351810"/>
                </a:lnTo>
                <a:lnTo>
                  <a:pt x="2211914" y="1352447"/>
                </a:lnTo>
                <a:lnTo>
                  <a:pt x="2167181" y="1352985"/>
                </a:lnTo>
                <a:lnTo>
                  <a:pt x="2121974" y="1353420"/>
                </a:lnTo>
                <a:lnTo>
                  <a:pt x="2076279" y="1353752"/>
                </a:lnTo>
                <a:lnTo>
                  <a:pt x="2030084" y="1353979"/>
                </a:lnTo>
                <a:lnTo>
                  <a:pt x="1983377" y="1354098"/>
                </a:lnTo>
                <a:lnTo>
                  <a:pt x="1936144" y="1354108"/>
                </a:lnTo>
                <a:lnTo>
                  <a:pt x="1888374" y="1354008"/>
                </a:lnTo>
                <a:lnTo>
                  <a:pt x="1840053" y="1353794"/>
                </a:lnTo>
                <a:lnTo>
                  <a:pt x="1791169" y="1353465"/>
                </a:lnTo>
                <a:lnTo>
                  <a:pt x="1741709" y="1353020"/>
                </a:lnTo>
                <a:lnTo>
                  <a:pt x="1691660" y="1352456"/>
                </a:lnTo>
                <a:lnTo>
                  <a:pt x="1641011" y="1351772"/>
                </a:lnTo>
                <a:lnTo>
                  <a:pt x="1589747" y="1350965"/>
                </a:lnTo>
                <a:lnTo>
                  <a:pt x="1537858" y="1350034"/>
                </a:lnTo>
                <a:lnTo>
                  <a:pt x="1485329" y="1348978"/>
                </a:lnTo>
                <a:lnTo>
                  <a:pt x="1432148" y="1347793"/>
                </a:lnTo>
                <a:lnTo>
                  <a:pt x="1378303" y="1346478"/>
                </a:lnTo>
                <a:lnTo>
                  <a:pt x="1323781" y="1345032"/>
                </a:lnTo>
                <a:lnTo>
                  <a:pt x="1268569" y="1343452"/>
                </a:lnTo>
                <a:lnTo>
                  <a:pt x="1212655" y="1341737"/>
                </a:lnTo>
                <a:lnTo>
                  <a:pt x="1156025" y="1339885"/>
                </a:lnTo>
                <a:lnTo>
                  <a:pt x="1098668" y="1337893"/>
                </a:lnTo>
                <a:lnTo>
                  <a:pt x="1040571" y="1335760"/>
                </a:lnTo>
                <a:lnTo>
                  <a:pt x="981721" y="1333485"/>
                </a:lnTo>
                <a:lnTo>
                  <a:pt x="922105" y="1331064"/>
                </a:lnTo>
                <a:lnTo>
                  <a:pt x="861710" y="1328497"/>
                </a:lnTo>
                <a:lnTo>
                  <a:pt x="800525" y="1325781"/>
                </a:lnTo>
                <a:lnTo>
                  <a:pt x="738536" y="1322915"/>
                </a:lnTo>
                <a:lnTo>
                  <a:pt x="675731" y="1319896"/>
                </a:lnTo>
                <a:lnTo>
                  <a:pt x="612097" y="1316724"/>
                </a:lnTo>
                <a:lnTo>
                  <a:pt x="547621" y="1313395"/>
                </a:lnTo>
                <a:lnTo>
                  <a:pt x="482291" y="1309908"/>
                </a:lnTo>
                <a:lnTo>
                  <a:pt x="416094" y="1306262"/>
                </a:lnTo>
                <a:lnTo>
                  <a:pt x="349018" y="1302454"/>
                </a:lnTo>
                <a:lnTo>
                  <a:pt x="281049" y="1298482"/>
                </a:lnTo>
                <a:lnTo>
                  <a:pt x="212176" y="1294345"/>
                </a:lnTo>
                <a:lnTo>
                  <a:pt x="142385" y="1290040"/>
                </a:lnTo>
                <a:lnTo>
                  <a:pt x="71664" y="1285566"/>
                </a:lnTo>
                <a:lnTo>
                  <a:pt x="0" y="1280922"/>
                </a:lnTo>
                <a:lnTo>
                  <a:pt x="0" y="0"/>
                </a:lnTo>
                <a:close/>
              </a:path>
            </a:pathLst>
          </a:custGeom>
          <a:ln w="25400">
            <a:solidFill>
              <a:srgbClr val="9BBB59"/>
            </a:solidFill>
          </a:ln>
        </p:spPr>
        <p:txBody>
          <a:bodyPr wrap="square" lIns="0" tIns="0" rIns="0" bIns="0" rtlCol="0"/>
          <a:lstStyle/>
          <a:p>
            <a:endParaRPr/>
          </a:p>
        </p:txBody>
      </p:sp>
      <p:sp>
        <p:nvSpPr>
          <p:cNvPr id="6" name="object 14"/>
          <p:cNvSpPr/>
          <p:nvPr/>
        </p:nvSpPr>
        <p:spPr>
          <a:xfrm>
            <a:off x="2372044" y="4701244"/>
            <a:ext cx="489584" cy="485140"/>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7" name="object 16"/>
          <p:cNvSpPr/>
          <p:nvPr/>
        </p:nvSpPr>
        <p:spPr>
          <a:xfrm>
            <a:off x="3033131" y="4103931"/>
            <a:ext cx="5482219" cy="1504950"/>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8" name="object 13"/>
          <p:cNvSpPr txBox="1"/>
          <p:nvPr/>
        </p:nvSpPr>
        <p:spPr>
          <a:xfrm>
            <a:off x="733806" y="1945039"/>
            <a:ext cx="7685365" cy="2039020"/>
          </a:xfrm>
          <a:prstGeom prst="rect">
            <a:avLst/>
          </a:prstGeom>
        </p:spPr>
        <p:txBody>
          <a:bodyPr vert="horz" wrap="square" lIns="0" tIns="12700" rIns="0" bIns="0" rtlCol="0">
            <a:spAutoFit/>
          </a:bodyPr>
          <a:lstStyle/>
          <a:p>
            <a:pPr marL="12700">
              <a:lnSpc>
                <a:spcPct val="100000"/>
              </a:lnSpc>
              <a:spcBef>
                <a:spcPts val="100"/>
              </a:spcBef>
            </a:pPr>
            <a:r>
              <a:rPr sz="2600" spc="-50" dirty="0">
                <a:latin typeface="Courier" panose="02020500000000000000" pitchFamily="18" charset="0"/>
                <a:ea typeface="Courier" panose="02020500000000000000" pitchFamily="18" charset="0"/>
                <a:cs typeface="Courier" panose="02020500000000000000" pitchFamily="18" charset="0"/>
              </a:rPr>
              <a:t>System.out.print("</a:t>
            </a:r>
            <a:r>
              <a:rPr lang="en-US" sz="2600" spc="-50" dirty="0">
                <a:latin typeface="Courier" panose="02020500000000000000" pitchFamily="18" charset="0"/>
                <a:ea typeface="Courier" panose="02020500000000000000" pitchFamily="18" charset="0"/>
                <a:cs typeface="Courier" panose="02020500000000000000" pitchFamily="18" charset="0"/>
              </a:rPr>
              <a:t>Hello WORLD</a:t>
            </a:r>
            <a:r>
              <a:rPr sz="2600" spc="-50" dirty="0">
                <a:latin typeface="Courier" panose="02020500000000000000" pitchFamily="18" charset="0"/>
                <a:ea typeface="Courier" panose="02020500000000000000" pitchFamily="18" charset="0"/>
                <a:cs typeface="Courier" panose="02020500000000000000" pitchFamily="18" charset="0"/>
              </a:rPr>
              <a:t>");</a:t>
            </a:r>
            <a:endParaRPr lang="en-US" sz="2600" spc="-50"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System.out.println(2012); </a:t>
            </a:r>
          </a:p>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System.out.printf(“Two numbers: %d and %f”, 10, 11, 0); //in ra định dạng số nguyên và số thực</a:t>
            </a:r>
            <a:endParaRPr sz="2600" dirty="0">
              <a:latin typeface="Courier" panose="02020500000000000000" pitchFamily="18" charset="0"/>
              <a:ea typeface="Courier" panose="02020500000000000000" pitchFamily="18" charset="0"/>
              <a:cs typeface="Courier" panose="02020500000000000000" pitchFamily="18" charset="0"/>
            </a:endParaRPr>
          </a:p>
        </p:txBody>
      </p:sp>
      <p:sp>
        <p:nvSpPr>
          <p:cNvPr id="9" name="object 19"/>
          <p:cNvSpPr txBox="1"/>
          <p:nvPr/>
        </p:nvSpPr>
        <p:spPr>
          <a:xfrm>
            <a:off x="3211551" y="4287211"/>
            <a:ext cx="5207620" cy="813043"/>
          </a:xfrm>
          <a:prstGeom prst="rect">
            <a:avLst/>
          </a:prstGeom>
        </p:spPr>
        <p:txBody>
          <a:bodyPr vert="horz" wrap="square" lIns="0" tIns="12700" rIns="0" bIns="0" rtlCol="0">
            <a:spAutoFit/>
          </a:bodyPr>
          <a:lstStyle/>
          <a:p>
            <a:pPr marL="12700">
              <a:lnSpc>
                <a:spcPct val="100000"/>
              </a:lnSpc>
              <a:spcBef>
                <a:spcPts val="100"/>
              </a:spcBef>
            </a:pPr>
            <a:r>
              <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rPr>
              <a:t>Hello WORLD.2012</a:t>
            </a:r>
            <a:endParaRPr sz="2600" b="1"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pPr>
            <a:r>
              <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rPr>
              <a:t>Two numbers: 10 and 11.000000</a:t>
            </a:r>
            <a:endParaRPr sz="2600" b="1" dirty="0">
              <a:latin typeface="Courier" panose="02020500000000000000" pitchFamily="18" charset="0"/>
              <a:ea typeface="Courier" panose="02020500000000000000" pitchFamily="18" charset="0"/>
              <a:cs typeface="Courier" panose="02020500000000000000" pitchFamily="18" charset="0"/>
            </a:endParaRPr>
          </a:p>
        </p:txBody>
      </p:sp>
    </p:spTree>
    <p:extLst>
      <p:ext uri="{BB962C8B-B14F-4D97-AF65-F5344CB8AC3E}">
        <p14:creationId xmlns:p14="http://schemas.microsoft.com/office/powerpoint/2010/main" val="24601240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In dữ liệu ra màn hình</a:t>
            </a:r>
          </a:p>
        </p:txBody>
      </p:sp>
      <p:sp>
        <p:nvSpPr>
          <p:cNvPr id="3" name="Content Placeholder 2"/>
          <p:cNvSpPr>
            <a:spLocks noGrp="1"/>
          </p:cNvSpPr>
          <p:nvPr>
            <p:ph idx="1"/>
          </p:nvPr>
        </p:nvSpPr>
        <p:spPr>
          <a:xfrm>
            <a:off x="628650" y="1416203"/>
            <a:ext cx="7886700" cy="5207619"/>
          </a:xfrm>
        </p:spPr>
        <p:txBody>
          <a:bodyPr>
            <a:noAutofit/>
          </a:bodyPr>
          <a:lstStyle/>
          <a:p>
            <a:pPr marL="0" lvl="1" indent="0" algn="just">
              <a:lnSpc>
                <a:spcPts val="3300"/>
              </a:lnSpc>
              <a:spcBef>
                <a:spcPts val="300"/>
              </a:spcBef>
              <a:spcAft>
                <a:spcPts val="300"/>
              </a:spcAft>
              <a:buSzPct val="130000"/>
              <a:buNone/>
            </a:pPr>
            <a:r>
              <a:rPr lang="en-US" sz="2800" b="1" spc="-60" dirty="0"/>
              <a:t>Một số ký tự điều khiển trong lệnh in ra dữ liệu:</a:t>
            </a:r>
          </a:p>
          <a:p>
            <a:pPr marL="0" lvl="1" indent="290513" algn="just">
              <a:lnSpc>
                <a:spcPts val="3300"/>
              </a:lnSpc>
              <a:spcBef>
                <a:spcPts val="0"/>
              </a:spcBef>
              <a:buSzPct val="130000"/>
              <a:buNone/>
            </a:pPr>
            <a:endParaRPr lang="en-US" dirty="0"/>
          </a:p>
        </p:txBody>
      </p:sp>
      <p:sp>
        <p:nvSpPr>
          <p:cNvPr id="4" name="Slide Number Placeholder 3"/>
          <p:cNvSpPr>
            <a:spLocks noGrp="1"/>
          </p:cNvSpPr>
          <p:nvPr>
            <p:ph type="sldNum" sz="quarter" idx="12"/>
          </p:nvPr>
        </p:nvSpPr>
        <p:spPr/>
        <p:txBody>
          <a:bodyPr/>
          <a:lstStyle/>
          <a:p>
            <a:fld id="{DF4C498B-416A-4F27-9E1B-2DAD6BC6C92F}" type="slidenum">
              <a:rPr lang="en-US" smtClean="0"/>
              <a:t>64</a:t>
            </a:fld>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586380748"/>
              </p:ext>
            </p:extLst>
          </p:nvPr>
        </p:nvGraphicFramePr>
        <p:xfrm>
          <a:off x="1825082" y="2289098"/>
          <a:ext cx="5456663" cy="3413760"/>
        </p:xfrm>
        <a:graphic>
          <a:graphicData uri="http://schemas.openxmlformats.org/drawingml/2006/table">
            <a:tbl>
              <a:tblPr firstRow="1" bandRow="1">
                <a:tableStyleId>{21E4AEA4-8DFA-4A89-87EB-49C32662AFE0}</a:tableStyleId>
              </a:tblPr>
              <a:tblGrid>
                <a:gridCol w="1564889">
                  <a:extLst>
                    <a:ext uri="{9D8B030D-6E8A-4147-A177-3AD203B41FA5}">
                      <a16:colId xmlns:a16="http://schemas.microsoft.com/office/drawing/2014/main" val="20000"/>
                    </a:ext>
                  </a:extLst>
                </a:gridCol>
                <a:gridCol w="3891774">
                  <a:extLst>
                    <a:ext uri="{9D8B030D-6E8A-4147-A177-3AD203B41FA5}">
                      <a16:colId xmlns:a16="http://schemas.microsoft.com/office/drawing/2014/main" val="20001"/>
                    </a:ext>
                  </a:extLst>
                </a:gridCol>
              </a:tblGrid>
              <a:tr h="370840">
                <a:tc>
                  <a:txBody>
                    <a:bodyPr/>
                    <a:lstStyle/>
                    <a:p>
                      <a:pPr algn="ctr"/>
                      <a:r>
                        <a:rPr lang="en-US" sz="2600" dirty="0"/>
                        <a:t>Ký</a:t>
                      </a:r>
                      <a:r>
                        <a:rPr lang="en-US" sz="2600" baseline="0" dirty="0"/>
                        <a:t> hiệu</a:t>
                      </a:r>
                      <a:endParaRPr lang="en-US" sz="2600" dirty="0"/>
                    </a:p>
                  </a:txBody>
                  <a:tcPr/>
                </a:tc>
                <a:tc>
                  <a:txBody>
                    <a:bodyPr/>
                    <a:lstStyle/>
                    <a:p>
                      <a:pPr algn="ctr"/>
                      <a:r>
                        <a:rPr lang="en-US" sz="2600" dirty="0"/>
                        <a:t>Ý</a:t>
                      </a:r>
                      <a:r>
                        <a:rPr lang="en-US" sz="2600" baseline="0" dirty="0"/>
                        <a:t> nghĩa</a:t>
                      </a:r>
                      <a:endParaRPr lang="en-US" sz="2600" dirty="0"/>
                    </a:p>
                  </a:txBody>
                  <a:tcPr/>
                </a:tc>
                <a:extLst>
                  <a:ext uri="{0D108BD9-81ED-4DB2-BD59-A6C34878D82A}">
                    <a16:rowId xmlns:a16="http://schemas.microsoft.com/office/drawing/2014/main" val="10000"/>
                  </a:ext>
                </a:extLst>
              </a:tr>
              <a:tr h="370840">
                <a:tc>
                  <a:txBody>
                    <a:bodyPr/>
                    <a:lstStyle/>
                    <a:p>
                      <a:r>
                        <a:rPr lang="en-US" sz="2600" dirty="0"/>
                        <a:t>\\</a:t>
                      </a:r>
                    </a:p>
                  </a:txBody>
                  <a:tcPr/>
                </a:tc>
                <a:tc>
                  <a:txBody>
                    <a:bodyPr/>
                    <a:lstStyle/>
                    <a:p>
                      <a:r>
                        <a:rPr lang="en-US" sz="2600" dirty="0"/>
                        <a:t>In ra ký</a:t>
                      </a:r>
                      <a:r>
                        <a:rPr lang="en-US" sz="2600" baseline="0" dirty="0"/>
                        <a:t> tự \</a:t>
                      </a:r>
                      <a:endParaRPr lang="en-US" sz="2600" dirty="0"/>
                    </a:p>
                  </a:txBody>
                  <a:tcPr/>
                </a:tc>
                <a:extLst>
                  <a:ext uri="{0D108BD9-81ED-4DB2-BD59-A6C34878D82A}">
                    <a16:rowId xmlns:a16="http://schemas.microsoft.com/office/drawing/2014/main" val="10001"/>
                  </a:ext>
                </a:extLst>
              </a:tr>
              <a:tr h="370840">
                <a:tc>
                  <a:txBody>
                    <a:bodyPr/>
                    <a:lstStyle/>
                    <a:p>
                      <a:r>
                        <a:rPr lang="en-US" sz="2600" dirty="0"/>
                        <a:t>%%</a:t>
                      </a:r>
                    </a:p>
                  </a:txBody>
                  <a:tcPr/>
                </a:tc>
                <a:tc>
                  <a:txBody>
                    <a:bodyPr/>
                    <a:lstStyle/>
                    <a:p>
                      <a:r>
                        <a:rPr lang="en-US" sz="2600" dirty="0"/>
                        <a:t>In ra ký</a:t>
                      </a:r>
                      <a:r>
                        <a:rPr lang="en-US" sz="2600" baseline="0" dirty="0"/>
                        <a:t> tự %</a:t>
                      </a:r>
                      <a:endParaRPr lang="en-US" sz="2600" dirty="0"/>
                    </a:p>
                  </a:txBody>
                  <a:tcPr/>
                </a:tc>
                <a:extLst>
                  <a:ext uri="{0D108BD9-81ED-4DB2-BD59-A6C34878D82A}">
                    <a16:rowId xmlns:a16="http://schemas.microsoft.com/office/drawing/2014/main" val="10002"/>
                  </a:ext>
                </a:extLst>
              </a:tr>
              <a:tr h="370840">
                <a:tc>
                  <a:txBody>
                    <a:bodyPr/>
                    <a:lstStyle/>
                    <a:p>
                      <a:r>
                        <a:rPr lang="en-US" sz="2600" dirty="0"/>
                        <a:t>\n</a:t>
                      </a:r>
                    </a:p>
                  </a:txBody>
                  <a:tcPr/>
                </a:tc>
                <a:tc>
                  <a:txBody>
                    <a:bodyPr/>
                    <a:lstStyle/>
                    <a:p>
                      <a:r>
                        <a:rPr lang="en-US" sz="2600" dirty="0"/>
                        <a:t>In xuống</a:t>
                      </a:r>
                      <a:r>
                        <a:rPr lang="en-US" sz="2600" baseline="0" dirty="0"/>
                        <a:t> dòng</a:t>
                      </a:r>
                      <a:endParaRPr lang="en-US" sz="2600" dirty="0"/>
                    </a:p>
                  </a:txBody>
                  <a:tcPr/>
                </a:tc>
                <a:extLst>
                  <a:ext uri="{0D108BD9-81ED-4DB2-BD59-A6C34878D82A}">
                    <a16:rowId xmlns:a16="http://schemas.microsoft.com/office/drawing/2014/main" val="10003"/>
                  </a:ext>
                </a:extLst>
              </a:tr>
              <a:tr h="370840">
                <a:tc>
                  <a:txBody>
                    <a:bodyPr/>
                    <a:lstStyle/>
                    <a:p>
                      <a:r>
                        <a:rPr lang="en-US" sz="2600" dirty="0"/>
                        <a:t>\t</a:t>
                      </a:r>
                    </a:p>
                  </a:txBody>
                  <a:tcPr/>
                </a:tc>
                <a:tc>
                  <a:txBody>
                    <a:bodyPr/>
                    <a:lstStyle/>
                    <a:p>
                      <a:r>
                        <a:rPr lang="en-US" sz="2600" dirty="0"/>
                        <a:t>In một</a:t>
                      </a:r>
                      <a:r>
                        <a:rPr lang="en-US" sz="2600" baseline="0" dirty="0"/>
                        <a:t> khoảng trắng tab</a:t>
                      </a:r>
                      <a:endParaRPr lang="en-US" sz="2600" dirty="0"/>
                    </a:p>
                  </a:txBody>
                  <a:tcPr/>
                </a:tc>
                <a:extLst>
                  <a:ext uri="{0D108BD9-81ED-4DB2-BD59-A6C34878D82A}">
                    <a16:rowId xmlns:a16="http://schemas.microsoft.com/office/drawing/2014/main" val="10004"/>
                  </a:ext>
                </a:extLst>
              </a:tr>
              <a:tr h="370840">
                <a:tc>
                  <a:txBody>
                    <a:bodyPr/>
                    <a:lstStyle/>
                    <a:p>
                      <a:r>
                        <a:rPr lang="en-US" sz="2600" dirty="0"/>
                        <a:t>\”</a:t>
                      </a:r>
                    </a:p>
                  </a:txBody>
                  <a:tcPr/>
                </a:tc>
                <a:tc>
                  <a:txBody>
                    <a:bodyPr/>
                    <a:lstStyle/>
                    <a:p>
                      <a:r>
                        <a:rPr lang="en-US" sz="2600" dirty="0"/>
                        <a:t>In ký</a:t>
                      </a:r>
                      <a:r>
                        <a:rPr lang="en-US" sz="2600" baseline="0" dirty="0"/>
                        <a:t> tự nháy kép</a:t>
                      </a:r>
                      <a:endParaRPr lang="en-US" sz="2600" dirty="0"/>
                    </a:p>
                  </a:txBody>
                  <a:tcPr/>
                </a:tc>
                <a:extLst>
                  <a:ext uri="{0D108BD9-81ED-4DB2-BD59-A6C34878D82A}">
                    <a16:rowId xmlns:a16="http://schemas.microsoft.com/office/drawing/2014/main" val="10005"/>
                  </a:ext>
                </a:extLst>
              </a:tr>
              <a:tr h="370840">
                <a:tc>
                  <a:txBody>
                    <a:bodyPr/>
                    <a:lstStyle/>
                    <a:p>
                      <a:r>
                        <a:rPr lang="en-US" sz="2600" dirty="0"/>
                        <a:t>\’</a:t>
                      </a:r>
                    </a:p>
                  </a:txBody>
                  <a:tcPr/>
                </a:tc>
                <a:tc>
                  <a:txBody>
                    <a:bodyPr/>
                    <a:lstStyle/>
                    <a:p>
                      <a:r>
                        <a:rPr lang="en-US" sz="2600" dirty="0"/>
                        <a:t>In ký</a:t>
                      </a:r>
                      <a:r>
                        <a:rPr lang="en-US" sz="2600" baseline="0" dirty="0"/>
                        <a:t> tự nháy đơn</a:t>
                      </a:r>
                      <a:endParaRPr lang="en-US" sz="26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13558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Nhập dữ liệu từ bàn phím</a:t>
            </a:r>
          </a:p>
        </p:txBody>
      </p:sp>
      <p:sp>
        <p:nvSpPr>
          <p:cNvPr id="3" name="Content Placeholder 2"/>
          <p:cNvSpPr>
            <a:spLocks noGrp="1"/>
          </p:cNvSpPr>
          <p:nvPr>
            <p:ph idx="1"/>
          </p:nvPr>
        </p:nvSpPr>
        <p:spPr>
          <a:xfrm>
            <a:off x="628650" y="1315844"/>
            <a:ext cx="7886700" cy="5207619"/>
          </a:xfrm>
        </p:spPr>
        <p:txBody>
          <a:bodyPr>
            <a:noAutofit/>
          </a:bodyPr>
          <a:lstStyle/>
          <a:p>
            <a:pPr marL="346075" lvl="1" indent="-346075" algn="just">
              <a:lnSpc>
                <a:spcPts val="3300"/>
              </a:lnSpc>
              <a:spcBef>
                <a:spcPts val="300"/>
              </a:spcBef>
              <a:spcAft>
                <a:spcPts val="300"/>
              </a:spcAft>
              <a:buSzPct val="130000"/>
              <a:buFont typeface="Arial" panose="020B0604020202020204" pitchFamily="34" charset="0"/>
              <a:buChar char="•"/>
            </a:pPr>
            <a:r>
              <a:rPr lang="en-US" sz="2800" dirty="0"/>
              <a:t>Sử dụng đối tượng “scanner” để nhập dữ liệu từ bàn phím, đối tượng này bao đối tượng mức thấp là “system.in” được định nghĩa sẵn trong Java để kết nối đến bàn phím.</a:t>
            </a:r>
          </a:p>
          <a:p>
            <a:pPr marL="346075" lvl="1" indent="-346075" algn="just">
              <a:lnSpc>
                <a:spcPts val="3300"/>
              </a:lnSpc>
              <a:spcBef>
                <a:spcPts val="300"/>
              </a:spcBef>
              <a:spcAft>
                <a:spcPts val="300"/>
              </a:spcAft>
              <a:buSzPct val="130000"/>
              <a:buFont typeface="Arial" panose="020B0604020202020204" pitchFamily="34" charset="0"/>
              <a:buChar char="•"/>
            </a:pPr>
            <a:r>
              <a:rPr lang="en-US" sz="2800" dirty="0"/>
              <a:t>Quy tắc tạo đối tượng để nhập như sau:</a:t>
            </a:r>
          </a:p>
          <a:p>
            <a:pPr marL="0" lvl="1" indent="0" algn="just">
              <a:lnSpc>
                <a:spcPts val="3300"/>
              </a:lnSpc>
              <a:spcBef>
                <a:spcPts val="300"/>
              </a:spcBef>
              <a:spcAft>
                <a:spcPts val="300"/>
              </a:spcAft>
              <a:buSzPct val="130000"/>
              <a:buNone/>
            </a:pPr>
            <a:r>
              <a:rPr lang="en-US" sz="2800" dirty="0"/>
              <a:t>    </a:t>
            </a:r>
            <a:r>
              <a:rPr lang="en-US" sz="2800" dirty="0">
                <a:solidFill>
                  <a:schemeClr val="accent2">
                    <a:lumMod val="75000"/>
                  </a:schemeClr>
                </a:solidFill>
                <a:latin typeface="+mj-lt"/>
                <a:ea typeface="Courier" panose="02020500000000000000" pitchFamily="18" charset="0"/>
                <a:cs typeface="Courier" panose="02020500000000000000" pitchFamily="18" charset="0"/>
              </a:rPr>
              <a:t>Scanner      = new Scanner(system.in);</a:t>
            </a:r>
          </a:p>
          <a:p>
            <a:pPr marL="457200" lvl="1" indent="-457200" algn="just">
              <a:lnSpc>
                <a:spcPts val="3300"/>
              </a:lnSpc>
              <a:spcBef>
                <a:spcPts val="300"/>
              </a:spcBef>
              <a:spcAft>
                <a:spcPts val="300"/>
              </a:spcAft>
              <a:buSzPct val="130000"/>
              <a:buFont typeface="Arial" panose="020B0604020202020204" pitchFamily="34" charset="0"/>
              <a:buChar char="•"/>
            </a:pPr>
            <a:r>
              <a:rPr lang="en-US" sz="2800" spc="-250" dirty="0"/>
              <a:t>Sau đó sử dụng các lệnh nhập đối tượng vừa tạo gồm: </a:t>
            </a:r>
          </a:p>
          <a:p>
            <a:pPr marL="0" lvl="1" indent="0" algn="just">
              <a:lnSpc>
                <a:spcPts val="3300"/>
              </a:lnSpc>
              <a:spcBef>
                <a:spcPts val="300"/>
              </a:spcBef>
              <a:spcAft>
                <a:spcPts val="300"/>
              </a:spcAft>
              <a:buSzPct val="130000"/>
              <a:buNone/>
            </a:pPr>
            <a:endParaRPr lang="en-US" sz="2800" spc="-190" dirty="0"/>
          </a:p>
        </p:txBody>
      </p:sp>
      <p:sp>
        <p:nvSpPr>
          <p:cNvPr id="4" name="Slide Number Placeholder 3"/>
          <p:cNvSpPr>
            <a:spLocks noGrp="1"/>
          </p:cNvSpPr>
          <p:nvPr>
            <p:ph type="sldNum" sz="quarter" idx="12"/>
          </p:nvPr>
        </p:nvSpPr>
        <p:spPr/>
        <p:txBody>
          <a:bodyPr/>
          <a:lstStyle/>
          <a:p>
            <a:fld id="{DF4C498B-416A-4F27-9E1B-2DAD6BC6C92F}" type="slidenum">
              <a:rPr lang="en-US" smtClean="0"/>
              <a:t>65</a:t>
            </a:fld>
            <a:endParaRPr lang="en-US" dirty="0"/>
          </a:p>
        </p:txBody>
      </p:sp>
      <p:sp>
        <p:nvSpPr>
          <p:cNvPr id="5" name="Sun 4"/>
          <p:cNvSpPr/>
          <p:nvPr/>
        </p:nvSpPr>
        <p:spPr>
          <a:xfrm>
            <a:off x="2497872" y="3646448"/>
            <a:ext cx="390293" cy="334537"/>
          </a:xfrm>
          <a:prstGeom prst="su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p>
        </p:txBody>
      </p:sp>
      <p:graphicFrame>
        <p:nvGraphicFramePr>
          <p:cNvPr id="6" name="Table 5"/>
          <p:cNvGraphicFramePr>
            <a:graphicFrameLocks noGrp="1"/>
          </p:cNvGraphicFramePr>
          <p:nvPr>
            <p:extLst>
              <p:ext uri="{D42A27DB-BD31-4B8C-83A1-F6EECF244321}">
                <p14:modId xmlns:p14="http://schemas.microsoft.com/office/powerpoint/2010/main" val="2509683526"/>
              </p:ext>
            </p:extLst>
          </p:nvPr>
        </p:nvGraphicFramePr>
        <p:xfrm>
          <a:off x="1918009" y="4666129"/>
          <a:ext cx="4720683" cy="1584960"/>
        </p:xfrm>
        <a:graphic>
          <a:graphicData uri="http://schemas.openxmlformats.org/drawingml/2006/table">
            <a:tbl>
              <a:tblPr firstRow="1" bandRow="1">
                <a:tableStyleId>{5940675A-B579-460E-94D1-54222C63F5DA}</a:tableStyleId>
              </a:tblPr>
              <a:tblGrid>
                <a:gridCol w="1999785">
                  <a:extLst>
                    <a:ext uri="{9D8B030D-6E8A-4147-A177-3AD203B41FA5}">
                      <a16:colId xmlns:a16="http://schemas.microsoft.com/office/drawing/2014/main" val="20000"/>
                    </a:ext>
                  </a:extLst>
                </a:gridCol>
                <a:gridCol w="2720898">
                  <a:extLst>
                    <a:ext uri="{9D8B030D-6E8A-4147-A177-3AD203B41FA5}">
                      <a16:colId xmlns:a16="http://schemas.microsoft.com/office/drawing/2014/main" val="20001"/>
                    </a:ext>
                  </a:extLst>
                </a:gridCol>
              </a:tblGrid>
              <a:tr h="370840">
                <a:tc>
                  <a:txBody>
                    <a:bodyPr/>
                    <a:lstStyle/>
                    <a:p>
                      <a:pPr algn="ctr"/>
                      <a:r>
                        <a:rPr lang="en-US" sz="2000" b="1" dirty="0"/>
                        <a:t>Lệnh</a:t>
                      </a:r>
                    </a:p>
                  </a:txBody>
                  <a:tcPr/>
                </a:tc>
                <a:tc>
                  <a:txBody>
                    <a:bodyPr/>
                    <a:lstStyle/>
                    <a:p>
                      <a:pPr algn="ctr"/>
                      <a:r>
                        <a:rPr lang="en-US" sz="2000" b="1" dirty="0"/>
                        <a:t>Ý</a:t>
                      </a:r>
                      <a:r>
                        <a:rPr lang="en-US" sz="2000" b="1" baseline="0" dirty="0"/>
                        <a:t> nghĩa</a:t>
                      </a:r>
                      <a:endParaRPr lang="en-US" sz="2000" b="1" dirty="0"/>
                    </a:p>
                  </a:txBody>
                  <a:tcPr/>
                </a:tc>
                <a:extLst>
                  <a:ext uri="{0D108BD9-81ED-4DB2-BD59-A6C34878D82A}">
                    <a16:rowId xmlns:a16="http://schemas.microsoft.com/office/drawing/2014/main" val="10000"/>
                  </a:ext>
                </a:extLst>
              </a:tr>
              <a:tr h="370840">
                <a:tc>
                  <a:txBody>
                    <a:bodyPr/>
                    <a:lstStyle/>
                    <a:p>
                      <a:r>
                        <a:rPr lang="en-US" sz="2000" dirty="0"/>
                        <a:t>     .nextLine()</a:t>
                      </a:r>
                    </a:p>
                  </a:txBody>
                  <a:tcPr/>
                </a:tc>
                <a:tc>
                  <a:txBody>
                    <a:bodyPr/>
                    <a:lstStyle/>
                    <a:p>
                      <a:r>
                        <a:rPr lang="en-US" sz="2000" dirty="0"/>
                        <a:t>Nhập</a:t>
                      </a:r>
                      <a:r>
                        <a:rPr lang="en-US" sz="2000" baseline="0" dirty="0"/>
                        <a:t> một xâu ký tự</a:t>
                      </a:r>
                      <a:endParaRPr lang="en-US" sz="2000" dirty="0"/>
                    </a:p>
                  </a:txBody>
                  <a:tcPr/>
                </a:tc>
                <a:extLst>
                  <a:ext uri="{0D108BD9-81ED-4DB2-BD59-A6C34878D82A}">
                    <a16:rowId xmlns:a16="http://schemas.microsoft.com/office/drawing/2014/main" val="10001"/>
                  </a:ext>
                </a:extLst>
              </a:tr>
              <a:tr h="370840">
                <a:tc>
                  <a:txBody>
                    <a:bodyPr/>
                    <a:lstStyle/>
                    <a:p>
                      <a:r>
                        <a:rPr lang="en-US" sz="2000" dirty="0"/>
                        <a:t>      .nextInt()</a:t>
                      </a:r>
                    </a:p>
                  </a:txBody>
                  <a:tcPr/>
                </a:tc>
                <a:tc>
                  <a:txBody>
                    <a:bodyPr/>
                    <a:lstStyle/>
                    <a:p>
                      <a:r>
                        <a:rPr lang="en-US" sz="2000" dirty="0"/>
                        <a:t>Nhập</a:t>
                      </a:r>
                      <a:r>
                        <a:rPr lang="en-US" sz="2000" baseline="0" dirty="0"/>
                        <a:t> một số nguyên</a:t>
                      </a:r>
                      <a:endParaRPr lang="en-US" sz="2000" dirty="0"/>
                    </a:p>
                  </a:txBody>
                  <a:tcPr/>
                </a:tc>
                <a:extLst>
                  <a:ext uri="{0D108BD9-81ED-4DB2-BD59-A6C34878D82A}">
                    <a16:rowId xmlns:a16="http://schemas.microsoft.com/office/drawing/2014/main" val="10002"/>
                  </a:ext>
                </a:extLst>
              </a:tr>
              <a:tr h="370840">
                <a:tc>
                  <a:txBody>
                    <a:bodyPr/>
                    <a:lstStyle/>
                    <a:p>
                      <a:r>
                        <a:rPr lang="en-US" sz="2000" dirty="0"/>
                        <a:t>      .nextFloat()</a:t>
                      </a:r>
                    </a:p>
                  </a:txBody>
                  <a:tcPr/>
                </a:tc>
                <a:tc>
                  <a:txBody>
                    <a:bodyPr/>
                    <a:lstStyle/>
                    <a:p>
                      <a:r>
                        <a:rPr lang="en-US" sz="2000" dirty="0"/>
                        <a:t>Nhập</a:t>
                      </a:r>
                      <a:r>
                        <a:rPr lang="en-US" sz="2000" baseline="0" dirty="0"/>
                        <a:t> một số thực,....</a:t>
                      </a:r>
                      <a:endParaRPr lang="en-US" sz="2000" dirty="0"/>
                    </a:p>
                  </a:txBody>
                  <a:tcPr/>
                </a:tc>
                <a:extLst>
                  <a:ext uri="{0D108BD9-81ED-4DB2-BD59-A6C34878D82A}">
                    <a16:rowId xmlns:a16="http://schemas.microsoft.com/office/drawing/2014/main" val="10003"/>
                  </a:ext>
                </a:extLst>
              </a:tr>
            </a:tbl>
          </a:graphicData>
        </a:graphic>
      </p:graphicFrame>
      <p:sp>
        <p:nvSpPr>
          <p:cNvPr id="7" name="Sun 6"/>
          <p:cNvSpPr/>
          <p:nvPr/>
        </p:nvSpPr>
        <p:spPr>
          <a:xfrm>
            <a:off x="1958896" y="5117375"/>
            <a:ext cx="349406" cy="282498"/>
          </a:xfrm>
          <a:prstGeom prst="su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p>
        </p:txBody>
      </p:sp>
      <p:sp>
        <p:nvSpPr>
          <p:cNvPr id="8" name="Sun 7"/>
          <p:cNvSpPr/>
          <p:nvPr/>
        </p:nvSpPr>
        <p:spPr>
          <a:xfrm>
            <a:off x="1981198" y="5502602"/>
            <a:ext cx="349406" cy="282498"/>
          </a:xfrm>
          <a:prstGeom prst="su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p>
        </p:txBody>
      </p:sp>
      <p:sp>
        <p:nvSpPr>
          <p:cNvPr id="9" name="Sun 8"/>
          <p:cNvSpPr/>
          <p:nvPr/>
        </p:nvSpPr>
        <p:spPr>
          <a:xfrm>
            <a:off x="1981198" y="5854376"/>
            <a:ext cx="349406" cy="282498"/>
          </a:xfrm>
          <a:prstGeom prst="su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p>
        </p:txBody>
      </p:sp>
    </p:spTree>
    <p:extLst>
      <p:ext uri="{BB962C8B-B14F-4D97-AF65-F5344CB8AC3E}">
        <p14:creationId xmlns:p14="http://schemas.microsoft.com/office/powerpoint/2010/main" val="302151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Nhập dữ liệu từ bàn phím</a:t>
            </a:r>
          </a:p>
        </p:txBody>
      </p:sp>
      <p:sp>
        <p:nvSpPr>
          <p:cNvPr id="4" name="Slide Number Placeholder 3"/>
          <p:cNvSpPr>
            <a:spLocks noGrp="1"/>
          </p:cNvSpPr>
          <p:nvPr>
            <p:ph type="sldNum" sz="quarter" idx="12"/>
          </p:nvPr>
        </p:nvSpPr>
        <p:spPr/>
        <p:txBody>
          <a:bodyPr/>
          <a:lstStyle/>
          <a:p>
            <a:fld id="{DF4C498B-416A-4F27-9E1B-2DAD6BC6C92F}" type="slidenum">
              <a:rPr lang="en-US" smtClean="0"/>
              <a:t>66</a:t>
            </a:fld>
            <a:endParaRPr lang="en-US" dirty="0"/>
          </a:p>
        </p:txBody>
      </p:sp>
      <p:sp>
        <p:nvSpPr>
          <p:cNvPr id="10" name="Content Placeholder 2"/>
          <p:cNvSpPr txBox="1">
            <a:spLocks/>
          </p:cNvSpPr>
          <p:nvPr/>
        </p:nvSpPr>
        <p:spPr>
          <a:xfrm>
            <a:off x="628650" y="1315844"/>
            <a:ext cx="7886700" cy="5207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2">
                  <a:lumMod val="75000"/>
                </a:schemeClr>
              </a:buClr>
              <a:buSzPct val="130000"/>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lumMod val="75000"/>
                </a:schemeClr>
              </a:buClr>
              <a:buSzPct val="120000"/>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anose="05000000000000000000" pitchFamily="2" charset="2"/>
              <a:buChar char="ü"/>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Char char="Ø"/>
              <a:defRPr sz="22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ts val="3300"/>
              </a:lnSpc>
              <a:spcBef>
                <a:spcPts val="300"/>
              </a:spcBef>
              <a:spcAft>
                <a:spcPts val="300"/>
              </a:spcAft>
              <a:buSzPct val="130000"/>
              <a:buFont typeface="Wingdings" panose="05000000000000000000" pitchFamily="2" charset="2"/>
              <a:buNone/>
            </a:pPr>
            <a:r>
              <a:rPr lang="en-US" sz="2800" b="1"/>
              <a:t>Ví dụ:</a:t>
            </a:r>
          </a:p>
          <a:p>
            <a:pPr marL="0" lvl="1" indent="290513" algn="just">
              <a:lnSpc>
                <a:spcPts val="3300"/>
              </a:lnSpc>
              <a:spcBef>
                <a:spcPts val="0"/>
              </a:spcBef>
              <a:buSzPct val="130000"/>
              <a:buFont typeface="Wingdings" panose="05000000000000000000" pitchFamily="2" charset="2"/>
              <a:buNone/>
            </a:pPr>
            <a:endParaRPr lang="en-US" dirty="0"/>
          </a:p>
        </p:txBody>
      </p:sp>
      <p:sp>
        <p:nvSpPr>
          <p:cNvPr id="11" name="object 2"/>
          <p:cNvSpPr/>
          <p:nvPr/>
        </p:nvSpPr>
        <p:spPr>
          <a:xfrm>
            <a:off x="379141" y="1919005"/>
            <a:ext cx="8552985" cy="2571714"/>
          </a:xfrm>
          <a:custGeom>
            <a:avLst/>
            <a:gdLst/>
            <a:ahLst/>
            <a:cxnLst/>
            <a:rect l="l" t="t" r="r" b="b"/>
            <a:pathLst>
              <a:path w="7262495" h="1354454">
                <a:moveTo>
                  <a:pt x="0" y="0"/>
                </a:moveTo>
                <a:lnTo>
                  <a:pt x="7262050" y="0"/>
                </a:lnTo>
                <a:lnTo>
                  <a:pt x="7262050" y="1099947"/>
                </a:lnTo>
                <a:lnTo>
                  <a:pt x="7190386" y="1100001"/>
                </a:lnTo>
                <a:lnTo>
                  <a:pt x="7119665" y="1100165"/>
                </a:lnTo>
                <a:lnTo>
                  <a:pt x="7049874" y="1100434"/>
                </a:lnTo>
                <a:lnTo>
                  <a:pt x="6981001" y="1100809"/>
                </a:lnTo>
                <a:lnTo>
                  <a:pt x="6913033" y="1101286"/>
                </a:lnTo>
                <a:lnTo>
                  <a:pt x="6845957" y="1101864"/>
                </a:lnTo>
                <a:lnTo>
                  <a:pt x="6779760" y="1102541"/>
                </a:lnTo>
                <a:lnTo>
                  <a:pt x="6714430" y="1103316"/>
                </a:lnTo>
                <a:lnTo>
                  <a:pt x="6649955" y="1104185"/>
                </a:lnTo>
                <a:lnTo>
                  <a:pt x="6586321" y="1105148"/>
                </a:lnTo>
                <a:lnTo>
                  <a:pt x="6523516" y="1106203"/>
                </a:lnTo>
                <a:lnTo>
                  <a:pt x="6461527" y="1107347"/>
                </a:lnTo>
                <a:lnTo>
                  <a:pt x="6400342" y="1108579"/>
                </a:lnTo>
                <a:lnTo>
                  <a:pt x="6339948" y="1109897"/>
                </a:lnTo>
                <a:lnTo>
                  <a:pt x="6280332" y="1111298"/>
                </a:lnTo>
                <a:lnTo>
                  <a:pt x="6221482" y="1112782"/>
                </a:lnTo>
                <a:lnTo>
                  <a:pt x="6163385" y="1114347"/>
                </a:lnTo>
                <a:lnTo>
                  <a:pt x="6106028" y="1115989"/>
                </a:lnTo>
                <a:lnTo>
                  <a:pt x="6049399" y="1117709"/>
                </a:lnTo>
                <a:lnTo>
                  <a:pt x="5993485" y="1119502"/>
                </a:lnTo>
                <a:lnTo>
                  <a:pt x="5938273" y="1121369"/>
                </a:lnTo>
                <a:lnTo>
                  <a:pt x="5883751" y="1123307"/>
                </a:lnTo>
                <a:lnTo>
                  <a:pt x="5829906" y="1125313"/>
                </a:lnTo>
                <a:lnTo>
                  <a:pt x="5776726" y="1127387"/>
                </a:lnTo>
                <a:lnTo>
                  <a:pt x="5724197" y="1129526"/>
                </a:lnTo>
                <a:lnTo>
                  <a:pt x="5672308" y="1131728"/>
                </a:lnTo>
                <a:lnTo>
                  <a:pt x="5621044" y="1133992"/>
                </a:lnTo>
                <a:lnTo>
                  <a:pt x="5570395" y="1136316"/>
                </a:lnTo>
                <a:lnTo>
                  <a:pt x="5520347" y="1138697"/>
                </a:lnTo>
                <a:lnTo>
                  <a:pt x="5470887" y="1141134"/>
                </a:lnTo>
                <a:lnTo>
                  <a:pt x="5422003" y="1143625"/>
                </a:lnTo>
                <a:lnTo>
                  <a:pt x="5373682" y="1146168"/>
                </a:lnTo>
                <a:lnTo>
                  <a:pt x="5325912" y="1148762"/>
                </a:lnTo>
                <a:lnTo>
                  <a:pt x="5278680" y="1151404"/>
                </a:lnTo>
                <a:lnTo>
                  <a:pt x="5231972" y="1154092"/>
                </a:lnTo>
                <a:lnTo>
                  <a:pt x="5185778" y="1156825"/>
                </a:lnTo>
                <a:lnTo>
                  <a:pt x="5140083" y="1159601"/>
                </a:lnTo>
                <a:lnTo>
                  <a:pt x="5094875" y="1162418"/>
                </a:lnTo>
                <a:lnTo>
                  <a:pt x="5050142" y="1165274"/>
                </a:lnTo>
                <a:lnTo>
                  <a:pt x="5005871" y="1168167"/>
                </a:lnTo>
                <a:lnTo>
                  <a:pt x="4962050" y="1171095"/>
                </a:lnTo>
                <a:lnTo>
                  <a:pt x="4918665" y="1174056"/>
                </a:lnTo>
                <a:lnTo>
                  <a:pt x="4875703" y="1177049"/>
                </a:lnTo>
                <a:lnTo>
                  <a:pt x="4833153" y="1180072"/>
                </a:lnTo>
                <a:lnTo>
                  <a:pt x="4791002" y="1183122"/>
                </a:lnTo>
                <a:lnTo>
                  <a:pt x="4749237" y="1186199"/>
                </a:lnTo>
                <a:lnTo>
                  <a:pt x="4707845" y="1189299"/>
                </a:lnTo>
                <a:lnTo>
                  <a:pt x="4666814" y="1192421"/>
                </a:lnTo>
                <a:lnTo>
                  <a:pt x="4626131" y="1195564"/>
                </a:lnTo>
                <a:lnTo>
                  <a:pt x="4585783" y="1198725"/>
                </a:lnTo>
                <a:lnTo>
                  <a:pt x="4545758" y="1201903"/>
                </a:lnTo>
                <a:lnTo>
                  <a:pt x="4506043" y="1205095"/>
                </a:lnTo>
                <a:lnTo>
                  <a:pt x="4466625" y="1208300"/>
                </a:lnTo>
                <a:lnTo>
                  <a:pt x="4427492" y="1211516"/>
                </a:lnTo>
                <a:lnTo>
                  <a:pt x="4388631" y="1214740"/>
                </a:lnTo>
                <a:lnTo>
                  <a:pt x="4350030" y="1217972"/>
                </a:lnTo>
                <a:lnTo>
                  <a:pt x="4311675" y="1221209"/>
                </a:lnTo>
                <a:lnTo>
                  <a:pt x="4273555" y="1224450"/>
                </a:lnTo>
                <a:lnTo>
                  <a:pt x="4197966" y="1230934"/>
                </a:lnTo>
                <a:lnTo>
                  <a:pt x="4123161" y="1237408"/>
                </a:lnTo>
                <a:lnTo>
                  <a:pt x="4049040" y="1243859"/>
                </a:lnTo>
                <a:lnTo>
                  <a:pt x="4012204" y="1247070"/>
                </a:lnTo>
                <a:lnTo>
                  <a:pt x="3975501" y="1250270"/>
                </a:lnTo>
                <a:lnTo>
                  <a:pt x="3902443" y="1256628"/>
                </a:lnTo>
                <a:lnTo>
                  <a:pt x="3829764" y="1262916"/>
                </a:lnTo>
                <a:lnTo>
                  <a:pt x="3757364" y="1269121"/>
                </a:lnTo>
                <a:lnTo>
                  <a:pt x="3685141" y="1275226"/>
                </a:lnTo>
                <a:lnTo>
                  <a:pt x="3612994" y="1281217"/>
                </a:lnTo>
                <a:lnTo>
                  <a:pt x="3540822" y="1287079"/>
                </a:lnTo>
                <a:lnTo>
                  <a:pt x="3468523" y="1292797"/>
                </a:lnTo>
                <a:lnTo>
                  <a:pt x="3395997" y="1298356"/>
                </a:lnTo>
                <a:lnTo>
                  <a:pt x="3323141" y="1303741"/>
                </a:lnTo>
                <a:lnTo>
                  <a:pt x="3249855" y="1308937"/>
                </a:lnTo>
                <a:lnTo>
                  <a:pt x="3176037" y="1313929"/>
                </a:lnTo>
                <a:lnTo>
                  <a:pt x="3101587" y="1318701"/>
                </a:lnTo>
                <a:lnTo>
                  <a:pt x="3026403" y="1323240"/>
                </a:lnTo>
                <a:lnTo>
                  <a:pt x="2950383" y="1327529"/>
                </a:lnTo>
                <a:lnTo>
                  <a:pt x="2912029" y="1329576"/>
                </a:lnTo>
                <a:lnTo>
                  <a:pt x="2873427" y="1331555"/>
                </a:lnTo>
                <a:lnTo>
                  <a:pt x="2834566" y="1333463"/>
                </a:lnTo>
                <a:lnTo>
                  <a:pt x="2795433" y="1335301"/>
                </a:lnTo>
                <a:lnTo>
                  <a:pt x="2756015" y="1337064"/>
                </a:lnTo>
                <a:lnTo>
                  <a:pt x="2716300" y="1338753"/>
                </a:lnTo>
                <a:lnTo>
                  <a:pt x="2676275" y="1340364"/>
                </a:lnTo>
                <a:lnTo>
                  <a:pt x="2635927" y="1341896"/>
                </a:lnTo>
                <a:lnTo>
                  <a:pt x="2595244" y="1343346"/>
                </a:lnTo>
                <a:lnTo>
                  <a:pt x="2554213" y="1344714"/>
                </a:lnTo>
                <a:lnTo>
                  <a:pt x="2512821" y="1345997"/>
                </a:lnTo>
                <a:lnTo>
                  <a:pt x="2471055" y="1347194"/>
                </a:lnTo>
                <a:lnTo>
                  <a:pt x="2428904" y="1348302"/>
                </a:lnTo>
                <a:lnTo>
                  <a:pt x="2386354" y="1349319"/>
                </a:lnTo>
                <a:lnTo>
                  <a:pt x="2343393" y="1350244"/>
                </a:lnTo>
                <a:lnTo>
                  <a:pt x="2300007" y="1351075"/>
                </a:lnTo>
                <a:lnTo>
                  <a:pt x="2256185" y="1351810"/>
                </a:lnTo>
                <a:lnTo>
                  <a:pt x="2211914" y="1352447"/>
                </a:lnTo>
                <a:lnTo>
                  <a:pt x="2167181" y="1352985"/>
                </a:lnTo>
                <a:lnTo>
                  <a:pt x="2121974" y="1353420"/>
                </a:lnTo>
                <a:lnTo>
                  <a:pt x="2076279" y="1353752"/>
                </a:lnTo>
                <a:lnTo>
                  <a:pt x="2030084" y="1353979"/>
                </a:lnTo>
                <a:lnTo>
                  <a:pt x="1983377" y="1354098"/>
                </a:lnTo>
                <a:lnTo>
                  <a:pt x="1936144" y="1354108"/>
                </a:lnTo>
                <a:lnTo>
                  <a:pt x="1888374" y="1354008"/>
                </a:lnTo>
                <a:lnTo>
                  <a:pt x="1840053" y="1353794"/>
                </a:lnTo>
                <a:lnTo>
                  <a:pt x="1791169" y="1353465"/>
                </a:lnTo>
                <a:lnTo>
                  <a:pt x="1741709" y="1353020"/>
                </a:lnTo>
                <a:lnTo>
                  <a:pt x="1691660" y="1352456"/>
                </a:lnTo>
                <a:lnTo>
                  <a:pt x="1641011" y="1351772"/>
                </a:lnTo>
                <a:lnTo>
                  <a:pt x="1589747" y="1350965"/>
                </a:lnTo>
                <a:lnTo>
                  <a:pt x="1537858" y="1350034"/>
                </a:lnTo>
                <a:lnTo>
                  <a:pt x="1485329" y="1348978"/>
                </a:lnTo>
                <a:lnTo>
                  <a:pt x="1432148" y="1347793"/>
                </a:lnTo>
                <a:lnTo>
                  <a:pt x="1378303" y="1346478"/>
                </a:lnTo>
                <a:lnTo>
                  <a:pt x="1323781" y="1345032"/>
                </a:lnTo>
                <a:lnTo>
                  <a:pt x="1268569" y="1343452"/>
                </a:lnTo>
                <a:lnTo>
                  <a:pt x="1212655" y="1341737"/>
                </a:lnTo>
                <a:lnTo>
                  <a:pt x="1156025" y="1339885"/>
                </a:lnTo>
                <a:lnTo>
                  <a:pt x="1098668" y="1337893"/>
                </a:lnTo>
                <a:lnTo>
                  <a:pt x="1040571" y="1335760"/>
                </a:lnTo>
                <a:lnTo>
                  <a:pt x="981721" y="1333485"/>
                </a:lnTo>
                <a:lnTo>
                  <a:pt x="922105" y="1331064"/>
                </a:lnTo>
                <a:lnTo>
                  <a:pt x="861710" y="1328497"/>
                </a:lnTo>
                <a:lnTo>
                  <a:pt x="800525" y="1325781"/>
                </a:lnTo>
                <a:lnTo>
                  <a:pt x="738536" y="1322915"/>
                </a:lnTo>
                <a:lnTo>
                  <a:pt x="675731" y="1319896"/>
                </a:lnTo>
                <a:lnTo>
                  <a:pt x="612097" y="1316724"/>
                </a:lnTo>
                <a:lnTo>
                  <a:pt x="547621" y="1313395"/>
                </a:lnTo>
                <a:lnTo>
                  <a:pt x="482291" y="1309908"/>
                </a:lnTo>
                <a:lnTo>
                  <a:pt x="416094" y="1306262"/>
                </a:lnTo>
                <a:lnTo>
                  <a:pt x="349018" y="1302454"/>
                </a:lnTo>
                <a:lnTo>
                  <a:pt x="281049" y="1298482"/>
                </a:lnTo>
                <a:lnTo>
                  <a:pt x="212176" y="1294345"/>
                </a:lnTo>
                <a:lnTo>
                  <a:pt x="142385" y="1290040"/>
                </a:lnTo>
                <a:lnTo>
                  <a:pt x="71664" y="1285566"/>
                </a:lnTo>
                <a:lnTo>
                  <a:pt x="0" y="1280922"/>
                </a:lnTo>
                <a:lnTo>
                  <a:pt x="0" y="0"/>
                </a:lnTo>
                <a:close/>
              </a:path>
            </a:pathLst>
          </a:custGeom>
          <a:ln w="25400">
            <a:solidFill>
              <a:srgbClr val="9BBB59"/>
            </a:solidFill>
          </a:ln>
        </p:spPr>
        <p:txBody>
          <a:bodyPr wrap="square" lIns="0" tIns="0" rIns="0" bIns="0" rtlCol="0"/>
          <a:lstStyle/>
          <a:p>
            <a:endParaRPr/>
          </a:p>
        </p:txBody>
      </p:sp>
      <p:sp>
        <p:nvSpPr>
          <p:cNvPr id="12" name="object 14"/>
          <p:cNvSpPr/>
          <p:nvPr/>
        </p:nvSpPr>
        <p:spPr>
          <a:xfrm>
            <a:off x="2245063" y="5103822"/>
            <a:ext cx="489584" cy="485140"/>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13" name="object 16"/>
          <p:cNvSpPr/>
          <p:nvPr/>
        </p:nvSpPr>
        <p:spPr>
          <a:xfrm>
            <a:off x="2830826" y="4113910"/>
            <a:ext cx="5482219" cy="2242441"/>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14" name="object 13"/>
          <p:cNvSpPr txBox="1"/>
          <p:nvPr/>
        </p:nvSpPr>
        <p:spPr>
          <a:xfrm>
            <a:off x="379141" y="1854985"/>
            <a:ext cx="8809463" cy="2369880"/>
          </a:xfrm>
          <a:prstGeom prst="rect">
            <a:avLst/>
          </a:prstGeom>
        </p:spPr>
        <p:txBody>
          <a:bodyPr vert="horz" wrap="square" lIns="0" tIns="12700" rIns="0" bIns="0" rtlCol="0">
            <a:spAutoFit/>
          </a:bodyPr>
          <a:lstStyle/>
          <a:p>
            <a:pPr marL="12700">
              <a:lnSpc>
                <a:spcPct val="100000"/>
              </a:lnSpc>
              <a:spcBef>
                <a:spcPts val="100"/>
              </a:spcBef>
            </a:pPr>
            <a:r>
              <a:rPr lang="en-US" sz="2500" b="1" spc="-50" dirty="0">
                <a:latin typeface="Courier" panose="02020500000000000000" pitchFamily="18" charset="0"/>
                <a:ea typeface="Courier" panose="02020500000000000000" pitchFamily="18" charset="0"/>
                <a:cs typeface="Courier" panose="02020500000000000000" pitchFamily="18" charset="0"/>
              </a:rPr>
              <a:t>scanner</a:t>
            </a:r>
            <a:r>
              <a:rPr sz="2500" b="1" spc="-50" dirty="0">
                <a:latin typeface="Courier" panose="02020500000000000000" pitchFamily="18" charset="0"/>
                <a:ea typeface="Courier" panose="02020500000000000000" pitchFamily="18" charset="0"/>
                <a:cs typeface="Courier" panose="02020500000000000000" pitchFamily="18" charset="0"/>
              </a:rPr>
              <a:t>.</a:t>
            </a:r>
            <a:r>
              <a:rPr lang="en-US" sz="2500" b="1" spc="-50" dirty="0">
                <a:latin typeface="Courier" panose="02020500000000000000" pitchFamily="18" charset="0"/>
                <a:ea typeface="Courier" panose="02020500000000000000" pitchFamily="18" charset="0"/>
                <a:cs typeface="Courier" panose="02020500000000000000" pitchFamily="18" charset="0"/>
              </a:rPr>
              <a:t>obj=new Scanner(system.in)</a:t>
            </a:r>
            <a:r>
              <a:rPr sz="2500" b="1" spc="-50" dirty="0">
                <a:latin typeface="Courier" panose="02020500000000000000" pitchFamily="18" charset="0"/>
                <a:ea typeface="Courier" panose="02020500000000000000" pitchFamily="18" charset="0"/>
                <a:cs typeface="Courier" panose="02020500000000000000" pitchFamily="18" charset="0"/>
              </a:rPr>
              <a:t>;</a:t>
            </a:r>
            <a:endParaRPr lang="en-US" sz="2500" b="1" spc="-50"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spcBef>
                <a:spcPts val="100"/>
              </a:spcBef>
            </a:pPr>
            <a:r>
              <a:rPr lang="en-US" sz="2500" b="1" spc="-50" dirty="0">
                <a:latin typeface="Courier" panose="02020500000000000000" pitchFamily="18" charset="0"/>
                <a:ea typeface="Courier" panose="02020500000000000000" pitchFamily="18" charset="0"/>
                <a:cs typeface="Courier" panose="02020500000000000000" pitchFamily="18" charset="0"/>
              </a:rPr>
              <a:t>Int a; float b; </a:t>
            </a:r>
          </a:p>
          <a:p>
            <a:pPr marL="12700">
              <a:lnSpc>
                <a:spcPct val="100000"/>
              </a:lnSpc>
              <a:spcBef>
                <a:spcPts val="100"/>
              </a:spcBef>
            </a:pPr>
            <a:r>
              <a:rPr lang="en-US" sz="2500" b="1" spc="-90" dirty="0">
                <a:latin typeface="Courier" panose="02020500000000000000" pitchFamily="18" charset="0"/>
                <a:ea typeface="Courier" panose="02020500000000000000" pitchFamily="18" charset="0"/>
                <a:cs typeface="Courier" panose="02020500000000000000" pitchFamily="18" charset="0"/>
              </a:rPr>
              <a:t>System.out.print(“Nhập a:”);a=obj.nextInt();</a:t>
            </a:r>
          </a:p>
          <a:p>
            <a:pPr marL="12700">
              <a:spcBef>
                <a:spcPts val="100"/>
              </a:spcBef>
            </a:pPr>
            <a:r>
              <a:rPr lang="en-US" sz="2500" b="1" spc="-90" dirty="0">
                <a:latin typeface="Courier" panose="02020500000000000000" pitchFamily="18" charset="0"/>
                <a:ea typeface="Courier" panose="02020500000000000000" pitchFamily="18" charset="0"/>
                <a:cs typeface="Courier" panose="02020500000000000000" pitchFamily="18" charset="0"/>
              </a:rPr>
              <a:t>System.out.print(“Nhập b:”);b=obj.nextFloat();</a:t>
            </a:r>
          </a:p>
          <a:p>
            <a:pPr marL="12700">
              <a:spcBef>
                <a:spcPts val="100"/>
              </a:spcBef>
            </a:pPr>
            <a:r>
              <a:rPr lang="en-US" sz="2400" b="1" spc="-90" dirty="0">
                <a:latin typeface="Courier" panose="02020500000000000000" pitchFamily="18" charset="0"/>
                <a:ea typeface="Courier" panose="02020500000000000000" pitchFamily="18" charset="0"/>
                <a:cs typeface="Courier" panose="02020500000000000000" pitchFamily="18" charset="0"/>
              </a:rPr>
              <a:t>System.out.printf(“\nKet qua tong:%f”, a+b);</a:t>
            </a:r>
            <a:endParaRPr lang="en-US" sz="2500" b="1" spc="-90"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spcBef>
                <a:spcPts val="100"/>
              </a:spcBef>
            </a:pPr>
            <a:r>
              <a:rPr lang="en-US" sz="2500" spc="-90" dirty="0">
                <a:latin typeface="Courier" panose="02020500000000000000" pitchFamily="18" charset="0"/>
                <a:ea typeface="Courier" panose="02020500000000000000" pitchFamily="18" charset="0"/>
                <a:cs typeface="Courier" panose="02020500000000000000" pitchFamily="18" charset="0"/>
              </a:rPr>
              <a:t> </a:t>
            </a:r>
            <a:endParaRPr sz="2500" spc="-90" dirty="0">
              <a:latin typeface="Courier" panose="02020500000000000000" pitchFamily="18" charset="0"/>
              <a:ea typeface="Courier" panose="02020500000000000000" pitchFamily="18" charset="0"/>
              <a:cs typeface="Courier" panose="02020500000000000000" pitchFamily="18" charset="0"/>
            </a:endParaRPr>
          </a:p>
        </p:txBody>
      </p:sp>
      <p:sp>
        <p:nvSpPr>
          <p:cNvPr id="15" name="object 19"/>
          <p:cNvSpPr txBox="1"/>
          <p:nvPr/>
        </p:nvSpPr>
        <p:spPr>
          <a:xfrm>
            <a:off x="3009246" y="4297191"/>
            <a:ext cx="5207620" cy="1613262"/>
          </a:xfrm>
          <a:prstGeom prst="rect">
            <a:avLst/>
          </a:prstGeom>
        </p:spPr>
        <p:txBody>
          <a:bodyPr vert="horz" wrap="square" lIns="0" tIns="12700" rIns="0" bIns="0" rtlCol="0">
            <a:spAutoFit/>
          </a:bodyPr>
          <a:lstStyle/>
          <a:p>
            <a:pPr marL="12700">
              <a:lnSpc>
                <a:spcPct val="100000"/>
              </a:lnSpc>
              <a:spcBef>
                <a:spcPts val="100"/>
              </a:spcBef>
            </a:pPr>
            <a:r>
              <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rPr>
              <a:t>Nhập a: 174</a:t>
            </a:r>
            <a:endParaRPr sz="2600" b="1"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pPr>
            <a:r>
              <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rPr>
              <a:t>Nhập b: 20.75</a:t>
            </a:r>
          </a:p>
          <a:p>
            <a:pPr marL="12700">
              <a:lnSpc>
                <a:spcPct val="100000"/>
              </a:lnSpc>
            </a:pPr>
            <a:endPar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pPr>
            <a:r>
              <a:rPr lang="en-US" sz="2600" b="1" spc="-210" dirty="0">
                <a:solidFill>
                  <a:srgbClr val="FFFFFF"/>
                </a:solidFill>
                <a:latin typeface="Courier" panose="02020500000000000000" pitchFamily="18" charset="0"/>
                <a:ea typeface="Courier" panose="02020500000000000000" pitchFamily="18" charset="0"/>
                <a:cs typeface="Courier" panose="02020500000000000000" pitchFamily="18" charset="0"/>
              </a:rPr>
              <a:t>Kết qua tong: 194.750000</a:t>
            </a:r>
            <a:endParaRPr sz="2600" b="1" dirty="0">
              <a:latin typeface="Courier" panose="02020500000000000000" pitchFamily="18" charset="0"/>
              <a:ea typeface="Courier" panose="02020500000000000000" pitchFamily="18" charset="0"/>
              <a:cs typeface="Courier" panose="02020500000000000000" pitchFamily="18" charset="0"/>
            </a:endParaRPr>
          </a:p>
        </p:txBody>
      </p:sp>
    </p:spTree>
    <p:extLst>
      <p:ext uri="{BB962C8B-B14F-4D97-AF65-F5344CB8AC3E}">
        <p14:creationId xmlns:p14="http://schemas.microsoft.com/office/powerpoint/2010/main" val="1729344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(Array)</a:t>
            </a:r>
          </a:p>
        </p:txBody>
      </p:sp>
      <p:sp>
        <p:nvSpPr>
          <p:cNvPr id="3" name="Content Placeholder 2"/>
          <p:cNvSpPr>
            <a:spLocks noGrp="1"/>
          </p:cNvSpPr>
          <p:nvPr>
            <p:ph idx="1"/>
          </p:nvPr>
        </p:nvSpPr>
        <p:spPr>
          <a:xfrm>
            <a:off x="650952" y="1293540"/>
            <a:ext cx="7886700" cy="5166413"/>
          </a:xfrm>
        </p:spPr>
        <p:txBody>
          <a:bodyPr>
            <a:noAutofit/>
          </a:bodyPr>
          <a:lstStyle/>
          <a:p>
            <a:pPr algn="just">
              <a:lnSpc>
                <a:spcPts val="3500"/>
              </a:lnSpc>
              <a:spcBef>
                <a:spcPts val="300"/>
              </a:spcBef>
              <a:spcAft>
                <a:spcPts val="300"/>
              </a:spcAft>
            </a:pPr>
            <a:r>
              <a:rPr lang="vi-VN" spc="35" dirty="0">
                <a:latin typeface="Arial"/>
                <a:cs typeface="Arial"/>
              </a:rPr>
              <a:t>Mảng </a:t>
            </a:r>
            <a:r>
              <a:rPr lang="vi-VN" spc="-45" dirty="0">
                <a:latin typeface="Arial"/>
                <a:cs typeface="Arial"/>
              </a:rPr>
              <a:t>l</a:t>
            </a:r>
            <a:r>
              <a:rPr lang="en-US" spc="-45" dirty="0">
                <a:latin typeface="Arial"/>
                <a:cs typeface="Arial"/>
              </a:rPr>
              <a:t>à</a:t>
            </a:r>
            <a:r>
              <a:rPr lang="vi-VN" spc="35" dirty="0">
                <a:latin typeface="Arial"/>
                <a:cs typeface="Arial"/>
              </a:rPr>
              <a:t> kiểu dữ liệu có cấu trúc gồm một tập hợp cố định các phần tử có cùng kiểu dữ liệu,</a:t>
            </a:r>
            <a:r>
              <a:rPr lang="vi-VN" dirty="0"/>
              <a:t> các phần tử của mảng có cùng tên và được phân biệt nhau bởi chỉ số. </a:t>
            </a:r>
            <a:endParaRPr lang="en-US" dirty="0"/>
          </a:p>
          <a:p>
            <a:pPr algn="just">
              <a:lnSpc>
                <a:spcPts val="3500"/>
              </a:lnSpc>
              <a:spcBef>
                <a:spcPts val="300"/>
              </a:spcBef>
              <a:spcAft>
                <a:spcPts val="300"/>
              </a:spcAft>
            </a:pPr>
            <a:endParaRPr lang="en-US" spc="5" dirty="0">
              <a:latin typeface="Arial"/>
              <a:cs typeface="Arial"/>
            </a:endParaRPr>
          </a:p>
          <a:p>
            <a:pPr algn="just">
              <a:lnSpc>
                <a:spcPts val="3500"/>
              </a:lnSpc>
              <a:spcBef>
                <a:spcPts val="300"/>
              </a:spcBef>
              <a:spcAft>
                <a:spcPts val="300"/>
              </a:spcAft>
            </a:pPr>
            <a:endParaRPr lang="en-US" spc="5" dirty="0">
              <a:latin typeface="Arial"/>
              <a:cs typeface="Arial"/>
            </a:endParaRPr>
          </a:p>
          <a:p>
            <a:pPr algn="just">
              <a:lnSpc>
                <a:spcPts val="3500"/>
              </a:lnSpc>
              <a:spcBef>
                <a:spcPts val="300"/>
              </a:spcBef>
              <a:spcAft>
                <a:spcPts val="300"/>
              </a:spcAft>
            </a:pPr>
            <a:r>
              <a:rPr lang="en-US" spc="5" dirty="0">
                <a:latin typeface="Arial"/>
                <a:cs typeface="Arial"/>
              </a:rPr>
              <a:t>Đối với mảng ta quan tâm các thành phần sau:</a:t>
            </a:r>
          </a:p>
          <a:p>
            <a:pPr lvl="1" algn="just">
              <a:lnSpc>
                <a:spcPts val="3500"/>
              </a:lnSpc>
              <a:spcBef>
                <a:spcPts val="300"/>
              </a:spcBef>
              <a:spcAft>
                <a:spcPts val="300"/>
              </a:spcAft>
            </a:pPr>
            <a:r>
              <a:rPr lang="en-US" dirty="0"/>
              <a:t>Các thông tin liên quan đến mảng: tên mảng, số phần tử của mảng, kiểu dữ liệu của mảng.</a:t>
            </a:r>
          </a:p>
          <a:p>
            <a:pPr lvl="1" algn="just">
              <a:lnSpc>
                <a:spcPts val="3500"/>
              </a:lnSpc>
              <a:spcBef>
                <a:spcPts val="300"/>
              </a:spcBef>
              <a:spcAft>
                <a:spcPts val="300"/>
              </a:spcAft>
            </a:pPr>
            <a:r>
              <a:rPr lang="en-US" dirty="0"/>
              <a:t>Số chiều của mảng: mảng một hay nhiều chiều.</a:t>
            </a:r>
            <a:endParaRPr lang="en-US" spc="5" dirty="0">
              <a:latin typeface="Arial"/>
              <a:cs typeface="Arial"/>
            </a:endParaRPr>
          </a:p>
          <a:p>
            <a:pPr algn="just">
              <a:lnSpc>
                <a:spcPts val="3500"/>
              </a:lnSpc>
              <a:spcBef>
                <a:spcPts val="300"/>
              </a:spcBef>
              <a:spcAft>
                <a:spcPts val="300"/>
              </a:spcAft>
            </a:pPr>
            <a:endParaRPr lang="en-US" spc="5" dirty="0">
              <a:latin typeface="Arial"/>
              <a:cs typeface="Arial"/>
            </a:endParaRPr>
          </a:p>
          <a:p>
            <a:pPr algn="just">
              <a:lnSpc>
                <a:spcPts val="3500"/>
              </a:lnSpc>
              <a:spcBef>
                <a:spcPts val="300"/>
              </a:spcBef>
              <a:spcAft>
                <a:spcPts val="300"/>
              </a:spcAft>
            </a:pPr>
            <a:endParaRPr lang="en-US" spc="5" dirty="0">
              <a:latin typeface="Arial"/>
              <a:cs typeface="Arial"/>
            </a:endParaRPr>
          </a:p>
          <a:p>
            <a:pPr marL="457200" lvl="1" indent="0" algn="just">
              <a:lnSpc>
                <a:spcPts val="3500"/>
              </a:lnSpc>
              <a:spcBef>
                <a:spcPts val="300"/>
              </a:spcBef>
              <a:spcAft>
                <a:spcPts val="300"/>
              </a:spcAft>
              <a:buNone/>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67</a:t>
            </a:fld>
            <a:endParaRPr lang="en-US" dirty="0"/>
          </a:p>
        </p:txBody>
      </p:sp>
      <p:grpSp>
        <p:nvGrpSpPr>
          <p:cNvPr id="9" name="Group 8"/>
          <p:cNvGrpSpPr/>
          <p:nvPr/>
        </p:nvGrpSpPr>
        <p:grpSpPr>
          <a:xfrm>
            <a:off x="1050170" y="3206927"/>
            <a:ext cx="7246900" cy="1001921"/>
            <a:chOff x="1050170" y="3229229"/>
            <a:chExt cx="7246900" cy="1001921"/>
          </a:xfrm>
        </p:grpSpPr>
        <p:sp>
          <p:nvSpPr>
            <p:cNvPr id="7" name="object 14"/>
            <p:cNvSpPr/>
            <p:nvPr/>
          </p:nvSpPr>
          <p:spPr>
            <a:xfrm>
              <a:off x="6231499" y="3801862"/>
              <a:ext cx="504400" cy="45719"/>
            </a:xfrm>
            <a:custGeom>
              <a:avLst/>
              <a:gdLst/>
              <a:ahLst/>
              <a:cxnLst/>
              <a:rect l="l" t="t" r="r" b="b"/>
              <a:pathLst>
                <a:path w="477520">
                  <a:moveTo>
                    <a:pt x="477278" y="0"/>
                  </a:moveTo>
                  <a:lnTo>
                    <a:pt x="0" y="0"/>
                  </a:lnTo>
                </a:path>
              </a:pathLst>
            </a:custGeom>
            <a:ln w="25400">
              <a:solidFill>
                <a:srgbClr val="4A7EBB"/>
              </a:solidFill>
              <a:headEnd type="none"/>
              <a:tailEnd type="arrow"/>
            </a:ln>
          </p:spPr>
          <p:txBody>
            <a:bodyPr wrap="square" lIns="0" tIns="0" rIns="0" bIns="0" rtlCol="0"/>
            <a:lstStyle/>
            <a:p>
              <a:endParaRPr/>
            </a:p>
          </p:txBody>
        </p:sp>
        <p:grpSp>
          <p:nvGrpSpPr>
            <p:cNvPr id="8" name="Group 7"/>
            <p:cNvGrpSpPr/>
            <p:nvPr/>
          </p:nvGrpSpPr>
          <p:grpSpPr>
            <a:xfrm>
              <a:off x="1050170" y="3229229"/>
              <a:ext cx="7246900" cy="1001921"/>
              <a:chOff x="1139381" y="3807782"/>
              <a:chExt cx="7246900" cy="1001921"/>
            </a:xfrm>
          </p:grpSpPr>
          <p:sp>
            <p:nvSpPr>
              <p:cNvPr id="5" name="object 10"/>
              <p:cNvSpPr/>
              <p:nvPr/>
            </p:nvSpPr>
            <p:spPr>
              <a:xfrm>
                <a:off x="1139381" y="3807782"/>
                <a:ext cx="5197300" cy="1001921"/>
              </a:xfrm>
              <a:prstGeom prst="rect">
                <a:avLst/>
              </a:prstGeom>
              <a:blipFill>
                <a:blip r:embed="rId3" cstate="print"/>
                <a:stretch>
                  <a:fillRect/>
                </a:stretch>
              </a:blipFill>
            </p:spPr>
            <p:txBody>
              <a:bodyPr wrap="square" lIns="0" tIns="0" rIns="0" bIns="0" rtlCol="0"/>
              <a:lstStyle/>
              <a:p>
                <a:endParaRPr/>
              </a:p>
            </p:txBody>
          </p:sp>
          <p:sp>
            <p:nvSpPr>
              <p:cNvPr id="6" name="object 12"/>
              <p:cNvSpPr/>
              <p:nvPr/>
            </p:nvSpPr>
            <p:spPr>
              <a:xfrm>
                <a:off x="6288873" y="4036537"/>
                <a:ext cx="504400" cy="45719"/>
              </a:xfrm>
              <a:custGeom>
                <a:avLst/>
                <a:gdLst/>
                <a:ahLst/>
                <a:cxnLst/>
                <a:rect l="l" t="t" r="r" b="b"/>
                <a:pathLst>
                  <a:path w="477520">
                    <a:moveTo>
                      <a:pt x="477278" y="0"/>
                    </a:moveTo>
                    <a:lnTo>
                      <a:pt x="0" y="0"/>
                    </a:lnTo>
                  </a:path>
                </a:pathLst>
              </a:custGeom>
              <a:ln w="25400">
                <a:solidFill>
                  <a:srgbClr val="4A7EBB"/>
                </a:solidFill>
                <a:headEnd type="none"/>
                <a:tailEnd type="arrow"/>
              </a:ln>
            </p:spPr>
            <p:txBody>
              <a:bodyPr wrap="square" lIns="0" tIns="0" rIns="0" bIns="0" rtlCol="0"/>
              <a:lstStyle/>
              <a:p>
                <a:endParaRPr/>
              </a:p>
            </p:txBody>
          </p:sp>
          <p:sp>
            <p:nvSpPr>
              <p:cNvPr id="10" name="TextBox 9"/>
              <p:cNvSpPr txBox="1"/>
              <p:nvPr/>
            </p:nvSpPr>
            <p:spPr>
              <a:xfrm>
                <a:off x="6825110" y="3866239"/>
                <a:ext cx="1059366" cy="369332"/>
              </a:xfrm>
              <a:prstGeom prst="rect">
                <a:avLst/>
              </a:prstGeom>
              <a:noFill/>
            </p:spPr>
            <p:txBody>
              <a:bodyPr wrap="square" rtlCol="0">
                <a:spAutoFit/>
              </a:bodyPr>
              <a:lstStyle/>
              <a:p>
                <a:r>
                  <a:rPr lang="en-US" dirty="0">
                    <a:solidFill>
                      <a:srgbClr val="FF0000"/>
                    </a:solidFill>
                  </a:rPr>
                  <a:t>indeces</a:t>
                </a:r>
              </a:p>
            </p:txBody>
          </p:sp>
          <p:sp>
            <p:nvSpPr>
              <p:cNvPr id="11" name="TextBox 10"/>
              <p:cNvSpPr txBox="1"/>
              <p:nvPr/>
            </p:nvSpPr>
            <p:spPr>
              <a:xfrm>
                <a:off x="6825110" y="4197131"/>
                <a:ext cx="1561171" cy="369332"/>
              </a:xfrm>
              <a:prstGeom prst="rect">
                <a:avLst/>
              </a:prstGeom>
              <a:noFill/>
            </p:spPr>
            <p:txBody>
              <a:bodyPr wrap="square" rtlCol="0">
                <a:spAutoFit/>
              </a:bodyPr>
              <a:lstStyle/>
              <a:p>
                <a:r>
                  <a:rPr lang="en-US" dirty="0">
                    <a:solidFill>
                      <a:srgbClr val="FF0000"/>
                    </a:solidFill>
                  </a:rPr>
                  <a:t>Element</a:t>
                </a:r>
              </a:p>
            </p:txBody>
          </p:sp>
        </p:grpSp>
      </p:grpSp>
    </p:spTree>
    <p:extLst>
      <p:ext uri="{BB962C8B-B14F-4D97-AF65-F5344CB8AC3E}">
        <p14:creationId xmlns:p14="http://schemas.microsoft.com/office/powerpoint/2010/main" val="3931608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(Array)</a:t>
            </a:r>
          </a:p>
        </p:txBody>
      </p:sp>
      <p:sp>
        <p:nvSpPr>
          <p:cNvPr id="3" name="Content Placeholder 2"/>
          <p:cNvSpPr>
            <a:spLocks noGrp="1"/>
          </p:cNvSpPr>
          <p:nvPr>
            <p:ph idx="1"/>
          </p:nvPr>
        </p:nvSpPr>
        <p:spPr>
          <a:xfrm>
            <a:off x="628650" y="1300439"/>
            <a:ext cx="7886700" cy="5256478"/>
          </a:xfrm>
        </p:spPr>
        <p:txBody>
          <a:bodyPr>
            <a:noAutofit/>
          </a:bodyPr>
          <a:lstStyle/>
          <a:p>
            <a:pPr algn="just">
              <a:lnSpc>
                <a:spcPts val="3500"/>
              </a:lnSpc>
              <a:spcBef>
                <a:spcPts val="600"/>
              </a:spcBef>
              <a:spcAft>
                <a:spcPts val="600"/>
              </a:spcAft>
            </a:pPr>
            <a:r>
              <a:rPr lang="en-US" spc="-180" dirty="0">
                <a:latin typeface="+mj-lt"/>
                <a:cs typeface="Arial"/>
              </a:rPr>
              <a:t>Các </a:t>
            </a:r>
            <a:r>
              <a:rPr lang="en-US" spc="35" dirty="0">
                <a:latin typeface="+mj-lt"/>
                <a:cs typeface="Arial"/>
              </a:rPr>
              <a:t>thao </a:t>
            </a:r>
            <a:r>
              <a:rPr lang="en-US" spc="-25" dirty="0">
                <a:latin typeface="+mj-lt"/>
                <a:cs typeface="Arial"/>
              </a:rPr>
              <a:t>tác</a:t>
            </a:r>
            <a:r>
              <a:rPr lang="en-US" spc="80" dirty="0">
                <a:latin typeface="+mj-lt"/>
                <a:cs typeface="Arial"/>
              </a:rPr>
              <a:t> </a:t>
            </a:r>
            <a:r>
              <a:rPr lang="en-US" spc="15" dirty="0">
                <a:latin typeface="+mj-lt"/>
                <a:cs typeface="Arial"/>
              </a:rPr>
              <a:t>mảng: </a:t>
            </a:r>
          </a:p>
          <a:p>
            <a:pPr lvl="1" algn="just">
              <a:lnSpc>
                <a:spcPts val="3500"/>
              </a:lnSpc>
              <a:spcBef>
                <a:spcPts val="600"/>
              </a:spcBef>
              <a:spcAft>
                <a:spcPts val="600"/>
              </a:spcAft>
            </a:pPr>
            <a:r>
              <a:rPr lang="en-US" sz="2800" spc="15" dirty="0">
                <a:latin typeface="+mj-lt"/>
                <a:cs typeface="Arial"/>
              </a:rPr>
              <a:t>Khai báo</a:t>
            </a:r>
          </a:p>
          <a:p>
            <a:pPr lvl="1" algn="just">
              <a:lnSpc>
                <a:spcPts val="3500"/>
              </a:lnSpc>
              <a:spcBef>
                <a:spcPts val="600"/>
              </a:spcBef>
              <a:spcAft>
                <a:spcPts val="600"/>
              </a:spcAft>
            </a:pPr>
            <a:r>
              <a:rPr lang="en-US" sz="2800" spc="-100" dirty="0">
                <a:latin typeface="+mj-lt"/>
                <a:cs typeface="Arial"/>
              </a:rPr>
              <a:t>Truy </a:t>
            </a:r>
            <a:r>
              <a:rPr lang="en-US" sz="2800" spc="-15" dirty="0">
                <a:latin typeface="+mj-lt"/>
                <a:cs typeface="Arial"/>
              </a:rPr>
              <a:t>xuất </a:t>
            </a:r>
            <a:r>
              <a:rPr lang="en-US" sz="2800" spc="30" dirty="0">
                <a:latin typeface="+mj-lt"/>
                <a:cs typeface="Arial"/>
              </a:rPr>
              <a:t>(đọc/ghi) </a:t>
            </a:r>
            <a:r>
              <a:rPr lang="en-US" sz="2800" dirty="0">
                <a:latin typeface="+mj-lt"/>
                <a:cs typeface="Arial"/>
              </a:rPr>
              <a:t>phần</a:t>
            </a:r>
            <a:r>
              <a:rPr lang="en-US" sz="2800" spc="105" dirty="0">
                <a:latin typeface="+mj-lt"/>
                <a:cs typeface="Arial"/>
              </a:rPr>
              <a:t> </a:t>
            </a:r>
            <a:r>
              <a:rPr lang="en-US" sz="2800" spc="-25" dirty="0">
                <a:latin typeface="+mj-lt"/>
                <a:cs typeface="Arial"/>
              </a:rPr>
              <a:t>tử</a:t>
            </a:r>
          </a:p>
          <a:p>
            <a:pPr lvl="1" algn="just">
              <a:lnSpc>
                <a:spcPts val="3500"/>
              </a:lnSpc>
              <a:spcBef>
                <a:spcPts val="600"/>
              </a:spcBef>
              <a:spcAft>
                <a:spcPts val="600"/>
              </a:spcAft>
            </a:pPr>
            <a:r>
              <a:rPr lang="en-US" sz="2800" spc="-125" dirty="0">
                <a:latin typeface="+mj-lt"/>
                <a:cs typeface="Arial"/>
              </a:rPr>
              <a:t>Lấy </a:t>
            </a:r>
            <a:r>
              <a:rPr lang="en-US" sz="2800" spc="-60" dirty="0">
                <a:latin typeface="+mj-lt"/>
                <a:cs typeface="Arial"/>
              </a:rPr>
              <a:t>số </a:t>
            </a:r>
            <a:r>
              <a:rPr lang="en-US" sz="2800" dirty="0">
                <a:latin typeface="+mj-lt"/>
                <a:cs typeface="Arial"/>
              </a:rPr>
              <a:t>phần</a:t>
            </a:r>
            <a:r>
              <a:rPr lang="en-US" sz="2800" spc="165" dirty="0">
                <a:latin typeface="+mj-lt"/>
                <a:cs typeface="Arial"/>
              </a:rPr>
              <a:t> </a:t>
            </a:r>
            <a:r>
              <a:rPr lang="en-US" sz="2800" spc="-25" dirty="0">
                <a:latin typeface="+mj-lt"/>
                <a:cs typeface="Arial"/>
              </a:rPr>
              <a:t>tử</a:t>
            </a:r>
          </a:p>
          <a:p>
            <a:pPr lvl="1" algn="just">
              <a:lnSpc>
                <a:spcPts val="3500"/>
              </a:lnSpc>
              <a:spcBef>
                <a:spcPts val="600"/>
              </a:spcBef>
              <a:spcAft>
                <a:spcPts val="600"/>
              </a:spcAft>
            </a:pPr>
            <a:r>
              <a:rPr lang="en-US" sz="2800" spc="-5" dirty="0">
                <a:latin typeface="+mj-lt"/>
                <a:cs typeface="Arial"/>
              </a:rPr>
              <a:t>Duyệt</a:t>
            </a:r>
            <a:r>
              <a:rPr lang="en-US" sz="2800" spc="-10" dirty="0">
                <a:latin typeface="+mj-lt"/>
                <a:cs typeface="Arial"/>
              </a:rPr>
              <a:t> </a:t>
            </a:r>
            <a:r>
              <a:rPr lang="en-US" sz="2800" spc="10" dirty="0">
                <a:latin typeface="+mj-lt"/>
                <a:cs typeface="Arial"/>
              </a:rPr>
              <a:t>mảng</a:t>
            </a:r>
            <a:endParaRPr lang="en-US" sz="2800" dirty="0">
              <a:latin typeface="+mj-lt"/>
              <a:cs typeface="Arial"/>
            </a:endParaRPr>
          </a:p>
          <a:p>
            <a:pPr lvl="1" algn="just">
              <a:lnSpc>
                <a:spcPts val="3500"/>
              </a:lnSpc>
              <a:spcBef>
                <a:spcPts val="600"/>
              </a:spcBef>
              <a:spcAft>
                <a:spcPts val="600"/>
              </a:spcAft>
            </a:pPr>
            <a:r>
              <a:rPr lang="en-US" sz="2800" spc="-125" dirty="0">
                <a:latin typeface="+mj-lt"/>
                <a:cs typeface="Arial"/>
              </a:rPr>
              <a:t>Sắp </a:t>
            </a:r>
            <a:r>
              <a:rPr lang="en-US" sz="2800" spc="-35" dirty="0">
                <a:latin typeface="+mj-lt"/>
                <a:cs typeface="Arial"/>
              </a:rPr>
              <a:t>xếp </a:t>
            </a:r>
            <a:r>
              <a:rPr lang="en-US" sz="2800" spc="-105" dirty="0">
                <a:latin typeface="+mj-lt"/>
                <a:cs typeface="Arial"/>
              </a:rPr>
              <a:t>các </a:t>
            </a:r>
            <a:r>
              <a:rPr lang="en-US" sz="2800" dirty="0">
                <a:latin typeface="+mj-lt"/>
                <a:cs typeface="Arial"/>
              </a:rPr>
              <a:t>phần </a:t>
            </a:r>
            <a:r>
              <a:rPr lang="en-US" sz="2800" spc="-25" dirty="0">
                <a:latin typeface="+mj-lt"/>
                <a:cs typeface="Arial"/>
              </a:rPr>
              <a:t>tử</a:t>
            </a:r>
            <a:r>
              <a:rPr lang="en-US" sz="2800" spc="229" dirty="0">
                <a:latin typeface="+mj-lt"/>
                <a:cs typeface="Arial"/>
              </a:rPr>
              <a:t> </a:t>
            </a:r>
            <a:r>
              <a:rPr lang="en-US" sz="2800" spc="10" dirty="0">
                <a:latin typeface="+mj-lt"/>
                <a:cs typeface="Arial"/>
              </a:rPr>
              <a:t>mảng</a:t>
            </a:r>
            <a:endParaRPr lang="en-US" sz="2800" dirty="0">
              <a:latin typeface="+mj-lt"/>
              <a:cs typeface="Arial"/>
            </a:endParaRPr>
          </a:p>
          <a:p>
            <a:pPr lvl="1" algn="just">
              <a:lnSpc>
                <a:spcPts val="3500"/>
              </a:lnSpc>
              <a:spcBef>
                <a:spcPts val="300"/>
              </a:spcBef>
              <a:spcAft>
                <a:spcPts val="300"/>
              </a:spcAft>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68</a:t>
            </a:fld>
            <a:endParaRPr lang="en-US" dirty="0"/>
          </a:p>
        </p:txBody>
      </p:sp>
    </p:spTree>
    <p:extLst>
      <p:ext uri="{BB962C8B-B14F-4D97-AF65-F5344CB8AC3E}">
        <p14:creationId xmlns:p14="http://schemas.microsoft.com/office/powerpoint/2010/main" val="36374973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28290" y="1345043"/>
            <a:ext cx="8069301" cy="5256478"/>
          </a:xfrm>
        </p:spPr>
        <p:txBody>
          <a:bodyPr>
            <a:noAutofit/>
          </a:bodyPr>
          <a:lstStyle/>
          <a:p>
            <a:pPr algn="just">
              <a:lnSpc>
                <a:spcPts val="3400"/>
              </a:lnSpc>
              <a:spcBef>
                <a:spcPts val="300"/>
              </a:spcBef>
              <a:spcAft>
                <a:spcPts val="300"/>
              </a:spcAft>
            </a:pPr>
            <a:r>
              <a:rPr lang="en-US" b="1" spc="35" dirty="0">
                <a:latin typeface="Arial"/>
                <a:cs typeface="Arial"/>
              </a:rPr>
              <a:t>Khai báo mảng:</a:t>
            </a:r>
          </a:p>
          <a:p>
            <a:pPr lvl="1" algn="just">
              <a:lnSpc>
                <a:spcPts val="3400"/>
              </a:lnSpc>
              <a:spcBef>
                <a:spcPts val="300"/>
              </a:spcBef>
              <a:spcAft>
                <a:spcPts val="300"/>
              </a:spcAft>
            </a:pPr>
            <a:r>
              <a:rPr lang="en-US" b="1" i="1" spc="35" dirty="0">
                <a:latin typeface="Arial"/>
                <a:cs typeface="Arial"/>
              </a:rPr>
              <a:t>Khai báo không khởi tạo:</a:t>
            </a:r>
          </a:p>
          <a:p>
            <a:pPr marL="457200" lvl="1" indent="346075" algn="just">
              <a:lnSpc>
                <a:spcPts val="3400"/>
              </a:lnSpc>
              <a:spcBef>
                <a:spcPts val="300"/>
              </a:spcBef>
              <a:spcAft>
                <a:spcPts val="300"/>
              </a:spcAft>
              <a:buNone/>
            </a:pPr>
            <a:r>
              <a:rPr lang="en-US" dirty="0">
                <a:solidFill>
                  <a:schemeClr val="accent2">
                    <a:lumMod val="75000"/>
                  </a:schemeClr>
                </a:solidFill>
              </a:rPr>
              <a:t>1. [Kiểu_dữ_liệu] tên_mảng[ ];</a:t>
            </a:r>
            <a:endParaRPr lang="en-US" spc="35" dirty="0">
              <a:solidFill>
                <a:schemeClr val="accent2">
                  <a:lumMod val="75000"/>
                </a:schemeClr>
              </a:solidFill>
              <a:latin typeface="Arial"/>
              <a:cs typeface="Arial"/>
            </a:endParaRPr>
          </a:p>
          <a:p>
            <a:pPr marL="457200" lvl="1" indent="346075" algn="just">
              <a:lnSpc>
                <a:spcPts val="3400"/>
              </a:lnSpc>
              <a:spcBef>
                <a:spcPts val="300"/>
              </a:spcBef>
              <a:spcAft>
                <a:spcPts val="300"/>
              </a:spcAft>
              <a:buNone/>
            </a:pPr>
            <a:r>
              <a:rPr lang="en-US" dirty="0">
                <a:solidFill>
                  <a:schemeClr val="accent2">
                    <a:lumMod val="75000"/>
                  </a:schemeClr>
                </a:solidFill>
              </a:rPr>
              <a:t>2. [Kiểu_dữ_liệu][ ] tên_mảng;</a:t>
            </a:r>
          </a:p>
          <a:p>
            <a:pPr marL="457200" lvl="1" indent="-401638" algn="just">
              <a:lnSpc>
                <a:spcPts val="3400"/>
              </a:lnSpc>
              <a:spcBef>
                <a:spcPts val="300"/>
              </a:spcBef>
              <a:spcAft>
                <a:spcPts val="300"/>
              </a:spcAft>
              <a:buNone/>
            </a:pPr>
            <a:r>
              <a:rPr lang="en-US" spc="5" dirty="0">
                <a:latin typeface="Arial"/>
                <a:cs typeface="Arial"/>
              </a:rPr>
              <a:t>Trong đó: </a:t>
            </a:r>
            <a:r>
              <a:rPr lang="en-US" spc="-70" dirty="0"/>
              <a:t>Kiểu_dữ_liệu: mô tả kiểu dữ liệu </a:t>
            </a:r>
            <a:r>
              <a:rPr lang="vi-VN" spc="-70" dirty="0"/>
              <a:t>của mỗi phần tử thuộc mảng </a:t>
            </a:r>
            <a:r>
              <a:rPr lang="vi-VN" i="1" spc="-70" dirty="0"/>
              <a:t>(như int, char, double, String,...</a:t>
            </a:r>
            <a:r>
              <a:rPr lang="vi-VN" spc="-70" dirty="0"/>
              <a:t>)</a:t>
            </a:r>
            <a:r>
              <a:rPr lang="en-US" spc="-70" dirty="0"/>
              <a:t> </a:t>
            </a:r>
          </a:p>
          <a:p>
            <a:pPr marL="457200" lvl="1" indent="0" algn="just">
              <a:lnSpc>
                <a:spcPts val="3400"/>
              </a:lnSpc>
              <a:spcBef>
                <a:spcPts val="300"/>
              </a:spcBef>
              <a:spcAft>
                <a:spcPts val="300"/>
              </a:spcAft>
              <a:buNone/>
            </a:pPr>
            <a:r>
              <a:rPr lang="en-US" spc="5" dirty="0">
                <a:latin typeface="Arial"/>
                <a:cs typeface="Arial"/>
              </a:rPr>
              <a:t>tên_mảng: </a:t>
            </a:r>
            <a:r>
              <a:rPr lang="en-US" dirty="0"/>
              <a:t>là tên của mảng.</a:t>
            </a:r>
          </a:p>
          <a:p>
            <a:pPr marL="457200" lvl="1" indent="-401638" algn="just">
              <a:lnSpc>
                <a:spcPts val="3400"/>
              </a:lnSpc>
              <a:spcBef>
                <a:spcPts val="300"/>
              </a:spcBef>
              <a:spcAft>
                <a:spcPts val="300"/>
              </a:spcAft>
              <a:buNone/>
            </a:pPr>
            <a:r>
              <a:rPr lang="en-US" u="sng" dirty="0"/>
              <a:t>Ví dụ:</a:t>
            </a:r>
            <a:r>
              <a:rPr lang="en-US" dirty="0"/>
              <a:t> </a:t>
            </a:r>
            <a:r>
              <a:rPr lang="en-US" spc="60" dirty="0">
                <a:solidFill>
                  <a:srgbClr val="0000FF"/>
                </a:solidFill>
                <a:latin typeface="Arial"/>
                <a:cs typeface="Arial"/>
              </a:rPr>
              <a:t>i</a:t>
            </a:r>
            <a:r>
              <a:rPr lang="vi-VN" spc="60" dirty="0">
                <a:solidFill>
                  <a:srgbClr val="0000FF"/>
                </a:solidFill>
                <a:latin typeface="Arial"/>
                <a:cs typeface="Arial"/>
              </a:rPr>
              <a:t>nt[</a:t>
            </a:r>
            <a:r>
              <a:rPr lang="en-US" spc="60" dirty="0">
                <a:solidFill>
                  <a:srgbClr val="0000FF"/>
                </a:solidFill>
                <a:latin typeface="Arial"/>
                <a:cs typeface="Arial"/>
              </a:rPr>
              <a:t> </a:t>
            </a:r>
            <a:r>
              <a:rPr lang="vi-VN" spc="60" dirty="0">
                <a:solidFill>
                  <a:srgbClr val="0000FF"/>
                </a:solidFill>
                <a:latin typeface="Arial"/>
                <a:cs typeface="Arial"/>
              </a:rPr>
              <a:t>] </a:t>
            </a:r>
            <a:r>
              <a:rPr lang="vi-VN" spc="-135" dirty="0">
                <a:latin typeface="Arial"/>
                <a:cs typeface="Arial"/>
              </a:rPr>
              <a:t>a; </a:t>
            </a:r>
            <a:r>
              <a:rPr lang="vi-VN" i="1" spc="280" dirty="0">
                <a:latin typeface="Arial"/>
                <a:cs typeface="Arial"/>
              </a:rPr>
              <a:t>//</a:t>
            </a:r>
            <a:r>
              <a:rPr lang="vi-VN" i="1" dirty="0">
                <a:latin typeface="Arial"/>
                <a:cs typeface="Arial"/>
              </a:rPr>
              <a:t>mảng </a:t>
            </a:r>
            <a:r>
              <a:rPr lang="vi-VN" i="1" spc="-155" dirty="0">
                <a:latin typeface="Arial"/>
                <a:cs typeface="Arial"/>
              </a:rPr>
              <a:t>số </a:t>
            </a:r>
            <a:r>
              <a:rPr lang="vi-VN" i="1" spc="-40" dirty="0">
                <a:latin typeface="Arial"/>
                <a:cs typeface="Arial"/>
              </a:rPr>
              <a:t>nguyên </a:t>
            </a:r>
            <a:r>
              <a:rPr lang="vi-VN" i="1" spc="-85" dirty="0">
                <a:latin typeface="Arial"/>
                <a:cs typeface="Arial"/>
              </a:rPr>
              <a:t>chưa </a:t>
            </a:r>
            <a:r>
              <a:rPr lang="vi-VN" i="1" spc="-5" dirty="0">
                <a:latin typeface="Arial"/>
                <a:cs typeface="Arial"/>
              </a:rPr>
              <a:t>biết </a:t>
            </a:r>
            <a:r>
              <a:rPr lang="vi-VN" i="1" spc="-155" dirty="0">
                <a:latin typeface="Arial"/>
                <a:cs typeface="Arial"/>
              </a:rPr>
              <a:t>số </a:t>
            </a:r>
            <a:r>
              <a:rPr lang="vi-VN" i="1" spc="-20" dirty="0">
                <a:latin typeface="Arial"/>
                <a:cs typeface="Arial"/>
              </a:rPr>
              <a:t>phần</a:t>
            </a:r>
            <a:r>
              <a:rPr lang="vi-VN" i="1" spc="240" dirty="0">
                <a:latin typeface="Arial"/>
                <a:cs typeface="Arial"/>
              </a:rPr>
              <a:t> </a:t>
            </a:r>
            <a:r>
              <a:rPr lang="vi-VN" i="1" spc="-10" dirty="0">
                <a:latin typeface="Arial"/>
                <a:cs typeface="Arial"/>
              </a:rPr>
              <a:t>tử</a:t>
            </a:r>
            <a:endParaRPr lang="en-US" dirty="0">
              <a:latin typeface="Arial"/>
              <a:cs typeface="Arial"/>
            </a:endParaRPr>
          </a:p>
          <a:p>
            <a:pPr marL="457200" lvl="1" indent="0" algn="just">
              <a:lnSpc>
                <a:spcPts val="3400"/>
              </a:lnSpc>
              <a:spcBef>
                <a:spcPts val="300"/>
              </a:spcBef>
              <a:spcAft>
                <a:spcPts val="300"/>
              </a:spcAft>
              <a:buNone/>
            </a:pPr>
            <a:r>
              <a:rPr lang="en-US" spc="65" dirty="0">
                <a:latin typeface="Arial"/>
                <a:cs typeface="Arial"/>
              </a:rPr>
              <a:t>      </a:t>
            </a:r>
            <a:r>
              <a:rPr lang="vi-VN" spc="65" dirty="0">
                <a:latin typeface="Arial"/>
                <a:cs typeface="Arial"/>
              </a:rPr>
              <a:t>int </a:t>
            </a:r>
            <a:r>
              <a:rPr lang="vi-VN" spc="95" dirty="0">
                <a:solidFill>
                  <a:srgbClr val="0000FF"/>
                </a:solidFill>
                <a:latin typeface="Arial"/>
                <a:cs typeface="Arial"/>
              </a:rPr>
              <a:t>b[</a:t>
            </a:r>
            <a:r>
              <a:rPr lang="en-US" spc="95" dirty="0">
                <a:solidFill>
                  <a:srgbClr val="0000FF"/>
                </a:solidFill>
                <a:latin typeface="Arial"/>
                <a:cs typeface="Arial"/>
              </a:rPr>
              <a:t> </a:t>
            </a:r>
            <a:r>
              <a:rPr lang="vi-VN" spc="95" dirty="0">
                <a:solidFill>
                  <a:srgbClr val="0000FF"/>
                </a:solidFill>
                <a:latin typeface="Arial"/>
                <a:cs typeface="Arial"/>
              </a:rPr>
              <a:t>]</a:t>
            </a:r>
            <a:r>
              <a:rPr lang="vi-VN" spc="95" dirty="0">
                <a:latin typeface="Arial"/>
                <a:cs typeface="Arial"/>
              </a:rPr>
              <a:t>;</a:t>
            </a:r>
            <a:r>
              <a:rPr lang="vi-VN" i="1" spc="95" dirty="0">
                <a:latin typeface="Arial"/>
                <a:cs typeface="Arial"/>
              </a:rPr>
              <a:t>// </a:t>
            </a:r>
            <a:r>
              <a:rPr lang="vi-VN" i="1" dirty="0">
                <a:latin typeface="Arial"/>
                <a:cs typeface="Arial"/>
              </a:rPr>
              <a:t>mảng </a:t>
            </a:r>
            <a:r>
              <a:rPr lang="vi-VN" i="1" spc="-155" dirty="0">
                <a:latin typeface="Arial"/>
                <a:cs typeface="Arial"/>
              </a:rPr>
              <a:t>số </a:t>
            </a:r>
            <a:r>
              <a:rPr lang="vi-VN" i="1" spc="-40" dirty="0">
                <a:latin typeface="Arial"/>
                <a:cs typeface="Arial"/>
              </a:rPr>
              <a:t>nguyên </a:t>
            </a:r>
            <a:r>
              <a:rPr lang="vi-VN" i="1" spc="-85" dirty="0">
                <a:latin typeface="Arial"/>
                <a:cs typeface="Arial"/>
              </a:rPr>
              <a:t>chưa </a:t>
            </a:r>
            <a:r>
              <a:rPr lang="vi-VN" i="1" spc="-5" dirty="0">
                <a:latin typeface="Arial"/>
                <a:cs typeface="Arial"/>
              </a:rPr>
              <a:t>biết </a:t>
            </a:r>
            <a:r>
              <a:rPr lang="vi-VN" i="1" spc="-155" dirty="0">
                <a:latin typeface="Arial"/>
                <a:cs typeface="Arial"/>
              </a:rPr>
              <a:t>số </a:t>
            </a:r>
            <a:r>
              <a:rPr lang="vi-VN" i="1" spc="-20" dirty="0">
                <a:latin typeface="Arial"/>
                <a:cs typeface="Arial"/>
              </a:rPr>
              <a:t>phần</a:t>
            </a:r>
            <a:r>
              <a:rPr lang="vi-VN" i="1" spc="290" dirty="0">
                <a:latin typeface="Arial"/>
                <a:cs typeface="Arial"/>
              </a:rPr>
              <a:t> </a:t>
            </a:r>
            <a:r>
              <a:rPr lang="vi-VN" i="1" spc="-10" dirty="0">
                <a:latin typeface="Arial"/>
                <a:cs typeface="Arial"/>
              </a:rPr>
              <a:t>tử</a:t>
            </a:r>
            <a:endParaRPr lang="en-US" i="1" spc="-10" dirty="0">
              <a:latin typeface="Arial"/>
              <a:cs typeface="Arial"/>
            </a:endParaRPr>
          </a:p>
          <a:p>
            <a:pPr marL="457200" lvl="1" indent="0" algn="just">
              <a:lnSpc>
                <a:spcPts val="3400"/>
              </a:lnSpc>
              <a:spcBef>
                <a:spcPts val="300"/>
              </a:spcBef>
              <a:spcAft>
                <a:spcPts val="300"/>
              </a:spcAft>
              <a:buNone/>
            </a:pPr>
            <a:r>
              <a:rPr lang="en-US" sz="2400" dirty="0">
                <a:latin typeface="Arial"/>
                <a:cs typeface="Arial"/>
              </a:rPr>
              <a:t>       </a:t>
            </a:r>
            <a:r>
              <a:rPr lang="vi-VN" spc="-40" dirty="0">
                <a:latin typeface="Arial"/>
                <a:cs typeface="Arial"/>
              </a:rPr>
              <a:t>String[</a:t>
            </a:r>
            <a:r>
              <a:rPr lang="en-US" spc="-40" dirty="0">
                <a:cs typeface="Arial"/>
              </a:rPr>
              <a:t> </a:t>
            </a:r>
            <a:r>
              <a:rPr lang="vi-VN" spc="-40" dirty="0">
                <a:latin typeface="Arial"/>
                <a:cs typeface="Arial"/>
              </a:rPr>
              <a:t>] c = </a:t>
            </a:r>
            <a:r>
              <a:rPr lang="vi-VN" spc="-40" dirty="0">
                <a:solidFill>
                  <a:srgbClr val="0000FF"/>
                </a:solidFill>
                <a:latin typeface="Arial"/>
                <a:cs typeface="Arial"/>
              </a:rPr>
              <a:t>new String[5]</a:t>
            </a:r>
            <a:r>
              <a:rPr lang="vi-VN" spc="-40" dirty="0">
                <a:latin typeface="Arial"/>
                <a:cs typeface="Arial"/>
              </a:rPr>
              <a:t>; </a:t>
            </a:r>
            <a:r>
              <a:rPr lang="vi-VN" i="1" spc="-40" dirty="0">
                <a:latin typeface="Arial"/>
                <a:cs typeface="Arial"/>
              </a:rPr>
              <a:t>//mảng chứa 5</a:t>
            </a:r>
            <a:r>
              <a:rPr lang="en-US" i="1" spc="-40" dirty="0">
                <a:cs typeface="Arial"/>
              </a:rPr>
              <a:t> </a:t>
            </a:r>
            <a:r>
              <a:rPr lang="vi-VN" i="1" spc="-40" dirty="0">
                <a:latin typeface="Arial"/>
                <a:cs typeface="Arial"/>
              </a:rPr>
              <a:t>chuỗi</a:t>
            </a:r>
            <a:endParaRPr lang="vi-VN" spc="-40" dirty="0">
              <a:latin typeface="Arial"/>
              <a:cs typeface="Arial"/>
            </a:endParaRPr>
          </a:p>
          <a:p>
            <a:pPr marL="457200" lvl="1" indent="0" algn="just">
              <a:lnSpc>
                <a:spcPts val="3400"/>
              </a:lnSpc>
              <a:spcBef>
                <a:spcPts val="300"/>
              </a:spcBef>
              <a:spcAft>
                <a:spcPts val="300"/>
              </a:spcAft>
              <a:buNone/>
            </a:pPr>
            <a:endParaRPr lang="vi-VN" dirty="0">
              <a:latin typeface="Arial"/>
              <a:cs typeface="Arial"/>
            </a:endParaRPr>
          </a:p>
          <a:p>
            <a:pPr lvl="1" algn="just">
              <a:lnSpc>
                <a:spcPts val="3500"/>
              </a:lnSpc>
              <a:spcBef>
                <a:spcPts val="300"/>
              </a:spcBef>
              <a:spcAft>
                <a:spcPts val="300"/>
              </a:spcAft>
            </a:pPr>
            <a:endParaRPr lang="en-US" dirty="0">
              <a:latin typeface="Arial"/>
              <a:cs typeface="Arial"/>
            </a:endParaRPr>
          </a:p>
          <a:p>
            <a:pPr marL="0" indent="0" algn="just">
              <a:lnSpc>
                <a:spcPts val="3500"/>
              </a:lnSpc>
              <a:spcBef>
                <a:spcPts val="300"/>
              </a:spcBef>
              <a:spcAft>
                <a:spcPts val="300"/>
              </a:spcAft>
              <a:buNone/>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69</a:t>
            </a:fld>
            <a:endParaRPr lang="en-US" dirty="0"/>
          </a:p>
        </p:txBody>
      </p:sp>
    </p:spTree>
    <p:extLst>
      <p:ext uri="{BB962C8B-B14F-4D97-AF65-F5344CB8AC3E}">
        <p14:creationId xmlns:p14="http://schemas.microsoft.com/office/powerpoint/2010/main" val="41873265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28290" y="1345043"/>
            <a:ext cx="8069301" cy="5256478"/>
          </a:xfrm>
        </p:spPr>
        <p:txBody>
          <a:bodyPr>
            <a:noAutofit/>
          </a:bodyPr>
          <a:lstStyle/>
          <a:p>
            <a:pPr lvl="1" algn="just">
              <a:lnSpc>
                <a:spcPts val="3400"/>
              </a:lnSpc>
              <a:spcBef>
                <a:spcPts val="300"/>
              </a:spcBef>
              <a:spcAft>
                <a:spcPts val="300"/>
              </a:spcAft>
            </a:pPr>
            <a:r>
              <a:rPr lang="en-US" b="1" i="1" spc="35" dirty="0">
                <a:latin typeface="Arial"/>
                <a:cs typeface="Arial"/>
              </a:rPr>
              <a:t>Khai báo có khởi tạo:</a:t>
            </a:r>
          </a:p>
          <a:p>
            <a:pPr marL="457200" lvl="1" indent="-290513" algn="just">
              <a:lnSpc>
                <a:spcPts val="3400"/>
              </a:lnSpc>
              <a:spcBef>
                <a:spcPts val="300"/>
              </a:spcBef>
              <a:spcAft>
                <a:spcPts val="300"/>
              </a:spcAft>
              <a:buNone/>
            </a:pPr>
            <a:r>
              <a:rPr lang="en-US" dirty="0">
                <a:solidFill>
                  <a:schemeClr val="accent2">
                    <a:lumMod val="75000"/>
                  </a:schemeClr>
                </a:solidFill>
              </a:rPr>
              <a:t>1. [Kiểu_dữ_liệu] [ ] biến_tham_chiếu_mảng = </a:t>
            </a:r>
          </a:p>
          <a:p>
            <a:pPr marL="2341563" lvl="1" indent="-2174875" algn="just">
              <a:lnSpc>
                <a:spcPts val="3400"/>
              </a:lnSpc>
              <a:spcBef>
                <a:spcPts val="300"/>
              </a:spcBef>
              <a:spcAft>
                <a:spcPts val="300"/>
              </a:spcAft>
              <a:buNone/>
              <a:tabLst>
                <a:tab pos="1717675" algn="l"/>
              </a:tabLst>
            </a:pPr>
            <a:r>
              <a:rPr lang="en-US" dirty="0">
                <a:solidFill>
                  <a:schemeClr val="accent2">
                    <a:lumMod val="75000"/>
                  </a:schemeClr>
                </a:solidFill>
              </a:rPr>
              <a:t>		new Kiểu_dữ_liệu [Kích_cỡ_mảng];</a:t>
            </a:r>
            <a:endParaRPr lang="en-US" spc="35" dirty="0">
              <a:solidFill>
                <a:schemeClr val="accent2">
                  <a:lumMod val="75000"/>
                </a:schemeClr>
              </a:solidFill>
              <a:latin typeface="Arial"/>
              <a:cs typeface="Arial"/>
            </a:endParaRPr>
          </a:p>
          <a:p>
            <a:pPr marL="1828800" lvl="1" indent="-1662113">
              <a:lnSpc>
                <a:spcPts val="3400"/>
              </a:lnSpc>
              <a:spcBef>
                <a:spcPts val="300"/>
              </a:spcBef>
              <a:spcAft>
                <a:spcPts val="300"/>
              </a:spcAft>
              <a:buNone/>
              <a:tabLst>
                <a:tab pos="1717675" algn="l"/>
              </a:tabLst>
            </a:pPr>
            <a:r>
              <a:rPr lang="en-US" spc="35" dirty="0">
                <a:solidFill>
                  <a:schemeClr val="accent2">
                    <a:lumMod val="75000"/>
                  </a:schemeClr>
                </a:solidFill>
                <a:latin typeface="Arial"/>
                <a:cs typeface="Arial"/>
              </a:rPr>
              <a:t>2. </a:t>
            </a:r>
            <a:r>
              <a:rPr lang="en-US" dirty="0">
                <a:solidFill>
                  <a:schemeClr val="accent2">
                    <a:lumMod val="75000"/>
                  </a:schemeClr>
                </a:solidFill>
              </a:rPr>
              <a:t>[Kiểu_dữ_liệu] [ ] biến_tham_chiếu_mảng =</a:t>
            </a:r>
          </a:p>
          <a:p>
            <a:pPr marL="1828800" lvl="1" indent="457200">
              <a:lnSpc>
                <a:spcPts val="3400"/>
              </a:lnSpc>
              <a:spcBef>
                <a:spcPts val="300"/>
              </a:spcBef>
              <a:spcAft>
                <a:spcPts val="300"/>
              </a:spcAft>
              <a:buNone/>
              <a:tabLst>
                <a:tab pos="1717675" algn="l"/>
              </a:tabLst>
            </a:pPr>
            <a:r>
              <a:rPr lang="en-US" dirty="0">
                <a:solidFill>
                  <a:schemeClr val="accent2">
                    <a:lumMod val="75000"/>
                  </a:schemeClr>
                </a:solidFill>
              </a:rPr>
              <a:t>{giá_trị0, giá_trị1,..giá_trịN};</a:t>
            </a:r>
          </a:p>
          <a:p>
            <a:pPr marL="1828800" lvl="1" indent="-1828800">
              <a:lnSpc>
                <a:spcPts val="3400"/>
              </a:lnSpc>
              <a:spcBef>
                <a:spcPts val="300"/>
              </a:spcBef>
              <a:spcAft>
                <a:spcPts val="300"/>
              </a:spcAft>
              <a:buNone/>
              <a:tabLst>
                <a:tab pos="1717675" algn="l"/>
              </a:tabLst>
            </a:pPr>
            <a:r>
              <a:rPr lang="en-US" dirty="0"/>
              <a:t>Ví dụ:</a:t>
            </a:r>
          </a:p>
          <a:p>
            <a:pPr marL="457200" marR="5080" lvl="1" indent="-290513">
              <a:lnSpc>
                <a:spcPts val="3400"/>
              </a:lnSpc>
              <a:spcBef>
                <a:spcPts val="600"/>
              </a:spcBef>
              <a:spcAft>
                <a:spcPts val="600"/>
              </a:spcAft>
              <a:buSzPct val="80000"/>
              <a:buFont typeface="Wingdings"/>
              <a:buChar char=""/>
            </a:pPr>
            <a:r>
              <a:rPr lang="vi-VN" sz="2800" spc="35" dirty="0">
                <a:latin typeface="Arial"/>
                <a:cs typeface="Arial"/>
              </a:rPr>
              <a:t>double[</a:t>
            </a:r>
            <a:r>
              <a:rPr lang="en-US" sz="2800" spc="35" dirty="0">
                <a:cs typeface="Arial"/>
              </a:rPr>
              <a:t> </a:t>
            </a:r>
            <a:r>
              <a:rPr lang="vi-VN" sz="2800" spc="35" dirty="0">
                <a:latin typeface="Arial"/>
                <a:cs typeface="Arial"/>
              </a:rPr>
              <a:t>] </a:t>
            </a:r>
            <a:r>
              <a:rPr lang="vi-VN" sz="2800" spc="15" dirty="0">
                <a:latin typeface="Arial"/>
                <a:cs typeface="Arial"/>
              </a:rPr>
              <a:t>d1 </a:t>
            </a:r>
            <a:r>
              <a:rPr lang="vi-VN" sz="2800" spc="240" dirty="0">
                <a:latin typeface="Arial"/>
                <a:cs typeface="Arial"/>
              </a:rPr>
              <a:t>= </a:t>
            </a:r>
            <a:r>
              <a:rPr lang="vi-VN" sz="2800" spc="-20" dirty="0">
                <a:solidFill>
                  <a:srgbClr val="0000FF"/>
                </a:solidFill>
                <a:latin typeface="Arial"/>
                <a:cs typeface="Arial"/>
              </a:rPr>
              <a:t>new </a:t>
            </a:r>
            <a:r>
              <a:rPr lang="vi-VN" sz="2800" dirty="0">
                <a:solidFill>
                  <a:srgbClr val="0000FF"/>
                </a:solidFill>
                <a:latin typeface="Arial"/>
                <a:cs typeface="Arial"/>
              </a:rPr>
              <a:t>double[]{2, </a:t>
            </a:r>
            <a:r>
              <a:rPr lang="vi-VN" sz="2800" spc="-95" dirty="0">
                <a:solidFill>
                  <a:srgbClr val="0000FF"/>
                </a:solidFill>
                <a:latin typeface="Arial"/>
                <a:cs typeface="Arial"/>
              </a:rPr>
              <a:t>3, 4, 5, </a:t>
            </a:r>
            <a:r>
              <a:rPr lang="vi-VN" sz="2800" spc="-90" dirty="0">
                <a:solidFill>
                  <a:srgbClr val="0000FF"/>
                </a:solidFill>
                <a:latin typeface="Arial"/>
                <a:cs typeface="Arial"/>
              </a:rPr>
              <a:t>6}</a:t>
            </a:r>
            <a:r>
              <a:rPr lang="vi-VN" sz="2800" spc="-90" dirty="0">
                <a:latin typeface="Arial"/>
                <a:cs typeface="Arial"/>
              </a:rPr>
              <a:t>; </a:t>
            </a:r>
            <a:r>
              <a:rPr lang="vi-VN" sz="2800" i="1" spc="280" dirty="0">
                <a:latin typeface="Arial"/>
                <a:cs typeface="Arial"/>
              </a:rPr>
              <a:t>//</a:t>
            </a:r>
            <a:r>
              <a:rPr lang="vi-VN" sz="2800" i="1" dirty="0">
                <a:latin typeface="Arial"/>
                <a:cs typeface="Arial"/>
              </a:rPr>
              <a:t>mảng</a:t>
            </a:r>
            <a:r>
              <a:rPr lang="vi-VN" sz="2800" i="1" spc="-155" dirty="0">
                <a:latin typeface="Arial"/>
                <a:cs typeface="Arial"/>
              </a:rPr>
              <a:t> số  </a:t>
            </a:r>
            <a:r>
              <a:rPr lang="vi-VN" sz="2800" i="1" spc="-70" dirty="0">
                <a:latin typeface="Arial"/>
                <a:cs typeface="Arial"/>
              </a:rPr>
              <a:t>thực, </a:t>
            </a:r>
            <a:r>
              <a:rPr lang="vi-VN" sz="2800" i="1" spc="-45" dirty="0">
                <a:latin typeface="Arial"/>
                <a:cs typeface="Arial"/>
              </a:rPr>
              <a:t>5 </a:t>
            </a:r>
            <a:r>
              <a:rPr lang="vi-VN" sz="2800" i="1" spc="-20" dirty="0">
                <a:latin typeface="Arial"/>
                <a:cs typeface="Arial"/>
              </a:rPr>
              <a:t>phần </a:t>
            </a:r>
            <a:r>
              <a:rPr lang="vi-VN" sz="2800" i="1" spc="-60" dirty="0">
                <a:latin typeface="Arial"/>
                <a:cs typeface="Arial"/>
              </a:rPr>
              <a:t>tử, </a:t>
            </a:r>
            <a:r>
              <a:rPr lang="vi-VN" sz="2800" i="1" spc="-40" dirty="0">
                <a:latin typeface="Arial"/>
                <a:cs typeface="Arial"/>
              </a:rPr>
              <a:t>đã </a:t>
            </a:r>
            <a:r>
              <a:rPr lang="vi-VN" sz="2800" i="1" spc="-114" dirty="0">
                <a:latin typeface="Arial"/>
                <a:cs typeface="Arial"/>
              </a:rPr>
              <a:t>được </a:t>
            </a:r>
            <a:r>
              <a:rPr lang="vi-VN" sz="2800" i="1" spc="-20" dirty="0">
                <a:latin typeface="Arial"/>
                <a:cs typeface="Arial"/>
              </a:rPr>
              <a:t>khởi</a:t>
            </a:r>
            <a:r>
              <a:rPr lang="vi-VN" sz="2800" i="1" spc="345" dirty="0">
                <a:latin typeface="Arial"/>
                <a:cs typeface="Arial"/>
              </a:rPr>
              <a:t> </a:t>
            </a:r>
            <a:r>
              <a:rPr lang="vi-VN" sz="2800" i="1" dirty="0">
                <a:latin typeface="Arial"/>
                <a:cs typeface="Arial"/>
              </a:rPr>
              <a:t>tạo</a:t>
            </a:r>
            <a:endParaRPr lang="vi-VN" sz="2800" dirty="0">
              <a:latin typeface="Arial"/>
              <a:cs typeface="Arial"/>
            </a:endParaRPr>
          </a:p>
          <a:p>
            <a:pPr marL="457200" marR="38100" lvl="1" indent="-290513">
              <a:lnSpc>
                <a:spcPts val="3400"/>
              </a:lnSpc>
              <a:spcBef>
                <a:spcPts val="600"/>
              </a:spcBef>
              <a:spcAft>
                <a:spcPts val="600"/>
              </a:spcAft>
              <a:buSzPct val="80000"/>
              <a:buFont typeface="Wingdings"/>
              <a:buChar char=""/>
            </a:pPr>
            <a:r>
              <a:rPr lang="vi-VN" sz="2800" spc="35" dirty="0">
                <a:latin typeface="Arial"/>
                <a:cs typeface="Arial"/>
              </a:rPr>
              <a:t>double[</a:t>
            </a:r>
            <a:r>
              <a:rPr lang="en-US" sz="2800" spc="35" dirty="0">
                <a:cs typeface="Arial"/>
              </a:rPr>
              <a:t> </a:t>
            </a:r>
            <a:r>
              <a:rPr lang="vi-VN" sz="2800" spc="35" dirty="0">
                <a:latin typeface="Arial"/>
                <a:cs typeface="Arial"/>
              </a:rPr>
              <a:t>] </a:t>
            </a:r>
            <a:r>
              <a:rPr lang="vi-VN" sz="2800" spc="15" dirty="0">
                <a:latin typeface="Arial"/>
                <a:cs typeface="Arial"/>
              </a:rPr>
              <a:t>d2 </a:t>
            </a:r>
            <a:r>
              <a:rPr lang="vi-VN" sz="2800" spc="240" dirty="0">
                <a:latin typeface="Arial"/>
                <a:cs typeface="Arial"/>
              </a:rPr>
              <a:t>= </a:t>
            </a:r>
            <a:r>
              <a:rPr lang="vi-VN" sz="2800" spc="-90" dirty="0">
                <a:solidFill>
                  <a:srgbClr val="0000FF"/>
                </a:solidFill>
                <a:latin typeface="Arial"/>
                <a:cs typeface="Arial"/>
              </a:rPr>
              <a:t>{2, </a:t>
            </a:r>
            <a:r>
              <a:rPr lang="vi-VN" sz="2800" spc="-95" dirty="0">
                <a:solidFill>
                  <a:srgbClr val="0000FF"/>
                </a:solidFill>
                <a:latin typeface="Arial"/>
                <a:cs typeface="Arial"/>
              </a:rPr>
              <a:t>3, 4, 5, </a:t>
            </a:r>
            <a:r>
              <a:rPr lang="vi-VN" sz="2800" spc="-90" dirty="0">
                <a:solidFill>
                  <a:srgbClr val="0000FF"/>
                </a:solidFill>
                <a:latin typeface="Arial"/>
                <a:cs typeface="Arial"/>
              </a:rPr>
              <a:t>6}</a:t>
            </a:r>
            <a:r>
              <a:rPr lang="vi-VN" sz="2800" spc="-90" dirty="0">
                <a:latin typeface="Arial"/>
                <a:cs typeface="Arial"/>
              </a:rPr>
              <a:t>; </a:t>
            </a:r>
            <a:r>
              <a:rPr lang="vi-VN" sz="2800" i="1" spc="280" dirty="0">
                <a:latin typeface="Arial"/>
                <a:cs typeface="Arial"/>
              </a:rPr>
              <a:t>// </a:t>
            </a:r>
            <a:r>
              <a:rPr lang="vi-VN" sz="2800" i="1" dirty="0">
                <a:latin typeface="Arial"/>
                <a:cs typeface="Arial"/>
              </a:rPr>
              <a:t>mảng </a:t>
            </a:r>
            <a:r>
              <a:rPr lang="vi-VN" sz="2800" i="1" spc="-155" dirty="0">
                <a:latin typeface="Arial"/>
                <a:cs typeface="Arial"/>
              </a:rPr>
              <a:t>số </a:t>
            </a:r>
            <a:r>
              <a:rPr lang="vi-VN" sz="2800" i="1" spc="-70" dirty="0">
                <a:latin typeface="Arial"/>
                <a:cs typeface="Arial"/>
              </a:rPr>
              <a:t>thực, </a:t>
            </a:r>
            <a:r>
              <a:rPr lang="vi-VN" sz="2800" i="1" spc="-45" dirty="0">
                <a:latin typeface="Arial"/>
                <a:cs typeface="Arial"/>
              </a:rPr>
              <a:t>5 </a:t>
            </a:r>
            <a:r>
              <a:rPr lang="vi-VN" sz="2800" i="1" spc="-20" dirty="0">
                <a:latin typeface="Arial"/>
                <a:cs typeface="Arial"/>
              </a:rPr>
              <a:t>phần  </a:t>
            </a:r>
            <a:r>
              <a:rPr lang="vi-VN" sz="2800" i="1" spc="-60" dirty="0">
                <a:latin typeface="Arial"/>
                <a:cs typeface="Arial"/>
              </a:rPr>
              <a:t>tử, </a:t>
            </a:r>
            <a:r>
              <a:rPr lang="vi-VN" sz="2800" i="1" spc="-40" dirty="0">
                <a:latin typeface="Arial"/>
                <a:cs typeface="Arial"/>
              </a:rPr>
              <a:t>đã </a:t>
            </a:r>
            <a:r>
              <a:rPr lang="vi-VN" sz="2800" i="1" spc="-114" dirty="0">
                <a:latin typeface="Arial"/>
                <a:cs typeface="Arial"/>
              </a:rPr>
              <a:t>được </a:t>
            </a:r>
            <a:r>
              <a:rPr lang="vi-VN" sz="2800" i="1" spc="-20" dirty="0">
                <a:latin typeface="Arial"/>
                <a:cs typeface="Arial"/>
              </a:rPr>
              <a:t>khởi</a:t>
            </a:r>
            <a:r>
              <a:rPr lang="vi-VN" sz="2800" i="1" spc="200" dirty="0">
                <a:latin typeface="Arial"/>
                <a:cs typeface="Arial"/>
              </a:rPr>
              <a:t> </a:t>
            </a:r>
            <a:r>
              <a:rPr lang="vi-VN" sz="2800" i="1" dirty="0">
                <a:latin typeface="Arial"/>
                <a:cs typeface="Arial"/>
              </a:rPr>
              <a:t>tạo</a:t>
            </a:r>
            <a:endParaRPr lang="vi-VN" sz="2800" dirty="0">
              <a:latin typeface="Arial"/>
              <a:cs typeface="Arial"/>
            </a:endParaRPr>
          </a:p>
          <a:p>
            <a:pPr marL="0" indent="0" algn="just">
              <a:lnSpc>
                <a:spcPts val="3500"/>
              </a:lnSpc>
              <a:spcBef>
                <a:spcPts val="300"/>
              </a:spcBef>
              <a:spcAft>
                <a:spcPts val="300"/>
              </a:spcAft>
              <a:buNone/>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70</a:t>
            </a:fld>
            <a:endParaRPr lang="en-US" dirty="0"/>
          </a:p>
        </p:txBody>
      </p:sp>
    </p:spTree>
    <p:extLst>
      <p:ext uri="{BB962C8B-B14F-4D97-AF65-F5344CB8AC3E}">
        <p14:creationId xmlns:p14="http://schemas.microsoft.com/office/powerpoint/2010/main" val="3651050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28290" y="1345043"/>
            <a:ext cx="8069301" cy="5256478"/>
          </a:xfrm>
        </p:spPr>
        <p:txBody>
          <a:bodyPr>
            <a:noAutofit/>
          </a:bodyPr>
          <a:lstStyle/>
          <a:p>
            <a:pPr algn="just">
              <a:lnSpc>
                <a:spcPts val="3400"/>
              </a:lnSpc>
              <a:spcBef>
                <a:spcPts val="300"/>
              </a:spcBef>
              <a:spcAft>
                <a:spcPts val="300"/>
              </a:spcAft>
            </a:pPr>
            <a:r>
              <a:rPr lang="en-US" b="1" spc="35" dirty="0">
                <a:latin typeface="Arial"/>
                <a:cs typeface="Arial"/>
              </a:rPr>
              <a:t>Truy xuất các phần tử mảng: </a:t>
            </a:r>
            <a:r>
              <a:rPr lang="vi-VN" spc="-85" dirty="0">
                <a:latin typeface="Arial"/>
                <a:cs typeface="Arial"/>
              </a:rPr>
              <a:t>Để </a:t>
            </a:r>
            <a:r>
              <a:rPr lang="vi-VN" spc="45" dirty="0">
                <a:latin typeface="Arial"/>
                <a:cs typeface="Arial"/>
              </a:rPr>
              <a:t>truy </a:t>
            </a:r>
            <a:r>
              <a:rPr lang="vi-VN" spc="-15" dirty="0">
                <a:latin typeface="Arial"/>
                <a:cs typeface="Arial"/>
              </a:rPr>
              <a:t>xuất </a:t>
            </a:r>
            <a:r>
              <a:rPr lang="vi-VN" spc="-120" dirty="0">
                <a:latin typeface="Arial"/>
                <a:cs typeface="Arial"/>
              </a:rPr>
              <a:t>các </a:t>
            </a:r>
            <a:r>
              <a:rPr lang="vi-VN" dirty="0">
                <a:latin typeface="Arial"/>
                <a:cs typeface="Arial"/>
              </a:rPr>
              <a:t>phần </a:t>
            </a:r>
            <a:r>
              <a:rPr lang="vi-VN" spc="-35" dirty="0">
                <a:latin typeface="Arial"/>
                <a:cs typeface="Arial"/>
              </a:rPr>
              <a:t>t</a:t>
            </a:r>
            <a:r>
              <a:rPr lang="en-US" spc="-35" dirty="0">
                <a:latin typeface="Arial"/>
                <a:cs typeface="Arial"/>
              </a:rPr>
              <a:t>ử</a:t>
            </a:r>
            <a:r>
              <a:rPr lang="vi-VN" spc="-35" dirty="0">
                <a:latin typeface="Arial"/>
                <a:cs typeface="Arial"/>
              </a:rPr>
              <a:t> </a:t>
            </a:r>
            <a:r>
              <a:rPr lang="vi-VN" spc="-75" dirty="0">
                <a:latin typeface="Arial"/>
                <a:cs typeface="Arial"/>
              </a:rPr>
              <a:t>cần </a:t>
            </a:r>
            <a:r>
              <a:rPr lang="vi-VN" spc="50" dirty="0">
                <a:latin typeface="Arial"/>
                <a:cs typeface="Arial"/>
              </a:rPr>
              <a:t>biết </a:t>
            </a:r>
            <a:r>
              <a:rPr lang="vi-VN" spc="-10" dirty="0">
                <a:latin typeface="Arial"/>
                <a:cs typeface="Arial"/>
              </a:rPr>
              <a:t>chỉ </a:t>
            </a:r>
            <a:r>
              <a:rPr lang="vi-VN" spc="-70" dirty="0">
                <a:latin typeface="Arial"/>
                <a:cs typeface="Arial"/>
              </a:rPr>
              <a:t>số </a:t>
            </a:r>
            <a:r>
              <a:rPr lang="vi-VN" spc="-55" dirty="0">
                <a:latin typeface="Arial"/>
                <a:cs typeface="Arial"/>
              </a:rPr>
              <a:t>(index). </a:t>
            </a:r>
            <a:endParaRPr lang="en-US" spc="-55" dirty="0">
              <a:latin typeface="Arial"/>
              <a:cs typeface="Arial"/>
            </a:endParaRPr>
          </a:p>
          <a:p>
            <a:pPr lvl="1" algn="just">
              <a:lnSpc>
                <a:spcPts val="3400"/>
              </a:lnSpc>
              <a:spcBef>
                <a:spcPts val="300"/>
              </a:spcBef>
              <a:spcAft>
                <a:spcPts val="300"/>
              </a:spcAft>
            </a:pPr>
            <a:r>
              <a:rPr lang="en-US" b="1" i="1" spc="35" dirty="0">
                <a:latin typeface="Arial"/>
                <a:cs typeface="Arial"/>
              </a:rPr>
              <a:t>Cú pháp:</a:t>
            </a:r>
          </a:p>
          <a:p>
            <a:pPr marL="457200" lvl="1" indent="623888" algn="just">
              <a:lnSpc>
                <a:spcPts val="3400"/>
              </a:lnSpc>
              <a:spcBef>
                <a:spcPts val="300"/>
              </a:spcBef>
              <a:spcAft>
                <a:spcPts val="300"/>
              </a:spcAft>
              <a:buNone/>
            </a:pPr>
            <a:r>
              <a:rPr lang="en-US" spc="35" dirty="0">
                <a:solidFill>
                  <a:schemeClr val="accent2">
                    <a:lumMod val="75000"/>
                  </a:schemeClr>
                </a:solidFill>
                <a:latin typeface="Arial"/>
                <a:cs typeface="Arial"/>
              </a:rPr>
              <a:t>Tên_mảng[Chỉ_số_phần_tử];</a:t>
            </a:r>
          </a:p>
          <a:p>
            <a:pPr marL="0" lvl="1" indent="290513" algn="just">
              <a:lnSpc>
                <a:spcPts val="3400"/>
              </a:lnSpc>
              <a:spcBef>
                <a:spcPts val="300"/>
              </a:spcBef>
              <a:spcAft>
                <a:spcPts val="300"/>
              </a:spcAft>
              <a:buNone/>
            </a:pPr>
            <a:r>
              <a:rPr lang="en-US" dirty="0"/>
              <a:t>Trong đó, Chỉ_số_phần_tử </a:t>
            </a:r>
            <a:r>
              <a:rPr lang="en-US" spc="35" dirty="0">
                <a:latin typeface="Arial"/>
                <a:cs typeface="Arial"/>
              </a:rPr>
              <a:t>l</a:t>
            </a:r>
            <a:r>
              <a:rPr lang="en-US" dirty="0"/>
              <a:t>à số thứ tự của các phần tử trong mảng và bắt đầu từ 0.</a:t>
            </a:r>
            <a:endParaRPr lang="en-US" spc="35" dirty="0">
              <a:solidFill>
                <a:schemeClr val="accent2">
                  <a:lumMod val="75000"/>
                </a:schemeClr>
              </a:solidFill>
              <a:latin typeface="Arial"/>
              <a:cs typeface="Arial"/>
            </a:endParaRPr>
          </a:p>
          <a:p>
            <a:pPr marL="457200" lvl="1" indent="346075" algn="just">
              <a:lnSpc>
                <a:spcPts val="3400"/>
              </a:lnSpc>
              <a:spcBef>
                <a:spcPts val="300"/>
              </a:spcBef>
              <a:spcAft>
                <a:spcPts val="300"/>
              </a:spcAft>
              <a:buNone/>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71</a:t>
            </a:fld>
            <a:endParaRPr lang="en-US" dirty="0"/>
          </a:p>
        </p:txBody>
      </p:sp>
      <p:sp>
        <p:nvSpPr>
          <p:cNvPr id="5" name="object 2"/>
          <p:cNvSpPr/>
          <p:nvPr/>
        </p:nvSpPr>
        <p:spPr>
          <a:xfrm>
            <a:off x="724829" y="4251460"/>
            <a:ext cx="7886700" cy="1676299"/>
          </a:xfrm>
          <a:custGeom>
            <a:avLst/>
            <a:gdLst/>
            <a:ahLst/>
            <a:cxnLst/>
            <a:rect l="l" t="t" r="r" b="b"/>
            <a:pathLst>
              <a:path w="7262495" h="1354454">
                <a:moveTo>
                  <a:pt x="0" y="0"/>
                </a:moveTo>
                <a:lnTo>
                  <a:pt x="7262050" y="0"/>
                </a:lnTo>
                <a:lnTo>
                  <a:pt x="7262050" y="1099947"/>
                </a:lnTo>
                <a:lnTo>
                  <a:pt x="7190386" y="1100001"/>
                </a:lnTo>
                <a:lnTo>
                  <a:pt x="7119665" y="1100165"/>
                </a:lnTo>
                <a:lnTo>
                  <a:pt x="7049874" y="1100434"/>
                </a:lnTo>
                <a:lnTo>
                  <a:pt x="6981001" y="1100809"/>
                </a:lnTo>
                <a:lnTo>
                  <a:pt x="6913033" y="1101286"/>
                </a:lnTo>
                <a:lnTo>
                  <a:pt x="6845957" y="1101864"/>
                </a:lnTo>
                <a:lnTo>
                  <a:pt x="6779760" y="1102541"/>
                </a:lnTo>
                <a:lnTo>
                  <a:pt x="6714430" y="1103316"/>
                </a:lnTo>
                <a:lnTo>
                  <a:pt x="6649955" y="1104185"/>
                </a:lnTo>
                <a:lnTo>
                  <a:pt x="6586321" y="1105148"/>
                </a:lnTo>
                <a:lnTo>
                  <a:pt x="6523516" y="1106203"/>
                </a:lnTo>
                <a:lnTo>
                  <a:pt x="6461527" y="1107347"/>
                </a:lnTo>
                <a:lnTo>
                  <a:pt x="6400342" y="1108579"/>
                </a:lnTo>
                <a:lnTo>
                  <a:pt x="6339948" y="1109897"/>
                </a:lnTo>
                <a:lnTo>
                  <a:pt x="6280332" y="1111298"/>
                </a:lnTo>
                <a:lnTo>
                  <a:pt x="6221482" y="1112782"/>
                </a:lnTo>
                <a:lnTo>
                  <a:pt x="6163385" y="1114347"/>
                </a:lnTo>
                <a:lnTo>
                  <a:pt x="6106028" y="1115989"/>
                </a:lnTo>
                <a:lnTo>
                  <a:pt x="6049399" y="1117709"/>
                </a:lnTo>
                <a:lnTo>
                  <a:pt x="5993485" y="1119502"/>
                </a:lnTo>
                <a:lnTo>
                  <a:pt x="5938273" y="1121369"/>
                </a:lnTo>
                <a:lnTo>
                  <a:pt x="5883751" y="1123307"/>
                </a:lnTo>
                <a:lnTo>
                  <a:pt x="5829906" y="1125313"/>
                </a:lnTo>
                <a:lnTo>
                  <a:pt x="5776726" y="1127387"/>
                </a:lnTo>
                <a:lnTo>
                  <a:pt x="5724197" y="1129526"/>
                </a:lnTo>
                <a:lnTo>
                  <a:pt x="5672308" y="1131728"/>
                </a:lnTo>
                <a:lnTo>
                  <a:pt x="5621044" y="1133992"/>
                </a:lnTo>
                <a:lnTo>
                  <a:pt x="5570395" y="1136316"/>
                </a:lnTo>
                <a:lnTo>
                  <a:pt x="5520347" y="1138697"/>
                </a:lnTo>
                <a:lnTo>
                  <a:pt x="5470887" y="1141134"/>
                </a:lnTo>
                <a:lnTo>
                  <a:pt x="5422003" y="1143625"/>
                </a:lnTo>
                <a:lnTo>
                  <a:pt x="5373682" y="1146168"/>
                </a:lnTo>
                <a:lnTo>
                  <a:pt x="5325912" y="1148762"/>
                </a:lnTo>
                <a:lnTo>
                  <a:pt x="5278680" y="1151404"/>
                </a:lnTo>
                <a:lnTo>
                  <a:pt x="5231972" y="1154092"/>
                </a:lnTo>
                <a:lnTo>
                  <a:pt x="5185778" y="1156825"/>
                </a:lnTo>
                <a:lnTo>
                  <a:pt x="5140083" y="1159601"/>
                </a:lnTo>
                <a:lnTo>
                  <a:pt x="5094875" y="1162418"/>
                </a:lnTo>
                <a:lnTo>
                  <a:pt x="5050142" y="1165274"/>
                </a:lnTo>
                <a:lnTo>
                  <a:pt x="5005871" y="1168167"/>
                </a:lnTo>
                <a:lnTo>
                  <a:pt x="4962050" y="1171095"/>
                </a:lnTo>
                <a:lnTo>
                  <a:pt x="4918665" y="1174056"/>
                </a:lnTo>
                <a:lnTo>
                  <a:pt x="4875703" y="1177049"/>
                </a:lnTo>
                <a:lnTo>
                  <a:pt x="4833153" y="1180072"/>
                </a:lnTo>
                <a:lnTo>
                  <a:pt x="4791002" y="1183122"/>
                </a:lnTo>
                <a:lnTo>
                  <a:pt x="4749237" y="1186199"/>
                </a:lnTo>
                <a:lnTo>
                  <a:pt x="4707845" y="1189299"/>
                </a:lnTo>
                <a:lnTo>
                  <a:pt x="4666814" y="1192421"/>
                </a:lnTo>
                <a:lnTo>
                  <a:pt x="4626131" y="1195564"/>
                </a:lnTo>
                <a:lnTo>
                  <a:pt x="4585783" y="1198725"/>
                </a:lnTo>
                <a:lnTo>
                  <a:pt x="4545758" y="1201903"/>
                </a:lnTo>
                <a:lnTo>
                  <a:pt x="4506043" y="1205095"/>
                </a:lnTo>
                <a:lnTo>
                  <a:pt x="4466625" y="1208300"/>
                </a:lnTo>
                <a:lnTo>
                  <a:pt x="4427492" y="1211516"/>
                </a:lnTo>
                <a:lnTo>
                  <a:pt x="4388631" y="1214740"/>
                </a:lnTo>
                <a:lnTo>
                  <a:pt x="4350030" y="1217972"/>
                </a:lnTo>
                <a:lnTo>
                  <a:pt x="4311675" y="1221209"/>
                </a:lnTo>
                <a:lnTo>
                  <a:pt x="4273555" y="1224450"/>
                </a:lnTo>
                <a:lnTo>
                  <a:pt x="4197966" y="1230934"/>
                </a:lnTo>
                <a:lnTo>
                  <a:pt x="4123161" y="1237408"/>
                </a:lnTo>
                <a:lnTo>
                  <a:pt x="4049040" y="1243859"/>
                </a:lnTo>
                <a:lnTo>
                  <a:pt x="4012204" y="1247070"/>
                </a:lnTo>
                <a:lnTo>
                  <a:pt x="3975501" y="1250270"/>
                </a:lnTo>
                <a:lnTo>
                  <a:pt x="3902443" y="1256628"/>
                </a:lnTo>
                <a:lnTo>
                  <a:pt x="3829764" y="1262916"/>
                </a:lnTo>
                <a:lnTo>
                  <a:pt x="3757364" y="1269121"/>
                </a:lnTo>
                <a:lnTo>
                  <a:pt x="3685141" y="1275226"/>
                </a:lnTo>
                <a:lnTo>
                  <a:pt x="3612994" y="1281217"/>
                </a:lnTo>
                <a:lnTo>
                  <a:pt x="3540822" y="1287079"/>
                </a:lnTo>
                <a:lnTo>
                  <a:pt x="3468523" y="1292797"/>
                </a:lnTo>
                <a:lnTo>
                  <a:pt x="3395997" y="1298356"/>
                </a:lnTo>
                <a:lnTo>
                  <a:pt x="3323141" y="1303741"/>
                </a:lnTo>
                <a:lnTo>
                  <a:pt x="3249855" y="1308937"/>
                </a:lnTo>
                <a:lnTo>
                  <a:pt x="3176037" y="1313929"/>
                </a:lnTo>
                <a:lnTo>
                  <a:pt x="3101587" y="1318701"/>
                </a:lnTo>
                <a:lnTo>
                  <a:pt x="3026403" y="1323240"/>
                </a:lnTo>
                <a:lnTo>
                  <a:pt x="2950383" y="1327529"/>
                </a:lnTo>
                <a:lnTo>
                  <a:pt x="2912029" y="1329576"/>
                </a:lnTo>
                <a:lnTo>
                  <a:pt x="2873427" y="1331555"/>
                </a:lnTo>
                <a:lnTo>
                  <a:pt x="2834566" y="1333463"/>
                </a:lnTo>
                <a:lnTo>
                  <a:pt x="2795433" y="1335301"/>
                </a:lnTo>
                <a:lnTo>
                  <a:pt x="2756015" y="1337064"/>
                </a:lnTo>
                <a:lnTo>
                  <a:pt x="2716300" y="1338753"/>
                </a:lnTo>
                <a:lnTo>
                  <a:pt x="2676275" y="1340364"/>
                </a:lnTo>
                <a:lnTo>
                  <a:pt x="2635927" y="1341896"/>
                </a:lnTo>
                <a:lnTo>
                  <a:pt x="2595244" y="1343346"/>
                </a:lnTo>
                <a:lnTo>
                  <a:pt x="2554213" y="1344714"/>
                </a:lnTo>
                <a:lnTo>
                  <a:pt x="2512821" y="1345997"/>
                </a:lnTo>
                <a:lnTo>
                  <a:pt x="2471055" y="1347194"/>
                </a:lnTo>
                <a:lnTo>
                  <a:pt x="2428904" y="1348302"/>
                </a:lnTo>
                <a:lnTo>
                  <a:pt x="2386354" y="1349319"/>
                </a:lnTo>
                <a:lnTo>
                  <a:pt x="2343393" y="1350244"/>
                </a:lnTo>
                <a:lnTo>
                  <a:pt x="2300007" y="1351075"/>
                </a:lnTo>
                <a:lnTo>
                  <a:pt x="2256185" y="1351810"/>
                </a:lnTo>
                <a:lnTo>
                  <a:pt x="2211914" y="1352447"/>
                </a:lnTo>
                <a:lnTo>
                  <a:pt x="2167181" y="1352985"/>
                </a:lnTo>
                <a:lnTo>
                  <a:pt x="2121974" y="1353420"/>
                </a:lnTo>
                <a:lnTo>
                  <a:pt x="2076279" y="1353752"/>
                </a:lnTo>
                <a:lnTo>
                  <a:pt x="2030084" y="1353979"/>
                </a:lnTo>
                <a:lnTo>
                  <a:pt x="1983377" y="1354098"/>
                </a:lnTo>
                <a:lnTo>
                  <a:pt x="1936144" y="1354108"/>
                </a:lnTo>
                <a:lnTo>
                  <a:pt x="1888374" y="1354008"/>
                </a:lnTo>
                <a:lnTo>
                  <a:pt x="1840053" y="1353794"/>
                </a:lnTo>
                <a:lnTo>
                  <a:pt x="1791169" y="1353465"/>
                </a:lnTo>
                <a:lnTo>
                  <a:pt x="1741709" y="1353020"/>
                </a:lnTo>
                <a:lnTo>
                  <a:pt x="1691660" y="1352456"/>
                </a:lnTo>
                <a:lnTo>
                  <a:pt x="1641011" y="1351772"/>
                </a:lnTo>
                <a:lnTo>
                  <a:pt x="1589747" y="1350965"/>
                </a:lnTo>
                <a:lnTo>
                  <a:pt x="1537858" y="1350034"/>
                </a:lnTo>
                <a:lnTo>
                  <a:pt x="1485329" y="1348978"/>
                </a:lnTo>
                <a:lnTo>
                  <a:pt x="1432148" y="1347793"/>
                </a:lnTo>
                <a:lnTo>
                  <a:pt x="1378303" y="1346478"/>
                </a:lnTo>
                <a:lnTo>
                  <a:pt x="1323781" y="1345032"/>
                </a:lnTo>
                <a:lnTo>
                  <a:pt x="1268569" y="1343452"/>
                </a:lnTo>
                <a:lnTo>
                  <a:pt x="1212655" y="1341737"/>
                </a:lnTo>
                <a:lnTo>
                  <a:pt x="1156025" y="1339885"/>
                </a:lnTo>
                <a:lnTo>
                  <a:pt x="1098668" y="1337893"/>
                </a:lnTo>
                <a:lnTo>
                  <a:pt x="1040571" y="1335760"/>
                </a:lnTo>
                <a:lnTo>
                  <a:pt x="981721" y="1333485"/>
                </a:lnTo>
                <a:lnTo>
                  <a:pt x="922105" y="1331064"/>
                </a:lnTo>
                <a:lnTo>
                  <a:pt x="861710" y="1328497"/>
                </a:lnTo>
                <a:lnTo>
                  <a:pt x="800525" y="1325781"/>
                </a:lnTo>
                <a:lnTo>
                  <a:pt x="738536" y="1322915"/>
                </a:lnTo>
                <a:lnTo>
                  <a:pt x="675731" y="1319896"/>
                </a:lnTo>
                <a:lnTo>
                  <a:pt x="612097" y="1316724"/>
                </a:lnTo>
                <a:lnTo>
                  <a:pt x="547621" y="1313395"/>
                </a:lnTo>
                <a:lnTo>
                  <a:pt x="482291" y="1309908"/>
                </a:lnTo>
                <a:lnTo>
                  <a:pt x="416094" y="1306262"/>
                </a:lnTo>
                <a:lnTo>
                  <a:pt x="349018" y="1302454"/>
                </a:lnTo>
                <a:lnTo>
                  <a:pt x="281049" y="1298482"/>
                </a:lnTo>
                <a:lnTo>
                  <a:pt x="212176" y="1294345"/>
                </a:lnTo>
                <a:lnTo>
                  <a:pt x="142385" y="1290040"/>
                </a:lnTo>
                <a:lnTo>
                  <a:pt x="71664" y="1285566"/>
                </a:lnTo>
                <a:lnTo>
                  <a:pt x="0" y="1280922"/>
                </a:lnTo>
                <a:lnTo>
                  <a:pt x="0" y="0"/>
                </a:lnTo>
                <a:close/>
              </a:path>
            </a:pathLst>
          </a:custGeom>
          <a:ln w="25400">
            <a:solidFill>
              <a:srgbClr val="9BBB59"/>
            </a:solidFill>
          </a:ln>
        </p:spPr>
        <p:txBody>
          <a:bodyPr wrap="square" lIns="0" tIns="0" rIns="0" bIns="0" rtlCol="0"/>
          <a:lstStyle/>
          <a:p>
            <a:endParaRPr/>
          </a:p>
        </p:txBody>
      </p:sp>
      <p:sp>
        <p:nvSpPr>
          <p:cNvPr id="6" name="object 14"/>
          <p:cNvSpPr/>
          <p:nvPr/>
        </p:nvSpPr>
        <p:spPr>
          <a:xfrm>
            <a:off x="1949581" y="5897141"/>
            <a:ext cx="252675" cy="391219"/>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7" name="object 16"/>
          <p:cNvSpPr/>
          <p:nvPr/>
        </p:nvSpPr>
        <p:spPr>
          <a:xfrm>
            <a:off x="2340307" y="5609322"/>
            <a:ext cx="6036992" cy="836083"/>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8" name="object 13"/>
          <p:cNvSpPr txBox="1"/>
          <p:nvPr/>
        </p:nvSpPr>
        <p:spPr>
          <a:xfrm>
            <a:off x="829985" y="4277494"/>
            <a:ext cx="7685365" cy="1225977"/>
          </a:xfrm>
          <a:prstGeom prst="rect">
            <a:avLst/>
          </a:prstGeom>
        </p:spPr>
        <p:txBody>
          <a:bodyPr vert="horz" wrap="square" lIns="0" tIns="12700" rIns="0" bIns="0" rtlCol="0">
            <a:spAutoFit/>
          </a:bodyPr>
          <a:lstStyle/>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Char[]kyTu=new char[]{‘a’,’c’,’d’,’e’};</a:t>
            </a:r>
          </a:p>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System.out.println ("Ky tu tai vi tri thu 2 trong mang la " + </a:t>
            </a:r>
            <a:r>
              <a:rPr lang="en-US" sz="2600" b="1" spc="-50" dirty="0">
                <a:solidFill>
                  <a:srgbClr val="C00000"/>
                </a:solidFill>
                <a:latin typeface="Courier" panose="02020500000000000000" pitchFamily="18" charset="0"/>
                <a:ea typeface="Courier" panose="02020500000000000000" pitchFamily="18" charset="0"/>
                <a:cs typeface="Courier" panose="02020500000000000000" pitchFamily="18" charset="0"/>
              </a:rPr>
              <a:t>kyTu[2]</a:t>
            </a:r>
            <a:r>
              <a:rPr lang="en-US" sz="2600" spc="-50" dirty="0">
                <a:latin typeface="Courier" panose="02020500000000000000" pitchFamily="18" charset="0"/>
                <a:ea typeface="Courier" panose="02020500000000000000" pitchFamily="18" charset="0"/>
                <a:cs typeface="Courier" panose="02020500000000000000" pitchFamily="18" charset="0"/>
              </a:rPr>
              <a:t>); </a:t>
            </a:r>
            <a:endParaRPr sz="2600" spc="-50" dirty="0">
              <a:latin typeface="Courier" panose="02020500000000000000" pitchFamily="18" charset="0"/>
              <a:ea typeface="Courier" panose="02020500000000000000" pitchFamily="18" charset="0"/>
              <a:cs typeface="Courier" panose="02020500000000000000" pitchFamily="18" charset="0"/>
            </a:endParaRPr>
          </a:p>
        </p:txBody>
      </p:sp>
      <p:sp>
        <p:nvSpPr>
          <p:cNvPr id="9" name="object 19"/>
          <p:cNvSpPr txBox="1"/>
          <p:nvPr/>
        </p:nvSpPr>
        <p:spPr>
          <a:xfrm>
            <a:off x="2493690" y="5833454"/>
            <a:ext cx="6021660" cy="382156"/>
          </a:xfrm>
          <a:prstGeom prst="rect">
            <a:avLst/>
          </a:prstGeom>
        </p:spPr>
        <p:txBody>
          <a:bodyPr vert="horz" wrap="square" lIns="0" tIns="12700" rIns="0" bIns="0" rtlCol="0">
            <a:spAutoFit/>
          </a:bodyPr>
          <a:lstStyle/>
          <a:p>
            <a:pPr marL="12700">
              <a:lnSpc>
                <a:spcPct val="100000"/>
              </a:lnSpc>
              <a:spcBef>
                <a:spcPts val="100"/>
              </a:spcBef>
            </a:pPr>
            <a:r>
              <a:rPr lang="en-US" sz="2400" b="1" spc="-250" dirty="0">
                <a:solidFill>
                  <a:srgbClr val="FFFFFF"/>
                </a:solidFill>
                <a:latin typeface="Courier" panose="02020500000000000000" pitchFamily="18" charset="0"/>
                <a:ea typeface="Courier" panose="02020500000000000000" pitchFamily="18" charset="0"/>
                <a:cs typeface="Courier" panose="02020500000000000000" pitchFamily="18" charset="0"/>
              </a:rPr>
              <a:t>Ky tu tai vi tri thu 2 trong mang la c</a:t>
            </a:r>
            <a:endParaRPr sz="2400" b="1" spc="-250" dirty="0">
              <a:latin typeface="Courier" panose="02020500000000000000" pitchFamily="18" charset="0"/>
              <a:ea typeface="Courier" panose="02020500000000000000" pitchFamily="18" charset="0"/>
              <a:cs typeface="Courier" panose="02020500000000000000" pitchFamily="18" charset="0"/>
            </a:endParaRPr>
          </a:p>
        </p:txBody>
      </p:sp>
    </p:spTree>
    <p:extLst>
      <p:ext uri="{BB962C8B-B14F-4D97-AF65-F5344CB8AC3E}">
        <p14:creationId xmlns:p14="http://schemas.microsoft.com/office/powerpoint/2010/main" val="24499537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28290" y="1400798"/>
            <a:ext cx="8069301" cy="5256478"/>
          </a:xfrm>
        </p:spPr>
        <p:txBody>
          <a:bodyPr>
            <a:noAutofit/>
          </a:bodyPr>
          <a:lstStyle/>
          <a:p>
            <a:pPr marL="355600" algn="just">
              <a:lnSpc>
                <a:spcPct val="100000"/>
              </a:lnSpc>
            </a:pPr>
            <a:r>
              <a:rPr lang="en-US" b="1" spc="-50" dirty="0">
                <a:latin typeface="Arial"/>
                <a:cs typeface="Arial"/>
              </a:rPr>
              <a:t>Duyệt mảng</a:t>
            </a:r>
            <a:r>
              <a:rPr lang="en-US" spc="-50" dirty="0">
                <a:latin typeface="Arial"/>
                <a:cs typeface="Arial"/>
              </a:rPr>
              <a:t>: Hai</a:t>
            </a:r>
            <a:r>
              <a:rPr lang="vi-VN" spc="-50" dirty="0">
                <a:latin typeface="Arial"/>
                <a:cs typeface="Arial"/>
              </a:rPr>
              <a:t> </a:t>
            </a:r>
            <a:r>
              <a:rPr lang="vi-VN" spc="30" dirty="0">
                <a:latin typeface="Arial"/>
                <a:cs typeface="Arial"/>
              </a:rPr>
              <a:t>vòng </a:t>
            </a:r>
            <a:r>
              <a:rPr lang="vi-VN" dirty="0">
                <a:latin typeface="Arial"/>
                <a:cs typeface="Arial"/>
              </a:rPr>
              <a:t>lặp </a:t>
            </a:r>
            <a:r>
              <a:rPr lang="vi-VN" spc="-20" dirty="0">
                <a:latin typeface="Arial"/>
                <a:cs typeface="Arial"/>
              </a:rPr>
              <a:t>thường </a:t>
            </a:r>
            <a:r>
              <a:rPr lang="vi-VN" spc="-110" dirty="0">
                <a:latin typeface="Arial"/>
                <a:cs typeface="Arial"/>
              </a:rPr>
              <a:t>được </a:t>
            </a:r>
            <a:r>
              <a:rPr lang="vi-VN" spc="-225" dirty="0">
                <a:latin typeface="Arial"/>
                <a:cs typeface="Arial"/>
              </a:rPr>
              <a:t>sử </a:t>
            </a:r>
            <a:r>
              <a:rPr lang="vi-VN" spc="55" dirty="0">
                <a:latin typeface="Arial"/>
                <a:cs typeface="Arial"/>
              </a:rPr>
              <a:t>dụng </a:t>
            </a:r>
            <a:r>
              <a:rPr lang="vi-VN" spc="-10" dirty="0">
                <a:latin typeface="Arial"/>
                <a:cs typeface="Arial"/>
              </a:rPr>
              <a:t>để </a:t>
            </a:r>
            <a:r>
              <a:rPr lang="vi-VN" spc="25" dirty="0">
                <a:latin typeface="Arial"/>
                <a:cs typeface="Arial"/>
              </a:rPr>
              <a:t>duyệt</a:t>
            </a:r>
            <a:r>
              <a:rPr lang="vi-VN" spc="-310" dirty="0">
                <a:latin typeface="Arial"/>
                <a:cs typeface="Arial"/>
              </a:rPr>
              <a:t> </a:t>
            </a:r>
            <a:r>
              <a:rPr lang="vi-VN" spc="15" dirty="0">
                <a:latin typeface="Arial"/>
                <a:cs typeface="Arial"/>
              </a:rPr>
              <a:t>mảng</a:t>
            </a:r>
            <a:r>
              <a:rPr lang="en-US" spc="15" dirty="0">
                <a:latin typeface="Arial"/>
                <a:cs typeface="Arial"/>
              </a:rPr>
              <a:t> </a:t>
            </a:r>
            <a:r>
              <a:rPr lang="vi-VN" spc="-45" dirty="0">
                <a:latin typeface="Arial"/>
                <a:cs typeface="Arial"/>
              </a:rPr>
              <a:t>là </a:t>
            </a:r>
            <a:r>
              <a:rPr lang="vi-VN" spc="70" dirty="0">
                <a:latin typeface="Arial"/>
                <a:cs typeface="Arial"/>
              </a:rPr>
              <a:t>for </a:t>
            </a:r>
            <a:r>
              <a:rPr lang="vi-VN" spc="-125" dirty="0">
                <a:latin typeface="Arial"/>
                <a:cs typeface="Arial"/>
              </a:rPr>
              <a:t>và</a:t>
            </a:r>
            <a:r>
              <a:rPr lang="vi-VN" spc="-90" dirty="0">
                <a:latin typeface="Arial"/>
                <a:cs typeface="Arial"/>
              </a:rPr>
              <a:t> </a:t>
            </a:r>
            <a:r>
              <a:rPr lang="vi-VN" spc="-10" dirty="0">
                <a:latin typeface="Arial"/>
                <a:cs typeface="Arial"/>
              </a:rPr>
              <a:t>for-each.</a:t>
            </a:r>
            <a:endParaRPr lang="en-US" dirty="0">
              <a:latin typeface="Arial"/>
              <a:cs typeface="Arial"/>
            </a:endParaRPr>
          </a:p>
          <a:p>
            <a:pPr marL="0" lvl="1" indent="0" algn="just">
              <a:lnSpc>
                <a:spcPts val="3400"/>
              </a:lnSpc>
              <a:spcBef>
                <a:spcPts val="600"/>
              </a:spcBef>
              <a:spcAft>
                <a:spcPts val="600"/>
              </a:spcAft>
              <a:buSzPct val="130000"/>
              <a:buNone/>
            </a:pPr>
            <a:r>
              <a:rPr lang="en-US" sz="2400" spc="-5" dirty="0">
                <a:cs typeface="Arial"/>
              </a:rPr>
              <a:t>	</a:t>
            </a:r>
            <a:endParaRPr lang="en-US" b="1" spc="5"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72</a:t>
            </a:fld>
            <a:endParaRPr lang="en-US" dirty="0"/>
          </a:p>
        </p:txBody>
      </p:sp>
      <p:sp>
        <p:nvSpPr>
          <p:cNvPr id="5" name="object 10"/>
          <p:cNvSpPr txBox="1"/>
          <p:nvPr/>
        </p:nvSpPr>
        <p:spPr>
          <a:xfrm>
            <a:off x="914399" y="2561060"/>
            <a:ext cx="4744213" cy="1745991"/>
          </a:xfrm>
          <a:prstGeom prst="rect">
            <a:avLst/>
          </a:prstGeom>
          <a:ln w="9525">
            <a:solidFill>
              <a:srgbClr val="000000"/>
            </a:solidFill>
          </a:ln>
        </p:spPr>
        <p:txBody>
          <a:bodyPr vert="horz" wrap="square" lIns="0" tIns="22225" rIns="0" bIns="0" rtlCol="0">
            <a:spAutoFit/>
          </a:bodyPr>
          <a:lstStyle/>
          <a:p>
            <a:pPr marL="91440">
              <a:lnSpc>
                <a:spcPts val="3400"/>
              </a:lnSpc>
              <a:spcBef>
                <a:spcPts val="175"/>
              </a:spcBef>
            </a:pPr>
            <a:r>
              <a:rPr sz="2800" spc="40" dirty="0">
                <a:latin typeface="Arial"/>
                <a:cs typeface="Arial"/>
              </a:rPr>
              <a:t>int[</a:t>
            </a:r>
            <a:r>
              <a:rPr lang="en-US" sz="2800" spc="40" dirty="0">
                <a:latin typeface="Arial"/>
                <a:cs typeface="Arial"/>
              </a:rPr>
              <a:t> </a:t>
            </a:r>
            <a:r>
              <a:rPr sz="2800" spc="40" dirty="0">
                <a:latin typeface="Arial"/>
                <a:cs typeface="Arial"/>
              </a:rPr>
              <a:t>] </a:t>
            </a:r>
            <a:r>
              <a:rPr sz="2800" spc="-220" dirty="0">
                <a:latin typeface="Arial"/>
                <a:cs typeface="Arial"/>
              </a:rPr>
              <a:t>a </a:t>
            </a:r>
            <a:r>
              <a:rPr sz="2800" spc="-245" dirty="0">
                <a:latin typeface="Arial"/>
                <a:cs typeface="Arial"/>
              </a:rPr>
              <a:t>= </a:t>
            </a:r>
            <a:r>
              <a:rPr sz="2800" spc="-100" dirty="0">
                <a:latin typeface="Arial"/>
                <a:cs typeface="Arial"/>
              </a:rPr>
              <a:t>{4, </a:t>
            </a:r>
            <a:r>
              <a:rPr sz="2800" spc="-114" dirty="0">
                <a:latin typeface="Arial"/>
                <a:cs typeface="Arial"/>
              </a:rPr>
              <a:t>3, 5,</a:t>
            </a:r>
            <a:r>
              <a:rPr sz="2800" spc="-165" dirty="0">
                <a:latin typeface="Arial"/>
                <a:cs typeface="Arial"/>
              </a:rPr>
              <a:t> </a:t>
            </a:r>
            <a:r>
              <a:rPr sz="2800" spc="-85" dirty="0">
                <a:latin typeface="Arial"/>
                <a:cs typeface="Arial"/>
              </a:rPr>
              <a:t>9};</a:t>
            </a:r>
            <a:endParaRPr sz="2800" dirty="0">
              <a:latin typeface="Arial"/>
              <a:cs typeface="Arial"/>
            </a:endParaRPr>
          </a:p>
          <a:p>
            <a:pPr marL="496570" marR="88265" indent="-405765">
              <a:lnSpc>
                <a:spcPts val="3400"/>
              </a:lnSpc>
            </a:pPr>
            <a:r>
              <a:rPr sz="2800" b="1" spc="-165" dirty="0">
                <a:solidFill>
                  <a:srgbClr val="0000FF"/>
                </a:solidFill>
                <a:latin typeface="Trebuchet MS"/>
                <a:cs typeface="Trebuchet MS"/>
              </a:rPr>
              <a:t>for</a:t>
            </a:r>
            <a:r>
              <a:rPr sz="2800" spc="-10" dirty="0">
                <a:latin typeface="Arial"/>
                <a:cs typeface="Arial"/>
              </a:rPr>
              <a:t>(int </a:t>
            </a:r>
            <a:r>
              <a:rPr sz="2800" spc="-105" dirty="0">
                <a:latin typeface="Arial"/>
                <a:cs typeface="Arial"/>
              </a:rPr>
              <a:t>i</a:t>
            </a:r>
            <a:r>
              <a:rPr lang="en-US" sz="2800" spc="-105" dirty="0">
                <a:latin typeface="Arial"/>
                <a:cs typeface="Arial"/>
              </a:rPr>
              <a:t> </a:t>
            </a:r>
            <a:r>
              <a:rPr sz="2800" spc="-105" dirty="0">
                <a:latin typeface="Arial"/>
                <a:cs typeface="Arial"/>
              </a:rPr>
              <a:t>=</a:t>
            </a:r>
            <a:r>
              <a:rPr lang="en-US" sz="2800" spc="-105" dirty="0">
                <a:latin typeface="Arial"/>
                <a:cs typeface="Arial"/>
              </a:rPr>
              <a:t> </a:t>
            </a:r>
            <a:r>
              <a:rPr sz="2800" spc="-105" dirty="0">
                <a:latin typeface="Arial"/>
                <a:cs typeface="Arial"/>
              </a:rPr>
              <a:t>0; </a:t>
            </a:r>
            <a:r>
              <a:rPr sz="2800" spc="-145" dirty="0">
                <a:latin typeface="Arial"/>
                <a:cs typeface="Arial"/>
              </a:rPr>
              <a:t>i</a:t>
            </a:r>
            <a:r>
              <a:rPr lang="en-US" sz="2800" spc="-145" dirty="0">
                <a:latin typeface="Arial"/>
                <a:cs typeface="Arial"/>
              </a:rPr>
              <a:t> </a:t>
            </a:r>
            <a:r>
              <a:rPr sz="2800" spc="-145" dirty="0">
                <a:latin typeface="Arial"/>
                <a:cs typeface="Arial"/>
              </a:rPr>
              <a:t>&lt;</a:t>
            </a:r>
            <a:r>
              <a:rPr lang="en-US" sz="2800" spc="-145" dirty="0">
                <a:latin typeface="Arial"/>
                <a:cs typeface="Arial"/>
              </a:rPr>
              <a:t> </a:t>
            </a:r>
            <a:r>
              <a:rPr sz="2800" b="1" spc="-145" dirty="0">
                <a:solidFill>
                  <a:srgbClr val="FF5A33"/>
                </a:solidFill>
                <a:latin typeface="Trebuchet MS"/>
                <a:cs typeface="Trebuchet MS"/>
              </a:rPr>
              <a:t>a.length</a:t>
            </a:r>
            <a:r>
              <a:rPr sz="2800" spc="-145" dirty="0">
                <a:latin typeface="Arial"/>
                <a:cs typeface="Arial"/>
              </a:rPr>
              <a:t>;</a:t>
            </a:r>
            <a:r>
              <a:rPr sz="2800" spc="-305" dirty="0">
                <a:latin typeface="Arial"/>
                <a:cs typeface="Arial"/>
              </a:rPr>
              <a:t> </a:t>
            </a:r>
            <a:r>
              <a:rPr sz="2800" spc="-120" dirty="0">
                <a:latin typeface="Arial"/>
                <a:cs typeface="Arial"/>
              </a:rPr>
              <a:t>i++)</a:t>
            </a:r>
            <a:r>
              <a:rPr lang="en-US" sz="2800" spc="-120" dirty="0">
                <a:latin typeface="Arial"/>
                <a:cs typeface="Arial"/>
              </a:rPr>
              <a:t> </a:t>
            </a:r>
            <a:r>
              <a:rPr sz="2800" spc="-120" dirty="0">
                <a:latin typeface="Arial"/>
                <a:cs typeface="Arial"/>
              </a:rPr>
              <a:t>{  </a:t>
            </a:r>
            <a:r>
              <a:rPr sz="2800" spc="-100" dirty="0">
                <a:latin typeface="Arial"/>
                <a:cs typeface="Arial"/>
              </a:rPr>
              <a:t>System.out.println(</a:t>
            </a:r>
            <a:r>
              <a:rPr sz="2800" b="1" spc="-100" dirty="0">
                <a:solidFill>
                  <a:srgbClr val="FF5A33"/>
                </a:solidFill>
                <a:latin typeface="Trebuchet MS"/>
                <a:cs typeface="Trebuchet MS"/>
              </a:rPr>
              <a:t>a[i]</a:t>
            </a:r>
            <a:r>
              <a:rPr sz="2800" spc="-100" dirty="0">
                <a:latin typeface="Arial"/>
                <a:cs typeface="Arial"/>
              </a:rPr>
              <a:t>);</a:t>
            </a:r>
            <a:endParaRPr sz="2800" dirty="0">
              <a:latin typeface="Arial"/>
              <a:cs typeface="Arial"/>
            </a:endParaRPr>
          </a:p>
          <a:p>
            <a:pPr marL="91440">
              <a:lnSpc>
                <a:spcPct val="100000"/>
              </a:lnSpc>
            </a:pPr>
            <a:r>
              <a:rPr sz="2800" spc="-60" dirty="0">
                <a:latin typeface="Arial"/>
                <a:cs typeface="Arial"/>
              </a:rPr>
              <a:t>}</a:t>
            </a:r>
            <a:endParaRPr sz="2800" dirty="0">
              <a:latin typeface="Arial"/>
              <a:cs typeface="Arial"/>
            </a:endParaRPr>
          </a:p>
        </p:txBody>
      </p:sp>
      <p:sp>
        <p:nvSpPr>
          <p:cNvPr id="9" name="object 22"/>
          <p:cNvSpPr/>
          <p:nvPr/>
        </p:nvSpPr>
        <p:spPr>
          <a:xfrm flipV="1">
            <a:off x="5698272" y="3491298"/>
            <a:ext cx="731489" cy="45719"/>
          </a:xfrm>
          <a:custGeom>
            <a:avLst/>
            <a:gdLst/>
            <a:ahLst/>
            <a:cxnLst/>
            <a:rect l="l" t="t" r="r" b="b"/>
            <a:pathLst>
              <a:path w="1289050">
                <a:moveTo>
                  <a:pt x="1288719" y="0"/>
                </a:moveTo>
                <a:lnTo>
                  <a:pt x="0" y="0"/>
                </a:lnTo>
              </a:path>
            </a:pathLst>
          </a:custGeom>
          <a:ln w="25400">
            <a:solidFill>
              <a:srgbClr val="4A7EBB"/>
            </a:solidFill>
            <a:tailEnd type="arrow"/>
          </a:ln>
        </p:spPr>
        <p:txBody>
          <a:bodyPr wrap="square" lIns="0" tIns="0" rIns="0" bIns="0" rtlCol="0"/>
          <a:lstStyle/>
          <a:p>
            <a:endParaRPr/>
          </a:p>
        </p:txBody>
      </p:sp>
      <p:sp>
        <p:nvSpPr>
          <p:cNvPr id="10" name="object 24"/>
          <p:cNvSpPr/>
          <p:nvPr/>
        </p:nvSpPr>
        <p:spPr>
          <a:xfrm rot="400011">
            <a:off x="3640164" y="5382194"/>
            <a:ext cx="641904" cy="63525"/>
          </a:xfrm>
          <a:custGeom>
            <a:avLst/>
            <a:gdLst/>
            <a:ahLst/>
            <a:cxnLst/>
            <a:rect l="l" t="t" r="r" b="b"/>
            <a:pathLst>
              <a:path w="1198879" h="3810">
                <a:moveTo>
                  <a:pt x="0" y="3733"/>
                </a:moveTo>
                <a:lnTo>
                  <a:pt x="1198346" y="0"/>
                </a:lnTo>
              </a:path>
            </a:pathLst>
          </a:custGeom>
          <a:ln w="25400">
            <a:solidFill>
              <a:srgbClr val="4A7EBB"/>
            </a:solidFill>
            <a:tailEnd type="arrow"/>
          </a:ln>
        </p:spPr>
        <p:txBody>
          <a:bodyPr wrap="square" lIns="0" tIns="0" rIns="0" bIns="0" rtlCol="0"/>
          <a:lstStyle/>
          <a:p>
            <a:endParaRPr/>
          </a:p>
        </p:txBody>
      </p:sp>
      <p:sp>
        <p:nvSpPr>
          <p:cNvPr id="11" name="object 19"/>
          <p:cNvSpPr/>
          <p:nvPr/>
        </p:nvSpPr>
        <p:spPr>
          <a:xfrm>
            <a:off x="6469420" y="3217816"/>
            <a:ext cx="1578736" cy="595021"/>
          </a:xfrm>
          <a:prstGeom prst="rect">
            <a:avLst/>
          </a:prstGeom>
          <a:blipFill>
            <a:blip r:embed="rId3" cstate="print"/>
            <a:stretch>
              <a:fillRect/>
            </a:stretch>
          </a:blipFill>
        </p:spPr>
        <p:txBody>
          <a:bodyPr wrap="square" lIns="0" tIns="0" rIns="0" bIns="0" rtlCol="0"/>
          <a:lstStyle/>
          <a:p>
            <a:endParaRPr/>
          </a:p>
        </p:txBody>
      </p:sp>
      <p:sp>
        <p:nvSpPr>
          <p:cNvPr id="15" name="object 11"/>
          <p:cNvSpPr txBox="1"/>
          <p:nvPr/>
        </p:nvSpPr>
        <p:spPr>
          <a:xfrm>
            <a:off x="4282068" y="4492028"/>
            <a:ext cx="4273922" cy="1745991"/>
          </a:xfrm>
          <a:prstGeom prst="rect">
            <a:avLst/>
          </a:prstGeom>
          <a:ln w="9525">
            <a:solidFill>
              <a:srgbClr val="000000"/>
            </a:solidFill>
          </a:ln>
        </p:spPr>
        <p:txBody>
          <a:bodyPr vert="horz" wrap="square" lIns="0" tIns="22225" rIns="0" bIns="0" rtlCol="0">
            <a:spAutoFit/>
          </a:bodyPr>
          <a:lstStyle/>
          <a:p>
            <a:pPr marL="90805">
              <a:lnSpc>
                <a:spcPct val="100000"/>
              </a:lnSpc>
              <a:spcBef>
                <a:spcPts val="175"/>
              </a:spcBef>
            </a:pPr>
            <a:r>
              <a:rPr sz="2800" spc="40" dirty="0">
                <a:latin typeface="Arial"/>
                <a:cs typeface="Arial"/>
              </a:rPr>
              <a:t>int[</a:t>
            </a:r>
            <a:r>
              <a:rPr lang="en-US" sz="2800" spc="40" dirty="0">
                <a:latin typeface="Arial"/>
                <a:cs typeface="Arial"/>
              </a:rPr>
              <a:t> </a:t>
            </a:r>
            <a:r>
              <a:rPr sz="2800" spc="40" dirty="0">
                <a:latin typeface="Arial"/>
                <a:cs typeface="Arial"/>
              </a:rPr>
              <a:t>] </a:t>
            </a:r>
            <a:r>
              <a:rPr sz="2800" spc="-220" dirty="0">
                <a:latin typeface="Arial"/>
                <a:cs typeface="Arial"/>
              </a:rPr>
              <a:t>a </a:t>
            </a:r>
            <a:r>
              <a:rPr sz="2800" spc="-245" dirty="0">
                <a:latin typeface="Arial"/>
                <a:cs typeface="Arial"/>
              </a:rPr>
              <a:t>= </a:t>
            </a:r>
            <a:r>
              <a:rPr sz="2800" spc="-100" dirty="0">
                <a:latin typeface="Arial"/>
                <a:cs typeface="Arial"/>
              </a:rPr>
              <a:t>{4, </a:t>
            </a:r>
            <a:r>
              <a:rPr sz="2800" spc="-114" dirty="0">
                <a:latin typeface="Arial"/>
                <a:cs typeface="Arial"/>
              </a:rPr>
              <a:t>3, 5,</a:t>
            </a:r>
            <a:r>
              <a:rPr sz="2800" spc="-170" dirty="0">
                <a:latin typeface="Arial"/>
                <a:cs typeface="Arial"/>
              </a:rPr>
              <a:t> </a:t>
            </a:r>
            <a:r>
              <a:rPr sz="2800" spc="-85" dirty="0">
                <a:latin typeface="Arial"/>
                <a:cs typeface="Arial"/>
              </a:rPr>
              <a:t>9};</a:t>
            </a:r>
            <a:endParaRPr sz="2800" dirty="0">
              <a:latin typeface="Arial"/>
              <a:cs typeface="Arial"/>
            </a:endParaRPr>
          </a:p>
          <a:p>
            <a:pPr marL="496570" marR="126364" indent="-405765">
              <a:lnSpc>
                <a:spcPct val="100000"/>
              </a:lnSpc>
            </a:pPr>
            <a:r>
              <a:rPr sz="2800" b="1" spc="-165" dirty="0">
                <a:solidFill>
                  <a:srgbClr val="0000FF"/>
                </a:solidFill>
                <a:latin typeface="Trebuchet MS"/>
                <a:cs typeface="Trebuchet MS"/>
              </a:rPr>
              <a:t>for </a:t>
            </a:r>
            <a:r>
              <a:rPr sz="2800" spc="-140" dirty="0">
                <a:latin typeface="Arial"/>
                <a:cs typeface="Arial"/>
              </a:rPr>
              <a:t>(</a:t>
            </a:r>
            <a:r>
              <a:rPr sz="2800" b="1" spc="-140" dirty="0">
                <a:solidFill>
                  <a:srgbClr val="FF0000"/>
                </a:solidFill>
                <a:latin typeface="Trebuchet MS"/>
                <a:cs typeface="Trebuchet MS"/>
              </a:rPr>
              <a:t>int </a:t>
            </a:r>
            <a:r>
              <a:rPr sz="2800" spc="-190" dirty="0">
                <a:latin typeface="Arial"/>
                <a:cs typeface="Arial"/>
              </a:rPr>
              <a:t>x </a:t>
            </a:r>
            <a:r>
              <a:rPr sz="2800" spc="-30" dirty="0">
                <a:latin typeface="Arial"/>
                <a:cs typeface="Arial"/>
              </a:rPr>
              <a:t>: </a:t>
            </a:r>
            <a:r>
              <a:rPr sz="2800" b="1" spc="-85" dirty="0">
                <a:solidFill>
                  <a:srgbClr val="FF0000"/>
                </a:solidFill>
                <a:latin typeface="Trebuchet MS"/>
                <a:cs typeface="Trebuchet MS"/>
              </a:rPr>
              <a:t>a</a:t>
            </a:r>
            <a:r>
              <a:rPr sz="2800" spc="-85" dirty="0">
                <a:latin typeface="Arial"/>
                <a:cs typeface="Arial"/>
              </a:rPr>
              <a:t>)</a:t>
            </a:r>
            <a:r>
              <a:rPr lang="en-US" sz="2800" spc="-85" dirty="0">
                <a:latin typeface="Arial"/>
                <a:cs typeface="Arial"/>
              </a:rPr>
              <a:t> </a:t>
            </a:r>
            <a:r>
              <a:rPr sz="2800" spc="-85" dirty="0">
                <a:latin typeface="Arial"/>
                <a:cs typeface="Arial"/>
              </a:rPr>
              <a:t>{  </a:t>
            </a:r>
            <a:r>
              <a:rPr sz="2800" spc="-90" dirty="0">
                <a:latin typeface="Arial"/>
                <a:cs typeface="Arial"/>
              </a:rPr>
              <a:t>System.out.println(x);</a:t>
            </a:r>
            <a:endParaRPr sz="2800" dirty="0">
              <a:latin typeface="Arial"/>
              <a:cs typeface="Arial"/>
            </a:endParaRPr>
          </a:p>
          <a:p>
            <a:pPr marL="90805">
              <a:lnSpc>
                <a:spcPct val="100000"/>
              </a:lnSpc>
            </a:pPr>
            <a:r>
              <a:rPr sz="2800" spc="-60" dirty="0">
                <a:latin typeface="Arial"/>
                <a:cs typeface="Arial"/>
              </a:rPr>
              <a:t>}</a:t>
            </a:r>
            <a:endParaRPr sz="2800" dirty="0">
              <a:latin typeface="Arial"/>
              <a:cs typeface="Arial"/>
            </a:endParaRPr>
          </a:p>
        </p:txBody>
      </p:sp>
      <p:grpSp>
        <p:nvGrpSpPr>
          <p:cNvPr id="18" name="Group 17"/>
          <p:cNvGrpSpPr/>
          <p:nvPr/>
        </p:nvGrpSpPr>
        <p:grpSpPr>
          <a:xfrm>
            <a:off x="1076744" y="5115990"/>
            <a:ext cx="2318505" cy="476483"/>
            <a:chOff x="1076744" y="5160594"/>
            <a:chExt cx="2318505" cy="476483"/>
          </a:xfrm>
        </p:grpSpPr>
        <p:sp>
          <p:nvSpPr>
            <p:cNvPr id="12" name="object 12"/>
            <p:cNvSpPr/>
            <p:nvPr/>
          </p:nvSpPr>
          <p:spPr>
            <a:xfrm>
              <a:off x="1076744" y="5160594"/>
              <a:ext cx="800193" cy="476483"/>
            </a:xfrm>
            <a:prstGeom prst="rect">
              <a:avLst/>
            </a:prstGeom>
            <a:blipFill>
              <a:blip r:embed="rId4" cstate="print"/>
              <a:stretch>
                <a:fillRect/>
              </a:stretch>
            </a:blipFill>
          </p:spPr>
          <p:txBody>
            <a:bodyPr wrap="square" lIns="0" tIns="0" rIns="0" bIns="0" rtlCol="0"/>
            <a:lstStyle/>
            <a:p>
              <a:endParaRPr/>
            </a:p>
          </p:txBody>
        </p:sp>
        <p:sp>
          <p:nvSpPr>
            <p:cNvPr id="14" name="object 16"/>
            <p:cNvSpPr/>
            <p:nvPr/>
          </p:nvSpPr>
          <p:spPr>
            <a:xfrm>
              <a:off x="2121852" y="5163273"/>
              <a:ext cx="1273397" cy="473803"/>
            </a:xfrm>
            <a:prstGeom prst="rect">
              <a:avLst/>
            </a:prstGeom>
            <a:blipFill>
              <a:blip r:embed="rId5" cstate="print"/>
              <a:stretch>
                <a:fillRect/>
              </a:stretch>
            </a:blipFill>
          </p:spPr>
          <p:txBody>
            <a:bodyPr wrap="square" lIns="0" tIns="0" rIns="0" bIns="0" rtlCol="0"/>
            <a:lstStyle/>
            <a:p>
              <a:endParaRPr/>
            </a:p>
          </p:txBody>
        </p:sp>
        <p:sp>
          <p:nvSpPr>
            <p:cNvPr id="17" name="object 14"/>
            <p:cNvSpPr/>
            <p:nvPr/>
          </p:nvSpPr>
          <p:spPr>
            <a:xfrm>
              <a:off x="1906511" y="5426798"/>
              <a:ext cx="170404" cy="68971"/>
            </a:xfrm>
            <a:prstGeom prst="rect">
              <a:avLst/>
            </a:prstGeom>
            <a:blipFill>
              <a:blip r:embed="rId6"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6784452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37349" y="1328434"/>
            <a:ext cx="8069301" cy="5256478"/>
          </a:xfrm>
        </p:spPr>
        <p:txBody>
          <a:bodyPr>
            <a:noAutofit/>
          </a:bodyPr>
          <a:lstStyle/>
          <a:p>
            <a:pPr marL="55563">
              <a:lnSpc>
                <a:spcPct val="100000"/>
              </a:lnSpc>
              <a:spcBef>
                <a:spcPts val="595"/>
              </a:spcBef>
            </a:pPr>
            <a:r>
              <a:rPr lang="en-US" b="1" spc="-5" dirty="0">
                <a:cs typeface="Arial"/>
              </a:rPr>
              <a:t>Cú pháp For each</a:t>
            </a:r>
            <a:r>
              <a:rPr lang="en-US" spc="-5" dirty="0">
                <a:cs typeface="Arial"/>
              </a:rPr>
              <a:t>:</a:t>
            </a:r>
            <a:r>
              <a:rPr lang="en-US" sz="2800" spc="-5" dirty="0">
                <a:cs typeface="Arial"/>
              </a:rPr>
              <a:t> </a:t>
            </a:r>
          </a:p>
          <a:p>
            <a:pPr marL="0" indent="0">
              <a:lnSpc>
                <a:spcPct val="100000"/>
              </a:lnSpc>
              <a:spcBef>
                <a:spcPts val="595"/>
              </a:spcBef>
              <a:buNone/>
            </a:pPr>
            <a:r>
              <a:rPr lang="en-US" b="1" spc="-5" dirty="0">
                <a:solidFill>
                  <a:srgbClr val="0000FF"/>
                </a:solidFill>
                <a:cs typeface="Arial"/>
              </a:rPr>
              <a:t>     </a:t>
            </a:r>
            <a:r>
              <a:rPr lang="en-US" b="1" spc="45" dirty="0">
                <a:solidFill>
                  <a:srgbClr val="0000FF"/>
                </a:solidFill>
                <a:cs typeface="Arial"/>
              </a:rPr>
              <a:t>for </a:t>
            </a:r>
            <a:r>
              <a:rPr lang="en-US" spc="114" dirty="0">
                <a:cs typeface="Arial"/>
              </a:rPr>
              <a:t>(</a:t>
            </a:r>
            <a:r>
              <a:rPr lang="en-US" b="1" spc="114" dirty="0">
                <a:solidFill>
                  <a:srgbClr val="FF0000"/>
                </a:solidFill>
                <a:cs typeface="Arial"/>
              </a:rPr>
              <a:t>&lt;&lt;kiểu&gt;&gt; </a:t>
            </a:r>
            <a:r>
              <a:rPr lang="en-US" spc="-100" dirty="0">
                <a:cs typeface="Arial"/>
              </a:rPr>
              <a:t>x </a:t>
            </a:r>
            <a:r>
              <a:rPr lang="en-US" spc="-150" dirty="0">
                <a:cs typeface="Arial"/>
              </a:rPr>
              <a:t>: </a:t>
            </a:r>
            <a:r>
              <a:rPr lang="en-US" b="1" spc="135" dirty="0">
                <a:solidFill>
                  <a:srgbClr val="FF0000"/>
                </a:solidFill>
                <a:cs typeface="Arial"/>
              </a:rPr>
              <a:t>&lt;&lt;tập</a:t>
            </a:r>
            <a:r>
              <a:rPr lang="en-US" b="1" spc="45" dirty="0">
                <a:solidFill>
                  <a:srgbClr val="FF0000"/>
                </a:solidFill>
                <a:cs typeface="Arial"/>
              </a:rPr>
              <a:t> </a:t>
            </a:r>
            <a:r>
              <a:rPr lang="en-US" b="1" spc="30" dirty="0">
                <a:solidFill>
                  <a:srgbClr val="FF0000"/>
                </a:solidFill>
                <a:cs typeface="Arial"/>
              </a:rPr>
              <a:t>hợp&gt;&gt;</a:t>
            </a:r>
            <a:r>
              <a:rPr lang="en-US" spc="30" dirty="0">
                <a:cs typeface="Arial"/>
              </a:rPr>
              <a:t>)</a:t>
            </a:r>
          </a:p>
          <a:p>
            <a:pPr marL="241300" indent="728663">
              <a:lnSpc>
                <a:spcPct val="100000"/>
              </a:lnSpc>
              <a:spcBef>
                <a:spcPts val="595"/>
              </a:spcBef>
              <a:buNone/>
            </a:pPr>
            <a:r>
              <a:rPr lang="en-US" spc="30" dirty="0">
                <a:cs typeface="Arial"/>
              </a:rPr>
              <a:t>{ </a:t>
            </a:r>
            <a:r>
              <a:rPr lang="en-US" spc="220" dirty="0">
                <a:cs typeface="Arial"/>
              </a:rPr>
              <a:t>// </a:t>
            </a:r>
            <a:r>
              <a:rPr lang="en-US" spc="-155" dirty="0">
                <a:cs typeface="Arial"/>
              </a:rPr>
              <a:t>Xử </a:t>
            </a:r>
            <a:r>
              <a:rPr lang="en-US" dirty="0">
                <a:cs typeface="Arial"/>
              </a:rPr>
              <a:t>lý phần </a:t>
            </a:r>
            <a:r>
              <a:rPr lang="en-US" spc="-20" dirty="0">
                <a:cs typeface="Arial"/>
              </a:rPr>
              <a:t>tử</a:t>
            </a:r>
            <a:r>
              <a:rPr lang="en-US" spc="-165" dirty="0">
                <a:cs typeface="Arial"/>
              </a:rPr>
              <a:t> </a:t>
            </a:r>
            <a:r>
              <a:rPr lang="en-US" spc="-85" dirty="0">
                <a:cs typeface="Arial"/>
              </a:rPr>
              <a:t>x</a:t>
            </a:r>
          </a:p>
          <a:p>
            <a:pPr marL="241300" indent="728663">
              <a:lnSpc>
                <a:spcPct val="100000"/>
              </a:lnSpc>
              <a:spcBef>
                <a:spcPts val="595"/>
              </a:spcBef>
              <a:buNone/>
            </a:pPr>
            <a:r>
              <a:rPr lang="en-US" spc="-85" dirty="0">
                <a:cs typeface="Arial"/>
              </a:rPr>
              <a:t>}</a:t>
            </a:r>
            <a:endParaRPr lang="en-US" dirty="0">
              <a:cs typeface="Arial"/>
            </a:endParaRPr>
          </a:p>
          <a:p>
            <a:pPr marL="355600" lvl="1" algn="just">
              <a:lnSpc>
                <a:spcPct val="100000"/>
              </a:lnSpc>
              <a:spcBef>
                <a:spcPts val="1000"/>
              </a:spcBef>
              <a:buSzPct val="130000"/>
              <a:buFont typeface="Arial" panose="020B0604020202020204" pitchFamily="34" charset="0"/>
              <a:buChar char="•"/>
            </a:pPr>
            <a:endParaRPr lang="en-US" sz="2800" spc="-5" dirty="0">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127000" lvl="1" indent="0" algn="just">
              <a:lnSpc>
                <a:spcPct val="100000"/>
              </a:lnSpc>
              <a:spcBef>
                <a:spcPts val="1000"/>
              </a:spcBef>
              <a:buSzPct val="130000"/>
              <a:buNone/>
            </a:pPr>
            <a:endParaRPr lang="vi-VN" sz="2800" dirty="0">
              <a:latin typeface="Arial"/>
              <a:cs typeface="Arial"/>
            </a:endParaRPr>
          </a:p>
          <a:p>
            <a:pPr marL="355600" algn="just">
              <a:lnSpc>
                <a:spcPct val="100000"/>
              </a:lnSpc>
            </a:pPr>
            <a:endParaRPr lang="en-US" dirty="0">
              <a:latin typeface="Arial"/>
              <a:cs typeface="Arial"/>
            </a:endParaRPr>
          </a:p>
          <a:p>
            <a:pPr marL="0" lvl="1" indent="0" algn="just">
              <a:lnSpc>
                <a:spcPts val="3400"/>
              </a:lnSpc>
              <a:spcBef>
                <a:spcPts val="600"/>
              </a:spcBef>
              <a:spcAft>
                <a:spcPts val="600"/>
              </a:spcAft>
              <a:buSzPct val="130000"/>
              <a:buNone/>
            </a:pPr>
            <a:r>
              <a:rPr lang="en-US" sz="2400" spc="-5" dirty="0">
                <a:cs typeface="Arial"/>
              </a:rPr>
              <a:t>	</a:t>
            </a:r>
            <a:endParaRPr lang="en-US" b="1" spc="5"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73</a:t>
            </a:fld>
            <a:endParaRPr lang="en-US" dirty="0"/>
          </a:p>
        </p:txBody>
      </p:sp>
      <p:sp>
        <p:nvSpPr>
          <p:cNvPr id="8" name="TextBox 7"/>
          <p:cNvSpPr txBox="1"/>
          <p:nvPr/>
        </p:nvSpPr>
        <p:spPr>
          <a:xfrm>
            <a:off x="537349" y="3591516"/>
            <a:ext cx="4450730" cy="1785104"/>
          </a:xfrm>
          <a:prstGeom prst="rect">
            <a:avLst/>
          </a:prstGeom>
          <a:noFill/>
        </p:spPr>
        <p:txBody>
          <a:bodyPr wrap="square" rtlCol="0">
            <a:spAutoFit/>
          </a:bodyPr>
          <a:lstStyle/>
          <a:p>
            <a:pPr marL="234950" marR="5080" lvl="1" indent="-234950" algn="just">
              <a:lnSpc>
                <a:spcPts val="3300"/>
              </a:lnSpc>
              <a:buClr>
                <a:schemeClr val="accent2">
                  <a:lumMod val="75000"/>
                </a:schemeClr>
              </a:buClr>
              <a:buSzPct val="130000"/>
              <a:buFont typeface="Arial" panose="020B0604020202020204" pitchFamily="34" charset="0"/>
              <a:buChar char="•"/>
            </a:pPr>
            <a:r>
              <a:rPr lang="vi-VN" sz="2800" spc="-65" dirty="0">
                <a:latin typeface="Arial"/>
                <a:cs typeface="Arial"/>
              </a:rPr>
              <a:t>For </a:t>
            </a:r>
            <a:r>
              <a:rPr lang="vi-VN" sz="2800" spc="-70" dirty="0">
                <a:latin typeface="Arial"/>
                <a:cs typeface="Arial"/>
              </a:rPr>
              <a:t>each </a:t>
            </a:r>
            <a:r>
              <a:rPr lang="vi-VN" sz="2800" spc="-90" dirty="0">
                <a:latin typeface="Arial"/>
                <a:cs typeface="Arial"/>
              </a:rPr>
              <a:t>được </a:t>
            </a:r>
            <a:r>
              <a:rPr lang="vi-VN" sz="2800" spc="-190" dirty="0">
                <a:latin typeface="Arial"/>
                <a:cs typeface="Arial"/>
              </a:rPr>
              <a:t>sử </a:t>
            </a:r>
            <a:r>
              <a:rPr lang="vi-VN" sz="2800" spc="45" dirty="0">
                <a:latin typeface="Arial"/>
                <a:cs typeface="Arial"/>
              </a:rPr>
              <a:t>dụng </a:t>
            </a:r>
            <a:r>
              <a:rPr lang="vi-VN" sz="2800" spc="-5" dirty="0">
                <a:latin typeface="Arial"/>
                <a:cs typeface="Arial"/>
              </a:rPr>
              <a:t>để  </a:t>
            </a:r>
            <a:r>
              <a:rPr lang="vi-VN" sz="2800" spc="25" dirty="0">
                <a:latin typeface="Arial"/>
                <a:cs typeface="Arial"/>
              </a:rPr>
              <a:t>duyệt </a:t>
            </a:r>
            <a:r>
              <a:rPr lang="vi-VN" sz="2800" spc="35" dirty="0">
                <a:latin typeface="Arial"/>
                <a:cs typeface="Arial"/>
              </a:rPr>
              <a:t>tập </a:t>
            </a:r>
            <a:r>
              <a:rPr lang="vi-VN" sz="2800" spc="-50" dirty="0">
                <a:latin typeface="Arial"/>
                <a:cs typeface="Arial"/>
              </a:rPr>
              <a:t>hợp. </a:t>
            </a:r>
            <a:r>
              <a:rPr lang="vi-VN" sz="2800" spc="90" dirty="0">
                <a:latin typeface="Arial"/>
                <a:cs typeface="Arial"/>
              </a:rPr>
              <a:t>Mỗi </a:t>
            </a:r>
            <a:r>
              <a:rPr lang="vi-VN" sz="2800" spc="-20" dirty="0">
                <a:latin typeface="Arial"/>
                <a:cs typeface="Arial"/>
              </a:rPr>
              <a:t>lần </a:t>
            </a:r>
            <a:r>
              <a:rPr lang="vi-VN" sz="2800" spc="-40" dirty="0">
                <a:latin typeface="Arial"/>
                <a:cs typeface="Arial"/>
              </a:rPr>
              <a:t>lấy</a:t>
            </a:r>
            <a:r>
              <a:rPr lang="vi-VN" sz="2800" spc="-145" dirty="0">
                <a:latin typeface="Arial"/>
                <a:cs typeface="Arial"/>
              </a:rPr>
              <a:t> </a:t>
            </a:r>
            <a:r>
              <a:rPr lang="vi-VN" sz="2800" spc="-45" dirty="0">
                <a:latin typeface="Arial"/>
                <a:cs typeface="Arial"/>
              </a:rPr>
              <a:t>1  </a:t>
            </a:r>
            <a:r>
              <a:rPr lang="vi-VN" sz="2800" dirty="0">
                <a:latin typeface="Arial"/>
                <a:cs typeface="Arial"/>
              </a:rPr>
              <a:t>phần </a:t>
            </a:r>
            <a:r>
              <a:rPr lang="vi-VN" sz="2800" spc="-25" dirty="0">
                <a:latin typeface="Arial"/>
                <a:cs typeface="Arial"/>
              </a:rPr>
              <a:t>tử từ </a:t>
            </a:r>
            <a:r>
              <a:rPr lang="vi-VN" sz="2800" spc="35" dirty="0">
                <a:latin typeface="Arial"/>
                <a:cs typeface="Arial"/>
              </a:rPr>
              <a:t>tập </a:t>
            </a:r>
            <a:r>
              <a:rPr lang="vi-VN" sz="2800" spc="-20" dirty="0">
                <a:latin typeface="Arial"/>
                <a:cs typeface="Arial"/>
              </a:rPr>
              <a:t>hợp </a:t>
            </a:r>
            <a:r>
              <a:rPr lang="vi-VN" sz="2800" spc="-110" dirty="0">
                <a:latin typeface="Arial"/>
                <a:cs typeface="Arial"/>
              </a:rPr>
              <a:t>và </a:t>
            </a:r>
            <a:r>
              <a:rPr lang="vi-VN" sz="2800" spc="-150" dirty="0">
                <a:latin typeface="Arial"/>
                <a:cs typeface="Arial"/>
              </a:rPr>
              <a:t>xử </a:t>
            </a:r>
            <a:r>
              <a:rPr lang="vi-VN" sz="2800" spc="-10" dirty="0">
                <a:latin typeface="Arial"/>
                <a:cs typeface="Arial"/>
              </a:rPr>
              <a:t>lý  </a:t>
            </a:r>
            <a:r>
              <a:rPr lang="vi-VN" sz="2800" dirty="0">
                <a:latin typeface="Arial"/>
                <a:cs typeface="Arial"/>
              </a:rPr>
              <a:t>phần </a:t>
            </a:r>
            <a:r>
              <a:rPr lang="vi-VN" sz="2800" spc="-25" dirty="0">
                <a:latin typeface="Arial"/>
                <a:cs typeface="Arial"/>
              </a:rPr>
              <a:t>tử</a:t>
            </a:r>
            <a:r>
              <a:rPr lang="vi-VN" sz="2800" spc="-15" dirty="0">
                <a:latin typeface="Arial"/>
                <a:cs typeface="Arial"/>
              </a:rPr>
              <a:t> </a:t>
            </a:r>
            <a:r>
              <a:rPr lang="vi-VN" sz="2800" spc="-5" dirty="0">
                <a:latin typeface="Arial"/>
                <a:cs typeface="Arial"/>
              </a:rPr>
              <a:t>đó.</a:t>
            </a:r>
            <a:endParaRPr lang="vi-VN" sz="2800" dirty="0">
              <a:latin typeface="Arial"/>
              <a:cs typeface="Arial"/>
            </a:endParaRPr>
          </a:p>
        </p:txBody>
      </p:sp>
      <p:grpSp>
        <p:nvGrpSpPr>
          <p:cNvPr id="52" name="Group 51"/>
          <p:cNvGrpSpPr/>
          <p:nvPr/>
        </p:nvGrpSpPr>
        <p:grpSpPr>
          <a:xfrm>
            <a:off x="5531294" y="1601948"/>
            <a:ext cx="3474720" cy="4617839"/>
            <a:chOff x="5224347" y="2039437"/>
            <a:chExt cx="3474720" cy="4617839"/>
          </a:xfrm>
        </p:grpSpPr>
        <p:sp>
          <p:nvSpPr>
            <p:cNvPr id="36" name="object 13"/>
            <p:cNvSpPr/>
            <p:nvPr/>
          </p:nvSpPr>
          <p:spPr>
            <a:xfrm>
              <a:off x="5452947" y="2790138"/>
              <a:ext cx="2286000" cy="971550"/>
            </a:xfrm>
            <a:custGeom>
              <a:avLst/>
              <a:gdLst/>
              <a:ahLst/>
              <a:cxnLst/>
              <a:rect l="l" t="t" r="r" b="b"/>
              <a:pathLst>
                <a:path w="2286000" h="971550">
                  <a:moveTo>
                    <a:pt x="0" y="485762"/>
                  </a:moveTo>
                  <a:lnTo>
                    <a:pt x="1143000" y="0"/>
                  </a:lnTo>
                  <a:lnTo>
                    <a:pt x="2286000" y="485762"/>
                  </a:lnTo>
                  <a:lnTo>
                    <a:pt x="1143000" y="971524"/>
                  </a:lnTo>
                  <a:lnTo>
                    <a:pt x="0" y="485762"/>
                  </a:lnTo>
                  <a:close/>
                </a:path>
              </a:pathLst>
            </a:custGeom>
            <a:ln w="25400">
              <a:solidFill>
                <a:srgbClr val="F79646"/>
              </a:solidFill>
            </a:ln>
          </p:spPr>
          <p:txBody>
            <a:bodyPr wrap="square" lIns="0" tIns="0" rIns="0" bIns="0" rtlCol="0"/>
            <a:lstStyle/>
            <a:p>
              <a:endParaRPr/>
            </a:p>
          </p:txBody>
        </p:sp>
        <p:grpSp>
          <p:nvGrpSpPr>
            <p:cNvPr id="51" name="Group 50"/>
            <p:cNvGrpSpPr/>
            <p:nvPr/>
          </p:nvGrpSpPr>
          <p:grpSpPr>
            <a:xfrm>
              <a:off x="5224347" y="2039437"/>
              <a:ext cx="3474720" cy="4617839"/>
              <a:chOff x="5224347" y="2039437"/>
              <a:chExt cx="3474720" cy="4617839"/>
            </a:xfrm>
          </p:grpSpPr>
          <p:sp>
            <p:nvSpPr>
              <p:cNvPr id="34" name="object 10"/>
              <p:cNvSpPr/>
              <p:nvPr/>
            </p:nvSpPr>
            <p:spPr>
              <a:xfrm>
                <a:off x="6370777" y="2039437"/>
                <a:ext cx="457200" cy="398335"/>
              </a:xfrm>
              <a:prstGeom prst="rect">
                <a:avLst/>
              </a:prstGeom>
              <a:blipFill>
                <a:blip r:embed="rId3" cstate="print"/>
                <a:stretch>
                  <a:fillRect/>
                </a:stretch>
              </a:blipFill>
            </p:spPr>
            <p:txBody>
              <a:bodyPr wrap="square" lIns="0" tIns="0" rIns="0" bIns="0" rtlCol="0"/>
              <a:lstStyle/>
              <a:p>
                <a:endParaRPr/>
              </a:p>
            </p:txBody>
          </p:sp>
          <p:sp>
            <p:nvSpPr>
              <p:cNvPr id="35" name="object 12"/>
              <p:cNvSpPr/>
              <p:nvPr/>
            </p:nvSpPr>
            <p:spPr>
              <a:xfrm>
                <a:off x="8153475" y="3044900"/>
                <a:ext cx="545592" cy="486155"/>
              </a:xfrm>
              <a:prstGeom prst="rect">
                <a:avLst/>
              </a:prstGeom>
              <a:blipFill>
                <a:blip r:embed="rId4" cstate="print"/>
                <a:stretch>
                  <a:fillRect/>
                </a:stretch>
              </a:blipFill>
            </p:spPr>
            <p:txBody>
              <a:bodyPr wrap="square" lIns="0" tIns="0" rIns="0" bIns="0" rtlCol="0"/>
              <a:lstStyle/>
              <a:p>
                <a:endParaRPr/>
              </a:p>
            </p:txBody>
          </p:sp>
          <p:sp>
            <p:nvSpPr>
              <p:cNvPr id="37" name="object 14"/>
              <p:cNvSpPr txBox="1"/>
              <p:nvPr/>
            </p:nvSpPr>
            <p:spPr>
              <a:xfrm>
                <a:off x="6155663" y="2973640"/>
                <a:ext cx="880744" cy="299720"/>
              </a:xfrm>
              <a:prstGeom prst="rect">
                <a:avLst/>
              </a:prstGeom>
            </p:spPr>
            <p:txBody>
              <a:bodyPr vert="horz" wrap="square" lIns="0" tIns="12700" rIns="0" bIns="0" rtlCol="0">
                <a:spAutoFit/>
              </a:bodyPr>
              <a:lstStyle/>
              <a:p>
                <a:pPr marL="12700">
                  <a:lnSpc>
                    <a:spcPct val="100000"/>
                  </a:lnSpc>
                  <a:spcBef>
                    <a:spcPts val="100"/>
                  </a:spcBef>
                </a:pPr>
                <a:r>
                  <a:rPr sz="1800" spc="-70" dirty="0">
                    <a:latin typeface="Arial"/>
                    <a:cs typeface="Arial"/>
                  </a:rPr>
                  <a:t>Hết</a:t>
                </a:r>
                <a:r>
                  <a:rPr sz="1800" spc="-145" dirty="0">
                    <a:latin typeface="Arial"/>
                    <a:cs typeface="Arial"/>
                  </a:rPr>
                  <a:t> </a:t>
                </a:r>
                <a:r>
                  <a:rPr sz="1800" spc="-80" dirty="0">
                    <a:latin typeface="Arial"/>
                    <a:cs typeface="Arial"/>
                  </a:rPr>
                  <a:t>phần</a:t>
                </a:r>
                <a:endParaRPr sz="1800">
                  <a:latin typeface="Arial"/>
                  <a:cs typeface="Arial"/>
                </a:endParaRPr>
              </a:p>
            </p:txBody>
          </p:sp>
          <p:sp>
            <p:nvSpPr>
              <p:cNvPr id="38" name="object 15"/>
              <p:cNvSpPr txBox="1"/>
              <p:nvPr/>
            </p:nvSpPr>
            <p:spPr>
              <a:xfrm>
                <a:off x="6396379" y="3247960"/>
                <a:ext cx="39814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Arial"/>
                    <a:cs typeface="Arial"/>
                  </a:rPr>
                  <a:t>tử</a:t>
                </a:r>
                <a:r>
                  <a:rPr sz="1800" spc="-165" dirty="0">
                    <a:latin typeface="Arial"/>
                    <a:cs typeface="Arial"/>
                  </a:rPr>
                  <a:t> </a:t>
                </a:r>
                <a:r>
                  <a:rPr sz="1800" spc="-170" dirty="0">
                    <a:latin typeface="Arial"/>
                    <a:cs typeface="Arial"/>
                  </a:rPr>
                  <a:t>?</a:t>
                </a:r>
                <a:endParaRPr sz="1800">
                  <a:latin typeface="Arial"/>
                  <a:cs typeface="Arial"/>
                </a:endParaRPr>
              </a:p>
            </p:txBody>
          </p:sp>
          <p:sp>
            <p:nvSpPr>
              <p:cNvPr id="39" name="object 16"/>
              <p:cNvSpPr/>
              <p:nvPr/>
            </p:nvSpPr>
            <p:spPr>
              <a:xfrm>
                <a:off x="6595947" y="2466263"/>
                <a:ext cx="0" cy="311785"/>
              </a:xfrm>
              <a:custGeom>
                <a:avLst/>
                <a:gdLst/>
                <a:ahLst/>
                <a:cxnLst/>
                <a:rect l="l" t="t" r="r" b="b"/>
                <a:pathLst>
                  <a:path h="311785">
                    <a:moveTo>
                      <a:pt x="0" y="0"/>
                    </a:moveTo>
                    <a:lnTo>
                      <a:pt x="0" y="311315"/>
                    </a:lnTo>
                  </a:path>
                </a:pathLst>
              </a:custGeom>
              <a:ln w="25400">
                <a:solidFill>
                  <a:srgbClr val="4A7EBB"/>
                </a:solidFill>
                <a:tailEnd type="arrow"/>
              </a:ln>
            </p:spPr>
            <p:txBody>
              <a:bodyPr wrap="square" lIns="0" tIns="0" rIns="0" bIns="0" rtlCol="0"/>
              <a:lstStyle/>
              <a:p>
                <a:endParaRPr/>
              </a:p>
            </p:txBody>
          </p:sp>
          <p:sp>
            <p:nvSpPr>
              <p:cNvPr id="40" name="object 18"/>
              <p:cNvSpPr txBox="1"/>
              <p:nvPr/>
            </p:nvSpPr>
            <p:spPr>
              <a:xfrm>
                <a:off x="6751531" y="3803875"/>
                <a:ext cx="456565" cy="299720"/>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f</a:t>
                </a:r>
                <a:r>
                  <a:rPr sz="1800" spc="-60" dirty="0">
                    <a:latin typeface="Arial"/>
                    <a:cs typeface="Arial"/>
                  </a:rPr>
                  <a:t>a</a:t>
                </a:r>
                <a:r>
                  <a:rPr sz="1800" spc="5" dirty="0">
                    <a:latin typeface="Arial"/>
                    <a:cs typeface="Arial"/>
                  </a:rPr>
                  <a:t>l</a:t>
                </a:r>
                <a:r>
                  <a:rPr sz="1800" spc="-200" dirty="0">
                    <a:latin typeface="Arial"/>
                    <a:cs typeface="Arial"/>
                  </a:rPr>
                  <a:t>s</a:t>
                </a:r>
                <a:r>
                  <a:rPr sz="1800" spc="-110" dirty="0">
                    <a:latin typeface="Arial"/>
                    <a:cs typeface="Arial"/>
                  </a:rPr>
                  <a:t>e</a:t>
                </a:r>
                <a:endParaRPr sz="1800" dirty="0">
                  <a:latin typeface="Arial"/>
                  <a:cs typeface="Arial"/>
                </a:endParaRPr>
              </a:p>
            </p:txBody>
          </p:sp>
          <p:sp>
            <p:nvSpPr>
              <p:cNvPr id="42" name="object 20"/>
              <p:cNvSpPr/>
              <p:nvPr/>
            </p:nvSpPr>
            <p:spPr>
              <a:xfrm>
                <a:off x="5605347" y="4196257"/>
                <a:ext cx="1981200" cy="899160"/>
              </a:xfrm>
              <a:custGeom>
                <a:avLst/>
                <a:gdLst/>
                <a:ahLst/>
                <a:cxnLst/>
                <a:rect l="l" t="t" r="r" b="b"/>
                <a:pathLst>
                  <a:path w="1981200" h="899160">
                    <a:moveTo>
                      <a:pt x="0" y="149821"/>
                    </a:moveTo>
                    <a:lnTo>
                      <a:pt x="7638" y="102468"/>
                    </a:lnTo>
                    <a:lnTo>
                      <a:pt x="28908" y="61340"/>
                    </a:lnTo>
                    <a:lnTo>
                      <a:pt x="61340" y="28908"/>
                    </a:lnTo>
                    <a:lnTo>
                      <a:pt x="102468" y="7638"/>
                    </a:lnTo>
                    <a:lnTo>
                      <a:pt x="149821" y="0"/>
                    </a:lnTo>
                    <a:lnTo>
                      <a:pt x="1831378" y="0"/>
                    </a:lnTo>
                    <a:lnTo>
                      <a:pt x="1878731" y="7638"/>
                    </a:lnTo>
                    <a:lnTo>
                      <a:pt x="1919859" y="28908"/>
                    </a:lnTo>
                    <a:lnTo>
                      <a:pt x="1952291" y="61340"/>
                    </a:lnTo>
                    <a:lnTo>
                      <a:pt x="1973561" y="102468"/>
                    </a:lnTo>
                    <a:lnTo>
                      <a:pt x="1981200" y="149821"/>
                    </a:lnTo>
                    <a:lnTo>
                      <a:pt x="1981200" y="749084"/>
                    </a:lnTo>
                    <a:lnTo>
                      <a:pt x="1973561" y="796437"/>
                    </a:lnTo>
                    <a:lnTo>
                      <a:pt x="1952291" y="837565"/>
                    </a:lnTo>
                    <a:lnTo>
                      <a:pt x="1919859" y="869997"/>
                    </a:lnTo>
                    <a:lnTo>
                      <a:pt x="1878731" y="891267"/>
                    </a:lnTo>
                    <a:lnTo>
                      <a:pt x="1831378" y="898906"/>
                    </a:lnTo>
                    <a:lnTo>
                      <a:pt x="149821" y="898906"/>
                    </a:lnTo>
                    <a:lnTo>
                      <a:pt x="102468" y="891267"/>
                    </a:lnTo>
                    <a:lnTo>
                      <a:pt x="61340" y="869997"/>
                    </a:lnTo>
                    <a:lnTo>
                      <a:pt x="28908" y="837565"/>
                    </a:lnTo>
                    <a:lnTo>
                      <a:pt x="7638" y="796437"/>
                    </a:lnTo>
                    <a:lnTo>
                      <a:pt x="0" y="749084"/>
                    </a:lnTo>
                    <a:lnTo>
                      <a:pt x="0" y="149821"/>
                    </a:lnTo>
                    <a:close/>
                  </a:path>
                </a:pathLst>
              </a:custGeom>
              <a:ln w="25400">
                <a:solidFill>
                  <a:srgbClr val="F79646"/>
                </a:solidFill>
              </a:ln>
            </p:spPr>
            <p:txBody>
              <a:bodyPr wrap="square" lIns="0" tIns="0" rIns="0" bIns="0" rtlCol="0"/>
              <a:lstStyle/>
              <a:p>
                <a:endParaRPr/>
              </a:p>
            </p:txBody>
          </p:sp>
          <p:sp>
            <p:nvSpPr>
              <p:cNvPr id="43" name="object 21"/>
              <p:cNvSpPr txBox="1"/>
              <p:nvPr/>
            </p:nvSpPr>
            <p:spPr>
              <a:xfrm>
                <a:off x="5827304" y="4343449"/>
                <a:ext cx="1537335" cy="574040"/>
              </a:xfrm>
              <a:prstGeom prst="rect">
                <a:avLst/>
              </a:prstGeom>
            </p:spPr>
            <p:txBody>
              <a:bodyPr vert="horz" wrap="square" lIns="0" tIns="12700" rIns="0" bIns="0" rtlCol="0">
                <a:spAutoFit/>
              </a:bodyPr>
              <a:lstStyle/>
              <a:p>
                <a:pPr marL="401955" marR="5080" indent="-389890">
                  <a:lnSpc>
                    <a:spcPct val="100000"/>
                  </a:lnSpc>
                  <a:spcBef>
                    <a:spcPts val="100"/>
                  </a:spcBef>
                </a:pPr>
                <a:r>
                  <a:rPr sz="1800" spc="-170" dirty="0">
                    <a:latin typeface="Arial"/>
                    <a:cs typeface="Arial"/>
                  </a:rPr>
                  <a:t>Lấy </a:t>
                </a:r>
                <a:r>
                  <a:rPr sz="1800" spc="-80" dirty="0">
                    <a:latin typeface="Arial"/>
                    <a:cs typeface="Arial"/>
                  </a:rPr>
                  <a:t>phần </a:t>
                </a:r>
                <a:r>
                  <a:rPr sz="1800" spc="-15" dirty="0">
                    <a:latin typeface="Arial"/>
                    <a:cs typeface="Arial"/>
                  </a:rPr>
                  <a:t>tử </a:t>
                </a:r>
                <a:r>
                  <a:rPr sz="1800" spc="-125" dirty="0">
                    <a:latin typeface="Arial"/>
                    <a:cs typeface="Arial"/>
                  </a:rPr>
                  <a:t>x</a:t>
                </a:r>
                <a:r>
                  <a:rPr sz="1800" spc="-165" dirty="0">
                    <a:latin typeface="Arial"/>
                    <a:cs typeface="Arial"/>
                  </a:rPr>
                  <a:t> </a:t>
                </a:r>
                <a:r>
                  <a:rPr sz="1800" spc="-15" dirty="0">
                    <a:latin typeface="Arial"/>
                    <a:cs typeface="Arial"/>
                  </a:rPr>
                  <a:t>từ  </a:t>
                </a:r>
                <a:r>
                  <a:rPr sz="1800" spc="-45" dirty="0">
                    <a:latin typeface="Arial"/>
                    <a:cs typeface="Arial"/>
                  </a:rPr>
                  <a:t>tập</a:t>
                </a:r>
                <a:r>
                  <a:rPr sz="1800" spc="-90" dirty="0">
                    <a:latin typeface="Arial"/>
                    <a:cs typeface="Arial"/>
                  </a:rPr>
                  <a:t> </a:t>
                </a:r>
                <a:r>
                  <a:rPr sz="1800" spc="-85" dirty="0">
                    <a:latin typeface="Arial"/>
                    <a:cs typeface="Arial"/>
                  </a:rPr>
                  <a:t>hợp</a:t>
                </a:r>
                <a:endParaRPr sz="1800" dirty="0">
                  <a:latin typeface="Arial"/>
                  <a:cs typeface="Arial"/>
                </a:endParaRPr>
              </a:p>
            </p:txBody>
          </p:sp>
          <p:sp>
            <p:nvSpPr>
              <p:cNvPr id="44" name="object 22"/>
              <p:cNvSpPr/>
              <p:nvPr/>
            </p:nvSpPr>
            <p:spPr>
              <a:xfrm>
                <a:off x="5605347" y="5529757"/>
                <a:ext cx="1981200" cy="899160"/>
              </a:xfrm>
              <a:custGeom>
                <a:avLst/>
                <a:gdLst/>
                <a:ahLst/>
                <a:cxnLst/>
                <a:rect l="l" t="t" r="r" b="b"/>
                <a:pathLst>
                  <a:path w="1981200" h="899160">
                    <a:moveTo>
                      <a:pt x="0" y="149821"/>
                    </a:moveTo>
                    <a:lnTo>
                      <a:pt x="7638" y="102468"/>
                    </a:lnTo>
                    <a:lnTo>
                      <a:pt x="28908" y="61340"/>
                    </a:lnTo>
                    <a:lnTo>
                      <a:pt x="61340" y="28908"/>
                    </a:lnTo>
                    <a:lnTo>
                      <a:pt x="102468" y="7638"/>
                    </a:lnTo>
                    <a:lnTo>
                      <a:pt x="149821" y="0"/>
                    </a:lnTo>
                    <a:lnTo>
                      <a:pt x="1831378" y="0"/>
                    </a:lnTo>
                    <a:lnTo>
                      <a:pt x="1878731" y="7638"/>
                    </a:lnTo>
                    <a:lnTo>
                      <a:pt x="1919859" y="28908"/>
                    </a:lnTo>
                    <a:lnTo>
                      <a:pt x="1952291" y="61340"/>
                    </a:lnTo>
                    <a:lnTo>
                      <a:pt x="1973561" y="102468"/>
                    </a:lnTo>
                    <a:lnTo>
                      <a:pt x="1981200" y="149821"/>
                    </a:lnTo>
                    <a:lnTo>
                      <a:pt x="1981200" y="749084"/>
                    </a:lnTo>
                    <a:lnTo>
                      <a:pt x="1973561" y="796437"/>
                    </a:lnTo>
                    <a:lnTo>
                      <a:pt x="1952291" y="837565"/>
                    </a:lnTo>
                    <a:lnTo>
                      <a:pt x="1919859" y="869997"/>
                    </a:lnTo>
                    <a:lnTo>
                      <a:pt x="1878731" y="891267"/>
                    </a:lnTo>
                    <a:lnTo>
                      <a:pt x="1831378" y="898905"/>
                    </a:lnTo>
                    <a:lnTo>
                      <a:pt x="149821" y="898905"/>
                    </a:lnTo>
                    <a:lnTo>
                      <a:pt x="102468" y="891267"/>
                    </a:lnTo>
                    <a:lnTo>
                      <a:pt x="61340" y="869997"/>
                    </a:lnTo>
                    <a:lnTo>
                      <a:pt x="28908" y="837565"/>
                    </a:lnTo>
                    <a:lnTo>
                      <a:pt x="7638" y="796437"/>
                    </a:lnTo>
                    <a:lnTo>
                      <a:pt x="0" y="749084"/>
                    </a:lnTo>
                    <a:lnTo>
                      <a:pt x="0" y="149821"/>
                    </a:lnTo>
                    <a:close/>
                  </a:path>
                </a:pathLst>
              </a:custGeom>
              <a:ln w="25400">
                <a:solidFill>
                  <a:srgbClr val="F79646"/>
                </a:solidFill>
              </a:ln>
            </p:spPr>
            <p:txBody>
              <a:bodyPr wrap="square" lIns="0" tIns="0" rIns="0" bIns="0" rtlCol="0"/>
              <a:lstStyle/>
              <a:p>
                <a:endParaRPr/>
              </a:p>
            </p:txBody>
          </p:sp>
          <p:sp>
            <p:nvSpPr>
              <p:cNvPr id="45" name="object 23"/>
              <p:cNvSpPr txBox="1"/>
              <p:nvPr/>
            </p:nvSpPr>
            <p:spPr>
              <a:xfrm>
                <a:off x="5880657" y="5814109"/>
                <a:ext cx="1428750" cy="299720"/>
              </a:xfrm>
              <a:prstGeom prst="rect">
                <a:avLst/>
              </a:prstGeom>
            </p:spPr>
            <p:txBody>
              <a:bodyPr vert="horz" wrap="square" lIns="0" tIns="12700" rIns="0" bIns="0" rtlCol="0">
                <a:spAutoFit/>
              </a:bodyPr>
              <a:lstStyle/>
              <a:p>
                <a:pPr marL="12700">
                  <a:lnSpc>
                    <a:spcPct val="100000"/>
                  </a:lnSpc>
                  <a:spcBef>
                    <a:spcPts val="100"/>
                  </a:spcBef>
                </a:pPr>
                <a:r>
                  <a:rPr sz="1800" spc="-215" dirty="0">
                    <a:latin typeface="Arial"/>
                    <a:cs typeface="Arial"/>
                  </a:rPr>
                  <a:t>Xử </a:t>
                </a:r>
                <a:r>
                  <a:rPr sz="1800" spc="-40" dirty="0">
                    <a:latin typeface="Arial"/>
                    <a:cs typeface="Arial"/>
                  </a:rPr>
                  <a:t>lý </a:t>
                </a:r>
                <a:r>
                  <a:rPr sz="1800" spc="-80" dirty="0">
                    <a:latin typeface="Arial"/>
                    <a:cs typeface="Arial"/>
                  </a:rPr>
                  <a:t>phần </a:t>
                </a:r>
                <a:r>
                  <a:rPr sz="1800" spc="-15" dirty="0">
                    <a:latin typeface="Arial"/>
                    <a:cs typeface="Arial"/>
                  </a:rPr>
                  <a:t>tử</a:t>
                </a:r>
                <a:r>
                  <a:rPr sz="1800" spc="-350" dirty="0">
                    <a:latin typeface="Arial"/>
                    <a:cs typeface="Arial"/>
                  </a:rPr>
                  <a:t> </a:t>
                </a:r>
                <a:r>
                  <a:rPr sz="1800" spc="-125" dirty="0">
                    <a:latin typeface="Arial"/>
                    <a:cs typeface="Arial"/>
                  </a:rPr>
                  <a:t>x</a:t>
                </a:r>
                <a:endParaRPr sz="1800">
                  <a:latin typeface="Arial"/>
                  <a:cs typeface="Arial"/>
                </a:endParaRPr>
              </a:p>
            </p:txBody>
          </p:sp>
          <p:sp>
            <p:nvSpPr>
              <p:cNvPr id="46" name="object 24"/>
              <p:cNvSpPr/>
              <p:nvPr/>
            </p:nvSpPr>
            <p:spPr>
              <a:xfrm>
                <a:off x="6595947" y="5095163"/>
                <a:ext cx="0" cy="422275"/>
              </a:xfrm>
              <a:custGeom>
                <a:avLst/>
                <a:gdLst/>
                <a:ahLst/>
                <a:cxnLst/>
                <a:rect l="l" t="t" r="r" b="b"/>
                <a:pathLst>
                  <a:path h="422275">
                    <a:moveTo>
                      <a:pt x="0" y="0"/>
                    </a:moveTo>
                    <a:lnTo>
                      <a:pt x="0" y="422020"/>
                    </a:lnTo>
                  </a:path>
                </a:pathLst>
              </a:custGeom>
              <a:ln w="25400">
                <a:solidFill>
                  <a:srgbClr val="4A7EBB"/>
                </a:solidFill>
                <a:tailEnd type="arrow"/>
              </a:ln>
            </p:spPr>
            <p:txBody>
              <a:bodyPr wrap="square" lIns="0" tIns="0" rIns="0" bIns="0" rtlCol="0"/>
              <a:lstStyle/>
              <a:p>
                <a:endParaRPr/>
              </a:p>
            </p:txBody>
          </p:sp>
          <p:sp>
            <p:nvSpPr>
              <p:cNvPr id="47" name="object 26"/>
              <p:cNvSpPr/>
              <p:nvPr/>
            </p:nvSpPr>
            <p:spPr>
              <a:xfrm>
                <a:off x="5224347" y="3275901"/>
                <a:ext cx="1371600" cy="3381375"/>
              </a:xfrm>
              <a:custGeom>
                <a:avLst/>
                <a:gdLst/>
                <a:ahLst/>
                <a:cxnLst/>
                <a:rect l="l" t="t" r="r" b="b"/>
                <a:pathLst>
                  <a:path w="1371600" h="3381375">
                    <a:moveTo>
                      <a:pt x="1371600" y="3152762"/>
                    </a:moveTo>
                    <a:lnTo>
                      <a:pt x="1371600" y="3381375"/>
                    </a:lnTo>
                    <a:lnTo>
                      <a:pt x="0" y="3381375"/>
                    </a:lnTo>
                    <a:lnTo>
                      <a:pt x="0" y="0"/>
                    </a:lnTo>
                    <a:lnTo>
                      <a:pt x="216027" y="0"/>
                    </a:lnTo>
                  </a:path>
                </a:pathLst>
              </a:custGeom>
              <a:ln w="25400">
                <a:solidFill>
                  <a:srgbClr val="4A7EBB"/>
                </a:solidFill>
                <a:tailEnd type="arrow"/>
              </a:ln>
            </p:spPr>
            <p:txBody>
              <a:bodyPr wrap="square" lIns="0" tIns="0" rIns="0" bIns="0" rtlCol="0"/>
              <a:lstStyle/>
              <a:p>
                <a:endParaRPr/>
              </a:p>
            </p:txBody>
          </p:sp>
          <p:sp>
            <p:nvSpPr>
              <p:cNvPr id="48" name="object 24"/>
              <p:cNvSpPr/>
              <p:nvPr/>
            </p:nvSpPr>
            <p:spPr>
              <a:xfrm>
                <a:off x="6589456" y="3761688"/>
                <a:ext cx="0" cy="422275"/>
              </a:xfrm>
              <a:custGeom>
                <a:avLst/>
                <a:gdLst/>
                <a:ahLst/>
                <a:cxnLst/>
                <a:rect l="l" t="t" r="r" b="b"/>
                <a:pathLst>
                  <a:path h="422275">
                    <a:moveTo>
                      <a:pt x="0" y="0"/>
                    </a:moveTo>
                    <a:lnTo>
                      <a:pt x="0" y="422020"/>
                    </a:lnTo>
                  </a:path>
                </a:pathLst>
              </a:custGeom>
              <a:ln w="25400">
                <a:solidFill>
                  <a:srgbClr val="4A7EBB"/>
                </a:solidFill>
                <a:tailEnd type="arrow"/>
              </a:ln>
            </p:spPr>
            <p:txBody>
              <a:bodyPr wrap="square" lIns="0" tIns="0" rIns="0" bIns="0" rtlCol="0"/>
              <a:lstStyle/>
              <a:p>
                <a:endParaRPr/>
              </a:p>
            </p:txBody>
          </p:sp>
          <p:cxnSp>
            <p:nvCxnSpPr>
              <p:cNvPr id="49" name="Straight Connector 48"/>
              <p:cNvCxnSpPr/>
              <p:nvPr/>
            </p:nvCxnSpPr>
            <p:spPr>
              <a:xfrm>
                <a:off x="7738947" y="3273360"/>
                <a:ext cx="501804" cy="0"/>
              </a:xfrm>
              <a:prstGeom prst="line">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0" name="object 18"/>
              <p:cNvSpPr txBox="1"/>
              <p:nvPr/>
            </p:nvSpPr>
            <p:spPr>
              <a:xfrm>
                <a:off x="7717929" y="2895040"/>
                <a:ext cx="456565" cy="299720"/>
              </a:xfrm>
              <a:prstGeom prst="rect">
                <a:avLst/>
              </a:prstGeom>
            </p:spPr>
            <p:txBody>
              <a:bodyPr vert="horz" wrap="square" lIns="0" tIns="12700" rIns="0" bIns="0" rtlCol="0">
                <a:spAutoFit/>
              </a:bodyPr>
              <a:lstStyle/>
              <a:p>
                <a:pPr marL="12700">
                  <a:lnSpc>
                    <a:spcPct val="100000"/>
                  </a:lnSpc>
                  <a:spcBef>
                    <a:spcPts val="100"/>
                  </a:spcBef>
                </a:pPr>
                <a:r>
                  <a:rPr lang="en-US" sz="1800" dirty="0">
                    <a:latin typeface="Arial"/>
                    <a:cs typeface="Arial"/>
                  </a:rPr>
                  <a:t>true</a:t>
                </a:r>
                <a:endParaRPr sz="1800" dirty="0">
                  <a:latin typeface="Arial"/>
                  <a:cs typeface="Arial"/>
                </a:endParaRPr>
              </a:p>
            </p:txBody>
          </p:sp>
        </p:grpSp>
      </p:grpSp>
    </p:spTree>
    <p:extLst>
      <p:ext uri="{BB962C8B-B14F-4D97-AF65-F5344CB8AC3E}">
        <p14:creationId xmlns:p14="http://schemas.microsoft.com/office/powerpoint/2010/main" val="36339759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74</a:t>
            </a:fld>
            <a:endParaRPr lang="en-US"/>
          </a:p>
        </p:txBody>
      </p:sp>
      <p:sp>
        <p:nvSpPr>
          <p:cNvPr id="3" name="TextBox 2"/>
          <p:cNvSpPr txBox="1"/>
          <p:nvPr/>
        </p:nvSpPr>
        <p:spPr>
          <a:xfrm>
            <a:off x="1918008" y="3836020"/>
            <a:ext cx="4539941" cy="830997"/>
          </a:xfrm>
          <a:prstGeom prst="rect">
            <a:avLst/>
          </a:prstGeom>
          <a:noFill/>
        </p:spPr>
        <p:txBody>
          <a:bodyPr wrap="square" rtlCol="0">
            <a:spAutoFit/>
          </a:bodyPr>
          <a:lstStyle/>
          <a:p>
            <a:r>
              <a:rPr lang="en-US" sz="2400" spc="25" dirty="0">
                <a:solidFill>
                  <a:srgbClr val="FFFFFF"/>
                </a:solidFill>
                <a:cs typeface="Arial"/>
              </a:rPr>
              <a:t>Viết chương trình tính </a:t>
            </a:r>
            <a:r>
              <a:rPr lang="en-US" sz="2400" spc="90" dirty="0">
                <a:solidFill>
                  <a:srgbClr val="FFFFFF"/>
                </a:solidFill>
                <a:cs typeface="Arial"/>
              </a:rPr>
              <a:t>tổng </a:t>
            </a:r>
            <a:r>
              <a:rPr lang="en-US" sz="2400" spc="-120" dirty="0">
                <a:solidFill>
                  <a:srgbClr val="FFFFFF"/>
                </a:solidFill>
                <a:cs typeface="Arial"/>
              </a:rPr>
              <a:t>các </a:t>
            </a:r>
            <a:r>
              <a:rPr lang="en-US" sz="2400" spc="-70" dirty="0">
                <a:solidFill>
                  <a:srgbClr val="FFFFFF"/>
                </a:solidFill>
                <a:cs typeface="Arial"/>
              </a:rPr>
              <a:t>số </a:t>
            </a:r>
            <a:r>
              <a:rPr lang="en-US" sz="2400" spc="-50" dirty="0">
                <a:solidFill>
                  <a:srgbClr val="FFFFFF"/>
                </a:solidFill>
                <a:cs typeface="Arial"/>
              </a:rPr>
              <a:t>chẵn </a:t>
            </a:r>
            <a:r>
              <a:rPr lang="en-US" sz="2400" spc="-75" dirty="0">
                <a:solidFill>
                  <a:srgbClr val="FFFFFF"/>
                </a:solidFill>
                <a:cs typeface="Arial"/>
              </a:rPr>
              <a:t>của</a:t>
            </a:r>
            <a:r>
              <a:rPr lang="en-US" sz="2400" spc="130" dirty="0">
                <a:solidFill>
                  <a:srgbClr val="FFFFFF"/>
                </a:solidFill>
                <a:cs typeface="Arial"/>
              </a:rPr>
              <a:t> </a:t>
            </a:r>
            <a:r>
              <a:rPr lang="en-US" sz="2400" spc="-25" dirty="0">
                <a:solidFill>
                  <a:srgbClr val="FFFFFF"/>
                </a:solidFill>
                <a:cs typeface="Arial"/>
              </a:rPr>
              <a:t>mảng</a:t>
            </a:r>
            <a:endParaRPr lang="en-US" sz="2400" dirty="0">
              <a:solidFill>
                <a:srgbClr val="FFFFFF"/>
              </a:solidFill>
            </a:endParaRPr>
          </a:p>
        </p:txBody>
      </p:sp>
    </p:spTree>
    <p:extLst>
      <p:ext uri="{BB962C8B-B14F-4D97-AF65-F5344CB8AC3E}">
        <p14:creationId xmlns:p14="http://schemas.microsoft.com/office/powerpoint/2010/main" val="7852137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37349" y="1328434"/>
            <a:ext cx="8069301" cy="5256478"/>
          </a:xfrm>
        </p:spPr>
        <p:txBody>
          <a:bodyPr>
            <a:noAutofit/>
          </a:bodyPr>
          <a:lstStyle/>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public static void main(String[] args)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int n;</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Scanner scanner = new Scanner(System.in);</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do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System.out.println("Nhập vào số phần tử của mảng: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n = scanner.nextInt();</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 while (n &lt; 0);</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int A[] = new int[n];</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System.out.println("Nhập các phần tử cho mảng: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for (int i = 0; i &lt; n; i++) {</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System.out.print("Nhập phần tử thứ "+i + ": ");</a:t>
            </a:r>
          </a:p>
          <a:p>
            <a:pPr marL="0" indent="0">
              <a:lnSpc>
                <a:spcPct val="100000"/>
              </a:lnSpc>
              <a:spcBef>
                <a:spcPts val="0"/>
              </a:spcBef>
              <a:buNone/>
            </a:pPr>
            <a:endParaRPr lang="en-US" sz="2400" b="1" dirty="0">
              <a:latin typeface="Courier" panose="02020500000000000000" pitchFamily="18" charset="0"/>
              <a:ea typeface="Courier" panose="02020500000000000000" pitchFamily="18" charset="0"/>
              <a:cs typeface="Courier" panose="02020500000000000000" pitchFamily="18" charset="0"/>
            </a:endParaRP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a:t>
            </a:r>
            <a:endParaRPr lang="en-US" sz="2800" spc="-65" dirty="0">
              <a:solidFill>
                <a:srgbClr val="FF0000"/>
              </a:solidFill>
              <a:latin typeface="Arial"/>
              <a:cs typeface="Arial"/>
            </a:endParaRPr>
          </a:p>
          <a:p>
            <a:pPr marL="127000" lvl="1" indent="0" algn="just">
              <a:lnSpc>
                <a:spcPct val="100000"/>
              </a:lnSpc>
              <a:spcBef>
                <a:spcPts val="1000"/>
              </a:spcBef>
              <a:buSzPct val="130000"/>
              <a:buNone/>
            </a:pPr>
            <a:endParaRPr lang="vi-VN" sz="2800" dirty="0">
              <a:latin typeface="Arial"/>
              <a:cs typeface="Arial"/>
            </a:endParaRPr>
          </a:p>
          <a:p>
            <a:pPr marL="355600" algn="just">
              <a:lnSpc>
                <a:spcPct val="100000"/>
              </a:lnSpc>
            </a:pPr>
            <a:endParaRPr lang="en-US" dirty="0">
              <a:latin typeface="Arial"/>
              <a:cs typeface="Arial"/>
            </a:endParaRPr>
          </a:p>
          <a:p>
            <a:pPr marL="0" lvl="1" indent="0" algn="just">
              <a:lnSpc>
                <a:spcPts val="3400"/>
              </a:lnSpc>
              <a:spcBef>
                <a:spcPts val="600"/>
              </a:spcBef>
              <a:spcAft>
                <a:spcPts val="600"/>
              </a:spcAft>
              <a:buSzPct val="130000"/>
              <a:buNone/>
            </a:pPr>
            <a:r>
              <a:rPr lang="en-US" sz="2400" spc="-5" dirty="0">
                <a:cs typeface="Arial"/>
              </a:rPr>
              <a:t>	</a:t>
            </a:r>
            <a:endParaRPr lang="en-US" b="1" spc="5"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75</a:t>
            </a:fld>
            <a:endParaRPr lang="en-US" dirty="0"/>
          </a:p>
        </p:txBody>
      </p:sp>
    </p:spTree>
    <p:extLst>
      <p:ext uri="{BB962C8B-B14F-4D97-AF65-F5344CB8AC3E}">
        <p14:creationId xmlns:p14="http://schemas.microsoft.com/office/powerpoint/2010/main" val="23671576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một chiều</a:t>
            </a:r>
          </a:p>
        </p:txBody>
      </p:sp>
      <p:sp>
        <p:nvSpPr>
          <p:cNvPr id="3" name="Content Placeholder 2"/>
          <p:cNvSpPr>
            <a:spLocks noGrp="1"/>
          </p:cNvSpPr>
          <p:nvPr>
            <p:ph idx="1"/>
          </p:nvPr>
        </p:nvSpPr>
        <p:spPr>
          <a:xfrm>
            <a:off x="537349" y="1328434"/>
            <a:ext cx="8069301" cy="5256478"/>
          </a:xfrm>
        </p:spPr>
        <p:txBody>
          <a:bodyPr>
            <a:noAutofit/>
          </a:bodyPr>
          <a:lstStyle/>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A[i] = scanner.nextInt();</a:t>
            </a:r>
          </a:p>
          <a:p>
            <a:pPr marL="0" indent="0">
              <a:lnSpc>
                <a:spcPct val="100000"/>
              </a:lnSpc>
              <a:spcBef>
                <a:spcPts val="0"/>
              </a:spcBef>
              <a:buNone/>
            </a:pPr>
            <a:r>
              <a:rPr lang="en-US" sz="2400" b="1" dirty="0">
                <a:latin typeface="Courier" panose="02020500000000000000" pitchFamily="18" charset="0"/>
                <a:ea typeface="Courier" panose="02020500000000000000" pitchFamily="18" charset="0"/>
                <a:cs typeface="Courier" panose="02020500000000000000" pitchFamily="18" charset="0"/>
              </a:rPr>
              <a:t>    }</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 Tính tổng các số chẵn có trong mảng</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double Tong =0;</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for (int i = 0; i &lt; n; i++)// {</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if (A[i] % 2 == 0) {</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Tong+=A[i];</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System.out.println("Tỏng: " + Tong);</a:t>
            </a:r>
          </a:p>
          <a:p>
            <a:pPr marL="0" indent="0">
              <a:buNone/>
            </a:pPr>
            <a:r>
              <a:rPr lang="en-US" sz="2400" b="1" dirty="0">
                <a:latin typeface="Courier" panose="02020500000000000000" pitchFamily="18" charset="0"/>
                <a:ea typeface="Courier" panose="02020500000000000000" pitchFamily="18" charset="0"/>
                <a:cs typeface="Courier" panose="02020500000000000000" pitchFamily="18" charset="0"/>
              </a:rPr>
              <a:t>   }</a:t>
            </a:r>
          </a:p>
          <a:p>
            <a:pPr marL="127000" lvl="1" indent="0" algn="just">
              <a:lnSpc>
                <a:spcPct val="100000"/>
              </a:lnSpc>
              <a:spcBef>
                <a:spcPts val="1000"/>
              </a:spcBef>
              <a:buSzPct val="130000"/>
              <a:buNone/>
            </a:pPr>
            <a:endParaRPr lang="en-US" sz="2800" spc="-5" dirty="0">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355600" lvl="1" algn="just">
              <a:lnSpc>
                <a:spcPct val="100000"/>
              </a:lnSpc>
              <a:spcBef>
                <a:spcPts val="1000"/>
              </a:spcBef>
              <a:buSzPct val="130000"/>
              <a:buFont typeface="Arial" panose="020B0604020202020204" pitchFamily="34" charset="0"/>
              <a:buChar char="•"/>
            </a:pPr>
            <a:endParaRPr lang="en-US" sz="2800" spc="-65" dirty="0">
              <a:solidFill>
                <a:srgbClr val="FF0000"/>
              </a:solidFill>
              <a:latin typeface="Arial"/>
              <a:cs typeface="Arial"/>
            </a:endParaRPr>
          </a:p>
          <a:p>
            <a:pPr marL="127000" lvl="1" indent="0" algn="just">
              <a:lnSpc>
                <a:spcPct val="100000"/>
              </a:lnSpc>
              <a:spcBef>
                <a:spcPts val="1000"/>
              </a:spcBef>
              <a:buSzPct val="130000"/>
              <a:buNone/>
            </a:pPr>
            <a:endParaRPr lang="vi-VN" sz="2800" dirty="0">
              <a:latin typeface="Arial"/>
              <a:cs typeface="Arial"/>
            </a:endParaRPr>
          </a:p>
          <a:p>
            <a:pPr marL="355600" algn="just">
              <a:lnSpc>
                <a:spcPct val="100000"/>
              </a:lnSpc>
            </a:pPr>
            <a:endParaRPr lang="en-US" dirty="0">
              <a:latin typeface="Arial"/>
              <a:cs typeface="Arial"/>
            </a:endParaRPr>
          </a:p>
          <a:p>
            <a:pPr marL="0" lvl="1" indent="0" algn="just">
              <a:lnSpc>
                <a:spcPts val="3400"/>
              </a:lnSpc>
              <a:spcBef>
                <a:spcPts val="600"/>
              </a:spcBef>
              <a:spcAft>
                <a:spcPts val="600"/>
              </a:spcAft>
              <a:buSzPct val="130000"/>
              <a:buNone/>
            </a:pPr>
            <a:r>
              <a:rPr lang="en-US" sz="2400" spc="-5" dirty="0">
                <a:cs typeface="Arial"/>
              </a:rPr>
              <a:t>	</a:t>
            </a:r>
            <a:endParaRPr lang="en-US" b="1" spc="5"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76</a:t>
            </a:fld>
            <a:endParaRPr lang="en-US" dirty="0"/>
          </a:p>
        </p:txBody>
      </p:sp>
    </p:spTree>
    <p:extLst>
      <p:ext uri="{BB962C8B-B14F-4D97-AF65-F5344CB8AC3E}">
        <p14:creationId xmlns:p14="http://schemas.microsoft.com/office/powerpoint/2010/main" val="21367540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528290" y="1255835"/>
            <a:ext cx="8069301" cy="5256478"/>
          </a:xfrm>
        </p:spPr>
        <p:txBody>
          <a:bodyPr>
            <a:noAutofit/>
          </a:bodyPr>
          <a:lstStyle/>
          <a:p>
            <a:pPr marL="355600" algn="just">
              <a:lnSpc>
                <a:spcPts val="3300"/>
              </a:lnSpc>
            </a:pPr>
            <a:r>
              <a:rPr lang="en-US" dirty="0"/>
              <a:t>M</a:t>
            </a:r>
            <a:r>
              <a:rPr lang="vi-VN" dirty="0"/>
              <a:t>ảng hai chiều là mảng có 2 chỉ số để lưu trữ các giá trị</a:t>
            </a:r>
            <a:r>
              <a:rPr lang="en-US" dirty="0"/>
              <a:t> (</a:t>
            </a:r>
            <a:r>
              <a:rPr lang="en-US" i="1" dirty="0"/>
              <a:t>chẳng hạn giá trị của một bảng có m dòng, n cột</a:t>
            </a:r>
            <a:r>
              <a:rPr lang="en-US" dirty="0"/>
              <a:t>).</a:t>
            </a:r>
          </a:p>
          <a:p>
            <a:pPr marL="355600" algn="just">
              <a:lnSpc>
                <a:spcPts val="3300"/>
              </a:lnSpc>
            </a:pPr>
            <a:r>
              <a:rPr lang="en-US" spc="-5" dirty="0">
                <a:cs typeface="Arial"/>
              </a:rPr>
              <a:t>Cú pháp khai báo mảng:</a:t>
            </a:r>
          </a:p>
          <a:p>
            <a:pPr marL="457200" lvl="1" indent="346075" algn="just">
              <a:lnSpc>
                <a:spcPts val="3300"/>
              </a:lnSpc>
              <a:spcBef>
                <a:spcPts val="300"/>
              </a:spcBef>
              <a:spcAft>
                <a:spcPts val="300"/>
              </a:spcAft>
              <a:buNone/>
            </a:pPr>
            <a:r>
              <a:rPr lang="en-US" spc="-5" dirty="0">
                <a:cs typeface="Arial"/>
              </a:rPr>
              <a:t>	</a:t>
            </a:r>
            <a:r>
              <a:rPr lang="en-US" dirty="0">
                <a:solidFill>
                  <a:schemeClr val="accent2">
                    <a:lumMod val="75000"/>
                  </a:schemeClr>
                </a:solidFill>
              </a:rPr>
              <a:t>1. [Kiểu_dữ_liệu] tên_mảng[ ] [ ];</a:t>
            </a:r>
            <a:endParaRPr lang="en-US" spc="35" dirty="0">
              <a:solidFill>
                <a:schemeClr val="accent2">
                  <a:lumMod val="75000"/>
                </a:schemeClr>
              </a:solidFill>
              <a:cs typeface="Arial"/>
            </a:endParaRPr>
          </a:p>
          <a:p>
            <a:pPr marL="457200" lvl="1" indent="512763" algn="just">
              <a:lnSpc>
                <a:spcPts val="3300"/>
              </a:lnSpc>
              <a:spcBef>
                <a:spcPts val="300"/>
              </a:spcBef>
              <a:spcAft>
                <a:spcPts val="300"/>
              </a:spcAft>
              <a:buNone/>
            </a:pPr>
            <a:r>
              <a:rPr lang="en-US" dirty="0">
                <a:solidFill>
                  <a:schemeClr val="accent2">
                    <a:lumMod val="75000"/>
                  </a:schemeClr>
                </a:solidFill>
              </a:rPr>
              <a:t>2. [Kiểu_dữ_liệu][ ] [ ]tên_mảng;</a:t>
            </a:r>
          </a:p>
          <a:p>
            <a:pPr marL="401638" lvl="1" indent="-234950" algn="just">
              <a:lnSpc>
                <a:spcPts val="3300"/>
              </a:lnSpc>
              <a:spcBef>
                <a:spcPts val="300"/>
              </a:spcBef>
              <a:spcAft>
                <a:spcPts val="300"/>
              </a:spcAft>
              <a:buSzPct val="130000"/>
              <a:buFont typeface="Arial" panose="020B0604020202020204" pitchFamily="34" charset="0"/>
              <a:buChar char="•"/>
            </a:pPr>
            <a:r>
              <a:rPr lang="en-US" sz="2800" spc="-5" dirty="0">
                <a:latin typeface="Arial" panose="020B0604020202020204" pitchFamily="34" charset="0"/>
                <a:cs typeface="Arial"/>
              </a:rPr>
              <a:t>Khai báo và cấp phát bộ nhớ:</a:t>
            </a:r>
          </a:p>
          <a:p>
            <a:pPr marL="1371600" lvl="1" indent="-1204913">
              <a:lnSpc>
                <a:spcPts val="3300"/>
              </a:lnSpc>
              <a:spcBef>
                <a:spcPts val="300"/>
              </a:spcBef>
              <a:spcAft>
                <a:spcPts val="300"/>
              </a:spcAft>
              <a:buNone/>
            </a:pPr>
            <a:r>
              <a:rPr lang="en-US" dirty="0">
                <a:solidFill>
                  <a:schemeClr val="accent2">
                    <a:lumMod val="75000"/>
                  </a:schemeClr>
                </a:solidFill>
              </a:rPr>
              <a:t>1.[Kiểu_dữ_liệu] Tên_mảng[ ][ ] = </a:t>
            </a:r>
          </a:p>
          <a:p>
            <a:pPr marL="1371600" lvl="1" indent="234950">
              <a:lnSpc>
                <a:spcPts val="3300"/>
              </a:lnSpc>
              <a:spcBef>
                <a:spcPts val="300"/>
              </a:spcBef>
              <a:spcAft>
                <a:spcPts val="300"/>
              </a:spcAft>
              <a:buNone/>
            </a:pPr>
            <a:r>
              <a:rPr lang="en-US" dirty="0">
                <a:solidFill>
                  <a:schemeClr val="accent2">
                    <a:lumMod val="75000"/>
                  </a:schemeClr>
                </a:solidFill>
              </a:rPr>
              <a:t>   new [Kiểu_dữ_liệu] [Số_cột] [Số_dòng];</a:t>
            </a:r>
            <a:endParaRPr lang="en-US" spc="35" dirty="0">
              <a:solidFill>
                <a:schemeClr val="accent2">
                  <a:lumMod val="75000"/>
                </a:schemeClr>
              </a:solidFill>
              <a:cs typeface="Arial"/>
            </a:endParaRPr>
          </a:p>
          <a:p>
            <a:pPr marL="1828800" lvl="1" indent="-1662113">
              <a:lnSpc>
                <a:spcPts val="3300"/>
              </a:lnSpc>
              <a:spcBef>
                <a:spcPts val="300"/>
              </a:spcBef>
              <a:spcAft>
                <a:spcPts val="300"/>
              </a:spcAft>
              <a:buNone/>
              <a:tabLst>
                <a:tab pos="1717675" algn="l"/>
              </a:tabLst>
            </a:pPr>
            <a:r>
              <a:rPr lang="en-US" spc="35" dirty="0">
                <a:solidFill>
                  <a:schemeClr val="accent2">
                    <a:lumMod val="75000"/>
                  </a:schemeClr>
                </a:solidFill>
                <a:cs typeface="Arial"/>
              </a:rPr>
              <a:t>2. </a:t>
            </a:r>
            <a:r>
              <a:rPr lang="en-US" dirty="0">
                <a:solidFill>
                  <a:schemeClr val="accent2">
                    <a:lumMod val="75000"/>
                  </a:schemeClr>
                </a:solidFill>
              </a:rPr>
              <a:t>[Kiểu_dữ_liệu] [ ][ ]Tên_mảng =</a:t>
            </a:r>
          </a:p>
          <a:p>
            <a:pPr marL="1371600" lvl="1" indent="234950">
              <a:lnSpc>
                <a:spcPts val="3300"/>
              </a:lnSpc>
              <a:spcBef>
                <a:spcPts val="300"/>
              </a:spcBef>
              <a:spcAft>
                <a:spcPts val="300"/>
              </a:spcAft>
              <a:buNone/>
            </a:pPr>
            <a:r>
              <a:rPr lang="en-US" dirty="0">
                <a:solidFill>
                  <a:schemeClr val="accent2">
                    <a:lumMod val="75000"/>
                  </a:schemeClr>
                </a:solidFill>
              </a:rPr>
              <a:t>   new [Kiểu_dữ_liệu] [Số_cột] [Số_dòng];</a:t>
            </a:r>
            <a:endParaRPr lang="en-US" spc="35" dirty="0">
              <a:solidFill>
                <a:schemeClr val="accent2">
                  <a:lumMod val="75000"/>
                </a:schemeClr>
              </a:solidFill>
              <a:cs typeface="Arial"/>
            </a:endParaRPr>
          </a:p>
          <a:p>
            <a:pPr marL="401638" lvl="1" indent="-234950" algn="just">
              <a:lnSpc>
                <a:spcPts val="3400"/>
              </a:lnSpc>
              <a:spcBef>
                <a:spcPts val="300"/>
              </a:spcBef>
              <a:spcAft>
                <a:spcPts val="300"/>
              </a:spcAft>
              <a:buSzPct val="130000"/>
              <a:buFont typeface="Arial" panose="020B0604020202020204" pitchFamily="34" charset="0"/>
              <a:buChar char="•"/>
            </a:pPr>
            <a:endParaRPr lang="en-US" spc="-5" dirty="0">
              <a:latin typeface="Arial" panose="020B0604020202020204" pitchFamily="34" charset="0"/>
              <a:cs typeface="Arial"/>
            </a:endParaRPr>
          </a:p>
          <a:p>
            <a:pPr marL="166688" lvl="1" indent="0" algn="just">
              <a:lnSpc>
                <a:spcPts val="3400"/>
              </a:lnSpc>
              <a:spcBef>
                <a:spcPts val="300"/>
              </a:spcBef>
              <a:spcAft>
                <a:spcPts val="300"/>
              </a:spcAft>
              <a:buSzPct val="130000"/>
              <a:buNone/>
            </a:pPr>
            <a:endParaRPr lang="en-US" spc="-5" dirty="0">
              <a:latin typeface="Arial" panose="020B0604020202020204" pitchFamily="34" charset="0"/>
              <a:cs typeface="Arial"/>
            </a:endParaRPr>
          </a:p>
          <a:p>
            <a:pPr marL="127000" indent="0" algn="just">
              <a:lnSpc>
                <a:spcPct val="100000"/>
              </a:lnSpc>
              <a:buNone/>
            </a:pPr>
            <a:endParaRPr lang="en-US" sz="2600" b="1" spc="5" dirty="0">
              <a:latin typeface="Arial"/>
              <a:cs typeface="Arial"/>
            </a:endParaRPr>
          </a:p>
          <a:p>
            <a:pPr marL="0" indent="0" algn="just">
              <a:lnSpc>
                <a:spcPts val="3100"/>
              </a:lnSpc>
              <a:spcBef>
                <a:spcPts val="0"/>
              </a:spcBef>
              <a:buNone/>
            </a:pPr>
            <a:endParaRPr lang="en-US" sz="26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77</a:t>
            </a:fld>
            <a:endParaRPr lang="en-US" dirty="0"/>
          </a:p>
        </p:txBody>
      </p:sp>
    </p:spTree>
    <p:extLst>
      <p:ext uri="{BB962C8B-B14F-4D97-AF65-F5344CB8AC3E}">
        <p14:creationId xmlns:p14="http://schemas.microsoft.com/office/powerpoint/2010/main" val="35784444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528290" y="1255835"/>
            <a:ext cx="8069301" cy="5256478"/>
          </a:xfrm>
        </p:spPr>
        <p:txBody>
          <a:bodyPr>
            <a:noAutofit/>
          </a:bodyPr>
          <a:lstStyle/>
          <a:p>
            <a:pPr marL="127000" indent="274638" algn="just">
              <a:lnSpc>
                <a:spcPts val="3400"/>
              </a:lnSpc>
              <a:spcBef>
                <a:spcPts val="600"/>
              </a:spcBef>
              <a:spcAft>
                <a:spcPts val="600"/>
              </a:spcAft>
              <a:buNone/>
            </a:pPr>
            <a:r>
              <a:rPr lang="en-US" dirty="0"/>
              <a:t>Ví dụ:</a:t>
            </a:r>
          </a:p>
          <a:p>
            <a:pPr marL="584200" indent="-15875">
              <a:lnSpc>
                <a:spcPts val="3400"/>
              </a:lnSpc>
              <a:spcBef>
                <a:spcPts val="600"/>
              </a:spcBef>
              <a:spcAft>
                <a:spcPts val="600"/>
              </a:spcAft>
              <a:buSzPct val="80000"/>
              <a:buFont typeface="Wingdings" panose="05000000000000000000" pitchFamily="2" charset="2"/>
              <a:buChar char="v"/>
            </a:pPr>
            <a:r>
              <a:rPr lang="en-US" b="1" spc="-50" dirty="0">
                <a:latin typeface="Courier" panose="02020500000000000000" pitchFamily="18" charset="0"/>
                <a:ea typeface="Courier" panose="02020500000000000000" pitchFamily="18" charset="0"/>
                <a:cs typeface="Courier" panose="02020500000000000000" pitchFamily="18" charset="0"/>
              </a:rPr>
              <a:t>int number[][] = new int[2][3];</a:t>
            </a:r>
            <a:endParaRPr lang="en-US" b="1" dirty="0"/>
          </a:p>
          <a:p>
            <a:pPr marL="584200" indent="-15875">
              <a:lnSpc>
                <a:spcPts val="3400"/>
              </a:lnSpc>
              <a:spcBef>
                <a:spcPts val="600"/>
              </a:spcBef>
              <a:spcAft>
                <a:spcPts val="600"/>
              </a:spcAft>
              <a:buSzPct val="80000"/>
              <a:buFont typeface="Wingdings" panose="05000000000000000000" pitchFamily="2" charset="2"/>
              <a:buChar char="v"/>
            </a:pPr>
            <a:r>
              <a:rPr lang="en-US" b="1" spc="-50" dirty="0">
                <a:latin typeface="Courier" panose="02020500000000000000" pitchFamily="18" charset="0"/>
                <a:ea typeface="Courier" panose="02020500000000000000" pitchFamily="18" charset="0"/>
                <a:cs typeface="Courier" panose="02020500000000000000" pitchFamily="18" charset="0"/>
              </a:rPr>
              <a:t>String[][] A = new String[3][5];</a:t>
            </a:r>
          </a:p>
          <a:p>
            <a:pPr marL="401638" indent="-234950">
              <a:lnSpc>
                <a:spcPts val="3400"/>
              </a:lnSpc>
              <a:spcBef>
                <a:spcPts val="600"/>
              </a:spcBef>
              <a:spcAft>
                <a:spcPts val="600"/>
              </a:spcAft>
            </a:pPr>
            <a:r>
              <a:rPr lang="en-US" dirty="0"/>
              <a:t>Vừa khai báo và vừa khởi tạo giá trị cho mảng:</a:t>
            </a:r>
          </a:p>
          <a:p>
            <a:pPr marL="457200" lvl="1" indent="-55563">
              <a:lnSpc>
                <a:spcPts val="3400"/>
              </a:lnSpc>
              <a:spcBef>
                <a:spcPts val="600"/>
              </a:spcBef>
              <a:spcAft>
                <a:spcPts val="600"/>
              </a:spcAft>
              <a:buNone/>
            </a:pPr>
            <a:r>
              <a:rPr lang="en-US" sz="2800" dirty="0">
                <a:latin typeface="Arial" panose="020B0604020202020204" pitchFamily="34" charset="0"/>
                <a:cs typeface="Arial" panose="020B0604020202020204" pitchFamily="34" charset="0"/>
              </a:rPr>
              <a:t>Ví dụ: khai báo một mảng 2 chiều có 3 dòng và 2 cột</a:t>
            </a:r>
          </a:p>
          <a:p>
            <a:pPr marL="1828800" lvl="1" indent="-1662113">
              <a:lnSpc>
                <a:spcPts val="3400"/>
              </a:lnSpc>
              <a:spcBef>
                <a:spcPts val="600"/>
              </a:spcBef>
              <a:spcAft>
                <a:spcPts val="600"/>
              </a:spcAft>
              <a:buNone/>
              <a:tabLst>
                <a:tab pos="1717675" algn="l"/>
              </a:tabLst>
            </a:pPr>
            <a:r>
              <a:rPr lang="en-US" sz="2800" b="1" spc="-250" dirty="0">
                <a:latin typeface="Courier" panose="02020500000000000000" pitchFamily="18" charset="0"/>
                <a:ea typeface="Courier" panose="02020500000000000000" pitchFamily="18" charset="0"/>
                <a:cs typeface="Courier" panose="02020500000000000000" pitchFamily="18" charset="0"/>
              </a:rPr>
              <a:t>int diem[][] = {{1, 2}, {3, 4}, {5, 6}};</a:t>
            </a:r>
          </a:p>
          <a:p>
            <a:pPr marL="127000" indent="0" algn="just">
              <a:lnSpc>
                <a:spcPts val="3300"/>
              </a:lnSpc>
              <a:buNone/>
            </a:pPr>
            <a:endParaRPr lang="en-US" dirty="0"/>
          </a:p>
          <a:p>
            <a:pPr marL="401638" lvl="1" indent="-234950" algn="just">
              <a:lnSpc>
                <a:spcPts val="3400"/>
              </a:lnSpc>
              <a:spcBef>
                <a:spcPts val="300"/>
              </a:spcBef>
              <a:spcAft>
                <a:spcPts val="300"/>
              </a:spcAft>
              <a:buSzPct val="130000"/>
              <a:buFont typeface="Arial" panose="020B0604020202020204" pitchFamily="34" charset="0"/>
              <a:buChar char="•"/>
            </a:pPr>
            <a:endParaRPr lang="en-US" spc="-5" dirty="0">
              <a:latin typeface="Arial" panose="020B0604020202020204" pitchFamily="34" charset="0"/>
              <a:cs typeface="Arial"/>
            </a:endParaRPr>
          </a:p>
          <a:p>
            <a:pPr marL="166688" lvl="1" indent="0" algn="just">
              <a:lnSpc>
                <a:spcPts val="3400"/>
              </a:lnSpc>
              <a:spcBef>
                <a:spcPts val="300"/>
              </a:spcBef>
              <a:spcAft>
                <a:spcPts val="300"/>
              </a:spcAft>
              <a:buSzPct val="130000"/>
              <a:buNone/>
            </a:pPr>
            <a:endParaRPr lang="en-US" spc="-5" dirty="0">
              <a:latin typeface="Arial" panose="020B0604020202020204" pitchFamily="34" charset="0"/>
              <a:cs typeface="Arial"/>
            </a:endParaRPr>
          </a:p>
          <a:p>
            <a:pPr marL="127000" indent="0" algn="just">
              <a:lnSpc>
                <a:spcPct val="100000"/>
              </a:lnSpc>
              <a:buNone/>
            </a:pPr>
            <a:endParaRPr lang="en-US" sz="2600" b="1" spc="5" dirty="0">
              <a:latin typeface="Arial"/>
              <a:cs typeface="Arial"/>
            </a:endParaRPr>
          </a:p>
          <a:p>
            <a:pPr marL="0" indent="0" algn="just">
              <a:lnSpc>
                <a:spcPts val="3100"/>
              </a:lnSpc>
              <a:spcBef>
                <a:spcPts val="0"/>
              </a:spcBef>
              <a:buNone/>
            </a:pPr>
            <a:endParaRPr lang="en-US" sz="26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78</a:t>
            </a:fld>
            <a:endParaRPr lang="en-US" dirty="0"/>
          </a:p>
        </p:txBody>
      </p:sp>
    </p:spTree>
    <p:extLst>
      <p:ext uri="{BB962C8B-B14F-4D97-AF65-F5344CB8AC3E}">
        <p14:creationId xmlns:p14="http://schemas.microsoft.com/office/powerpoint/2010/main" val="29486684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528290" y="1255835"/>
            <a:ext cx="8069301" cy="5256478"/>
          </a:xfrm>
        </p:spPr>
        <p:txBody>
          <a:bodyPr>
            <a:noAutofit/>
          </a:bodyPr>
          <a:lstStyle/>
          <a:p>
            <a:pPr marL="290513" indent="-290513">
              <a:lnSpc>
                <a:spcPts val="3400"/>
              </a:lnSpc>
              <a:spcBef>
                <a:spcPts val="600"/>
              </a:spcBef>
              <a:spcAft>
                <a:spcPts val="600"/>
              </a:spcAft>
            </a:pPr>
            <a:r>
              <a:rPr lang="en-US" b="1" dirty="0"/>
              <a:t>Truy xuất các phần tử của mảng:</a:t>
            </a:r>
          </a:p>
          <a:p>
            <a:pPr marL="0" indent="166688" algn="just">
              <a:lnSpc>
                <a:spcPts val="3400"/>
              </a:lnSpc>
              <a:spcBef>
                <a:spcPts val="600"/>
              </a:spcBef>
              <a:spcAft>
                <a:spcPts val="600"/>
              </a:spcAft>
              <a:buNone/>
            </a:pPr>
            <a:r>
              <a:rPr lang="vi-VN" dirty="0"/>
              <a:t>Mỗi phần tử của mảng 2 chiều được truy xuất thông qua tên mảng cùng với chỉ số dòng và chỉ số cột của phần tử đó.</a:t>
            </a:r>
            <a:endParaRPr lang="en-US" dirty="0"/>
          </a:p>
          <a:p>
            <a:pPr algn="just">
              <a:lnSpc>
                <a:spcPts val="3400"/>
              </a:lnSpc>
              <a:spcBef>
                <a:spcPts val="600"/>
              </a:spcBef>
              <a:spcAft>
                <a:spcPts val="600"/>
              </a:spcAft>
            </a:pPr>
            <a:r>
              <a:rPr lang="en-US" b="1" dirty="0"/>
              <a:t>Cú pháp: </a:t>
            </a:r>
            <a:r>
              <a:rPr lang="en-US" dirty="0">
                <a:solidFill>
                  <a:schemeClr val="accent2">
                    <a:lumMod val="75000"/>
                  </a:schemeClr>
                </a:solidFill>
              </a:rPr>
              <a:t>Tên_mảng[Chỉ_số_dòng][Chỉ_số_cột]</a:t>
            </a:r>
            <a:endParaRPr lang="en-US" b="1" dirty="0">
              <a:solidFill>
                <a:schemeClr val="accent2">
                  <a:lumMod val="75000"/>
                </a:schemeClr>
              </a:solidFill>
            </a:endParaRPr>
          </a:p>
          <a:p>
            <a:pPr marL="401638" lvl="1" indent="-234950" algn="just">
              <a:lnSpc>
                <a:spcPts val="3400"/>
              </a:lnSpc>
              <a:spcBef>
                <a:spcPts val="300"/>
              </a:spcBef>
              <a:spcAft>
                <a:spcPts val="300"/>
              </a:spcAft>
              <a:buSzPct val="130000"/>
              <a:buFont typeface="Arial" panose="020B0604020202020204" pitchFamily="34" charset="0"/>
              <a:buChar char="•"/>
            </a:pPr>
            <a:endParaRPr lang="en-US" spc="-5" dirty="0">
              <a:latin typeface="Arial" panose="020B0604020202020204" pitchFamily="34" charset="0"/>
              <a:cs typeface="Arial"/>
            </a:endParaRPr>
          </a:p>
          <a:p>
            <a:pPr marL="166688" lvl="1" indent="0" algn="just">
              <a:lnSpc>
                <a:spcPts val="3400"/>
              </a:lnSpc>
              <a:spcBef>
                <a:spcPts val="300"/>
              </a:spcBef>
              <a:spcAft>
                <a:spcPts val="300"/>
              </a:spcAft>
              <a:buSzPct val="130000"/>
              <a:buNone/>
            </a:pPr>
            <a:endParaRPr lang="en-US" spc="-5" dirty="0">
              <a:latin typeface="Arial" panose="020B0604020202020204" pitchFamily="34" charset="0"/>
              <a:cs typeface="Arial"/>
            </a:endParaRPr>
          </a:p>
          <a:p>
            <a:pPr marL="127000" indent="0" algn="just">
              <a:lnSpc>
                <a:spcPct val="100000"/>
              </a:lnSpc>
              <a:buNone/>
            </a:pPr>
            <a:endParaRPr lang="en-US" sz="2600" b="1" spc="5" dirty="0">
              <a:latin typeface="Arial"/>
              <a:cs typeface="Arial"/>
            </a:endParaRPr>
          </a:p>
          <a:p>
            <a:pPr marL="0" indent="0" algn="just">
              <a:lnSpc>
                <a:spcPts val="3100"/>
              </a:lnSpc>
              <a:spcBef>
                <a:spcPts val="0"/>
              </a:spcBef>
              <a:buNone/>
            </a:pPr>
            <a:endParaRPr lang="en-US" sz="2600" dirty="0">
              <a:cs typeface="Arial"/>
            </a:endParaRPr>
          </a:p>
          <a:p>
            <a:pPr lvl="1" algn="just">
              <a:lnSpc>
                <a:spcPts val="3500"/>
              </a:lnSpc>
              <a:spcBef>
                <a:spcPts val="300"/>
              </a:spcBef>
              <a:spcAft>
                <a:spcPts val="300"/>
              </a:spcAft>
            </a:pPr>
            <a:endParaRPr lang="en-US" sz="2800" dirty="0">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79</a:t>
            </a:fld>
            <a:endParaRPr lang="en-US" dirty="0"/>
          </a:p>
        </p:txBody>
      </p:sp>
      <p:sp>
        <p:nvSpPr>
          <p:cNvPr id="5" name="object 2"/>
          <p:cNvSpPr/>
          <p:nvPr/>
        </p:nvSpPr>
        <p:spPr>
          <a:xfrm>
            <a:off x="446048" y="3939191"/>
            <a:ext cx="8419171" cy="1676299"/>
          </a:xfrm>
          <a:custGeom>
            <a:avLst/>
            <a:gdLst/>
            <a:ahLst/>
            <a:cxnLst/>
            <a:rect l="l" t="t" r="r" b="b"/>
            <a:pathLst>
              <a:path w="7262495" h="1354454">
                <a:moveTo>
                  <a:pt x="0" y="0"/>
                </a:moveTo>
                <a:lnTo>
                  <a:pt x="7262050" y="0"/>
                </a:lnTo>
                <a:lnTo>
                  <a:pt x="7262050" y="1099947"/>
                </a:lnTo>
                <a:lnTo>
                  <a:pt x="7190386" y="1100001"/>
                </a:lnTo>
                <a:lnTo>
                  <a:pt x="7119665" y="1100165"/>
                </a:lnTo>
                <a:lnTo>
                  <a:pt x="7049874" y="1100434"/>
                </a:lnTo>
                <a:lnTo>
                  <a:pt x="6981001" y="1100809"/>
                </a:lnTo>
                <a:lnTo>
                  <a:pt x="6913033" y="1101286"/>
                </a:lnTo>
                <a:lnTo>
                  <a:pt x="6845957" y="1101864"/>
                </a:lnTo>
                <a:lnTo>
                  <a:pt x="6779760" y="1102541"/>
                </a:lnTo>
                <a:lnTo>
                  <a:pt x="6714430" y="1103316"/>
                </a:lnTo>
                <a:lnTo>
                  <a:pt x="6649955" y="1104185"/>
                </a:lnTo>
                <a:lnTo>
                  <a:pt x="6586321" y="1105148"/>
                </a:lnTo>
                <a:lnTo>
                  <a:pt x="6523516" y="1106203"/>
                </a:lnTo>
                <a:lnTo>
                  <a:pt x="6461527" y="1107347"/>
                </a:lnTo>
                <a:lnTo>
                  <a:pt x="6400342" y="1108579"/>
                </a:lnTo>
                <a:lnTo>
                  <a:pt x="6339948" y="1109897"/>
                </a:lnTo>
                <a:lnTo>
                  <a:pt x="6280332" y="1111298"/>
                </a:lnTo>
                <a:lnTo>
                  <a:pt x="6221482" y="1112782"/>
                </a:lnTo>
                <a:lnTo>
                  <a:pt x="6163385" y="1114347"/>
                </a:lnTo>
                <a:lnTo>
                  <a:pt x="6106028" y="1115989"/>
                </a:lnTo>
                <a:lnTo>
                  <a:pt x="6049399" y="1117709"/>
                </a:lnTo>
                <a:lnTo>
                  <a:pt x="5993485" y="1119502"/>
                </a:lnTo>
                <a:lnTo>
                  <a:pt x="5938273" y="1121369"/>
                </a:lnTo>
                <a:lnTo>
                  <a:pt x="5883751" y="1123307"/>
                </a:lnTo>
                <a:lnTo>
                  <a:pt x="5829906" y="1125313"/>
                </a:lnTo>
                <a:lnTo>
                  <a:pt x="5776726" y="1127387"/>
                </a:lnTo>
                <a:lnTo>
                  <a:pt x="5724197" y="1129526"/>
                </a:lnTo>
                <a:lnTo>
                  <a:pt x="5672308" y="1131728"/>
                </a:lnTo>
                <a:lnTo>
                  <a:pt x="5621044" y="1133992"/>
                </a:lnTo>
                <a:lnTo>
                  <a:pt x="5570395" y="1136316"/>
                </a:lnTo>
                <a:lnTo>
                  <a:pt x="5520347" y="1138697"/>
                </a:lnTo>
                <a:lnTo>
                  <a:pt x="5470887" y="1141134"/>
                </a:lnTo>
                <a:lnTo>
                  <a:pt x="5422003" y="1143625"/>
                </a:lnTo>
                <a:lnTo>
                  <a:pt x="5373682" y="1146168"/>
                </a:lnTo>
                <a:lnTo>
                  <a:pt x="5325912" y="1148762"/>
                </a:lnTo>
                <a:lnTo>
                  <a:pt x="5278680" y="1151404"/>
                </a:lnTo>
                <a:lnTo>
                  <a:pt x="5231972" y="1154092"/>
                </a:lnTo>
                <a:lnTo>
                  <a:pt x="5185778" y="1156825"/>
                </a:lnTo>
                <a:lnTo>
                  <a:pt x="5140083" y="1159601"/>
                </a:lnTo>
                <a:lnTo>
                  <a:pt x="5094875" y="1162418"/>
                </a:lnTo>
                <a:lnTo>
                  <a:pt x="5050142" y="1165274"/>
                </a:lnTo>
                <a:lnTo>
                  <a:pt x="5005871" y="1168167"/>
                </a:lnTo>
                <a:lnTo>
                  <a:pt x="4962050" y="1171095"/>
                </a:lnTo>
                <a:lnTo>
                  <a:pt x="4918665" y="1174056"/>
                </a:lnTo>
                <a:lnTo>
                  <a:pt x="4875703" y="1177049"/>
                </a:lnTo>
                <a:lnTo>
                  <a:pt x="4833153" y="1180072"/>
                </a:lnTo>
                <a:lnTo>
                  <a:pt x="4791002" y="1183122"/>
                </a:lnTo>
                <a:lnTo>
                  <a:pt x="4749237" y="1186199"/>
                </a:lnTo>
                <a:lnTo>
                  <a:pt x="4707845" y="1189299"/>
                </a:lnTo>
                <a:lnTo>
                  <a:pt x="4666814" y="1192421"/>
                </a:lnTo>
                <a:lnTo>
                  <a:pt x="4626131" y="1195564"/>
                </a:lnTo>
                <a:lnTo>
                  <a:pt x="4585783" y="1198725"/>
                </a:lnTo>
                <a:lnTo>
                  <a:pt x="4545758" y="1201903"/>
                </a:lnTo>
                <a:lnTo>
                  <a:pt x="4506043" y="1205095"/>
                </a:lnTo>
                <a:lnTo>
                  <a:pt x="4466625" y="1208300"/>
                </a:lnTo>
                <a:lnTo>
                  <a:pt x="4427492" y="1211516"/>
                </a:lnTo>
                <a:lnTo>
                  <a:pt x="4388631" y="1214740"/>
                </a:lnTo>
                <a:lnTo>
                  <a:pt x="4350030" y="1217972"/>
                </a:lnTo>
                <a:lnTo>
                  <a:pt x="4311675" y="1221209"/>
                </a:lnTo>
                <a:lnTo>
                  <a:pt x="4273555" y="1224450"/>
                </a:lnTo>
                <a:lnTo>
                  <a:pt x="4197966" y="1230934"/>
                </a:lnTo>
                <a:lnTo>
                  <a:pt x="4123161" y="1237408"/>
                </a:lnTo>
                <a:lnTo>
                  <a:pt x="4049040" y="1243859"/>
                </a:lnTo>
                <a:lnTo>
                  <a:pt x="4012204" y="1247070"/>
                </a:lnTo>
                <a:lnTo>
                  <a:pt x="3975501" y="1250270"/>
                </a:lnTo>
                <a:lnTo>
                  <a:pt x="3902443" y="1256628"/>
                </a:lnTo>
                <a:lnTo>
                  <a:pt x="3829764" y="1262916"/>
                </a:lnTo>
                <a:lnTo>
                  <a:pt x="3757364" y="1269121"/>
                </a:lnTo>
                <a:lnTo>
                  <a:pt x="3685141" y="1275226"/>
                </a:lnTo>
                <a:lnTo>
                  <a:pt x="3612994" y="1281217"/>
                </a:lnTo>
                <a:lnTo>
                  <a:pt x="3540822" y="1287079"/>
                </a:lnTo>
                <a:lnTo>
                  <a:pt x="3468523" y="1292797"/>
                </a:lnTo>
                <a:lnTo>
                  <a:pt x="3395997" y="1298356"/>
                </a:lnTo>
                <a:lnTo>
                  <a:pt x="3323141" y="1303741"/>
                </a:lnTo>
                <a:lnTo>
                  <a:pt x="3249855" y="1308937"/>
                </a:lnTo>
                <a:lnTo>
                  <a:pt x="3176037" y="1313929"/>
                </a:lnTo>
                <a:lnTo>
                  <a:pt x="3101587" y="1318701"/>
                </a:lnTo>
                <a:lnTo>
                  <a:pt x="3026403" y="1323240"/>
                </a:lnTo>
                <a:lnTo>
                  <a:pt x="2950383" y="1327529"/>
                </a:lnTo>
                <a:lnTo>
                  <a:pt x="2912029" y="1329576"/>
                </a:lnTo>
                <a:lnTo>
                  <a:pt x="2873427" y="1331555"/>
                </a:lnTo>
                <a:lnTo>
                  <a:pt x="2834566" y="1333463"/>
                </a:lnTo>
                <a:lnTo>
                  <a:pt x="2795433" y="1335301"/>
                </a:lnTo>
                <a:lnTo>
                  <a:pt x="2756015" y="1337064"/>
                </a:lnTo>
                <a:lnTo>
                  <a:pt x="2716300" y="1338753"/>
                </a:lnTo>
                <a:lnTo>
                  <a:pt x="2676275" y="1340364"/>
                </a:lnTo>
                <a:lnTo>
                  <a:pt x="2635927" y="1341896"/>
                </a:lnTo>
                <a:lnTo>
                  <a:pt x="2595244" y="1343346"/>
                </a:lnTo>
                <a:lnTo>
                  <a:pt x="2554213" y="1344714"/>
                </a:lnTo>
                <a:lnTo>
                  <a:pt x="2512821" y="1345997"/>
                </a:lnTo>
                <a:lnTo>
                  <a:pt x="2471055" y="1347194"/>
                </a:lnTo>
                <a:lnTo>
                  <a:pt x="2428904" y="1348302"/>
                </a:lnTo>
                <a:lnTo>
                  <a:pt x="2386354" y="1349319"/>
                </a:lnTo>
                <a:lnTo>
                  <a:pt x="2343393" y="1350244"/>
                </a:lnTo>
                <a:lnTo>
                  <a:pt x="2300007" y="1351075"/>
                </a:lnTo>
                <a:lnTo>
                  <a:pt x="2256185" y="1351810"/>
                </a:lnTo>
                <a:lnTo>
                  <a:pt x="2211914" y="1352447"/>
                </a:lnTo>
                <a:lnTo>
                  <a:pt x="2167181" y="1352985"/>
                </a:lnTo>
                <a:lnTo>
                  <a:pt x="2121974" y="1353420"/>
                </a:lnTo>
                <a:lnTo>
                  <a:pt x="2076279" y="1353752"/>
                </a:lnTo>
                <a:lnTo>
                  <a:pt x="2030084" y="1353979"/>
                </a:lnTo>
                <a:lnTo>
                  <a:pt x="1983377" y="1354098"/>
                </a:lnTo>
                <a:lnTo>
                  <a:pt x="1936144" y="1354108"/>
                </a:lnTo>
                <a:lnTo>
                  <a:pt x="1888374" y="1354008"/>
                </a:lnTo>
                <a:lnTo>
                  <a:pt x="1840053" y="1353794"/>
                </a:lnTo>
                <a:lnTo>
                  <a:pt x="1791169" y="1353465"/>
                </a:lnTo>
                <a:lnTo>
                  <a:pt x="1741709" y="1353020"/>
                </a:lnTo>
                <a:lnTo>
                  <a:pt x="1691660" y="1352456"/>
                </a:lnTo>
                <a:lnTo>
                  <a:pt x="1641011" y="1351772"/>
                </a:lnTo>
                <a:lnTo>
                  <a:pt x="1589747" y="1350965"/>
                </a:lnTo>
                <a:lnTo>
                  <a:pt x="1537858" y="1350034"/>
                </a:lnTo>
                <a:lnTo>
                  <a:pt x="1485329" y="1348978"/>
                </a:lnTo>
                <a:lnTo>
                  <a:pt x="1432148" y="1347793"/>
                </a:lnTo>
                <a:lnTo>
                  <a:pt x="1378303" y="1346478"/>
                </a:lnTo>
                <a:lnTo>
                  <a:pt x="1323781" y="1345032"/>
                </a:lnTo>
                <a:lnTo>
                  <a:pt x="1268569" y="1343452"/>
                </a:lnTo>
                <a:lnTo>
                  <a:pt x="1212655" y="1341737"/>
                </a:lnTo>
                <a:lnTo>
                  <a:pt x="1156025" y="1339885"/>
                </a:lnTo>
                <a:lnTo>
                  <a:pt x="1098668" y="1337893"/>
                </a:lnTo>
                <a:lnTo>
                  <a:pt x="1040571" y="1335760"/>
                </a:lnTo>
                <a:lnTo>
                  <a:pt x="981721" y="1333485"/>
                </a:lnTo>
                <a:lnTo>
                  <a:pt x="922105" y="1331064"/>
                </a:lnTo>
                <a:lnTo>
                  <a:pt x="861710" y="1328497"/>
                </a:lnTo>
                <a:lnTo>
                  <a:pt x="800525" y="1325781"/>
                </a:lnTo>
                <a:lnTo>
                  <a:pt x="738536" y="1322915"/>
                </a:lnTo>
                <a:lnTo>
                  <a:pt x="675731" y="1319896"/>
                </a:lnTo>
                <a:lnTo>
                  <a:pt x="612097" y="1316724"/>
                </a:lnTo>
                <a:lnTo>
                  <a:pt x="547621" y="1313395"/>
                </a:lnTo>
                <a:lnTo>
                  <a:pt x="482291" y="1309908"/>
                </a:lnTo>
                <a:lnTo>
                  <a:pt x="416094" y="1306262"/>
                </a:lnTo>
                <a:lnTo>
                  <a:pt x="349018" y="1302454"/>
                </a:lnTo>
                <a:lnTo>
                  <a:pt x="281049" y="1298482"/>
                </a:lnTo>
                <a:lnTo>
                  <a:pt x="212176" y="1294345"/>
                </a:lnTo>
                <a:lnTo>
                  <a:pt x="142385" y="1290040"/>
                </a:lnTo>
                <a:lnTo>
                  <a:pt x="71664" y="1285566"/>
                </a:lnTo>
                <a:lnTo>
                  <a:pt x="0" y="1280922"/>
                </a:lnTo>
                <a:lnTo>
                  <a:pt x="0" y="0"/>
                </a:lnTo>
                <a:close/>
              </a:path>
            </a:pathLst>
          </a:custGeom>
          <a:ln w="25400">
            <a:solidFill>
              <a:srgbClr val="9BBB59"/>
            </a:solidFill>
          </a:ln>
        </p:spPr>
        <p:txBody>
          <a:bodyPr wrap="square" lIns="0" tIns="0" rIns="0" bIns="0" rtlCol="0"/>
          <a:lstStyle/>
          <a:p>
            <a:endParaRPr/>
          </a:p>
        </p:txBody>
      </p:sp>
      <p:sp>
        <p:nvSpPr>
          <p:cNvPr id="6" name="object 14"/>
          <p:cNvSpPr/>
          <p:nvPr/>
        </p:nvSpPr>
        <p:spPr>
          <a:xfrm>
            <a:off x="751262" y="5655941"/>
            <a:ext cx="475370" cy="490179"/>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7" name="object 16"/>
          <p:cNvSpPr/>
          <p:nvPr/>
        </p:nvSpPr>
        <p:spPr>
          <a:xfrm>
            <a:off x="1256575" y="5482990"/>
            <a:ext cx="7608643" cy="836083"/>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8" name="object 13"/>
          <p:cNvSpPr txBox="1"/>
          <p:nvPr/>
        </p:nvSpPr>
        <p:spPr>
          <a:xfrm>
            <a:off x="528289" y="3911541"/>
            <a:ext cx="8336929" cy="1626086"/>
          </a:xfrm>
          <a:prstGeom prst="rect">
            <a:avLst/>
          </a:prstGeom>
        </p:spPr>
        <p:txBody>
          <a:bodyPr vert="horz" wrap="square" lIns="0" tIns="12700" rIns="0" bIns="0" rtlCol="0">
            <a:spAutoFit/>
          </a:bodyPr>
          <a:lstStyle/>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int diem[][] = {{1, 2}, {3, 4}, {5, 6}}; </a:t>
            </a:r>
            <a:r>
              <a:rPr lang="en-US" sz="2600" spc="-80" dirty="0">
                <a:latin typeface="Courier" panose="02020500000000000000" pitchFamily="18" charset="0"/>
                <a:ea typeface="Courier" panose="02020500000000000000" pitchFamily="18" charset="0"/>
                <a:cs typeface="Courier" panose="02020500000000000000" pitchFamily="18" charset="0"/>
              </a:rPr>
              <a:t>System.out.println("Phan tu nam o dong 2 va cot 1 trong mang diem la " + diem[2][1]);</a:t>
            </a:r>
          </a:p>
          <a:p>
            <a:pPr marL="12700">
              <a:lnSpc>
                <a:spcPct val="100000"/>
              </a:lnSpc>
              <a:spcBef>
                <a:spcPts val="100"/>
              </a:spcBef>
            </a:pPr>
            <a:r>
              <a:rPr lang="en-US" sz="2600" spc="-50" dirty="0">
                <a:latin typeface="Courier" panose="02020500000000000000" pitchFamily="18" charset="0"/>
                <a:ea typeface="Courier" panose="02020500000000000000" pitchFamily="18" charset="0"/>
                <a:cs typeface="Courier" panose="02020500000000000000" pitchFamily="18" charset="0"/>
              </a:rPr>
              <a:t>}</a:t>
            </a:r>
            <a:endParaRPr sz="2600" spc="-50" dirty="0">
              <a:latin typeface="Courier" panose="02020500000000000000" pitchFamily="18" charset="0"/>
              <a:ea typeface="Courier" panose="02020500000000000000" pitchFamily="18" charset="0"/>
              <a:cs typeface="Courier" panose="02020500000000000000" pitchFamily="18" charset="0"/>
            </a:endParaRPr>
          </a:p>
        </p:txBody>
      </p:sp>
      <p:sp>
        <p:nvSpPr>
          <p:cNvPr id="9" name="object 19"/>
          <p:cNvSpPr txBox="1"/>
          <p:nvPr/>
        </p:nvSpPr>
        <p:spPr>
          <a:xfrm>
            <a:off x="1256574" y="5589308"/>
            <a:ext cx="7738946" cy="382156"/>
          </a:xfrm>
          <a:prstGeom prst="rect">
            <a:avLst/>
          </a:prstGeom>
        </p:spPr>
        <p:txBody>
          <a:bodyPr vert="horz" wrap="square" lIns="0" tIns="12700" rIns="0" bIns="0" rtlCol="0">
            <a:spAutoFit/>
          </a:bodyPr>
          <a:lstStyle/>
          <a:p>
            <a:pPr marL="12700">
              <a:lnSpc>
                <a:spcPct val="100000"/>
              </a:lnSpc>
              <a:spcBef>
                <a:spcPts val="100"/>
              </a:spcBef>
            </a:pPr>
            <a:r>
              <a:rPr lang="en-US" sz="2400" b="1" spc="-250" dirty="0">
                <a:solidFill>
                  <a:schemeClr val="bg1"/>
                </a:solidFill>
                <a:latin typeface="Courier" panose="02020500000000000000" pitchFamily="18" charset="0"/>
                <a:ea typeface="Courier" panose="02020500000000000000" pitchFamily="18" charset="0"/>
                <a:cs typeface="Courier" panose="02020500000000000000" pitchFamily="18" charset="0"/>
              </a:rPr>
              <a:t>Phan tu nam o dong 2 va cot 1 trong mang diem la 6</a:t>
            </a:r>
            <a:endParaRPr sz="2400" b="1" spc="-250" dirty="0">
              <a:solidFill>
                <a:schemeClr val="bg1"/>
              </a:solidFill>
              <a:latin typeface="Courier" panose="02020500000000000000" pitchFamily="18" charset="0"/>
              <a:ea typeface="Courier" panose="02020500000000000000" pitchFamily="18" charset="0"/>
              <a:cs typeface="Courier" panose="02020500000000000000" pitchFamily="18" charset="0"/>
            </a:endParaRPr>
          </a:p>
        </p:txBody>
      </p:sp>
    </p:spTree>
    <p:extLst>
      <p:ext uri="{BB962C8B-B14F-4D97-AF65-F5344CB8AC3E}">
        <p14:creationId xmlns:p14="http://schemas.microsoft.com/office/powerpoint/2010/main" val="20766134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528290" y="1393901"/>
            <a:ext cx="8069301" cy="5118411"/>
          </a:xfrm>
        </p:spPr>
        <p:txBody>
          <a:bodyPr>
            <a:noAutofit/>
          </a:bodyPr>
          <a:lstStyle/>
          <a:p>
            <a:pPr marL="290513" indent="-290513">
              <a:lnSpc>
                <a:spcPts val="3400"/>
              </a:lnSpc>
              <a:spcBef>
                <a:spcPts val="600"/>
              </a:spcBef>
              <a:spcAft>
                <a:spcPts val="600"/>
              </a:spcAft>
            </a:pPr>
            <a:r>
              <a:rPr lang="en-US" b="1" dirty="0"/>
              <a:t>Duyệt mảng: </a:t>
            </a:r>
            <a:r>
              <a:rPr lang="en-US" dirty="0"/>
              <a:t>dùng vòng lặp for</a:t>
            </a:r>
          </a:p>
          <a:p>
            <a:pPr marL="166688" lvl="1" indent="0">
              <a:lnSpc>
                <a:spcPts val="3200"/>
              </a:lnSpc>
              <a:spcBef>
                <a:spcPts val="300"/>
              </a:spcBef>
              <a:spcAft>
                <a:spcPts val="300"/>
              </a:spcAft>
              <a:buSzPct val="130000"/>
              <a:buNone/>
            </a:pPr>
            <a:r>
              <a:rPr lang="en-US" sz="2800" spc="-100" dirty="0">
                <a:latin typeface="Courier New" panose="02070309020205020404" pitchFamily="49" charset="0"/>
                <a:cs typeface="Courier New" panose="02070309020205020404" pitchFamily="49" charset="0"/>
              </a:rPr>
              <a:t>int[][]A = new int[soDong][soCot];</a:t>
            </a:r>
          </a:p>
          <a:p>
            <a:pPr marL="166688" lvl="1" indent="0">
              <a:lnSpc>
                <a:spcPts val="3200"/>
              </a:lnSpc>
              <a:spcBef>
                <a:spcPts val="300"/>
              </a:spcBef>
              <a:spcAft>
                <a:spcPts val="300"/>
              </a:spcAft>
              <a:buSzPct val="130000"/>
              <a:buNone/>
            </a:pPr>
            <a:r>
              <a:rPr lang="en-US" sz="2800" spc="-150" dirty="0">
                <a:solidFill>
                  <a:schemeClr val="accent2">
                    <a:lumMod val="75000"/>
                  </a:schemeClr>
                </a:solidFill>
                <a:latin typeface="Courier New" panose="02070309020205020404" pitchFamily="49" charset="0"/>
                <a:cs typeface="Courier New" panose="02070309020205020404" pitchFamily="49" charset="0"/>
              </a:rPr>
              <a:t>for (int i = 0; i &lt; soDong; i++) {</a:t>
            </a:r>
          </a:p>
          <a:p>
            <a:pPr marL="166688" lvl="1" indent="0">
              <a:lnSpc>
                <a:spcPts val="3200"/>
              </a:lnSpc>
              <a:spcBef>
                <a:spcPts val="300"/>
              </a:spcBef>
              <a:spcAft>
                <a:spcPts val="300"/>
              </a:spcAft>
              <a:buSzPct val="130000"/>
              <a:buNone/>
            </a:pPr>
            <a:r>
              <a:rPr lang="en-US" sz="2800" spc="-150" dirty="0">
                <a:solidFill>
                  <a:schemeClr val="accent2">
                    <a:lumMod val="75000"/>
                  </a:schemeClr>
                </a:solidFill>
                <a:latin typeface="Courier New" panose="02070309020205020404" pitchFamily="49" charset="0"/>
                <a:cs typeface="Courier New" panose="02070309020205020404" pitchFamily="49" charset="0"/>
              </a:rPr>
              <a:t>  for (int j = 0; j &lt; soCot; j++)</a:t>
            </a:r>
            <a:r>
              <a:rPr lang="en-US" sz="2800" spc="-150" dirty="0">
                <a:latin typeface="Courier New" panose="02070309020205020404" pitchFamily="49" charset="0"/>
                <a:cs typeface="Courier New" panose="02070309020205020404" pitchFamily="49" charset="0"/>
              </a:rPr>
              <a:t> {</a:t>
            </a:r>
          </a:p>
          <a:p>
            <a:pPr marL="166688" lvl="1" indent="0">
              <a:lnSpc>
                <a:spcPts val="3200"/>
              </a:lnSpc>
              <a:spcBef>
                <a:spcPts val="300"/>
              </a:spcBef>
              <a:spcAft>
                <a:spcPts val="300"/>
              </a:spcAft>
              <a:buSzPct val="130000"/>
              <a:buNone/>
            </a:pPr>
            <a:r>
              <a:rPr lang="en-US" sz="2800" spc="-100" dirty="0">
                <a:latin typeface="Courier New" panose="02070309020205020404" pitchFamily="49" charset="0"/>
                <a:cs typeface="Courier New" panose="02070309020205020404" pitchFamily="49" charset="0"/>
              </a:rPr>
              <a:t>    System.out.print("Nhập phần tử thứ </a:t>
            </a:r>
            <a:r>
              <a:rPr lang="en-US" sz="2800" spc="-140" dirty="0">
                <a:latin typeface="Courier New" panose="02070309020205020404" pitchFamily="49" charset="0"/>
                <a:cs typeface="Courier New" panose="02070309020205020404" pitchFamily="49" charset="0"/>
              </a:rPr>
              <a:t>["+i+","+j+"]:");</a:t>
            </a:r>
          </a:p>
          <a:p>
            <a:pPr marL="166688" lvl="1" indent="0">
              <a:lnSpc>
                <a:spcPts val="3200"/>
              </a:lnSpc>
              <a:spcBef>
                <a:spcPts val="300"/>
              </a:spcBef>
              <a:spcAft>
                <a:spcPts val="300"/>
              </a:spcAft>
              <a:buSzPct val="130000"/>
              <a:buNone/>
            </a:pPr>
            <a:r>
              <a:rPr lang="en-US" sz="2800" spc="-100" dirty="0">
                <a:latin typeface="Courier New" panose="02070309020205020404" pitchFamily="49" charset="0"/>
                <a:cs typeface="Courier New" panose="02070309020205020404" pitchFamily="49" charset="0"/>
              </a:rPr>
              <a:t>    A[i][j] = scanner.nextInt();</a:t>
            </a:r>
          </a:p>
          <a:p>
            <a:pPr marL="166688" lvl="1" indent="0">
              <a:lnSpc>
                <a:spcPts val="3200"/>
              </a:lnSpc>
              <a:spcBef>
                <a:spcPts val="300"/>
              </a:spcBef>
              <a:spcAft>
                <a:spcPts val="300"/>
              </a:spcAft>
              <a:buSzPct val="130000"/>
              <a:buNone/>
            </a:pPr>
            <a:r>
              <a:rPr lang="en-US" sz="2800" spc="-100" dirty="0">
                <a:latin typeface="Courier New" panose="02070309020205020404" pitchFamily="49" charset="0"/>
                <a:cs typeface="Courier New" panose="02070309020205020404" pitchFamily="49" charset="0"/>
              </a:rPr>
              <a:t> }</a:t>
            </a:r>
          </a:p>
          <a:p>
            <a:pPr marL="166688" lvl="1" indent="0">
              <a:lnSpc>
                <a:spcPts val="3200"/>
              </a:lnSpc>
              <a:spcBef>
                <a:spcPts val="300"/>
              </a:spcBef>
              <a:spcAft>
                <a:spcPts val="300"/>
              </a:spcAft>
              <a:buSzPct val="130000"/>
              <a:buNone/>
            </a:pPr>
            <a:r>
              <a:rPr lang="en-US" sz="2800" spc="-100" dirty="0">
                <a:latin typeface="Courier New" panose="02070309020205020404" pitchFamily="49" charset="0"/>
                <a:cs typeface="Courier New" panose="02070309020205020404" pitchFamily="49" charset="0"/>
              </a:rPr>
              <a:t>}</a:t>
            </a:r>
          </a:p>
          <a:p>
            <a:pPr marL="127000" indent="0" algn="just">
              <a:lnSpc>
                <a:spcPct val="100000"/>
              </a:lnSpc>
              <a:buNone/>
            </a:pPr>
            <a:endParaRPr lang="en-US" sz="2600" b="1" spc="5" dirty="0">
              <a:latin typeface="Arial"/>
              <a:cs typeface="Arial"/>
            </a:endParaRPr>
          </a:p>
          <a:p>
            <a:pPr marL="0" indent="0" algn="just">
              <a:lnSpc>
                <a:spcPts val="3100"/>
              </a:lnSpc>
              <a:spcBef>
                <a:spcPts val="0"/>
              </a:spcBef>
              <a:buNone/>
            </a:pPr>
            <a:endParaRPr lang="en-US" sz="2600" dirty="0">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80</a:t>
            </a:fld>
            <a:endParaRPr lang="en-US" dirty="0"/>
          </a:p>
        </p:txBody>
      </p:sp>
      <p:sp>
        <p:nvSpPr>
          <p:cNvPr id="9" name="object 19"/>
          <p:cNvSpPr txBox="1"/>
          <p:nvPr/>
        </p:nvSpPr>
        <p:spPr>
          <a:xfrm>
            <a:off x="1256574" y="5514152"/>
            <a:ext cx="7738946" cy="382156"/>
          </a:xfrm>
          <a:prstGeom prst="rect">
            <a:avLst/>
          </a:prstGeom>
        </p:spPr>
        <p:txBody>
          <a:bodyPr vert="horz" wrap="square" lIns="0" tIns="12700" rIns="0" bIns="0" rtlCol="0">
            <a:spAutoFit/>
          </a:bodyPr>
          <a:lstStyle/>
          <a:p>
            <a:pPr marL="12700">
              <a:lnSpc>
                <a:spcPct val="100000"/>
              </a:lnSpc>
              <a:spcBef>
                <a:spcPts val="100"/>
              </a:spcBef>
            </a:pPr>
            <a:r>
              <a:rPr lang="en-US" sz="2400" b="1" spc="-250" dirty="0">
                <a:solidFill>
                  <a:schemeClr val="bg1"/>
                </a:solidFill>
                <a:latin typeface="Courier" panose="02020500000000000000" pitchFamily="18" charset="0"/>
                <a:ea typeface="Courier" panose="02020500000000000000" pitchFamily="18" charset="0"/>
                <a:cs typeface="Courier" panose="02020500000000000000" pitchFamily="18" charset="0"/>
              </a:rPr>
              <a:t>Phan tu am o dong 2 va cot 1 trong mang diem la 6</a:t>
            </a:r>
            <a:endParaRPr sz="2400" b="1" spc="-250" dirty="0">
              <a:solidFill>
                <a:schemeClr val="bg1"/>
              </a:solidFill>
              <a:latin typeface="Courier" panose="02020500000000000000" pitchFamily="18" charset="0"/>
              <a:ea typeface="Courier" panose="02020500000000000000" pitchFamily="18" charset="0"/>
              <a:cs typeface="Courier" panose="02020500000000000000" pitchFamily="18" charset="0"/>
            </a:endParaRPr>
          </a:p>
        </p:txBody>
      </p:sp>
    </p:spTree>
    <p:extLst>
      <p:ext uri="{BB962C8B-B14F-4D97-AF65-F5344CB8AC3E}">
        <p14:creationId xmlns:p14="http://schemas.microsoft.com/office/powerpoint/2010/main" val="768531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81</a:t>
            </a:fld>
            <a:endParaRPr lang="en-US"/>
          </a:p>
        </p:txBody>
      </p:sp>
      <p:sp>
        <p:nvSpPr>
          <p:cNvPr id="3" name="TextBox 2"/>
          <p:cNvSpPr txBox="1"/>
          <p:nvPr/>
        </p:nvSpPr>
        <p:spPr>
          <a:xfrm>
            <a:off x="1839952" y="3468029"/>
            <a:ext cx="5029200" cy="1569660"/>
          </a:xfrm>
          <a:prstGeom prst="rect">
            <a:avLst/>
          </a:prstGeom>
          <a:noFill/>
        </p:spPr>
        <p:txBody>
          <a:bodyPr wrap="square" rtlCol="0">
            <a:spAutoFit/>
          </a:bodyPr>
          <a:lstStyle/>
          <a:p>
            <a:r>
              <a:rPr lang="vi-VN" sz="2400" dirty="0">
                <a:solidFill>
                  <a:srgbClr val="FFFFFF"/>
                </a:solidFill>
              </a:rPr>
              <a:t>Viết chương trình nhập vào các phần tử cho một ma trận 2 chiều, sau đó tìm và hiển thị phần tử có giá trị lớn nhất trong ma trận đó.</a:t>
            </a:r>
            <a:endParaRPr lang="en-US" sz="2400" dirty="0">
              <a:solidFill>
                <a:srgbClr val="FFFFFF"/>
              </a:solidFill>
            </a:endParaRPr>
          </a:p>
        </p:txBody>
      </p:sp>
    </p:spTree>
    <p:extLst>
      <p:ext uri="{BB962C8B-B14F-4D97-AF65-F5344CB8AC3E}">
        <p14:creationId xmlns:p14="http://schemas.microsoft.com/office/powerpoint/2010/main" val="3132321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313152" y="1293542"/>
            <a:ext cx="8655484" cy="5118411"/>
          </a:xfrm>
        </p:spPr>
        <p:txBody>
          <a:bodyPr>
            <a:noAutofit/>
          </a:bodyPr>
          <a:lstStyle/>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public static void main(String[] args) {</a:t>
            </a:r>
          </a:p>
          <a:p>
            <a:pPr marL="127000" indent="0">
              <a:lnSpc>
                <a:spcPct val="100000"/>
              </a:lnSpc>
              <a:spcBef>
                <a:spcPts val="0"/>
              </a:spcBef>
              <a:buNone/>
            </a:pPr>
            <a:r>
              <a:rPr lang="en-US" sz="2300" b="1" spc="-200" dirty="0">
                <a:latin typeface="Courier" panose="02020500000000000000" pitchFamily="18" charset="0"/>
                <a:ea typeface="Courier" panose="02020500000000000000" pitchFamily="18" charset="0"/>
                <a:cs typeface="Courier" panose="02020500000000000000" pitchFamily="18" charset="0"/>
              </a:rPr>
              <a:t>//khai báo số dòng và số cột của ma trận </a:t>
            </a:r>
          </a:p>
          <a:p>
            <a:pPr marL="127000" indent="0">
              <a:lnSpc>
                <a:spcPct val="100000"/>
              </a:lnSpc>
              <a:spcBef>
                <a:spcPts val="0"/>
              </a:spcBef>
              <a:buNone/>
            </a:pPr>
            <a:r>
              <a:rPr lang="en-US" sz="2300" b="1" spc="-200" dirty="0">
                <a:latin typeface="Courier" panose="02020500000000000000" pitchFamily="18" charset="0"/>
                <a:ea typeface="Courier" panose="02020500000000000000" pitchFamily="18" charset="0"/>
                <a:cs typeface="Courier" panose="02020500000000000000" pitchFamily="18" charset="0"/>
              </a:rPr>
              <a:t>int m, n;</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Scanner scanner = new Scanner(System.in);</a:t>
            </a:r>
          </a:p>
          <a:p>
            <a:pPr marL="127000" indent="0">
              <a:lnSpc>
                <a:spcPct val="100000"/>
              </a:lnSpc>
              <a:spcBef>
                <a:spcPts val="0"/>
              </a:spcBef>
              <a:buNone/>
            </a:pPr>
            <a:r>
              <a:rPr lang="en-US" sz="2300" b="1" spc="-150" dirty="0">
                <a:latin typeface="Courier" panose="02020500000000000000" pitchFamily="18" charset="0"/>
                <a:ea typeface="Courier" panose="02020500000000000000" pitchFamily="18" charset="0"/>
                <a:cs typeface="Courier" panose="02020500000000000000" pitchFamily="18" charset="0"/>
              </a:rPr>
              <a:t>System.out.println("Nhập vào số dòng của ma trận: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m = scanner.nextInt();</a:t>
            </a:r>
          </a:p>
          <a:p>
            <a:pPr marL="127000" indent="0">
              <a:lnSpc>
                <a:spcPct val="100000"/>
              </a:lnSpc>
              <a:spcBef>
                <a:spcPts val="0"/>
              </a:spcBef>
              <a:buNone/>
            </a:pPr>
            <a:r>
              <a:rPr lang="en-US" sz="2300" b="1" spc="-200" dirty="0">
                <a:latin typeface="Courier" panose="02020500000000000000" pitchFamily="18" charset="0"/>
                <a:ea typeface="Courier" panose="02020500000000000000" pitchFamily="18" charset="0"/>
                <a:cs typeface="Courier" panose="02020500000000000000" pitchFamily="18" charset="0"/>
              </a:rPr>
              <a:t>System.out.println("Nhập vào số cột của ma trận: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n = scanner.nextInt();</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 khai báo ma trận A có m dòng, n cột</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int A[][] = new int[m][n];</a:t>
            </a:r>
          </a:p>
          <a:p>
            <a:pPr marL="127000" indent="0">
              <a:lnSpc>
                <a:spcPct val="100000"/>
              </a:lnSpc>
              <a:spcBef>
                <a:spcPts val="0"/>
              </a:spcBef>
              <a:buNone/>
            </a:pPr>
            <a:r>
              <a:rPr lang="en-US" sz="2300" b="1" spc="-200" dirty="0">
                <a:latin typeface="Courier" panose="02020500000000000000" pitchFamily="18" charset="0"/>
                <a:ea typeface="Courier" panose="02020500000000000000" pitchFamily="18" charset="0"/>
                <a:cs typeface="Courier" panose="02020500000000000000" pitchFamily="18" charset="0"/>
              </a:rPr>
              <a:t>System.out.println("Nhập các phần tử cho ma trận: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for (int i = 0; i &lt; m; i++)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   for (int j = 0; j &lt; n; j++) {</a:t>
            </a:r>
          </a:p>
          <a:p>
            <a:pPr marL="127000" indent="0">
              <a:lnSpc>
                <a:spcPct val="100000"/>
              </a:lnSpc>
              <a:spcBef>
                <a:spcPts val="0"/>
              </a:spcBef>
              <a:buNone/>
            </a:pPr>
            <a:r>
              <a:rPr lang="en-US" sz="2400" b="1" spc="5" dirty="0">
                <a:latin typeface="Courier" panose="02020500000000000000" pitchFamily="18" charset="0"/>
                <a:ea typeface="Courier" panose="02020500000000000000" pitchFamily="18" charset="0"/>
                <a:cs typeface="Courier" panose="02020500000000000000" pitchFamily="18" charset="0"/>
              </a:rPr>
              <a:t>System.out.print("A[" + i + "]["+ j + "]= ");</a:t>
            </a:r>
          </a:p>
          <a:p>
            <a:pPr marL="127000" indent="0">
              <a:lnSpc>
                <a:spcPct val="100000"/>
              </a:lnSpc>
              <a:spcBef>
                <a:spcPts val="0"/>
              </a:spcBef>
              <a:buNone/>
            </a:pPr>
            <a:endParaRPr lang="en-US" sz="2300" b="1" spc="5" dirty="0">
              <a:latin typeface="Courier" panose="02020500000000000000" pitchFamily="18" charset="0"/>
              <a:ea typeface="Courier" panose="02020500000000000000" pitchFamily="18" charset="0"/>
              <a:cs typeface="Courier" panose="02020500000000000000" pitchFamily="18" charset="0"/>
            </a:endParaRPr>
          </a:p>
          <a:p>
            <a:pPr marL="127000" indent="0">
              <a:lnSpc>
                <a:spcPct val="100000"/>
              </a:lnSpc>
              <a:spcBef>
                <a:spcPts val="0"/>
              </a:spcBef>
              <a:buNone/>
            </a:pPr>
            <a:r>
              <a:rPr lang="en-US" sz="2200" b="1" spc="5" dirty="0">
                <a:latin typeface="Courier" panose="02020500000000000000" pitchFamily="18" charset="0"/>
                <a:ea typeface="Courier" panose="02020500000000000000" pitchFamily="18" charset="0"/>
                <a:cs typeface="Courier" panose="02020500000000000000" pitchFamily="18" charset="0"/>
              </a:rPr>
              <a:t>  </a:t>
            </a:r>
          </a:p>
          <a:p>
            <a:pPr marL="127000" indent="0">
              <a:lnSpc>
                <a:spcPct val="100000"/>
              </a:lnSpc>
              <a:spcBef>
                <a:spcPts val="0"/>
              </a:spcBef>
              <a:buNone/>
            </a:pPr>
            <a:r>
              <a:rPr lang="en-US" sz="2200" b="1" spc="5" dirty="0">
                <a:latin typeface="Courier" panose="02020500000000000000" pitchFamily="18" charset="0"/>
                <a:ea typeface="Courier" panose="02020500000000000000" pitchFamily="18" charset="0"/>
                <a:cs typeface="Courier" panose="02020500000000000000" pitchFamily="18" charset="0"/>
              </a:rPr>
              <a:t>    </a:t>
            </a:r>
            <a:endParaRPr lang="en-US" sz="2200" dirty="0">
              <a:latin typeface="Courier" panose="02020500000000000000" pitchFamily="18" charset="0"/>
              <a:ea typeface="Courier" panose="02020500000000000000" pitchFamily="18" charset="0"/>
              <a:cs typeface="Courier" panose="02020500000000000000" pitchFamily="18" charset="0"/>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82</a:t>
            </a:fld>
            <a:endParaRPr lang="en-US" dirty="0"/>
          </a:p>
        </p:txBody>
      </p:sp>
    </p:spTree>
    <p:extLst>
      <p:ext uri="{BB962C8B-B14F-4D97-AF65-F5344CB8AC3E}">
        <p14:creationId xmlns:p14="http://schemas.microsoft.com/office/powerpoint/2010/main" val="25956243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Mảng hai chiều</a:t>
            </a:r>
          </a:p>
        </p:txBody>
      </p:sp>
      <p:sp>
        <p:nvSpPr>
          <p:cNvPr id="3" name="Content Placeholder 2"/>
          <p:cNvSpPr>
            <a:spLocks noGrp="1"/>
          </p:cNvSpPr>
          <p:nvPr>
            <p:ph idx="1"/>
          </p:nvPr>
        </p:nvSpPr>
        <p:spPr>
          <a:xfrm>
            <a:off x="379675" y="1237940"/>
            <a:ext cx="8384649" cy="5118411"/>
          </a:xfrm>
        </p:spPr>
        <p:txBody>
          <a:bodyPr>
            <a:noAutofit/>
          </a:bodyPr>
          <a:lstStyle/>
          <a:p>
            <a:pPr marL="127000" indent="0">
              <a:lnSpc>
                <a:spcPct val="100000"/>
              </a:lnSpc>
              <a:spcBef>
                <a:spcPts val="0"/>
              </a:spcBef>
              <a:buNone/>
            </a:pPr>
            <a:r>
              <a:rPr lang="en-US" sz="2200" b="1" spc="5" dirty="0">
                <a:latin typeface="Courier" panose="02020500000000000000" pitchFamily="18" charset="0"/>
                <a:ea typeface="Courier" panose="02020500000000000000" pitchFamily="18" charset="0"/>
                <a:cs typeface="Courier" panose="02020500000000000000" pitchFamily="18" charset="0"/>
              </a:rPr>
              <a:t>	</a:t>
            </a:r>
            <a:r>
              <a:rPr lang="en-US" sz="2300" b="1" spc="5" dirty="0">
                <a:latin typeface="Courier" panose="02020500000000000000" pitchFamily="18" charset="0"/>
                <a:ea typeface="Courier" panose="02020500000000000000" pitchFamily="18" charset="0"/>
                <a:cs typeface="Courier" panose="02020500000000000000" pitchFamily="18" charset="0"/>
              </a:rPr>
              <a:t>A[i][j] = scanner.nextInt();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	}    </a:t>
            </a:r>
          </a:p>
          <a:p>
            <a:pPr marL="127000" indent="0">
              <a:lnSpc>
                <a:spcPct val="100000"/>
              </a:lnSpc>
              <a:spcBef>
                <a:spcPts val="0"/>
              </a:spcBef>
              <a:buNone/>
            </a:pPr>
            <a:r>
              <a:rPr lang="en-US" sz="2300" b="1" spc="5" dirty="0">
                <a:latin typeface="Courier" panose="02020500000000000000" pitchFamily="18" charset="0"/>
                <a:ea typeface="Courier" panose="02020500000000000000" pitchFamily="18" charset="0"/>
                <a:cs typeface="Courier" panose="02020500000000000000" pitchFamily="18" charset="0"/>
              </a:rPr>
              <a:t>}</a:t>
            </a:r>
          </a:p>
          <a:p>
            <a:pPr marL="0" indent="0" algn="just">
              <a:lnSpc>
                <a:spcPct val="100000"/>
              </a:lnSpc>
              <a:spcBef>
                <a:spcPts val="0"/>
              </a:spcBef>
              <a:buNone/>
            </a:pPr>
            <a:r>
              <a:rPr lang="en-US" sz="2300" dirty="0">
                <a:cs typeface="Arial"/>
              </a:rPr>
              <a:t> </a:t>
            </a:r>
            <a:r>
              <a:rPr lang="en-US" sz="2300" b="1" spc="-100" dirty="0">
                <a:latin typeface="Courier" panose="02020500000000000000" pitchFamily="18" charset="0"/>
                <a:ea typeface="Courier" panose="02020500000000000000" pitchFamily="18" charset="0"/>
                <a:cs typeface="Courier" panose="02020500000000000000" pitchFamily="18" charset="0"/>
              </a:rPr>
              <a:t>// tìm phần tử có giá trị lớn nhất trong ma trận</a:t>
            </a:r>
          </a:p>
          <a:p>
            <a:pPr marL="0" indent="0" algn="just">
              <a:lnSpc>
                <a:spcPct val="100000"/>
              </a:lnSpc>
              <a:spcBef>
                <a:spcPts val="0"/>
              </a:spcBef>
              <a:buNone/>
            </a:pPr>
            <a:r>
              <a:rPr lang="en-US" sz="2300" b="1" spc="-200" dirty="0">
                <a:latin typeface="Courier" panose="02020500000000000000" pitchFamily="18" charset="0"/>
                <a:ea typeface="Courier" panose="02020500000000000000" pitchFamily="18" charset="0"/>
                <a:cs typeface="Courier" panose="02020500000000000000" pitchFamily="18" charset="0"/>
              </a:rPr>
              <a:t>// giả sử phần tử tại vị trí (0,0) là phần tử lớn nhất</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int max = A[0][0];</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for (int i = 0; i &lt; m; i++) {</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for (int j = 0; j &lt; n; j++) {</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if (max &lt; A[i][j]) {</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max = A[i][j];</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 </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  }</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 System.out.println("Phần tử lớn nhất trong ma trận = " + max);</a:t>
            </a:r>
          </a:p>
          <a:p>
            <a:pPr marL="0" indent="0" algn="just">
              <a:lnSpc>
                <a:spcPct val="100000"/>
              </a:lnSpc>
              <a:spcBef>
                <a:spcPts val="0"/>
              </a:spcBef>
              <a:buNone/>
            </a:pPr>
            <a:r>
              <a:rPr lang="en-US" sz="2300" b="1" dirty="0">
                <a:latin typeface="Courier" panose="02020500000000000000" pitchFamily="18" charset="0"/>
                <a:ea typeface="Courier" panose="02020500000000000000" pitchFamily="18" charset="0"/>
                <a:cs typeface="Courier" panose="02020500000000000000" pitchFamily="18" charset="0"/>
              </a:rPr>
              <a:t>}</a:t>
            </a: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83</a:t>
            </a:fld>
            <a:endParaRPr lang="en-US" dirty="0"/>
          </a:p>
        </p:txBody>
      </p:sp>
    </p:spTree>
    <p:extLst>
      <p:ext uri="{BB962C8B-B14F-4D97-AF65-F5344CB8AC3E}">
        <p14:creationId xmlns:p14="http://schemas.microsoft.com/office/powerpoint/2010/main" val="21327379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Chuỗi (String)</a:t>
            </a:r>
          </a:p>
        </p:txBody>
      </p:sp>
      <p:sp>
        <p:nvSpPr>
          <p:cNvPr id="3" name="Content Placeholder 2"/>
          <p:cNvSpPr>
            <a:spLocks noGrp="1"/>
          </p:cNvSpPr>
          <p:nvPr>
            <p:ph idx="1"/>
          </p:nvPr>
        </p:nvSpPr>
        <p:spPr>
          <a:xfrm>
            <a:off x="528290" y="1400798"/>
            <a:ext cx="8069301" cy="5256478"/>
          </a:xfrm>
        </p:spPr>
        <p:txBody>
          <a:bodyPr>
            <a:noAutofit/>
          </a:bodyPr>
          <a:lstStyle/>
          <a:p>
            <a:pPr algn="just">
              <a:lnSpc>
                <a:spcPts val="3700"/>
              </a:lnSpc>
              <a:spcBef>
                <a:spcPts val="600"/>
              </a:spcBef>
              <a:spcAft>
                <a:spcPts val="600"/>
              </a:spcAft>
            </a:pPr>
            <a:r>
              <a:rPr lang="en-US" spc="-20" dirty="0">
                <a:latin typeface="+mj-lt"/>
                <a:cs typeface="Arial"/>
              </a:rPr>
              <a:t>Chuỗi </a:t>
            </a:r>
            <a:r>
              <a:rPr lang="en-US" spc="-45" dirty="0">
                <a:latin typeface="+mj-lt"/>
                <a:cs typeface="Arial"/>
              </a:rPr>
              <a:t>là </a:t>
            </a:r>
            <a:r>
              <a:rPr lang="en-US" spc="-75" dirty="0">
                <a:latin typeface="+mj-lt"/>
                <a:cs typeface="Arial"/>
              </a:rPr>
              <a:t>xâu </a:t>
            </a:r>
            <a:r>
              <a:rPr lang="en-US" spc="-120" dirty="0">
                <a:latin typeface="+mj-lt"/>
                <a:cs typeface="Arial"/>
              </a:rPr>
              <a:t>các </a:t>
            </a:r>
            <a:r>
              <a:rPr lang="en-US" spc="-30" dirty="0">
                <a:latin typeface="+mj-lt"/>
                <a:cs typeface="Arial"/>
              </a:rPr>
              <a:t>ký</a:t>
            </a:r>
            <a:r>
              <a:rPr lang="en-US" spc="155" dirty="0">
                <a:latin typeface="+mj-lt"/>
                <a:cs typeface="Arial"/>
              </a:rPr>
              <a:t> </a:t>
            </a:r>
            <a:r>
              <a:rPr lang="en-US" spc="-80" dirty="0">
                <a:latin typeface="+mj-lt"/>
                <a:cs typeface="Arial"/>
              </a:rPr>
              <a:t>tự.</a:t>
            </a:r>
            <a:endParaRPr lang="en-US" dirty="0">
              <a:latin typeface="+mj-lt"/>
              <a:cs typeface="Arial"/>
            </a:endParaRPr>
          </a:p>
          <a:p>
            <a:pPr marL="469900" lvl="1" indent="0">
              <a:lnSpc>
                <a:spcPts val="3700"/>
              </a:lnSpc>
              <a:spcBef>
                <a:spcPts val="600"/>
              </a:spcBef>
              <a:spcAft>
                <a:spcPts val="600"/>
              </a:spcAft>
              <a:buClr>
                <a:srgbClr val="FF5A33"/>
              </a:buClr>
              <a:buNone/>
              <a:tabLst>
                <a:tab pos="756920" algn="l"/>
              </a:tabLst>
            </a:pPr>
            <a:r>
              <a:rPr lang="en-US" sz="2800" spc="-15" dirty="0">
                <a:latin typeface="Courier New" panose="02070309020205020404" pitchFamily="49" charset="0"/>
                <a:cs typeface="Courier New" panose="02070309020205020404" pitchFamily="49" charset="0"/>
              </a:rPr>
              <a:t>String </a:t>
            </a:r>
            <a:r>
              <a:rPr lang="en-US" sz="2800" spc="-185" dirty="0">
                <a:latin typeface="Courier New" panose="02070309020205020404" pitchFamily="49" charset="0"/>
                <a:cs typeface="Courier New" panose="02070309020205020404" pitchFamily="49" charset="0"/>
              </a:rPr>
              <a:t>s </a:t>
            </a:r>
            <a:r>
              <a:rPr lang="en-US" sz="2800" spc="240" dirty="0">
                <a:latin typeface="Courier New" panose="02070309020205020404" pitchFamily="49" charset="0"/>
                <a:cs typeface="Courier New" panose="02070309020205020404" pitchFamily="49" charset="0"/>
              </a:rPr>
              <a:t>= </a:t>
            </a:r>
            <a:r>
              <a:rPr lang="en-US" sz="2800" spc="20" dirty="0">
                <a:latin typeface="Courier New" panose="02070309020205020404" pitchFamily="49" charset="0"/>
                <a:cs typeface="Courier New" panose="02070309020205020404" pitchFamily="49" charset="0"/>
              </a:rPr>
              <a:t>“Hello</a:t>
            </a:r>
            <a:r>
              <a:rPr lang="en-US" sz="2800" spc="-55" dirty="0">
                <a:latin typeface="Courier New" panose="02070309020205020404" pitchFamily="49" charset="0"/>
                <a:cs typeface="Courier New" panose="02070309020205020404" pitchFamily="49" charset="0"/>
              </a:rPr>
              <a:t> </a:t>
            </a:r>
            <a:r>
              <a:rPr lang="en-US" sz="2800" spc="10" dirty="0">
                <a:latin typeface="Courier New" panose="02070309020205020404" pitchFamily="49" charset="0"/>
                <a:cs typeface="Courier New" panose="02070309020205020404" pitchFamily="49" charset="0"/>
              </a:rPr>
              <a:t>World”;</a:t>
            </a:r>
          </a:p>
          <a:p>
            <a:pPr marL="234950" lvl="1" indent="-234950" algn="just">
              <a:lnSpc>
                <a:spcPts val="3700"/>
              </a:lnSpc>
              <a:spcBef>
                <a:spcPts val="600"/>
              </a:spcBef>
              <a:spcAft>
                <a:spcPts val="600"/>
              </a:spcAft>
              <a:buSzPct val="130000"/>
              <a:buFont typeface="Arial" panose="020B0604020202020204" pitchFamily="34" charset="0"/>
              <a:buChar char="•"/>
            </a:pPr>
            <a:r>
              <a:rPr lang="en-US" sz="2800" spc="-30" dirty="0">
                <a:latin typeface="+mj-lt"/>
                <a:cs typeface="Arial"/>
              </a:rPr>
              <a:t>Chuỗi</a:t>
            </a:r>
            <a:r>
              <a:rPr lang="vi-VN" sz="2800" spc="-30" dirty="0">
                <a:latin typeface="+mj-lt"/>
                <a:cs typeface="Arial"/>
              </a:rPr>
              <a:t> là một class được xây dựng sẵn trong Java.  </a:t>
            </a:r>
            <a:r>
              <a:rPr lang="en-US" sz="2800" spc="-30" dirty="0">
                <a:latin typeface="+mj-lt"/>
                <a:cs typeface="Arial"/>
              </a:rPr>
              <a:t>Chuỗi</a:t>
            </a:r>
            <a:r>
              <a:rPr lang="vi-VN" sz="2800" spc="-30" dirty="0">
                <a:latin typeface="+mj-lt"/>
                <a:cs typeface="Arial"/>
              </a:rPr>
              <a:t> có rất nhiều phương thức giúp xử lý chuỗi  một cách thuận tiện và hiệu quả</a:t>
            </a:r>
            <a:r>
              <a:rPr lang="en-US" sz="2800" spc="-30" dirty="0">
                <a:latin typeface="+mj-lt"/>
                <a:cs typeface="Arial"/>
              </a:rPr>
              <a:t>.</a:t>
            </a:r>
          </a:p>
          <a:p>
            <a:pPr marL="234950" lvl="1" indent="-234950" algn="just">
              <a:lnSpc>
                <a:spcPts val="3700"/>
              </a:lnSpc>
              <a:spcBef>
                <a:spcPts val="600"/>
              </a:spcBef>
              <a:spcAft>
                <a:spcPts val="600"/>
              </a:spcAft>
              <a:buSzPct val="130000"/>
              <a:buFont typeface="Arial" panose="020B0604020202020204" pitchFamily="34" charset="0"/>
              <a:buChar char="•"/>
            </a:pPr>
            <a:r>
              <a:rPr lang="vi-VN" sz="2800" spc="-20" dirty="0">
                <a:latin typeface="+mj-lt"/>
                <a:cs typeface="Arial"/>
              </a:rPr>
              <a:t>String </a:t>
            </a:r>
            <a:r>
              <a:rPr lang="vi-VN" sz="2800" spc="-45" dirty="0">
                <a:latin typeface="+mj-lt"/>
                <a:cs typeface="Arial"/>
              </a:rPr>
              <a:t>là </a:t>
            </a:r>
            <a:r>
              <a:rPr lang="vi-VN" sz="2800" spc="-10" dirty="0">
                <a:latin typeface="+mj-lt"/>
                <a:cs typeface="Arial"/>
              </a:rPr>
              <a:t>kiểu </a:t>
            </a:r>
            <a:r>
              <a:rPr lang="vi-VN" sz="2800" spc="-75" dirty="0">
                <a:latin typeface="+mj-lt"/>
                <a:cs typeface="Arial"/>
              </a:rPr>
              <a:t>dữ </a:t>
            </a:r>
            <a:r>
              <a:rPr lang="vi-VN" sz="2800" spc="5" dirty="0">
                <a:latin typeface="+mj-lt"/>
                <a:cs typeface="Arial"/>
              </a:rPr>
              <a:t>liệu </a:t>
            </a:r>
            <a:r>
              <a:rPr lang="vi-VN" sz="2800" spc="-110" dirty="0">
                <a:latin typeface="+mj-lt"/>
                <a:cs typeface="Arial"/>
              </a:rPr>
              <a:t>được </a:t>
            </a:r>
            <a:r>
              <a:rPr lang="vi-VN" sz="2800" spc="-225" dirty="0">
                <a:latin typeface="+mj-lt"/>
                <a:cs typeface="Arial"/>
              </a:rPr>
              <a:t>sử </a:t>
            </a:r>
            <a:r>
              <a:rPr lang="vi-VN" sz="2800" spc="55" dirty="0">
                <a:latin typeface="+mj-lt"/>
                <a:cs typeface="Arial"/>
              </a:rPr>
              <a:t>dụng </a:t>
            </a:r>
            <a:r>
              <a:rPr lang="vi-VN" sz="2800" spc="5" dirty="0">
                <a:latin typeface="+mj-lt"/>
                <a:cs typeface="Arial"/>
              </a:rPr>
              <a:t>nhiều </a:t>
            </a:r>
            <a:r>
              <a:rPr lang="vi-VN" sz="2800" spc="20" dirty="0">
                <a:latin typeface="+mj-lt"/>
                <a:cs typeface="Arial"/>
              </a:rPr>
              <a:t>nhất  </a:t>
            </a:r>
            <a:r>
              <a:rPr lang="vi-VN" sz="2800" spc="70" dirty="0">
                <a:latin typeface="+mj-lt"/>
                <a:cs typeface="Arial"/>
              </a:rPr>
              <a:t>trong </a:t>
            </a:r>
            <a:r>
              <a:rPr lang="vi-VN" sz="2800" dirty="0">
                <a:latin typeface="+mj-lt"/>
                <a:cs typeface="Arial"/>
              </a:rPr>
              <a:t>lập</a:t>
            </a:r>
            <a:r>
              <a:rPr lang="vi-VN" sz="2800" spc="-100" dirty="0">
                <a:latin typeface="+mj-lt"/>
                <a:cs typeface="Arial"/>
              </a:rPr>
              <a:t> </a:t>
            </a:r>
            <a:r>
              <a:rPr lang="vi-VN" sz="2800" spc="25" dirty="0">
                <a:latin typeface="+mj-lt"/>
                <a:cs typeface="Arial"/>
              </a:rPr>
              <a:t>trình</a:t>
            </a:r>
            <a:r>
              <a:rPr lang="en-US" sz="2800" spc="25" dirty="0">
                <a:latin typeface="+mj-lt"/>
                <a:cs typeface="Arial"/>
              </a:rPr>
              <a:t>.</a:t>
            </a:r>
            <a:endParaRPr lang="vi-VN" sz="2800"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84</a:t>
            </a:fld>
            <a:endParaRPr lang="en-US" dirty="0"/>
          </a:p>
        </p:txBody>
      </p:sp>
    </p:spTree>
    <p:extLst>
      <p:ext uri="{BB962C8B-B14F-4D97-AF65-F5344CB8AC3E}">
        <p14:creationId xmlns:p14="http://schemas.microsoft.com/office/powerpoint/2010/main" val="5008211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Tạo lập và khởi tạo chuỗi </a:t>
            </a:r>
          </a:p>
        </p:txBody>
      </p:sp>
      <p:sp>
        <p:nvSpPr>
          <p:cNvPr id="3" name="Content Placeholder 2"/>
          <p:cNvSpPr>
            <a:spLocks noGrp="1"/>
          </p:cNvSpPr>
          <p:nvPr>
            <p:ph idx="1"/>
          </p:nvPr>
        </p:nvSpPr>
        <p:spPr>
          <a:xfrm>
            <a:off x="528290" y="1400798"/>
            <a:ext cx="8069301" cy="5256478"/>
          </a:xfrm>
        </p:spPr>
        <p:txBody>
          <a:bodyPr>
            <a:noAutofit/>
          </a:bodyPr>
          <a:lstStyle/>
          <a:p>
            <a:pPr algn="just">
              <a:lnSpc>
                <a:spcPts val="3500"/>
              </a:lnSpc>
              <a:spcBef>
                <a:spcPts val="600"/>
              </a:spcBef>
              <a:spcAft>
                <a:spcPts val="600"/>
              </a:spcAft>
            </a:pPr>
            <a:r>
              <a:rPr lang="en-US" b="1" spc="-20" dirty="0">
                <a:latin typeface="+mj-lt"/>
                <a:cs typeface="Arial"/>
              </a:rPr>
              <a:t>Cách 1</a:t>
            </a:r>
            <a:r>
              <a:rPr lang="en-US" b="1" spc="-80" dirty="0">
                <a:latin typeface="+mj-lt"/>
                <a:cs typeface="Arial"/>
              </a:rPr>
              <a:t>:</a:t>
            </a:r>
            <a:r>
              <a:rPr lang="en-US" spc="-80" dirty="0">
                <a:latin typeface="+mj-lt"/>
                <a:cs typeface="Arial"/>
              </a:rPr>
              <a:t> </a:t>
            </a:r>
          </a:p>
          <a:p>
            <a:pPr marL="0" indent="692150" algn="just">
              <a:lnSpc>
                <a:spcPts val="3500"/>
              </a:lnSpc>
              <a:spcBef>
                <a:spcPts val="600"/>
              </a:spcBef>
              <a:spcAft>
                <a:spcPts val="600"/>
              </a:spcAft>
              <a:buNone/>
            </a:pPr>
            <a:r>
              <a:rPr lang="en-US" b="1" spc="-60" dirty="0">
                <a:latin typeface="Courier New" panose="02070309020205020404" pitchFamily="49" charset="0"/>
                <a:cs typeface="Courier New" panose="02070309020205020404" pitchFamily="49" charset="0"/>
              </a:rPr>
              <a:t> </a:t>
            </a:r>
            <a:r>
              <a:rPr lang="en-US" spc="-20" dirty="0">
                <a:solidFill>
                  <a:schemeClr val="accent2">
                    <a:lumMod val="75000"/>
                  </a:schemeClr>
                </a:solidFill>
                <a:latin typeface="+mj-lt"/>
                <a:cs typeface="Arial"/>
              </a:rPr>
              <a:t>String tenChuoi = “giá_trị_khởi_tạo”;</a:t>
            </a:r>
          </a:p>
          <a:p>
            <a:pPr marL="0" indent="234950" algn="just">
              <a:lnSpc>
                <a:spcPts val="3500"/>
              </a:lnSpc>
              <a:spcBef>
                <a:spcPts val="600"/>
              </a:spcBef>
              <a:spcAft>
                <a:spcPts val="600"/>
              </a:spcAft>
              <a:buNone/>
            </a:pPr>
            <a:r>
              <a:rPr lang="en-US" sz="2600" spc="-30" dirty="0">
                <a:latin typeface="+mj-lt"/>
                <a:cs typeface="Arial"/>
              </a:rPr>
              <a:t>Trong đó, giá_trị_khởi_tạo có thể có hoặc không.</a:t>
            </a:r>
          </a:p>
          <a:p>
            <a:pPr marL="0" indent="234950" algn="just">
              <a:lnSpc>
                <a:spcPts val="3500"/>
              </a:lnSpc>
              <a:spcBef>
                <a:spcPts val="600"/>
              </a:spcBef>
              <a:spcAft>
                <a:spcPts val="600"/>
              </a:spcAft>
              <a:buNone/>
            </a:pPr>
            <a:r>
              <a:rPr lang="en-US" spc="-30" dirty="0">
                <a:latin typeface="+mj-lt"/>
                <a:cs typeface="Arial"/>
              </a:rPr>
              <a:t>Ví dụ: </a:t>
            </a:r>
            <a:r>
              <a:rPr lang="en-US" sz="2800" spc="-15" dirty="0">
                <a:latin typeface="Courier New" panose="02070309020205020404" pitchFamily="49" charset="0"/>
                <a:cs typeface="Courier New" panose="02070309020205020404" pitchFamily="49" charset="0"/>
              </a:rPr>
              <a:t>String </a:t>
            </a:r>
            <a:r>
              <a:rPr lang="en-US" sz="2800" spc="-185" dirty="0">
                <a:latin typeface="Courier New" panose="02070309020205020404" pitchFamily="49" charset="0"/>
                <a:cs typeface="Courier New" panose="02070309020205020404" pitchFamily="49" charset="0"/>
              </a:rPr>
              <a:t>str </a:t>
            </a:r>
            <a:r>
              <a:rPr lang="en-US" sz="2800" spc="240" dirty="0">
                <a:latin typeface="Courier New" panose="02070309020205020404" pitchFamily="49" charset="0"/>
                <a:cs typeface="Courier New" panose="02070309020205020404" pitchFamily="49" charset="0"/>
              </a:rPr>
              <a:t>= </a:t>
            </a:r>
            <a:r>
              <a:rPr lang="en-US" sz="2800" spc="20" dirty="0">
                <a:latin typeface="Courier New" panose="02070309020205020404" pitchFamily="49" charset="0"/>
                <a:cs typeface="Courier New" panose="02070309020205020404" pitchFamily="49" charset="0"/>
              </a:rPr>
              <a:t>“Hello</a:t>
            </a:r>
            <a:r>
              <a:rPr lang="en-US" sz="2800" spc="-55" dirty="0">
                <a:latin typeface="Courier New" panose="02070309020205020404" pitchFamily="49" charset="0"/>
                <a:cs typeface="Courier New" panose="02070309020205020404" pitchFamily="49" charset="0"/>
              </a:rPr>
              <a:t> </a:t>
            </a:r>
            <a:r>
              <a:rPr lang="en-US" sz="2800" spc="10" dirty="0">
                <a:latin typeface="Courier New" panose="02070309020205020404" pitchFamily="49" charset="0"/>
                <a:cs typeface="Courier New" panose="02070309020205020404" pitchFamily="49" charset="0"/>
              </a:rPr>
              <a:t>World”;</a:t>
            </a:r>
          </a:p>
          <a:p>
            <a:pPr marL="234950" lvl="1" indent="-234950" algn="just">
              <a:lnSpc>
                <a:spcPts val="3500"/>
              </a:lnSpc>
              <a:spcBef>
                <a:spcPts val="600"/>
              </a:spcBef>
              <a:spcAft>
                <a:spcPts val="600"/>
              </a:spcAft>
              <a:buSzPct val="130000"/>
              <a:buFont typeface="Arial" panose="020B0604020202020204" pitchFamily="34" charset="0"/>
              <a:buChar char="•"/>
            </a:pPr>
            <a:r>
              <a:rPr lang="en-US" sz="2800" b="1" spc="-30" dirty="0">
                <a:latin typeface="+mj-lt"/>
                <a:cs typeface="Arial"/>
              </a:rPr>
              <a:t>Cách 2:</a:t>
            </a:r>
            <a:r>
              <a:rPr lang="en-US" sz="2800" spc="-30" dirty="0">
                <a:latin typeface="+mj-lt"/>
                <a:cs typeface="Arial"/>
              </a:rPr>
              <a:t> sử dụng từ khóa </a:t>
            </a:r>
            <a:r>
              <a:rPr lang="en-US" sz="2800" spc="-20" dirty="0">
                <a:solidFill>
                  <a:schemeClr val="accent2">
                    <a:lumMod val="75000"/>
                  </a:schemeClr>
                </a:solidFill>
                <a:latin typeface="+mj-lt"/>
                <a:cs typeface="Arial"/>
              </a:rPr>
              <a:t>new</a:t>
            </a:r>
          </a:p>
          <a:p>
            <a:pPr marL="0" lvl="1" indent="858838" algn="just">
              <a:lnSpc>
                <a:spcPts val="3500"/>
              </a:lnSpc>
              <a:spcBef>
                <a:spcPts val="600"/>
              </a:spcBef>
              <a:spcAft>
                <a:spcPts val="600"/>
              </a:spcAft>
              <a:buSzPct val="130000"/>
              <a:buNone/>
            </a:pPr>
            <a:r>
              <a:rPr lang="en-US" sz="2800" spc="-20" dirty="0">
                <a:solidFill>
                  <a:schemeClr val="accent2">
                    <a:lumMod val="75000"/>
                  </a:schemeClr>
                </a:solidFill>
                <a:latin typeface="+mj-lt"/>
                <a:cs typeface="Arial"/>
              </a:rPr>
              <a:t>String tenChuoi = new String(giá_trị);</a:t>
            </a:r>
          </a:p>
          <a:p>
            <a:pPr marL="0" lvl="1" indent="290513" algn="just">
              <a:lnSpc>
                <a:spcPts val="3500"/>
              </a:lnSpc>
              <a:spcBef>
                <a:spcPts val="600"/>
              </a:spcBef>
              <a:spcAft>
                <a:spcPts val="600"/>
              </a:spcAft>
              <a:buSzPct val="130000"/>
              <a:buNone/>
            </a:pPr>
            <a:r>
              <a:rPr lang="en-US" spc="-30" dirty="0">
                <a:latin typeface="+mj-lt"/>
                <a:cs typeface="Arial"/>
              </a:rPr>
              <a:t>Trong đó: giá_trị là một chuỗi bất kỳ.</a:t>
            </a:r>
          </a:p>
          <a:p>
            <a:pPr marL="0" lvl="1" indent="290513" algn="just">
              <a:lnSpc>
                <a:spcPts val="3500"/>
              </a:lnSpc>
              <a:spcBef>
                <a:spcPts val="600"/>
              </a:spcBef>
              <a:spcAft>
                <a:spcPts val="600"/>
              </a:spcAft>
              <a:buSzPct val="130000"/>
              <a:buNone/>
            </a:pPr>
            <a:r>
              <a:rPr lang="en-US" sz="2800" spc="-30" dirty="0">
                <a:latin typeface="+mj-lt"/>
                <a:cs typeface="Arial"/>
              </a:rPr>
              <a:t>Ví dụ: </a:t>
            </a:r>
            <a:r>
              <a:rPr lang="en-US" sz="2800" spc="-280" dirty="0">
                <a:latin typeface="Courier New" panose="02070309020205020404" pitchFamily="49" charset="0"/>
                <a:cs typeface="Courier New" panose="02070309020205020404" pitchFamily="49" charset="0"/>
              </a:rPr>
              <a:t>String str = new String“Hello World”;</a:t>
            </a:r>
          </a:p>
          <a:p>
            <a:pPr marL="0" lvl="1" indent="0" algn="just">
              <a:lnSpc>
                <a:spcPts val="3700"/>
              </a:lnSpc>
              <a:spcBef>
                <a:spcPts val="600"/>
              </a:spcBef>
              <a:spcAft>
                <a:spcPts val="600"/>
              </a:spcAft>
              <a:buSzPct val="130000"/>
              <a:buNone/>
            </a:pPr>
            <a:endParaRPr lang="en-US" sz="2800" spc="-30" dirty="0">
              <a:latin typeface="+mj-lt"/>
              <a:cs typeface="Arial"/>
            </a:endParaRPr>
          </a:p>
          <a:p>
            <a:pPr marL="692150" lvl="2" indent="-234950" algn="just">
              <a:lnSpc>
                <a:spcPts val="3700"/>
              </a:lnSpc>
              <a:spcBef>
                <a:spcPts val="600"/>
              </a:spcBef>
              <a:spcAft>
                <a:spcPts val="600"/>
              </a:spcAft>
              <a:buSzPct val="130000"/>
              <a:buFont typeface="Arial" panose="020B0604020202020204" pitchFamily="34" charset="0"/>
              <a:buChar char="•"/>
            </a:pPr>
            <a:endParaRPr lang="en-US" sz="2600" spc="-30" dirty="0">
              <a:latin typeface="+mj-lt"/>
              <a:cs typeface="Arial"/>
            </a:endParaRPr>
          </a:p>
          <a:p>
            <a:pPr marL="0" lvl="1" indent="0" algn="just">
              <a:lnSpc>
                <a:spcPts val="3700"/>
              </a:lnSpc>
              <a:spcBef>
                <a:spcPts val="600"/>
              </a:spcBef>
              <a:spcAft>
                <a:spcPts val="600"/>
              </a:spcAft>
              <a:buSzPct val="130000"/>
              <a:buNone/>
            </a:pPr>
            <a:endParaRPr lang="vi-VN" sz="2800"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85</a:t>
            </a:fld>
            <a:endParaRPr lang="en-US" dirty="0"/>
          </a:p>
        </p:txBody>
      </p:sp>
    </p:spTree>
    <p:extLst>
      <p:ext uri="{BB962C8B-B14F-4D97-AF65-F5344CB8AC3E}">
        <p14:creationId xmlns:p14="http://schemas.microsoft.com/office/powerpoint/2010/main" val="7317549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Chuỗi (String)</a:t>
            </a:r>
          </a:p>
        </p:txBody>
      </p:sp>
      <p:sp>
        <p:nvSpPr>
          <p:cNvPr id="3" name="Content Placeholder 2"/>
          <p:cNvSpPr>
            <a:spLocks noGrp="1"/>
          </p:cNvSpPr>
          <p:nvPr>
            <p:ph idx="1"/>
          </p:nvPr>
        </p:nvSpPr>
        <p:spPr>
          <a:xfrm>
            <a:off x="528290" y="1400798"/>
            <a:ext cx="8069301" cy="5256478"/>
          </a:xfrm>
        </p:spPr>
        <p:txBody>
          <a:bodyPr>
            <a:noAutofit/>
          </a:bodyPr>
          <a:lstStyle/>
          <a:p>
            <a:pPr algn="just">
              <a:lnSpc>
                <a:spcPts val="3700"/>
              </a:lnSpc>
              <a:spcBef>
                <a:spcPts val="600"/>
              </a:spcBef>
              <a:spcAft>
                <a:spcPts val="600"/>
              </a:spcAft>
            </a:pPr>
            <a:r>
              <a:rPr lang="en-US" b="1" spc="-20" dirty="0">
                <a:latin typeface="+mj-lt"/>
                <a:cs typeface="Arial"/>
              </a:rPr>
              <a:t>Ký tự đặc biệt:</a:t>
            </a:r>
            <a:endParaRPr lang="en-US" b="1"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86</a:t>
            </a:fld>
            <a:endParaRPr lang="en-US" dirty="0"/>
          </a:p>
        </p:txBody>
      </p:sp>
      <p:sp>
        <p:nvSpPr>
          <p:cNvPr id="5" name="object 2"/>
          <p:cNvSpPr/>
          <p:nvPr/>
        </p:nvSpPr>
        <p:spPr>
          <a:xfrm>
            <a:off x="418954" y="4451001"/>
            <a:ext cx="8308486" cy="1354455"/>
          </a:xfrm>
          <a:custGeom>
            <a:avLst/>
            <a:gdLst/>
            <a:ahLst/>
            <a:cxnLst/>
            <a:rect l="l" t="t" r="r" b="b"/>
            <a:pathLst>
              <a:path w="7262495" h="1354454">
                <a:moveTo>
                  <a:pt x="0" y="0"/>
                </a:moveTo>
                <a:lnTo>
                  <a:pt x="7262050" y="0"/>
                </a:lnTo>
                <a:lnTo>
                  <a:pt x="7262050" y="1099947"/>
                </a:lnTo>
                <a:lnTo>
                  <a:pt x="7190386" y="1100001"/>
                </a:lnTo>
                <a:lnTo>
                  <a:pt x="7119665" y="1100165"/>
                </a:lnTo>
                <a:lnTo>
                  <a:pt x="7049874" y="1100434"/>
                </a:lnTo>
                <a:lnTo>
                  <a:pt x="6981001" y="1100809"/>
                </a:lnTo>
                <a:lnTo>
                  <a:pt x="6913033" y="1101286"/>
                </a:lnTo>
                <a:lnTo>
                  <a:pt x="6845957" y="1101864"/>
                </a:lnTo>
                <a:lnTo>
                  <a:pt x="6779760" y="1102541"/>
                </a:lnTo>
                <a:lnTo>
                  <a:pt x="6714430" y="1103316"/>
                </a:lnTo>
                <a:lnTo>
                  <a:pt x="6649955" y="1104185"/>
                </a:lnTo>
                <a:lnTo>
                  <a:pt x="6586321" y="1105148"/>
                </a:lnTo>
                <a:lnTo>
                  <a:pt x="6523516" y="1106203"/>
                </a:lnTo>
                <a:lnTo>
                  <a:pt x="6461527" y="1107347"/>
                </a:lnTo>
                <a:lnTo>
                  <a:pt x="6400342" y="1108579"/>
                </a:lnTo>
                <a:lnTo>
                  <a:pt x="6339948" y="1109897"/>
                </a:lnTo>
                <a:lnTo>
                  <a:pt x="6280332" y="1111298"/>
                </a:lnTo>
                <a:lnTo>
                  <a:pt x="6221482" y="1112782"/>
                </a:lnTo>
                <a:lnTo>
                  <a:pt x="6163385" y="1114347"/>
                </a:lnTo>
                <a:lnTo>
                  <a:pt x="6106028" y="1115989"/>
                </a:lnTo>
                <a:lnTo>
                  <a:pt x="6049399" y="1117709"/>
                </a:lnTo>
                <a:lnTo>
                  <a:pt x="5993485" y="1119502"/>
                </a:lnTo>
                <a:lnTo>
                  <a:pt x="5938273" y="1121369"/>
                </a:lnTo>
                <a:lnTo>
                  <a:pt x="5883751" y="1123307"/>
                </a:lnTo>
                <a:lnTo>
                  <a:pt x="5829906" y="1125313"/>
                </a:lnTo>
                <a:lnTo>
                  <a:pt x="5776726" y="1127387"/>
                </a:lnTo>
                <a:lnTo>
                  <a:pt x="5724197" y="1129526"/>
                </a:lnTo>
                <a:lnTo>
                  <a:pt x="5672308" y="1131728"/>
                </a:lnTo>
                <a:lnTo>
                  <a:pt x="5621044" y="1133992"/>
                </a:lnTo>
                <a:lnTo>
                  <a:pt x="5570395" y="1136316"/>
                </a:lnTo>
                <a:lnTo>
                  <a:pt x="5520347" y="1138697"/>
                </a:lnTo>
                <a:lnTo>
                  <a:pt x="5470887" y="1141134"/>
                </a:lnTo>
                <a:lnTo>
                  <a:pt x="5422003" y="1143625"/>
                </a:lnTo>
                <a:lnTo>
                  <a:pt x="5373682" y="1146168"/>
                </a:lnTo>
                <a:lnTo>
                  <a:pt x="5325912" y="1148762"/>
                </a:lnTo>
                <a:lnTo>
                  <a:pt x="5278680" y="1151404"/>
                </a:lnTo>
                <a:lnTo>
                  <a:pt x="5231972" y="1154092"/>
                </a:lnTo>
                <a:lnTo>
                  <a:pt x="5185778" y="1156825"/>
                </a:lnTo>
                <a:lnTo>
                  <a:pt x="5140083" y="1159601"/>
                </a:lnTo>
                <a:lnTo>
                  <a:pt x="5094875" y="1162418"/>
                </a:lnTo>
                <a:lnTo>
                  <a:pt x="5050142" y="1165274"/>
                </a:lnTo>
                <a:lnTo>
                  <a:pt x="5005871" y="1168167"/>
                </a:lnTo>
                <a:lnTo>
                  <a:pt x="4962050" y="1171095"/>
                </a:lnTo>
                <a:lnTo>
                  <a:pt x="4918665" y="1174056"/>
                </a:lnTo>
                <a:lnTo>
                  <a:pt x="4875703" y="1177049"/>
                </a:lnTo>
                <a:lnTo>
                  <a:pt x="4833153" y="1180072"/>
                </a:lnTo>
                <a:lnTo>
                  <a:pt x="4791002" y="1183122"/>
                </a:lnTo>
                <a:lnTo>
                  <a:pt x="4749237" y="1186199"/>
                </a:lnTo>
                <a:lnTo>
                  <a:pt x="4707845" y="1189299"/>
                </a:lnTo>
                <a:lnTo>
                  <a:pt x="4666814" y="1192421"/>
                </a:lnTo>
                <a:lnTo>
                  <a:pt x="4626131" y="1195564"/>
                </a:lnTo>
                <a:lnTo>
                  <a:pt x="4585783" y="1198725"/>
                </a:lnTo>
                <a:lnTo>
                  <a:pt x="4545758" y="1201903"/>
                </a:lnTo>
                <a:lnTo>
                  <a:pt x="4506043" y="1205095"/>
                </a:lnTo>
                <a:lnTo>
                  <a:pt x="4466625" y="1208300"/>
                </a:lnTo>
                <a:lnTo>
                  <a:pt x="4427492" y="1211516"/>
                </a:lnTo>
                <a:lnTo>
                  <a:pt x="4388631" y="1214740"/>
                </a:lnTo>
                <a:lnTo>
                  <a:pt x="4350030" y="1217972"/>
                </a:lnTo>
                <a:lnTo>
                  <a:pt x="4311675" y="1221209"/>
                </a:lnTo>
                <a:lnTo>
                  <a:pt x="4273555" y="1224450"/>
                </a:lnTo>
                <a:lnTo>
                  <a:pt x="4197966" y="1230934"/>
                </a:lnTo>
                <a:lnTo>
                  <a:pt x="4123161" y="1237408"/>
                </a:lnTo>
                <a:lnTo>
                  <a:pt x="4049040" y="1243859"/>
                </a:lnTo>
                <a:lnTo>
                  <a:pt x="4012204" y="1247070"/>
                </a:lnTo>
                <a:lnTo>
                  <a:pt x="3975501" y="1250270"/>
                </a:lnTo>
                <a:lnTo>
                  <a:pt x="3902443" y="1256628"/>
                </a:lnTo>
                <a:lnTo>
                  <a:pt x="3829764" y="1262916"/>
                </a:lnTo>
                <a:lnTo>
                  <a:pt x="3757364" y="1269121"/>
                </a:lnTo>
                <a:lnTo>
                  <a:pt x="3685141" y="1275226"/>
                </a:lnTo>
                <a:lnTo>
                  <a:pt x="3612994" y="1281217"/>
                </a:lnTo>
                <a:lnTo>
                  <a:pt x="3540822" y="1287079"/>
                </a:lnTo>
                <a:lnTo>
                  <a:pt x="3468523" y="1292797"/>
                </a:lnTo>
                <a:lnTo>
                  <a:pt x="3395997" y="1298356"/>
                </a:lnTo>
                <a:lnTo>
                  <a:pt x="3323141" y="1303741"/>
                </a:lnTo>
                <a:lnTo>
                  <a:pt x="3249855" y="1308937"/>
                </a:lnTo>
                <a:lnTo>
                  <a:pt x="3176037" y="1313929"/>
                </a:lnTo>
                <a:lnTo>
                  <a:pt x="3101587" y="1318701"/>
                </a:lnTo>
                <a:lnTo>
                  <a:pt x="3026403" y="1323240"/>
                </a:lnTo>
                <a:lnTo>
                  <a:pt x="2950383" y="1327529"/>
                </a:lnTo>
                <a:lnTo>
                  <a:pt x="2912029" y="1329576"/>
                </a:lnTo>
                <a:lnTo>
                  <a:pt x="2873427" y="1331555"/>
                </a:lnTo>
                <a:lnTo>
                  <a:pt x="2834566" y="1333463"/>
                </a:lnTo>
                <a:lnTo>
                  <a:pt x="2795433" y="1335301"/>
                </a:lnTo>
                <a:lnTo>
                  <a:pt x="2756015" y="1337064"/>
                </a:lnTo>
                <a:lnTo>
                  <a:pt x="2716300" y="1338753"/>
                </a:lnTo>
                <a:lnTo>
                  <a:pt x="2676275" y="1340364"/>
                </a:lnTo>
                <a:lnTo>
                  <a:pt x="2635927" y="1341896"/>
                </a:lnTo>
                <a:lnTo>
                  <a:pt x="2595244" y="1343346"/>
                </a:lnTo>
                <a:lnTo>
                  <a:pt x="2554213" y="1344714"/>
                </a:lnTo>
                <a:lnTo>
                  <a:pt x="2512821" y="1345997"/>
                </a:lnTo>
                <a:lnTo>
                  <a:pt x="2471055" y="1347194"/>
                </a:lnTo>
                <a:lnTo>
                  <a:pt x="2428904" y="1348302"/>
                </a:lnTo>
                <a:lnTo>
                  <a:pt x="2386354" y="1349319"/>
                </a:lnTo>
                <a:lnTo>
                  <a:pt x="2343393" y="1350244"/>
                </a:lnTo>
                <a:lnTo>
                  <a:pt x="2300007" y="1351075"/>
                </a:lnTo>
                <a:lnTo>
                  <a:pt x="2256185" y="1351810"/>
                </a:lnTo>
                <a:lnTo>
                  <a:pt x="2211914" y="1352447"/>
                </a:lnTo>
                <a:lnTo>
                  <a:pt x="2167181" y="1352985"/>
                </a:lnTo>
                <a:lnTo>
                  <a:pt x="2121974" y="1353420"/>
                </a:lnTo>
                <a:lnTo>
                  <a:pt x="2076279" y="1353752"/>
                </a:lnTo>
                <a:lnTo>
                  <a:pt x="2030084" y="1353979"/>
                </a:lnTo>
                <a:lnTo>
                  <a:pt x="1983377" y="1354098"/>
                </a:lnTo>
                <a:lnTo>
                  <a:pt x="1936144" y="1354108"/>
                </a:lnTo>
                <a:lnTo>
                  <a:pt x="1888374" y="1354008"/>
                </a:lnTo>
                <a:lnTo>
                  <a:pt x="1840053" y="1353794"/>
                </a:lnTo>
                <a:lnTo>
                  <a:pt x="1791169" y="1353465"/>
                </a:lnTo>
                <a:lnTo>
                  <a:pt x="1741709" y="1353020"/>
                </a:lnTo>
                <a:lnTo>
                  <a:pt x="1691660" y="1352456"/>
                </a:lnTo>
                <a:lnTo>
                  <a:pt x="1641011" y="1351772"/>
                </a:lnTo>
                <a:lnTo>
                  <a:pt x="1589747" y="1350965"/>
                </a:lnTo>
                <a:lnTo>
                  <a:pt x="1537858" y="1350034"/>
                </a:lnTo>
                <a:lnTo>
                  <a:pt x="1485329" y="1348978"/>
                </a:lnTo>
                <a:lnTo>
                  <a:pt x="1432148" y="1347793"/>
                </a:lnTo>
                <a:lnTo>
                  <a:pt x="1378303" y="1346478"/>
                </a:lnTo>
                <a:lnTo>
                  <a:pt x="1323781" y="1345032"/>
                </a:lnTo>
                <a:lnTo>
                  <a:pt x="1268569" y="1343452"/>
                </a:lnTo>
                <a:lnTo>
                  <a:pt x="1212655" y="1341737"/>
                </a:lnTo>
                <a:lnTo>
                  <a:pt x="1156025" y="1339885"/>
                </a:lnTo>
                <a:lnTo>
                  <a:pt x="1098668" y="1337893"/>
                </a:lnTo>
                <a:lnTo>
                  <a:pt x="1040571" y="1335760"/>
                </a:lnTo>
                <a:lnTo>
                  <a:pt x="981721" y="1333485"/>
                </a:lnTo>
                <a:lnTo>
                  <a:pt x="922105" y="1331064"/>
                </a:lnTo>
                <a:lnTo>
                  <a:pt x="861710" y="1328497"/>
                </a:lnTo>
                <a:lnTo>
                  <a:pt x="800525" y="1325781"/>
                </a:lnTo>
                <a:lnTo>
                  <a:pt x="738536" y="1322915"/>
                </a:lnTo>
                <a:lnTo>
                  <a:pt x="675731" y="1319896"/>
                </a:lnTo>
                <a:lnTo>
                  <a:pt x="612097" y="1316724"/>
                </a:lnTo>
                <a:lnTo>
                  <a:pt x="547621" y="1313395"/>
                </a:lnTo>
                <a:lnTo>
                  <a:pt x="482291" y="1309908"/>
                </a:lnTo>
                <a:lnTo>
                  <a:pt x="416094" y="1306262"/>
                </a:lnTo>
                <a:lnTo>
                  <a:pt x="349018" y="1302454"/>
                </a:lnTo>
                <a:lnTo>
                  <a:pt x="281049" y="1298482"/>
                </a:lnTo>
                <a:lnTo>
                  <a:pt x="212176" y="1294345"/>
                </a:lnTo>
                <a:lnTo>
                  <a:pt x="142385" y="1290040"/>
                </a:lnTo>
                <a:lnTo>
                  <a:pt x="71664" y="1285566"/>
                </a:lnTo>
                <a:lnTo>
                  <a:pt x="0" y="1280922"/>
                </a:lnTo>
                <a:lnTo>
                  <a:pt x="0" y="0"/>
                </a:lnTo>
                <a:close/>
              </a:path>
            </a:pathLst>
          </a:custGeom>
          <a:ln w="25400">
            <a:solidFill>
              <a:srgbClr val="9BBB59"/>
            </a:solidFill>
          </a:ln>
        </p:spPr>
        <p:txBody>
          <a:bodyPr wrap="square" lIns="0" tIns="0" rIns="0" bIns="0" rtlCol="0"/>
          <a:lstStyle/>
          <a:p>
            <a:endParaRPr/>
          </a:p>
        </p:txBody>
      </p:sp>
      <p:graphicFrame>
        <p:nvGraphicFramePr>
          <p:cNvPr id="6" name="object 12"/>
          <p:cNvGraphicFramePr>
            <a:graphicFrameLocks noGrp="1"/>
          </p:cNvGraphicFramePr>
          <p:nvPr>
            <p:extLst>
              <p:ext uri="{D42A27DB-BD31-4B8C-83A1-F6EECF244321}">
                <p14:modId xmlns:p14="http://schemas.microsoft.com/office/powerpoint/2010/main" val="3261776638"/>
              </p:ext>
            </p:extLst>
          </p:nvPr>
        </p:nvGraphicFramePr>
        <p:xfrm>
          <a:off x="3633316" y="1496950"/>
          <a:ext cx="3352800" cy="2743200"/>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457200">
                <a:tc>
                  <a:txBody>
                    <a:bodyPr/>
                    <a:lstStyle/>
                    <a:p>
                      <a:pPr marL="97155">
                        <a:lnSpc>
                          <a:spcPct val="100000"/>
                        </a:lnSpc>
                        <a:spcBef>
                          <a:spcPts val="204"/>
                        </a:spcBef>
                      </a:pPr>
                      <a:r>
                        <a:rPr sz="2400" b="1" spc="-365" dirty="0">
                          <a:solidFill>
                            <a:srgbClr val="FFFFFF"/>
                          </a:solidFill>
                          <a:latin typeface="Arial"/>
                          <a:cs typeface="Arial"/>
                        </a:rPr>
                        <a:t>Ký</a:t>
                      </a:r>
                      <a:r>
                        <a:rPr sz="2400" b="1" spc="-145" dirty="0">
                          <a:solidFill>
                            <a:srgbClr val="FFFFFF"/>
                          </a:solidFill>
                          <a:latin typeface="Arial"/>
                          <a:cs typeface="Arial"/>
                        </a:rPr>
                        <a:t> </a:t>
                      </a:r>
                      <a:r>
                        <a:rPr sz="2400" b="1" spc="-85" dirty="0">
                          <a:solidFill>
                            <a:srgbClr val="FFFFFF"/>
                          </a:solidFill>
                          <a:latin typeface="Arial"/>
                          <a:cs typeface="Arial"/>
                        </a:rPr>
                        <a:t>tự</a:t>
                      </a:r>
                      <a:endParaRPr sz="2400" dirty="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tc>
                  <a:txBody>
                    <a:bodyPr/>
                    <a:lstStyle/>
                    <a:p>
                      <a:pPr marL="97155">
                        <a:lnSpc>
                          <a:spcPct val="100000"/>
                        </a:lnSpc>
                        <a:spcBef>
                          <a:spcPts val="204"/>
                        </a:spcBef>
                      </a:pPr>
                      <a:r>
                        <a:rPr sz="2400" b="1" spc="-155" dirty="0">
                          <a:solidFill>
                            <a:srgbClr val="FFFFFF"/>
                          </a:solidFill>
                          <a:latin typeface="Arial"/>
                          <a:cs typeface="Arial"/>
                        </a:rPr>
                        <a:t>Hiển</a:t>
                      </a:r>
                      <a:r>
                        <a:rPr sz="2400" b="1" spc="-140" dirty="0">
                          <a:solidFill>
                            <a:srgbClr val="FFFFFF"/>
                          </a:solidFill>
                          <a:latin typeface="Arial"/>
                          <a:cs typeface="Arial"/>
                        </a:rPr>
                        <a:t> </a:t>
                      </a:r>
                      <a:r>
                        <a:rPr sz="2400" b="1" spc="-80" dirty="0">
                          <a:solidFill>
                            <a:srgbClr val="FFFFFF"/>
                          </a:solidFill>
                          <a:latin typeface="Arial"/>
                          <a:cs typeface="Arial"/>
                        </a:rPr>
                        <a:t>thị</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extLst>
                  <a:ext uri="{0D108BD9-81ED-4DB2-BD59-A6C34878D82A}">
                    <a16:rowId xmlns:a16="http://schemas.microsoft.com/office/drawing/2014/main" val="10000"/>
                  </a:ext>
                </a:extLst>
              </a:tr>
              <a:tr h="457200">
                <a:tc>
                  <a:txBody>
                    <a:bodyPr/>
                    <a:lstStyle/>
                    <a:p>
                      <a:pPr marL="97155">
                        <a:lnSpc>
                          <a:spcPct val="100000"/>
                        </a:lnSpc>
                        <a:spcBef>
                          <a:spcPts val="204"/>
                        </a:spcBef>
                      </a:pPr>
                      <a:r>
                        <a:rPr sz="2400" spc="195" dirty="0">
                          <a:latin typeface="Arial"/>
                          <a:cs typeface="Arial"/>
                        </a:rPr>
                        <a:t>\t</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4"/>
                        </a:spcBef>
                      </a:pPr>
                      <a:r>
                        <a:rPr sz="2400" spc="-285" dirty="0">
                          <a:latin typeface="Arial"/>
                          <a:cs typeface="Arial"/>
                        </a:rPr>
                        <a:t>Ký </a:t>
                      </a:r>
                      <a:r>
                        <a:rPr sz="2400" spc="-15" dirty="0">
                          <a:latin typeface="Arial"/>
                          <a:cs typeface="Arial"/>
                        </a:rPr>
                        <a:t>tự</a:t>
                      </a:r>
                      <a:r>
                        <a:rPr sz="2400" spc="-370" dirty="0">
                          <a:latin typeface="Arial"/>
                          <a:cs typeface="Arial"/>
                        </a:rPr>
                        <a:t> </a:t>
                      </a:r>
                      <a:r>
                        <a:rPr sz="2400" spc="-50" dirty="0">
                          <a:latin typeface="Arial"/>
                          <a:cs typeface="Arial"/>
                        </a:rPr>
                        <a:t>tab</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1"/>
                  </a:ext>
                </a:extLst>
              </a:tr>
              <a:tr h="457200">
                <a:tc>
                  <a:txBody>
                    <a:bodyPr/>
                    <a:lstStyle/>
                    <a:p>
                      <a:pPr marL="97155">
                        <a:lnSpc>
                          <a:spcPct val="100000"/>
                        </a:lnSpc>
                        <a:spcBef>
                          <a:spcPts val="204"/>
                        </a:spcBef>
                      </a:pPr>
                      <a:r>
                        <a:rPr sz="2400" spc="145" dirty="0">
                          <a:latin typeface="Arial"/>
                          <a:cs typeface="Arial"/>
                        </a:rPr>
                        <a:t>\r</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4"/>
                        </a:spcBef>
                      </a:pPr>
                      <a:r>
                        <a:rPr sz="2400" spc="-254" dirty="0">
                          <a:latin typeface="Arial"/>
                          <a:cs typeface="Arial"/>
                        </a:rPr>
                        <a:t>Về </a:t>
                      </a:r>
                      <a:r>
                        <a:rPr sz="2400" spc="-95" dirty="0">
                          <a:latin typeface="Arial"/>
                          <a:cs typeface="Arial"/>
                        </a:rPr>
                        <a:t>đầu</a:t>
                      </a:r>
                      <a:r>
                        <a:rPr sz="2400" spc="-5" dirty="0">
                          <a:latin typeface="Arial"/>
                          <a:cs typeface="Arial"/>
                        </a:rPr>
                        <a:t> </a:t>
                      </a:r>
                      <a:r>
                        <a:rPr sz="2400" spc="-114" dirty="0">
                          <a:latin typeface="Arial"/>
                          <a:cs typeface="Arial"/>
                        </a:rPr>
                        <a:t>dòng</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2"/>
                  </a:ext>
                </a:extLst>
              </a:tr>
              <a:tr h="457200">
                <a:tc>
                  <a:txBody>
                    <a:bodyPr/>
                    <a:lstStyle/>
                    <a:p>
                      <a:pPr marL="97155">
                        <a:lnSpc>
                          <a:spcPct val="100000"/>
                        </a:lnSpc>
                        <a:spcBef>
                          <a:spcPts val="204"/>
                        </a:spcBef>
                      </a:pPr>
                      <a:r>
                        <a:rPr sz="2400" spc="90" dirty="0">
                          <a:latin typeface="Arial"/>
                          <a:cs typeface="Arial"/>
                        </a:rPr>
                        <a:t>\n</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4"/>
                        </a:spcBef>
                      </a:pPr>
                      <a:r>
                        <a:rPr sz="2400" spc="-170" dirty="0">
                          <a:latin typeface="Arial"/>
                          <a:cs typeface="Arial"/>
                        </a:rPr>
                        <a:t>Xuống</a:t>
                      </a:r>
                      <a:r>
                        <a:rPr sz="2400" spc="-130" dirty="0">
                          <a:latin typeface="Arial"/>
                          <a:cs typeface="Arial"/>
                        </a:rPr>
                        <a:t> </a:t>
                      </a:r>
                      <a:r>
                        <a:rPr sz="2400" spc="-114" dirty="0">
                          <a:latin typeface="Arial"/>
                          <a:cs typeface="Arial"/>
                        </a:rPr>
                        <a:t>dòng</a:t>
                      </a:r>
                      <a:endParaRPr sz="2400" dirty="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3"/>
                  </a:ext>
                </a:extLst>
              </a:tr>
              <a:tr h="457200">
                <a:tc>
                  <a:txBody>
                    <a:bodyPr/>
                    <a:lstStyle/>
                    <a:p>
                      <a:pPr marL="97155">
                        <a:lnSpc>
                          <a:spcPct val="100000"/>
                        </a:lnSpc>
                        <a:spcBef>
                          <a:spcPts val="204"/>
                        </a:spcBef>
                      </a:pPr>
                      <a:r>
                        <a:rPr sz="2400" spc="254" dirty="0">
                          <a:latin typeface="Arial"/>
                          <a:cs typeface="Arial"/>
                        </a:rPr>
                        <a:t>\\</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4"/>
                        </a:spcBef>
                      </a:pPr>
                      <a:r>
                        <a:rPr sz="2400" dirty="0">
                          <a:latin typeface="Arial"/>
                          <a:cs typeface="Arial"/>
                        </a:rPr>
                        <a:t>\</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4"/>
                  </a:ext>
                </a:extLst>
              </a:tr>
              <a:tr h="457200">
                <a:tc>
                  <a:txBody>
                    <a:bodyPr/>
                    <a:lstStyle/>
                    <a:p>
                      <a:pPr marL="97155">
                        <a:lnSpc>
                          <a:spcPct val="100000"/>
                        </a:lnSpc>
                        <a:spcBef>
                          <a:spcPts val="200"/>
                        </a:spcBef>
                      </a:pPr>
                      <a:r>
                        <a:rPr sz="2400" spc="229" dirty="0">
                          <a:latin typeface="Arial"/>
                          <a:cs typeface="Arial"/>
                        </a:rPr>
                        <a:t>\”</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0"/>
                        </a:spcBef>
                      </a:pPr>
                      <a:r>
                        <a:rPr sz="2400" dirty="0">
                          <a:latin typeface="Arial"/>
                          <a:cs typeface="Arial"/>
                        </a:rPr>
                        <a:t>“</a:t>
                      </a: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5"/>
                  </a:ext>
                </a:extLst>
              </a:tr>
            </a:tbl>
          </a:graphicData>
        </a:graphic>
      </p:graphicFrame>
      <p:sp>
        <p:nvSpPr>
          <p:cNvPr id="7" name="object 13"/>
          <p:cNvSpPr txBox="1"/>
          <p:nvPr/>
        </p:nvSpPr>
        <p:spPr>
          <a:xfrm>
            <a:off x="497573" y="4616608"/>
            <a:ext cx="8456856" cy="382156"/>
          </a:xfrm>
          <a:prstGeom prst="rect">
            <a:avLst/>
          </a:prstGeom>
        </p:spPr>
        <p:txBody>
          <a:bodyPr vert="horz" wrap="square" lIns="0" tIns="12700" rIns="0" bIns="0" rtlCol="0">
            <a:spAutoFit/>
          </a:bodyPr>
          <a:lstStyle/>
          <a:p>
            <a:pPr marL="12700">
              <a:lnSpc>
                <a:spcPct val="100000"/>
              </a:lnSpc>
              <a:spcBef>
                <a:spcPts val="100"/>
              </a:spcBef>
            </a:pPr>
            <a:r>
              <a:rPr sz="2400" spc="-290" dirty="0">
                <a:latin typeface="Courier" panose="02020500000000000000" pitchFamily="18" charset="0"/>
                <a:ea typeface="Courier" panose="02020500000000000000" pitchFamily="18" charset="0"/>
                <a:cs typeface="Courier" panose="02020500000000000000" pitchFamily="18" charset="0"/>
              </a:rPr>
              <a:t>System.out.print("</a:t>
            </a:r>
            <a:r>
              <a:rPr sz="2400" b="1" spc="-290" dirty="0">
                <a:solidFill>
                  <a:srgbClr val="0000FF"/>
                </a:solidFill>
                <a:latin typeface="Courier" panose="02020500000000000000" pitchFamily="18" charset="0"/>
                <a:ea typeface="Courier" panose="02020500000000000000" pitchFamily="18" charset="0"/>
                <a:cs typeface="Courier" panose="02020500000000000000" pitchFamily="18" charset="0"/>
              </a:rPr>
              <a:t>\t</a:t>
            </a:r>
            <a:r>
              <a:rPr sz="2400" spc="-290" dirty="0">
                <a:latin typeface="Courier" panose="02020500000000000000" pitchFamily="18" charset="0"/>
                <a:ea typeface="Courier" panose="02020500000000000000" pitchFamily="18" charset="0"/>
                <a:cs typeface="Courier" panose="02020500000000000000" pitchFamily="18" charset="0"/>
              </a:rPr>
              <a:t>+ H</a:t>
            </a:r>
            <a:r>
              <a:rPr lang="en-US" sz="2400" spc="-290" dirty="0">
                <a:latin typeface="Courier" panose="02020500000000000000" pitchFamily="18" charset="0"/>
                <a:ea typeface="Courier" panose="02020500000000000000" pitchFamily="18" charset="0"/>
                <a:cs typeface="Courier" panose="02020500000000000000" pitchFamily="18" charset="0"/>
              </a:rPr>
              <a:t>o</a:t>
            </a:r>
            <a:r>
              <a:rPr sz="2400" spc="-290" dirty="0">
                <a:latin typeface="Courier" panose="02020500000000000000" pitchFamily="18" charset="0"/>
                <a:ea typeface="Courier" panose="02020500000000000000" pitchFamily="18" charset="0"/>
                <a:cs typeface="Courier" panose="02020500000000000000" pitchFamily="18" charset="0"/>
              </a:rPr>
              <a:t> và t</a:t>
            </a:r>
            <a:r>
              <a:rPr lang="en-US" sz="2400" spc="-290" dirty="0">
                <a:latin typeface="Courier" panose="02020500000000000000" pitchFamily="18" charset="0"/>
                <a:ea typeface="Courier" panose="02020500000000000000" pitchFamily="18" charset="0"/>
                <a:cs typeface="Courier" panose="02020500000000000000" pitchFamily="18" charset="0"/>
              </a:rPr>
              <a:t>e</a:t>
            </a:r>
            <a:r>
              <a:rPr sz="2400" spc="-290" dirty="0">
                <a:latin typeface="Courier" panose="02020500000000000000" pitchFamily="18" charset="0"/>
                <a:ea typeface="Courier" panose="02020500000000000000" pitchFamily="18" charset="0"/>
                <a:cs typeface="Courier" panose="02020500000000000000" pitchFamily="18" charset="0"/>
              </a:rPr>
              <a:t>n: Tu</a:t>
            </a:r>
            <a:r>
              <a:rPr lang="en-US" sz="2400" spc="-290" dirty="0">
                <a:latin typeface="Courier" panose="02020500000000000000" pitchFamily="18" charset="0"/>
                <a:ea typeface="Courier" panose="02020500000000000000" pitchFamily="18" charset="0"/>
                <a:cs typeface="Courier" panose="02020500000000000000" pitchFamily="18" charset="0"/>
              </a:rPr>
              <a:t>a</a:t>
            </a:r>
            <a:r>
              <a:rPr sz="2400" spc="-290" dirty="0">
                <a:latin typeface="Courier" panose="02020500000000000000" pitchFamily="18" charset="0"/>
                <a:ea typeface="Courier" panose="02020500000000000000" pitchFamily="18" charset="0"/>
                <a:cs typeface="Courier" panose="02020500000000000000" pitchFamily="18" charset="0"/>
              </a:rPr>
              <a:t>n</a:t>
            </a:r>
            <a:r>
              <a:rPr sz="2400" b="1" spc="-290" dirty="0">
                <a:solidFill>
                  <a:srgbClr val="0000FF"/>
                </a:solidFill>
                <a:latin typeface="Courier" panose="02020500000000000000" pitchFamily="18" charset="0"/>
                <a:ea typeface="Courier" panose="02020500000000000000" pitchFamily="18" charset="0"/>
                <a:cs typeface="Courier" panose="02020500000000000000" pitchFamily="18" charset="0"/>
              </a:rPr>
              <a:t>\r\n\t</a:t>
            </a:r>
            <a:r>
              <a:rPr sz="2400" spc="-290" dirty="0">
                <a:latin typeface="Courier" panose="02020500000000000000" pitchFamily="18" charset="0"/>
                <a:ea typeface="Courier" panose="02020500000000000000" pitchFamily="18" charset="0"/>
                <a:cs typeface="Courier" panose="02020500000000000000" pitchFamily="18" charset="0"/>
              </a:rPr>
              <a:t>+ Tu</a:t>
            </a:r>
            <a:r>
              <a:rPr lang="en-US" sz="2400" spc="-290" dirty="0">
                <a:latin typeface="Courier" panose="02020500000000000000" pitchFamily="18" charset="0"/>
                <a:ea typeface="Courier" panose="02020500000000000000" pitchFamily="18" charset="0"/>
                <a:cs typeface="Courier" panose="02020500000000000000" pitchFamily="18" charset="0"/>
              </a:rPr>
              <a:t>o</a:t>
            </a:r>
            <a:r>
              <a:rPr sz="2400" spc="-290" dirty="0">
                <a:latin typeface="Courier" panose="02020500000000000000" pitchFamily="18" charset="0"/>
                <a:ea typeface="Courier" panose="02020500000000000000" pitchFamily="18" charset="0"/>
                <a:cs typeface="Courier" panose="02020500000000000000" pitchFamily="18" charset="0"/>
              </a:rPr>
              <a:t>i: 40");</a:t>
            </a:r>
          </a:p>
        </p:txBody>
      </p:sp>
      <p:sp>
        <p:nvSpPr>
          <p:cNvPr id="8" name="object 14"/>
          <p:cNvSpPr/>
          <p:nvPr/>
        </p:nvSpPr>
        <p:spPr>
          <a:xfrm>
            <a:off x="3325352" y="5786931"/>
            <a:ext cx="489584" cy="485140"/>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9" name="object 16"/>
          <p:cNvSpPr/>
          <p:nvPr/>
        </p:nvSpPr>
        <p:spPr>
          <a:xfrm>
            <a:off x="3944785" y="5294582"/>
            <a:ext cx="4538980" cy="1504950"/>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10" name="object 19"/>
          <p:cNvSpPr txBox="1"/>
          <p:nvPr/>
        </p:nvSpPr>
        <p:spPr>
          <a:xfrm>
            <a:off x="4677156" y="5607209"/>
            <a:ext cx="2170430" cy="756920"/>
          </a:xfrm>
          <a:prstGeom prst="rect">
            <a:avLst/>
          </a:prstGeom>
        </p:spPr>
        <p:txBody>
          <a:bodyPr vert="horz" wrap="square" lIns="0" tIns="12700" rIns="0" bIns="0" rtlCol="0">
            <a:spAutoFit/>
          </a:bodyPr>
          <a:lstStyle/>
          <a:p>
            <a:pPr marL="12700">
              <a:lnSpc>
                <a:spcPct val="100000"/>
              </a:lnSpc>
              <a:spcBef>
                <a:spcPts val="100"/>
              </a:spcBef>
            </a:pPr>
            <a:r>
              <a:rPr sz="2400" spc="-210" dirty="0">
                <a:solidFill>
                  <a:srgbClr val="FFFFFF"/>
                </a:solidFill>
                <a:latin typeface="Arial"/>
                <a:cs typeface="Arial"/>
              </a:rPr>
              <a:t>+ </a:t>
            </a:r>
            <a:r>
              <a:rPr sz="2400" spc="-155" dirty="0">
                <a:solidFill>
                  <a:srgbClr val="FFFFFF"/>
                </a:solidFill>
                <a:latin typeface="Arial"/>
                <a:cs typeface="Arial"/>
              </a:rPr>
              <a:t>H</a:t>
            </a:r>
            <a:r>
              <a:rPr lang="en-US" sz="2400" spc="-155" dirty="0">
                <a:solidFill>
                  <a:srgbClr val="FFFFFF"/>
                </a:solidFill>
                <a:latin typeface="Arial"/>
                <a:cs typeface="Arial"/>
              </a:rPr>
              <a:t>o</a:t>
            </a:r>
            <a:r>
              <a:rPr sz="2400" spc="-155" dirty="0">
                <a:solidFill>
                  <a:srgbClr val="FFFFFF"/>
                </a:solidFill>
                <a:latin typeface="Arial"/>
                <a:cs typeface="Arial"/>
              </a:rPr>
              <a:t> </a:t>
            </a:r>
            <a:r>
              <a:rPr sz="2400" spc="-175" dirty="0">
                <a:solidFill>
                  <a:srgbClr val="FFFFFF"/>
                </a:solidFill>
                <a:latin typeface="Arial"/>
                <a:cs typeface="Arial"/>
              </a:rPr>
              <a:t>và </a:t>
            </a:r>
            <a:r>
              <a:rPr sz="2400" spc="-35" dirty="0">
                <a:solidFill>
                  <a:srgbClr val="FFFFFF"/>
                </a:solidFill>
                <a:latin typeface="Arial"/>
                <a:cs typeface="Arial"/>
              </a:rPr>
              <a:t>t</a:t>
            </a:r>
            <a:r>
              <a:rPr lang="en-US" sz="2400" spc="-35" dirty="0">
                <a:solidFill>
                  <a:srgbClr val="FFFFFF"/>
                </a:solidFill>
                <a:latin typeface="Arial"/>
                <a:cs typeface="Arial"/>
              </a:rPr>
              <a:t>e</a:t>
            </a:r>
            <a:r>
              <a:rPr sz="2400" spc="-35" dirty="0">
                <a:solidFill>
                  <a:srgbClr val="FFFFFF"/>
                </a:solidFill>
                <a:latin typeface="Arial"/>
                <a:cs typeface="Arial"/>
              </a:rPr>
              <a:t>n: </a:t>
            </a:r>
            <a:r>
              <a:rPr sz="2400" spc="-200" dirty="0">
                <a:solidFill>
                  <a:srgbClr val="FFFFFF"/>
                </a:solidFill>
                <a:latin typeface="Arial"/>
                <a:cs typeface="Arial"/>
              </a:rPr>
              <a:t>Tu</a:t>
            </a:r>
            <a:r>
              <a:rPr lang="en-US" sz="2400" spc="-200" dirty="0">
                <a:solidFill>
                  <a:srgbClr val="FFFFFF"/>
                </a:solidFill>
                <a:latin typeface="Arial"/>
                <a:cs typeface="Arial"/>
              </a:rPr>
              <a:t>a</a:t>
            </a:r>
            <a:r>
              <a:rPr sz="2400" spc="-200" dirty="0">
                <a:solidFill>
                  <a:srgbClr val="FFFFFF"/>
                </a:solidFill>
                <a:latin typeface="Arial"/>
                <a:cs typeface="Arial"/>
              </a:rPr>
              <a:t>n</a:t>
            </a:r>
            <a:endParaRPr sz="2400" dirty="0">
              <a:latin typeface="Arial"/>
              <a:cs typeface="Arial"/>
            </a:endParaRPr>
          </a:p>
          <a:p>
            <a:pPr marL="12700">
              <a:lnSpc>
                <a:spcPct val="100000"/>
              </a:lnSpc>
            </a:pPr>
            <a:r>
              <a:rPr sz="2400" spc="-210" dirty="0">
                <a:solidFill>
                  <a:srgbClr val="FFFFFF"/>
                </a:solidFill>
                <a:latin typeface="Arial"/>
                <a:cs typeface="Arial"/>
              </a:rPr>
              <a:t>+ </a:t>
            </a:r>
            <a:r>
              <a:rPr sz="2400" spc="-125" dirty="0">
                <a:solidFill>
                  <a:srgbClr val="FFFFFF"/>
                </a:solidFill>
                <a:latin typeface="Arial"/>
                <a:cs typeface="Arial"/>
              </a:rPr>
              <a:t>Tu</a:t>
            </a:r>
            <a:r>
              <a:rPr lang="en-US" sz="2400" spc="-125" dirty="0">
                <a:solidFill>
                  <a:srgbClr val="FFFFFF"/>
                </a:solidFill>
                <a:latin typeface="Arial"/>
                <a:cs typeface="Arial"/>
              </a:rPr>
              <a:t>o</a:t>
            </a:r>
            <a:r>
              <a:rPr sz="2400" spc="-125" dirty="0">
                <a:solidFill>
                  <a:srgbClr val="FFFFFF"/>
                </a:solidFill>
                <a:latin typeface="Arial"/>
                <a:cs typeface="Arial"/>
              </a:rPr>
              <a:t>i:</a:t>
            </a:r>
            <a:r>
              <a:rPr sz="2400" spc="-60" dirty="0">
                <a:solidFill>
                  <a:srgbClr val="FFFFFF"/>
                </a:solidFill>
                <a:latin typeface="Arial"/>
                <a:cs typeface="Arial"/>
              </a:rPr>
              <a:t> </a:t>
            </a:r>
            <a:r>
              <a:rPr sz="2400" spc="-125" dirty="0">
                <a:solidFill>
                  <a:srgbClr val="FFFFFF"/>
                </a:solidFill>
                <a:latin typeface="Arial"/>
                <a:cs typeface="Arial"/>
              </a:rPr>
              <a:t>40</a:t>
            </a:r>
            <a:endParaRPr sz="2400" dirty="0">
              <a:latin typeface="Arial"/>
              <a:cs typeface="Arial"/>
            </a:endParaRPr>
          </a:p>
        </p:txBody>
      </p:sp>
    </p:spTree>
    <p:extLst>
      <p:ext uri="{BB962C8B-B14F-4D97-AF65-F5344CB8AC3E}">
        <p14:creationId xmlns:p14="http://schemas.microsoft.com/office/powerpoint/2010/main" val="13244783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hàm xử lý chuỗi </a:t>
            </a:r>
          </a:p>
        </p:txBody>
      </p:sp>
      <p:sp>
        <p:nvSpPr>
          <p:cNvPr id="4" name="Slide Number Placeholder 3"/>
          <p:cNvSpPr>
            <a:spLocks noGrp="1"/>
          </p:cNvSpPr>
          <p:nvPr>
            <p:ph type="sldNum" sz="quarter" idx="12"/>
          </p:nvPr>
        </p:nvSpPr>
        <p:spPr/>
        <p:txBody>
          <a:bodyPr/>
          <a:lstStyle/>
          <a:p>
            <a:fld id="{DF4C498B-416A-4F27-9E1B-2DAD6BC6C92F}" type="slidenum">
              <a:rPr lang="en-US" smtClean="0"/>
              <a:t>87</a:t>
            </a:fld>
            <a:endParaRPr lang="en-US" dirty="0"/>
          </a:p>
        </p:txBody>
      </p:sp>
      <p:graphicFrame>
        <p:nvGraphicFramePr>
          <p:cNvPr id="18" name="object 8"/>
          <p:cNvGraphicFramePr>
            <a:graphicFrameLocks noGrp="1"/>
          </p:cNvGraphicFramePr>
          <p:nvPr>
            <p:extLst>
              <p:ext uri="{D42A27DB-BD31-4B8C-83A1-F6EECF244321}">
                <p14:modId xmlns:p14="http://schemas.microsoft.com/office/powerpoint/2010/main" val="3088729690"/>
              </p:ext>
            </p:extLst>
          </p:nvPr>
        </p:nvGraphicFramePr>
        <p:xfrm>
          <a:off x="417396" y="1344744"/>
          <a:ext cx="8229600" cy="4866640"/>
        </p:xfrm>
        <a:graphic>
          <a:graphicData uri="http://schemas.openxmlformats.org/drawingml/2006/table">
            <a:tbl>
              <a:tblPr firstRow="1" bandRow="1">
                <a:tableStyleId>{2D5ABB26-0587-4C30-8999-92F81FD0307C}</a:tableStyleId>
              </a:tblPr>
              <a:tblGrid>
                <a:gridCol w="34290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541020">
                <a:tc>
                  <a:txBody>
                    <a:bodyPr/>
                    <a:lstStyle/>
                    <a:p>
                      <a:pPr marL="97790">
                        <a:lnSpc>
                          <a:spcPct val="100000"/>
                        </a:lnSpc>
                        <a:spcBef>
                          <a:spcPts val="204"/>
                        </a:spcBef>
                      </a:pPr>
                      <a:r>
                        <a:rPr sz="2400" b="1" spc="-235" dirty="0">
                          <a:solidFill>
                            <a:srgbClr val="FFFFFF"/>
                          </a:solidFill>
                          <a:latin typeface="Arial"/>
                          <a:cs typeface="Arial"/>
                        </a:rPr>
                        <a:t>Phương</a:t>
                      </a:r>
                      <a:r>
                        <a:rPr sz="2400" b="1" spc="-130" dirty="0">
                          <a:solidFill>
                            <a:srgbClr val="FFFFFF"/>
                          </a:solidFill>
                          <a:latin typeface="Arial"/>
                          <a:cs typeface="Arial"/>
                        </a:rPr>
                        <a:t> </a:t>
                      </a:r>
                      <a:r>
                        <a:rPr sz="2400" b="1" spc="-170" dirty="0">
                          <a:solidFill>
                            <a:srgbClr val="FFFFFF"/>
                          </a:solidFill>
                          <a:latin typeface="Arial"/>
                          <a:cs typeface="Arial"/>
                        </a:rPr>
                        <a:t>thức</a:t>
                      </a:r>
                      <a:endParaRPr sz="2400" dirty="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tc>
                  <a:txBody>
                    <a:bodyPr/>
                    <a:lstStyle/>
                    <a:p>
                      <a:pPr marL="97790">
                        <a:lnSpc>
                          <a:spcPct val="100000"/>
                        </a:lnSpc>
                        <a:spcBef>
                          <a:spcPts val="204"/>
                        </a:spcBef>
                      </a:pPr>
                      <a:r>
                        <a:rPr sz="2400" b="1" spc="-40" dirty="0">
                          <a:solidFill>
                            <a:srgbClr val="FFFFFF"/>
                          </a:solidFill>
                          <a:latin typeface="Arial"/>
                          <a:cs typeface="Arial"/>
                        </a:rPr>
                        <a:t>Mô</a:t>
                      </a:r>
                      <a:r>
                        <a:rPr sz="2400" b="1" spc="-140" dirty="0">
                          <a:solidFill>
                            <a:srgbClr val="FFFFFF"/>
                          </a:solidFill>
                          <a:latin typeface="Arial"/>
                          <a:cs typeface="Arial"/>
                        </a:rPr>
                        <a:t> </a:t>
                      </a:r>
                      <a:r>
                        <a:rPr sz="2400" b="1" spc="-90" dirty="0">
                          <a:solidFill>
                            <a:srgbClr val="FFFFFF"/>
                          </a:solidFill>
                          <a:latin typeface="Arial"/>
                          <a:cs typeface="Arial"/>
                        </a:rPr>
                        <a:t>tả</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extLst>
                  <a:ext uri="{0D108BD9-81ED-4DB2-BD59-A6C34878D82A}">
                    <a16:rowId xmlns:a16="http://schemas.microsoft.com/office/drawing/2014/main" val="10000"/>
                  </a:ext>
                </a:extLst>
              </a:tr>
              <a:tr h="540385">
                <a:tc>
                  <a:txBody>
                    <a:bodyPr/>
                    <a:lstStyle/>
                    <a:p>
                      <a:pPr marL="97790">
                        <a:lnSpc>
                          <a:spcPct val="100000"/>
                        </a:lnSpc>
                        <a:spcBef>
                          <a:spcPts val="204"/>
                        </a:spcBef>
                      </a:pPr>
                      <a:r>
                        <a:rPr sz="2400" spc="-145" dirty="0">
                          <a:latin typeface="Arial"/>
                          <a:cs typeface="Arial"/>
                        </a:rPr>
                        <a:t>toLowerCase</a:t>
                      </a:r>
                      <a:r>
                        <a:rPr sz="2400" spc="-140" dirty="0">
                          <a:latin typeface="Arial"/>
                          <a:cs typeface="Arial"/>
                        </a:rPr>
                        <a:t> </a:t>
                      </a:r>
                      <a:r>
                        <a:rPr sz="2400" spc="-75" dirty="0">
                          <a:latin typeface="Arial"/>
                          <a:cs typeface="Arial"/>
                        </a:rPr>
                        <a:t>()</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790">
                        <a:lnSpc>
                          <a:spcPct val="100000"/>
                        </a:lnSpc>
                        <a:spcBef>
                          <a:spcPts val="204"/>
                        </a:spcBef>
                      </a:pPr>
                      <a:r>
                        <a:rPr sz="2400" spc="-100" dirty="0">
                          <a:latin typeface="Arial"/>
                          <a:cs typeface="Arial"/>
                        </a:rPr>
                        <a:t>Đổi </a:t>
                      </a:r>
                      <a:r>
                        <a:rPr sz="2400" spc="-30" dirty="0">
                          <a:latin typeface="Arial"/>
                          <a:cs typeface="Arial"/>
                        </a:rPr>
                        <a:t>in</a:t>
                      </a:r>
                      <a:r>
                        <a:rPr sz="2400" spc="-165" dirty="0">
                          <a:latin typeface="Arial"/>
                          <a:cs typeface="Arial"/>
                        </a:rPr>
                        <a:t> </a:t>
                      </a:r>
                      <a:r>
                        <a:rPr sz="2400" spc="-100" dirty="0">
                          <a:latin typeface="Arial"/>
                          <a:cs typeface="Arial"/>
                        </a:rPr>
                        <a:t>thường</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1"/>
                  </a:ext>
                </a:extLst>
              </a:tr>
              <a:tr h="541020">
                <a:tc>
                  <a:txBody>
                    <a:bodyPr/>
                    <a:lstStyle/>
                    <a:p>
                      <a:pPr marL="97790">
                        <a:lnSpc>
                          <a:spcPct val="100000"/>
                        </a:lnSpc>
                        <a:spcBef>
                          <a:spcPts val="200"/>
                        </a:spcBef>
                      </a:pPr>
                      <a:r>
                        <a:rPr sz="2400" spc="-135" dirty="0">
                          <a:latin typeface="Arial"/>
                          <a:cs typeface="Arial"/>
                        </a:rPr>
                        <a:t>toUpperCase</a:t>
                      </a:r>
                      <a:r>
                        <a:rPr sz="2400" spc="-140" dirty="0">
                          <a:latin typeface="Arial"/>
                          <a:cs typeface="Arial"/>
                        </a:rPr>
                        <a:t> </a:t>
                      </a:r>
                      <a:r>
                        <a:rPr sz="2400" spc="-75" dirty="0">
                          <a:latin typeface="Arial"/>
                          <a:cs typeface="Arial"/>
                        </a:rPr>
                        <a:t>()</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790">
                        <a:lnSpc>
                          <a:spcPct val="100000"/>
                        </a:lnSpc>
                        <a:spcBef>
                          <a:spcPts val="200"/>
                        </a:spcBef>
                      </a:pPr>
                      <a:r>
                        <a:rPr sz="2400" spc="-100" dirty="0">
                          <a:latin typeface="Arial"/>
                          <a:cs typeface="Arial"/>
                        </a:rPr>
                        <a:t>Đổi </a:t>
                      </a:r>
                      <a:r>
                        <a:rPr sz="2400" spc="-30" dirty="0">
                          <a:latin typeface="Arial"/>
                          <a:cs typeface="Arial"/>
                        </a:rPr>
                        <a:t>in</a:t>
                      </a:r>
                      <a:r>
                        <a:rPr sz="2400" spc="-165" dirty="0">
                          <a:latin typeface="Arial"/>
                          <a:cs typeface="Arial"/>
                        </a:rPr>
                        <a:t> </a:t>
                      </a:r>
                      <a:r>
                        <a:rPr sz="2400" spc="-120" dirty="0">
                          <a:latin typeface="Arial"/>
                          <a:cs typeface="Arial"/>
                        </a:rPr>
                        <a:t>hoa</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2"/>
                  </a:ext>
                </a:extLst>
              </a:tr>
              <a:tr h="540385">
                <a:tc>
                  <a:txBody>
                    <a:bodyPr/>
                    <a:lstStyle/>
                    <a:p>
                      <a:pPr marL="97790">
                        <a:lnSpc>
                          <a:spcPct val="100000"/>
                        </a:lnSpc>
                        <a:spcBef>
                          <a:spcPts val="200"/>
                        </a:spcBef>
                      </a:pPr>
                      <a:r>
                        <a:rPr sz="2400" spc="-5" dirty="0">
                          <a:latin typeface="Arial"/>
                          <a:cs typeface="Arial"/>
                        </a:rPr>
                        <a:t>trim()</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790">
                        <a:lnSpc>
                          <a:spcPct val="100000"/>
                        </a:lnSpc>
                        <a:spcBef>
                          <a:spcPts val="200"/>
                        </a:spcBef>
                      </a:pPr>
                      <a:r>
                        <a:rPr sz="2400" spc="-180" dirty="0">
                          <a:latin typeface="Arial"/>
                          <a:cs typeface="Arial"/>
                        </a:rPr>
                        <a:t>Cắt </a:t>
                      </a:r>
                      <a:r>
                        <a:rPr sz="2400" spc="-195" dirty="0">
                          <a:latin typeface="Arial"/>
                          <a:cs typeface="Arial"/>
                        </a:rPr>
                        <a:t>các </a:t>
                      </a:r>
                      <a:r>
                        <a:rPr sz="2400" spc="-114" dirty="0">
                          <a:latin typeface="Arial"/>
                          <a:cs typeface="Arial"/>
                        </a:rPr>
                        <a:t>ký </a:t>
                      </a:r>
                      <a:r>
                        <a:rPr sz="2400" spc="-15" dirty="0">
                          <a:latin typeface="Arial"/>
                          <a:cs typeface="Arial"/>
                        </a:rPr>
                        <a:t>tự </a:t>
                      </a:r>
                      <a:r>
                        <a:rPr sz="2400" spc="-70" dirty="0">
                          <a:latin typeface="Arial"/>
                          <a:cs typeface="Arial"/>
                        </a:rPr>
                        <a:t>trắng </a:t>
                      </a:r>
                      <a:r>
                        <a:rPr sz="2400" spc="-120" dirty="0">
                          <a:latin typeface="Arial"/>
                          <a:cs typeface="Arial"/>
                        </a:rPr>
                        <a:t>2 </a:t>
                      </a:r>
                      <a:r>
                        <a:rPr sz="2400" spc="-95" dirty="0">
                          <a:latin typeface="Arial"/>
                          <a:cs typeface="Arial"/>
                        </a:rPr>
                        <a:t>đầu</a:t>
                      </a:r>
                      <a:r>
                        <a:rPr sz="2400" spc="-280" dirty="0">
                          <a:latin typeface="Arial"/>
                          <a:cs typeface="Arial"/>
                        </a:rPr>
                        <a:t> </a:t>
                      </a:r>
                      <a:r>
                        <a:rPr sz="2400" spc="-80" dirty="0">
                          <a:latin typeface="Arial"/>
                          <a:cs typeface="Arial"/>
                        </a:rPr>
                        <a:t>chuỗi</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3"/>
                  </a:ext>
                </a:extLst>
              </a:tr>
              <a:tr h="541020">
                <a:tc>
                  <a:txBody>
                    <a:bodyPr/>
                    <a:lstStyle/>
                    <a:p>
                      <a:pPr marL="97790">
                        <a:lnSpc>
                          <a:spcPct val="100000"/>
                        </a:lnSpc>
                        <a:spcBef>
                          <a:spcPts val="204"/>
                        </a:spcBef>
                      </a:pPr>
                      <a:r>
                        <a:rPr sz="2400" spc="-70" dirty="0">
                          <a:latin typeface="Arial"/>
                          <a:cs typeface="Arial"/>
                        </a:rPr>
                        <a:t>length()</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790">
                        <a:lnSpc>
                          <a:spcPct val="100000"/>
                        </a:lnSpc>
                        <a:spcBef>
                          <a:spcPts val="204"/>
                        </a:spcBef>
                      </a:pPr>
                      <a:r>
                        <a:rPr sz="2400" spc="-229" dirty="0">
                          <a:latin typeface="Arial"/>
                          <a:cs typeface="Arial"/>
                        </a:rPr>
                        <a:t>Lấy </a:t>
                      </a:r>
                      <a:r>
                        <a:rPr sz="2400" spc="-45" dirty="0">
                          <a:latin typeface="Arial"/>
                          <a:cs typeface="Arial"/>
                        </a:rPr>
                        <a:t>độ </a:t>
                      </a:r>
                      <a:r>
                        <a:rPr sz="2400" spc="-85" dirty="0">
                          <a:latin typeface="Arial"/>
                          <a:cs typeface="Arial"/>
                        </a:rPr>
                        <a:t>dài</a:t>
                      </a:r>
                      <a:r>
                        <a:rPr sz="2400" spc="-120" dirty="0">
                          <a:latin typeface="Arial"/>
                          <a:cs typeface="Arial"/>
                        </a:rPr>
                        <a:t> </a:t>
                      </a:r>
                      <a:r>
                        <a:rPr sz="2400" spc="-80" dirty="0">
                          <a:latin typeface="Arial"/>
                          <a:cs typeface="Arial"/>
                        </a:rPr>
                        <a:t>chuỗi</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4"/>
                  </a:ext>
                </a:extLst>
              </a:tr>
              <a:tr h="540385">
                <a:tc>
                  <a:txBody>
                    <a:bodyPr/>
                    <a:lstStyle/>
                    <a:p>
                      <a:pPr marL="97155">
                        <a:lnSpc>
                          <a:spcPct val="100000"/>
                        </a:lnSpc>
                        <a:spcBef>
                          <a:spcPts val="200"/>
                        </a:spcBef>
                      </a:pPr>
                      <a:r>
                        <a:rPr sz="2400" spc="-90" dirty="0">
                          <a:latin typeface="Arial"/>
                          <a:cs typeface="Arial"/>
                        </a:rPr>
                        <a:t>substring()</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0"/>
                        </a:spcBef>
                      </a:pPr>
                      <a:r>
                        <a:rPr sz="2400" spc="-229" dirty="0">
                          <a:latin typeface="Arial"/>
                          <a:cs typeface="Arial"/>
                        </a:rPr>
                        <a:t>Lấy </a:t>
                      </a:r>
                      <a:r>
                        <a:rPr sz="2400" spc="-80" dirty="0">
                          <a:latin typeface="Arial"/>
                          <a:cs typeface="Arial"/>
                        </a:rPr>
                        <a:t>chuỗi</a:t>
                      </a:r>
                      <a:r>
                        <a:rPr sz="2400" spc="-30" dirty="0">
                          <a:latin typeface="Arial"/>
                          <a:cs typeface="Arial"/>
                        </a:rPr>
                        <a:t> </a:t>
                      </a:r>
                      <a:r>
                        <a:rPr sz="2400" spc="-120" dirty="0">
                          <a:latin typeface="Arial"/>
                          <a:cs typeface="Arial"/>
                        </a:rPr>
                        <a:t>con</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5"/>
                  </a:ext>
                </a:extLst>
              </a:tr>
              <a:tr h="540385">
                <a:tc>
                  <a:txBody>
                    <a:bodyPr/>
                    <a:lstStyle/>
                    <a:p>
                      <a:pPr marL="97155">
                        <a:lnSpc>
                          <a:spcPct val="100000"/>
                        </a:lnSpc>
                        <a:spcBef>
                          <a:spcPts val="200"/>
                        </a:spcBef>
                      </a:pPr>
                      <a:r>
                        <a:rPr sz="2400" spc="-95" dirty="0">
                          <a:latin typeface="Arial"/>
                          <a:cs typeface="Arial"/>
                        </a:rPr>
                        <a:t>charAt</a:t>
                      </a:r>
                      <a:r>
                        <a:rPr sz="2400" spc="-155" dirty="0">
                          <a:latin typeface="Arial"/>
                          <a:cs typeface="Arial"/>
                        </a:rPr>
                        <a:t> </a:t>
                      </a:r>
                      <a:r>
                        <a:rPr sz="2400" spc="-90" dirty="0">
                          <a:latin typeface="Arial"/>
                          <a:cs typeface="Arial"/>
                        </a:rPr>
                        <a:t>(index)</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0"/>
                        </a:spcBef>
                      </a:pPr>
                      <a:r>
                        <a:rPr sz="2400" spc="-229" dirty="0">
                          <a:latin typeface="Arial"/>
                          <a:cs typeface="Arial"/>
                        </a:rPr>
                        <a:t>Lấy </a:t>
                      </a:r>
                      <a:r>
                        <a:rPr sz="2400" spc="-114" dirty="0">
                          <a:latin typeface="Arial"/>
                          <a:cs typeface="Arial"/>
                        </a:rPr>
                        <a:t>ký </a:t>
                      </a:r>
                      <a:r>
                        <a:rPr sz="2400" spc="-15" dirty="0">
                          <a:latin typeface="Arial"/>
                          <a:cs typeface="Arial"/>
                        </a:rPr>
                        <a:t>tự </a:t>
                      </a:r>
                      <a:r>
                        <a:rPr sz="2400" spc="-20" dirty="0">
                          <a:latin typeface="Arial"/>
                          <a:cs typeface="Arial"/>
                        </a:rPr>
                        <a:t>tại </a:t>
                      </a:r>
                      <a:r>
                        <a:rPr sz="2400" spc="-55" dirty="0">
                          <a:latin typeface="Arial"/>
                          <a:cs typeface="Arial"/>
                        </a:rPr>
                        <a:t>vị</a:t>
                      </a:r>
                      <a:r>
                        <a:rPr sz="2400" spc="-295" dirty="0">
                          <a:latin typeface="Arial"/>
                          <a:cs typeface="Arial"/>
                        </a:rPr>
                        <a:t> </a:t>
                      </a:r>
                      <a:r>
                        <a:rPr sz="2400" spc="15" dirty="0">
                          <a:latin typeface="Arial"/>
                          <a:cs typeface="Arial"/>
                        </a:rPr>
                        <a:t>trí</a:t>
                      </a:r>
                      <a:endParaRPr sz="2400" dirty="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6"/>
                  </a:ext>
                </a:extLst>
              </a:tr>
              <a:tr h="541020">
                <a:tc>
                  <a:txBody>
                    <a:bodyPr/>
                    <a:lstStyle/>
                    <a:p>
                      <a:pPr marL="97155">
                        <a:lnSpc>
                          <a:spcPct val="100000"/>
                        </a:lnSpc>
                        <a:spcBef>
                          <a:spcPts val="204"/>
                        </a:spcBef>
                      </a:pPr>
                      <a:r>
                        <a:rPr sz="2400" spc="-70" dirty="0">
                          <a:latin typeface="Arial"/>
                          <a:cs typeface="Arial"/>
                        </a:rPr>
                        <a:t>replaceAll(find,</a:t>
                      </a:r>
                      <a:r>
                        <a:rPr sz="2400" spc="-155" dirty="0">
                          <a:latin typeface="Arial"/>
                          <a:cs typeface="Arial"/>
                        </a:rPr>
                        <a:t> </a:t>
                      </a:r>
                      <a:r>
                        <a:rPr sz="2400" spc="-100" dirty="0">
                          <a:latin typeface="Arial"/>
                          <a:cs typeface="Arial"/>
                        </a:rPr>
                        <a:t>replace)</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4"/>
                        </a:spcBef>
                      </a:pPr>
                      <a:r>
                        <a:rPr sz="2400" spc="-155" dirty="0">
                          <a:latin typeface="Arial"/>
                          <a:cs typeface="Arial"/>
                        </a:rPr>
                        <a:t>Tìm </a:t>
                      </a:r>
                      <a:r>
                        <a:rPr sz="2400" spc="-80" dirty="0">
                          <a:latin typeface="Arial"/>
                          <a:cs typeface="Arial"/>
                        </a:rPr>
                        <a:t>kiếm </a:t>
                      </a:r>
                      <a:r>
                        <a:rPr sz="2400" spc="-175" dirty="0">
                          <a:latin typeface="Arial"/>
                          <a:cs typeface="Arial"/>
                        </a:rPr>
                        <a:t>và </a:t>
                      </a:r>
                      <a:r>
                        <a:rPr sz="2400" spc="-75" dirty="0">
                          <a:latin typeface="Arial"/>
                          <a:cs typeface="Arial"/>
                        </a:rPr>
                        <a:t>thay </a:t>
                      </a:r>
                      <a:r>
                        <a:rPr sz="2400" spc="-30" dirty="0">
                          <a:latin typeface="Arial"/>
                          <a:cs typeface="Arial"/>
                        </a:rPr>
                        <a:t>thế </a:t>
                      </a:r>
                      <a:r>
                        <a:rPr sz="2400" spc="10" dirty="0">
                          <a:latin typeface="Arial"/>
                          <a:cs typeface="Arial"/>
                        </a:rPr>
                        <a:t>tất</a:t>
                      </a:r>
                      <a:r>
                        <a:rPr sz="2400" spc="-305" dirty="0">
                          <a:latin typeface="Arial"/>
                          <a:cs typeface="Arial"/>
                        </a:rPr>
                        <a:t> </a:t>
                      </a:r>
                      <a:r>
                        <a:rPr sz="2400" spc="-210" dirty="0">
                          <a:latin typeface="Arial"/>
                          <a:cs typeface="Arial"/>
                        </a:rPr>
                        <a:t>cả</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7"/>
                  </a:ext>
                </a:extLst>
              </a:tr>
              <a:tr h="541020">
                <a:tc>
                  <a:txBody>
                    <a:bodyPr/>
                    <a:lstStyle/>
                    <a:p>
                      <a:pPr marL="97155">
                        <a:lnSpc>
                          <a:spcPct val="100000"/>
                        </a:lnSpc>
                        <a:spcBef>
                          <a:spcPts val="200"/>
                        </a:spcBef>
                      </a:pPr>
                      <a:r>
                        <a:rPr sz="2400" spc="-75" dirty="0">
                          <a:latin typeface="Arial"/>
                          <a:cs typeface="Arial"/>
                        </a:rPr>
                        <a:t>split(separator)</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0"/>
                        </a:spcBef>
                      </a:pPr>
                      <a:r>
                        <a:rPr sz="2400" spc="-235" dirty="0">
                          <a:latin typeface="Arial"/>
                          <a:cs typeface="Arial"/>
                        </a:rPr>
                        <a:t>Tách </a:t>
                      </a:r>
                      <a:r>
                        <a:rPr sz="2400" spc="-80" dirty="0">
                          <a:latin typeface="Arial"/>
                          <a:cs typeface="Arial"/>
                        </a:rPr>
                        <a:t>chuỗi </a:t>
                      </a:r>
                      <a:r>
                        <a:rPr sz="2400" spc="-55" dirty="0">
                          <a:latin typeface="Arial"/>
                          <a:cs typeface="Arial"/>
                        </a:rPr>
                        <a:t>thành</a:t>
                      </a:r>
                      <a:r>
                        <a:rPr sz="2400" spc="-85" dirty="0">
                          <a:latin typeface="Arial"/>
                          <a:cs typeface="Arial"/>
                        </a:rPr>
                        <a:t> </a:t>
                      </a:r>
                      <a:r>
                        <a:rPr sz="2400" spc="-140" dirty="0">
                          <a:latin typeface="Arial"/>
                          <a:cs typeface="Arial"/>
                        </a:rPr>
                        <a:t>mảng</a:t>
                      </a:r>
                      <a:endParaRPr sz="2400" dirty="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348913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Các hàm xử lý chuỗi </a:t>
            </a:r>
          </a:p>
        </p:txBody>
      </p:sp>
      <p:sp>
        <p:nvSpPr>
          <p:cNvPr id="4" name="Slide Number Placeholder 3"/>
          <p:cNvSpPr>
            <a:spLocks noGrp="1"/>
          </p:cNvSpPr>
          <p:nvPr>
            <p:ph type="sldNum" sz="quarter" idx="12"/>
          </p:nvPr>
        </p:nvSpPr>
        <p:spPr/>
        <p:txBody>
          <a:bodyPr/>
          <a:lstStyle/>
          <a:p>
            <a:fld id="{DF4C498B-416A-4F27-9E1B-2DAD6BC6C92F}" type="slidenum">
              <a:rPr lang="en-US" smtClean="0"/>
              <a:t>88</a:t>
            </a:fld>
            <a:endParaRPr lang="en-US" dirty="0"/>
          </a:p>
        </p:txBody>
      </p:sp>
      <p:graphicFrame>
        <p:nvGraphicFramePr>
          <p:cNvPr id="5" name="object 8"/>
          <p:cNvGraphicFramePr>
            <a:graphicFrameLocks noGrp="1"/>
          </p:cNvGraphicFramePr>
          <p:nvPr>
            <p:extLst>
              <p:ext uri="{D42A27DB-BD31-4B8C-83A1-F6EECF244321}">
                <p14:modId xmlns:p14="http://schemas.microsoft.com/office/powerpoint/2010/main" val="3316952154"/>
              </p:ext>
            </p:extLst>
          </p:nvPr>
        </p:nvGraphicFramePr>
        <p:xfrm>
          <a:off x="406245" y="1383835"/>
          <a:ext cx="8230235" cy="4866640"/>
        </p:xfrm>
        <a:graphic>
          <a:graphicData uri="http://schemas.openxmlformats.org/drawingml/2006/table">
            <a:tbl>
              <a:tblPr firstRow="1" bandRow="1">
                <a:tableStyleId>{2D5ABB26-0587-4C30-8999-92F81FD0307C}</a:tableStyleId>
              </a:tblPr>
              <a:tblGrid>
                <a:gridCol w="2567305">
                  <a:extLst>
                    <a:ext uri="{9D8B030D-6E8A-4147-A177-3AD203B41FA5}">
                      <a16:colId xmlns:a16="http://schemas.microsoft.com/office/drawing/2014/main" val="20000"/>
                    </a:ext>
                  </a:extLst>
                </a:gridCol>
                <a:gridCol w="5662930">
                  <a:extLst>
                    <a:ext uri="{9D8B030D-6E8A-4147-A177-3AD203B41FA5}">
                      <a16:colId xmlns:a16="http://schemas.microsoft.com/office/drawing/2014/main" val="20001"/>
                    </a:ext>
                  </a:extLst>
                </a:gridCol>
              </a:tblGrid>
              <a:tr h="541020">
                <a:tc>
                  <a:txBody>
                    <a:bodyPr/>
                    <a:lstStyle/>
                    <a:p>
                      <a:pPr marL="97790">
                        <a:lnSpc>
                          <a:spcPct val="100000"/>
                        </a:lnSpc>
                        <a:spcBef>
                          <a:spcPts val="204"/>
                        </a:spcBef>
                      </a:pPr>
                      <a:r>
                        <a:rPr sz="2400" b="1" spc="-235" dirty="0">
                          <a:solidFill>
                            <a:srgbClr val="FFFFFF"/>
                          </a:solidFill>
                          <a:latin typeface="Arial"/>
                          <a:cs typeface="Arial"/>
                        </a:rPr>
                        <a:t>Phương</a:t>
                      </a:r>
                      <a:r>
                        <a:rPr sz="2400" b="1" spc="-135" dirty="0">
                          <a:solidFill>
                            <a:srgbClr val="FFFFFF"/>
                          </a:solidFill>
                          <a:latin typeface="Arial"/>
                          <a:cs typeface="Arial"/>
                        </a:rPr>
                        <a:t> </a:t>
                      </a:r>
                      <a:r>
                        <a:rPr sz="2400" b="1" spc="-170" dirty="0">
                          <a:solidFill>
                            <a:srgbClr val="FFFFFF"/>
                          </a:solidFill>
                          <a:latin typeface="Arial"/>
                          <a:cs typeface="Arial"/>
                        </a:rPr>
                        <a:t>thức</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tc>
                  <a:txBody>
                    <a:bodyPr/>
                    <a:lstStyle/>
                    <a:p>
                      <a:pPr marL="97155">
                        <a:lnSpc>
                          <a:spcPct val="100000"/>
                        </a:lnSpc>
                        <a:spcBef>
                          <a:spcPts val="204"/>
                        </a:spcBef>
                      </a:pPr>
                      <a:r>
                        <a:rPr sz="2400" b="1" spc="-40" dirty="0">
                          <a:solidFill>
                            <a:srgbClr val="FFFFFF"/>
                          </a:solidFill>
                          <a:latin typeface="Arial"/>
                          <a:cs typeface="Arial"/>
                        </a:rPr>
                        <a:t>Mô</a:t>
                      </a:r>
                      <a:r>
                        <a:rPr sz="2400" b="1" spc="-140" dirty="0">
                          <a:solidFill>
                            <a:srgbClr val="FFFFFF"/>
                          </a:solidFill>
                          <a:latin typeface="Arial"/>
                          <a:cs typeface="Arial"/>
                        </a:rPr>
                        <a:t> </a:t>
                      </a:r>
                      <a:r>
                        <a:rPr sz="2400" b="1" spc="-90" dirty="0">
                          <a:solidFill>
                            <a:srgbClr val="FFFFFF"/>
                          </a:solidFill>
                          <a:latin typeface="Arial"/>
                          <a:cs typeface="Arial"/>
                        </a:rPr>
                        <a:t>tả</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79646"/>
                    </a:solidFill>
                  </a:tcPr>
                </a:tc>
                <a:extLst>
                  <a:ext uri="{0D108BD9-81ED-4DB2-BD59-A6C34878D82A}">
                    <a16:rowId xmlns:a16="http://schemas.microsoft.com/office/drawing/2014/main" val="10000"/>
                  </a:ext>
                </a:extLst>
              </a:tr>
              <a:tr h="540385">
                <a:tc>
                  <a:txBody>
                    <a:bodyPr/>
                    <a:lstStyle/>
                    <a:p>
                      <a:pPr marL="97155">
                        <a:lnSpc>
                          <a:spcPct val="100000"/>
                        </a:lnSpc>
                        <a:spcBef>
                          <a:spcPts val="204"/>
                        </a:spcBef>
                      </a:pPr>
                      <a:r>
                        <a:rPr sz="2400" spc="-110" dirty="0">
                          <a:latin typeface="Arial"/>
                          <a:cs typeface="Arial"/>
                        </a:rPr>
                        <a:t>equals()</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4"/>
                        </a:spcBef>
                      </a:pPr>
                      <a:r>
                        <a:rPr sz="2400" spc="-285" dirty="0">
                          <a:latin typeface="Arial"/>
                          <a:cs typeface="Arial"/>
                        </a:rPr>
                        <a:t>So </a:t>
                      </a:r>
                      <a:r>
                        <a:rPr sz="2400" spc="-155" dirty="0">
                          <a:latin typeface="Arial"/>
                          <a:cs typeface="Arial"/>
                        </a:rPr>
                        <a:t>sánh </a:t>
                      </a:r>
                      <a:r>
                        <a:rPr sz="2400" spc="-140" dirty="0">
                          <a:latin typeface="Arial"/>
                          <a:cs typeface="Arial"/>
                        </a:rPr>
                        <a:t>bằng có </a:t>
                      </a:r>
                      <a:r>
                        <a:rPr sz="2400" spc="-105" dirty="0">
                          <a:latin typeface="Arial"/>
                          <a:cs typeface="Arial"/>
                        </a:rPr>
                        <a:t>phân </a:t>
                      </a:r>
                      <a:r>
                        <a:rPr sz="2400" spc="-20" dirty="0">
                          <a:latin typeface="Arial"/>
                          <a:cs typeface="Arial"/>
                        </a:rPr>
                        <a:t>biệt</a:t>
                      </a:r>
                      <a:r>
                        <a:rPr sz="2400" spc="-360" dirty="0">
                          <a:latin typeface="Arial"/>
                          <a:cs typeface="Arial"/>
                        </a:rPr>
                        <a:t> </a:t>
                      </a:r>
                      <a:r>
                        <a:rPr sz="2400" spc="-70" dirty="0">
                          <a:latin typeface="Arial"/>
                          <a:cs typeface="Arial"/>
                        </a:rPr>
                        <a:t>hoa/thường</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1"/>
                  </a:ext>
                </a:extLst>
              </a:tr>
              <a:tr h="541020">
                <a:tc>
                  <a:txBody>
                    <a:bodyPr/>
                    <a:lstStyle/>
                    <a:p>
                      <a:pPr marL="97155">
                        <a:lnSpc>
                          <a:spcPct val="100000"/>
                        </a:lnSpc>
                        <a:spcBef>
                          <a:spcPts val="200"/>
                        </a:spcBef>
                      </a:pPr>
                      <a:r>
                        <a:rPr sz="2400" spc="-140" dirty="0">
                          <a:latin typeface="Arial"/>
                          <a:cs typeface="Arial"/>
                        </a:rPr>
                        <a:t>equalsIgnoreCase()</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0"/>
                        </a:spcBef>
                      </a:pPr>
                      <a:r>
                        <a:rPr sz="2400" spc="-285" dirty="0">
                          <a:latin typeface="Arial"/>
                          <a:cs typeface="Arial"/>
                        </a:rPr>
                        <a:t>So </a:t>
                      </a:r>
                      <a:r>
                        <a:rPr sz="2400" spc="-155" dirty="0">
                          <a:latin typeface="Arial"/>
                          <a:cs typeface="Arial"/>
                        </a:rPr>
                        <a:t>sánh </a:t>
                      </a:r>
                      <a:r>
                        <a:rPr sz="2400" spc="-140" dirty="0">
                          <a:latin typeface="Arial"/>
                          <a:cs typeface="Arial"/>
                        </a:rPr>
                        <a:t>bằng </a:t>
                      </a:r>
                      <a:r>
                        <a:rPr sz="2400" spc="-110" dirty="0">
                          <a:latin typeface="Arial"/>
                          <a:cs typeface="Arial"/>
                        </a:rPr>
                        <a:t>không </a:t>
                      </a:r>
                      <a:r>
                        <a:rPr sz="2400" spc="-105" dirty="0">
                          <a:latin typeface="Arial"/>
                          <a:cs typeface="Arial"/>
                        </a:rPr>
                        <a:t>phân </a:t>
                      </a:r>
                      <a:r>
                        <a:rPr sz="2400" spc="-20" dirty="0">
                          <a:latin typeface="Arial"/>
                          <a:cs typeface="Arial"/>
                        </a:rPr>
                        <a:t>biệt</a:t>
                      </a:r>
                      <a:r>
                        <a:rPr sz="2400" spc="-390" dirty="0">
                          <a:latin typeface="Arial"/>
                          <a:cs typeface="Arial"/>
                        </a:rPr>
                        <a:t> </a:t>
                      </a:r>
                      <a:r>
                        <a:rPr sz="2400" spc="-70" dirty="0">
                          <a:latin typeface="Arial"/>
                          <a:cs typeface="Arial"/>
                        </a:rPr>
                        <a:t>hoa/thường</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2"/>
                  </a:ext>
                </a:extLst>
              </a:tr>
              <a:tr h="540385">
                <a:tc>
                  <a:txBody>
                    <a:bodyPr/>
                    <a:lstStyle/>
                    <a:p>
                      <a:pPr marL="97155">
                        <a:lnSpc>
                          <a:spcPct val="100000"/>
                        </a:lnSpc>
                        <a:spcBef>
                          <a:spcPts val="200"/>
                        </a:spcBef>
                      </a:pPr>
                      <a:r>
                        <a:rPr sz="2400" spc="-95" dirty="0">
                          <a:latin typeface="Arial"/>
                          <a:cs typeface="Arial"/>
                        </a:rPr>
                        <a:t>contains()</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0"/>
                        </a:spcBef>
                      </a:pPr>
                      <a:r>
                        <a:rPr sz="2400" spc="-140" dirty="0">
                          <a:latin typeface="Arial"/>
                          <a:cs typeface="Arial"/>
                        </a:rPr>
                        <a:t>Kiểm </a:t>
                      </a:r>
                      <a:r>
                        <a:rPr sz="2400" spc="-20" dirty="0">
                          <a:latin typeface="Arial"/>
                          <a:cs typeface="Arial"/>
                        </a:rPr>
                        <a:t>tra </a:t>
                      </a:r>
                      <a:r>
                        <a:rPr sz="2400" spc="-140" dirty="0">
                          <a:latin typeface="Arial"/>
                          <a:cs typeface="Arial"/>
                        </a:rPr>
                        <a:t>có </a:t>
                      </a:r>
                      <a:r>
                        <a:rPr sz="2400" spc="-155" dirty="0">
                          <a:latin typeface="Arial"/>
                          <a:cs typeface="Arial"/>
                        </a:rPr>
                        <a:t>chứa </a:t>
                      </a:r>
                      <a:r>
                        <a:rPr sz="2400" spc="-145" dirty="0">
                          <a:latin typeface="Arial"/>
                          <a:cs typeface="Arial"/>
                        </a:rPr>
                        <a:t>hay</a:t>
                      </a:r>
                      <a:r>
                        <a:rPr sz="2400" spc="-225" dirty="0">
                          <a:latin typeface="Arial"/>
                          <a:cs typeface="Arial"/>
                        </a:rPr>
                        <a:t> </a:t>
                      </a:r>
                      <a:r>
                        <a:rPr sz="2400" spc="-110" dirty="0">
                          <a:latin typeface="Arial"/>
                          <a:cs typeface="Arial"/>
                        </a:rPr>
                        <a:t>không</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3"/>
                  </a:ext>
                </a:extLst>
              </a:tr>
              <a:tr h="541020">
                <a:tc>
                  <a:txBody>
                    <a:bodyPr/>
                    <a:lstStyle/>
                    <a:p>
                      <a:pPr marL="97155">
                        <a:lnSpc>
                          <a:spcPct val="100000"/>
                        </a:lnSpc>
                        <a:spcBef>
                          <a:spcPts val="204"/>
                        </a:spcBef>
                      </a:pPr>
                      <a:r>
                        <a:rPr sz="2400" spc="-55" dirty="0">
                          <a:latin typeface="Arial"/>
                          <a:cs typeface="Arial"/>
                        </a:rPr>
                        <a:t>startsWith()</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4"/>
                        </a:spcBef>
                      </a:pPr>
                      <a:r>
                        <a:rPr sz="2400" spc="-140" dirty="0">
                          <a:latin typeface="Arial"/>
                          <a:cs typeface="Arial"/>
                        </a:rPr>
                        <a:t>Kiểm </a:t>
                      </a:r>
                      <a:r>
                        <a:rPr sz="2400" spc="-20" dirty="0">
                          <a:latin typeface="Arial"/>
                          <a:cs typeface="Arial"/>
                        </a:rPr>
                        <a:t>tra </a:t>
                      </a:r>
                      <a:r>
                        <a:rPr sz="2400" spc="-140" dirty="0">
                          <a:latin typeface="Arial"/>
                          <a:cs typeface="Arial"/>
                        </a:rPr>
                        <a:t>có </a:t>
                      </a:r>
                      <a:r>
                        <a:rPr sz="2400" spc="-55" dirty="0">
                          <a:latin typeface="Arial"/>
                          <a:cs typeface="Arial"/>
                        </a:rPr>
                        <a:t>bắt </a:t>
                      </a:r>
                      <a:r>
                        <a:rPr sz="2400" spc="-95" dirty="0">
                          <a:latin typeface="Arial"/>
                          <a:cs typeface="Arial"/>
                        </a:rPr>
                        <a:t>đầu </a:t>
                      </a:r>
                      <a:r>
                        <a:rPr sz="2400" spc="-85" dirty="0">
                          <a:latin typeface="Arial"/>
                          <a:cs typeface="Arial"/>
                        </a:rPr>
                        <a:t>bởi </a:t>
                      </a:r>
                      <a:r>
                        <a:rPr sz="2400" spc="-145" dirty="0">
                          <a:latin typeface="Arial"/>
                          <a:cs typeface="Arial"/>
                        </a:rPr>
                        <a:t>hay</a:t>
                      </a:r>
                      <a:r>
                        <a:rPr sz="2400" spc="-415" dirty="0">
                          <a:latin typeface="Arial"/>
                          <a:cs typeface="Arial"/>
                        </a:rPr>
                        <a:t> </a:t>
                      </a:r>
                      <a:r>
                        <a:rPr sz="2400" spc="-110" dirty="0">
                          <a:latin typeface="Arial"/>
                          <a:cs typeface="Arial"/>
                        </a:rPr>
                        <a:t>không</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4"/>
                  </a:ext>
                </a:extLst>
              </a:tr>
              <a:tr h="540385">
                <a:tc>
                  <a:txBody>
                    <a:bodyPr/>
                    <a:lstStyle/>
                    <a:p>
                      <a:pPr marL="97155">
                        <a:lnSpc>
                          <a:spcPct val="100000"/>
                        </a:lnSpc>
                        <a:spcBef>
                          <a:spcPts val="200"/>
                        </a:spcBef>
                      </a:pPr>
                      <a:r>
                        <a:rPr sz="2400" spc="-80" dirty="0">
                          <a:latin typeface="Arial"/>
                          <a:cs typeface="Arial"/>
                        </a:rPr>
                        <a:t>endsWith</a:t>
                      </a:r>
                      <a:r>
                        <a:rPr sz="2400" spc="-135" dirty="0">
                          <a:latin typeface="Arial"/>
                          <a:cs typeface="Arial"/>
                        </a:rPr>
                        <a:t> </a:t>
                      </a:r>
                      <a:r>
                        <a:rPr sz="2400" spc="-75" dirty="0">
                          <a:latin typeface="Arial"/>
                          <a:cs typeface="Arial"/>
                        </a:rPr>
                        <a:t>()</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0"/>
                        </a:spcBef>
                      </a:pPr>
                      <a:r>
                        <a:rPr sz="2400" spc="-140" dirty="0">
                          <a:latin typeface="Arial"/>
                          <a:cs typeface="Arial"/>
                        </a:rPr>
                        <a:t>Kiểm </a:t>
                      </a:r>
                      <a:r>
                        <a:rPr sz="2400" spc="-20" dirty="0">
                          <a:latin typeface="Arial"/>
                          <a:cs typeface="Arial"/>
                        </a:rPr>
                        <a:t>tra </a:t>
                      </a:r>
                      <a:r>
                        <a:rPr sz="2400" spc="-140" dirty="0">
                          <a:latin typeface="Arial"/>
                          <a:cs typeface="Arial"/>
                        </a:rPr>
                        <a:t>có </a:t>
                      </a:r>
                      <a:r>
                        <a:rPr sz="2400" spc="-70" dirty="0">
                          <a:latin typeface="Arial"/>
                          <a:cs typeface="Arial"/>
                        </a:rPr>
                        <a:t>kết </a:t>
                      </a:r>
                      <a:r>
                        <a:rPr sz="2400" spc="-50" dirty="0">
                          <a:latin typeface="Arial"/>
                          <a:cs typeface="Arial"/>
                        </a:rPr>
                        <a:t>thúc </a:t>
                      </a:r>
                      <a:r>
                        <a:rPr sz="2400" spc="-85" dirty="0">
                          <a:latin typeface="Arial"/>
                          <a:cs typeface="Arial"/>
                        </a:rPr>
                        <a:t>bởi </a:t>
                      </a:r>
                      <a:r>
                        <a:rPr sz="2400" spc="-145" dirty="0">
                          <a:latin typeface="Arial"/>
                          <a:cs typeface="Arial"/>
                        </a:rPr>
                        <a:t>hay</a:t>
                      </a:r>
                      <a:r>
                        <a:rPr sz="2400" spc="-465" dirty="0">
                          <a:latin typeface="Arial"/>
                          <a:cs typeface="Arial"/>
                        </a:rPr>
                        <a:t> </a:t>
                      </a:r>
                      <a:r>
                        <a:rPr sz="2400" spc="-110" dirty="0">
                          <a:latin typeface="Arial"/>
                          <a:cs typeface="Arial"/>
                        </a:rPr>
                        <a:t>không</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5"/>
                  </a:ext>
                </a:extLst>
              </a:tr>
              <a:tr h="540385">
                <a:tc>
                  <a:txBody>
                    <a:bodyPr/>
                    <a:lstStyle/>
                    <a:p>
                      <a:pPr marL="97155">
                        <a:lnSpc>
                          <a:spcPct val="100000"/>
                        </a:lnSpc>
                        <a:spcBef>
                          <a:spcPts val="200"/>
                        </a:spcBef>
                      </a:pPr>
                      <a:r>
                        <a:rPr sz="2400" spc="-120" dirty="0">
                          <a:latin typeface="Arial"/>
                          <a:cs typeface="Arial"/>
                        </a:rPr>
                        <a:t>matches</a:t>
                      </a:r>
                      <a:r>
                        <a:rPr sz="2400" spc="-160" dirty="0">
                          <a:latin typeface="Arial"/>
                          <a:cs typeface="Arial"/>
                        </a:rPr>
                        <a:t> </a:t>
                      </a:r>
                      <a:r>
                        <a:rPr sz="2400" spc="-75" dirty="0">
                          <a:latin typeface="Arial"/>
                          <a:cs typeface="Arial"/>
                        </a:rPr>
                        <a:t>()</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0"/>
                        </a:spcBef>
                      </a:pPr>
                      <a:r>
                        <a:rPr sz="2400" spc="-285" dirty="0">
                          <a:latin typeface="Arial"/>
                          <a:cs typeface="Arial"/>
                        </a:rPr>
                        <a:t>So </a:t>
                      </a:r>
                      <a:r>
                        <a:rPr sz="2400" spc="-110" dirty="0">
                          <a:latin typeface="Arial"/>
                          <a:cs typeface="Arial"/>
                        </a:rPr>
                        <a:t>khớp </a:t>
                      </a:r>
                      <a:r>
                        <a:rPr sz="2400" spc="-105" dirty="0">
                          <a:latin typeface="Arial"/>
                          <a:cs typeface="Arial"/>
                        </a:rPr>
                        <a:t>với </a:t>
                      </a:r>
                      <a:r>
                        <a:rPr sz="2400" spc="-145" dirty="0">
                          <a:latin typeface="Arial"/>
                          <a:cs typeface="Arial"/>
                        </a:rPr>
                        <a:t>hay</a:t>
                      </a:r>
                      <a:r>
                        <a:rPr sz="2400" spc="-425" dirty="0">
                          <a:latin typeface="Arial"/>
                          <a:cs typeface="Arial"/>
                        </a:rPr>
                        <a:t> </a:t>
                      </a:r>
                      <a:r>
                        <a:rPr sz="2400" spc="-130" dirty="0">
                          <a:latin typeface="Arial"/>
                          <a:cs typeface="Arial"/>
                        </a:rPr>
                        <a:t>không?</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6"/>
                  </a:ext>
                </a:extLst>
              </a:tr>
              <a:tr h="541020">
                <a:tc>
                  <a:txBody>
                    <a:bodyPr/>
                    <a:lstStyle/>
                    <a:p>
                      <a:pPr marL="97155">
                        <a:lnSpc>
                          <a:spcPct val="100000"/>
                        </a:lnSpc>
                        <a:spcBef>
                          <a:spcPts val="204"/>
                        </a:spcBef>
                      </a:pPr>
                      <a:r>
                        <a:rPr sz="2400" spc="-95" dirty="0">
                          <a:latin typeface="Arial"/>
                          <a:cs typeface="Arial"/>
                        </a:rPr>
                        <a:t>indexOf()</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tc>
                  <a:txBody>
                    <a:bodyPr/>
                    <a:lstStyle/>
                    <a:p>
                      <a:pPr marL="97155">
                        <a:lnSpc>
                          <a:spcPct val="100000"/>
                        </a:lnSpc>
                        <a:spcBef>
                          <a:spcPts val="204"/>
                        </a:spcBef>
                      </a:pPr>
                      <a:r>
                        <a:rPr sz="2400" spc="-155" dirty="0">
                          <a:latin typeface="Arial"/>
                          <a:cs typeface="Arial"/>
                        </a:rPr>
                        <a:t>Tìm </a:t>
                      </a:r>
                      <a:r>
                        <a:rPr sz="2400" spc="-55" dirty="0">
                          <a:latin typeface="Arial"/>
                          <a:cs typeface="Arial"/>
                        </a:rPr>
                        <a:t>vị </a:t>
                      </a:r>
                      <a:r>
                        <a:rPr sz="2400" spc="15" dirty="0">
                          <a:latin typeface="Arial"/>
                          <a:cs typeface="Arial"/>
                        </a:rPr>
                        <a:t>trí</a:t>
                      </a:r>
                      <a:r>
                        <a:rPr sz="2400" spc="-505" dirty="0">
                          <a:latin typeface="Arial"/>
                          <a:cs typeface="Arial"/>
                        </a:rPr>
                        <a:t> </a:t>
                      </a:r>
                      <a:r>
                        <a:rPr sz="2400" spc="-85" dirty="0">
                          <a:latin typeface="Arial"/>
                          <a:cs typeface="Arial"/>
                        </a:rPr>
                        <a:t>xuất </a:t>
                      </a:r>
                      <a:r>
                        <a:rPr sz="2400" spc="-70" dirty="0">
                          <a:latin typeface="Arial"/>
                          <a:cs typeface="Arial"/>
                        </a:rPr>
                        <a:t>hiện </a:t>
                      </a:r>
                      <a:r>
                        <a:rPr sz="2400" spc="-95" dirty="0">
                          <a:latin typeface="Arial"/>
                          <a:cs typeface="Arial"/>
                        </a:rPr>
                        <a:t>đầu </a:t>
                      </a:r>
                      <a:r>
                        <a:rPr sz="2400" spc="-15" dirty="0">
                          <a:latin typeface="Arial"/>
                          <a:cs typeface="Arial"/>
                        </a:rPr>
                        <a:t>tiên </a:t>
                      </a:r>
                      <a:r>
                        <a:rPr sz="2400" spc="-150" dirty="0">
                          <a:latin typeface="Arial"/>
                          <a:cs typeface="Arial"/>
                        </a:rPr>
                        <a:t>của </a:t>
                      </a:r>
                      <a:r>
                        <a:rPr sz="2400" spc="-80" dirty="0">
                          <a:latin typeface="Arial"/>
                          <a:cs typeface="Arial"/>
                        </a:rPr>
                        <a:t>chuỗi </a:t>
                      </a:r>
                      <a:r>
                        <a:rPr sz="2400" spc="-120" dirty="0">
                          <a:latin typeface="Arial"/>
                          <a:cs typeface="Arial"/>
                        </a:rPr>
                        <a:t>con</a:t>
                      </a:r>
                      <a:endParaRPr sz="2400">
                        <a:latin typeface="Arial"/>
                        <a:cs typeface="Arial"/>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DCF"/>
                    </a:solidFill>
                  </a:tcPr>
                </a:tc>
                <a:extLst>
                  <a:ext uri="{0D108BD9-81ED-4DB2-BD59-A6C34878D82A}">
                    <a16:rowId xmlns:a16="http://schemas.microsoft.com/office/drawing/2014/main" val="10007"/>
                  </a:ext>
                </a:extLst>
              </a:tr>
              <a:tr h="541020">
                <a:tc>
                  <a:txBody>
                    <a:bodyPr/>
                    <a:lstStyle/>
                    <a:p>
                      <a:pPr marL="97155">
                        <a:lnSpc>
                          <a:spcPct val="100000"/>
                        </a:lnSpc>
                        <a:spcBef>
                          <a:spcPts val="200"/>
                        </a:spcBef>
                      </a:pPr>
                      <a:r>
                        <a:rPr sz="2400" spc="-100" dirty="0">
                          <a:latin typeface="Arial"/>
                          <a:cs typeface="Arial"/>
                        </a:rPr>
                        <a:t>lastIndexOf()</a:t>
                      </a:r>
                      <a:endParaRPr sz="240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tc>
                  <a:txBody>
                    <a:bodyPr/>
                    <a:lstStyle/>
                    <a:p>
                      <a:pPr marL="97155">
                        <a:lnSpc>
                          <a:spcPct val="100000"/>
                        </a:lnSpc>
                        <a:spcBef>
                          <a:spcPts val="200"/>
                        </a:spcBef>
                      </a:pPr>
                      <a:r>
                        <a:rPr sz="2400" spc="-155" dirty="0">
                          <a:latin typeface="Arial"/>
                          <a:cs typeface="Arial"/>
                        </a:rPr>
                        <a:t>Tìm </a:t>
                      </a:r>
                      <a:r>
                        <a:rPr sz="2400" spc="-55" dirty="0">
                          <a:latin typeface="Arial"/>
                          <a:cs typeface="Arial"/>
                        </a:rPr>
                        <a:t>vị </a:t>
                      </a:r>
                      <a:r>
                        <a:rPr sz="2400" spc="15" dirty="0">
                          <a:latin typeface="Arial"/>
                          <a:cs typeface="Arial"/>
                        </a:rPr>
                        <a:t>trí </a:t>
                      </a:r>
                      <a:r>
                        <a:rPr sz="2400" spc="-85" dirty="0">
                          <a:latin typeface="Arial"/>
                          <a:cs typeface="Arial"/>
                        </a:rPr>
                        <a:t>xuất </a:t>
                      </a:r>
                      <a:r>
                        <a:rPr sz="2400" spc="-70" dirty="0">
                          <a:latin typeface="Arial"/>
                          <a:cs typeface="Arial"/>
                        </a:rPr>
                        <a:t>hiện </a:t>
                      </a:r>
                      <a:r>
                        <a:rPr sz="2400" spc="-85" dirty="0">
                          <a:latin typeface="Arial"/>
                          <a:cs typeface="Arial"/>
                        </a:rPr>
                        <a:t>cuối </a:t>
                      </a:r>
                      <a:r>
                        <a:rPr sz="2400" spc="-140" dirty="0">
                          <a:latin typeface="Arial"/>
                          <a:cs typeface="Arial"/>
                        </a:rPr>
                        <a:t>cùng </a:t>
                      </a:r>
                      <a:r>
                        <a:rPr sz="2400" spc="-150" dirty="0">
                          <a:latin typeface="Arial"/>
                          <a:cs typeface="Arial"/>
                        </a:rPr>
                        <a:t>của </a:t>
                      </a:r>
                      <a:r>
                        <a:rPr sz="2400" spc="-80" dirty="0">
                          <a:latin typeface="Arial"/>
                          <a:cs typeface="Arial"/>
                        </a:rPr>
                        <a:t>chuỗi</a:t>
                      </a:r>
                      <a:r>
                        <a:rPr sz="2400" spc="-490" dirty="0">
                          <a:latin typeface="Arial"/>
                          <a:cs typeface="Arial"/>
                        </a:rPr>
                        <a:t> </a:t>
                      </a:r>
                      <a:r>
                        <a:rPr sz="2400" spc="-120" dirty="0">
                          <a:latin typeface="Arial"/>
                          <a:cs typeface="Arial"/>
                        </a:rPr>
                        <a:t>con</a:t>
                      </a:r>
                      <a:endParaRPr sz="2400" dirty="0">
                        <a:latin typeface="Arial"/>
                        <a:cs typeface="Arial"/>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DEFE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945145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Ví dụ</a:t>
            </a:r>
          </a:p>
        </p:txBody>
      </p:sp>
      <p:sp>
        <p:nvSpPr>
          <p:cNvPr id="3" name="Content Placeholder 2"/>
          <p:cNvSpPr>
            <a:spLocks noGrp="1"/>
          </p:cNvSpPr>
          <p:nvPr>
            <p:ph idx="1"/>
          </p:nvPr>
        </p:nvSpPr>
        <p:spPr>
          <a:xfrm>
            <a:off x="628650" y="1421413"/>
            <a:ext cx="7886700" cy="4934938"/>
          </a:xfrm>
        </p:spPr>
        <p:txBody>
          <a:bodyPr>
            <a:noAutofit/>
          </a:bodyPr>
          <a:lstStyle/>
          <a:p>
            <a:pPr marL="0" indent="0" algn="just">
              <a:lnSpc>
                <a:spcPts val="3700"/>
              </a:lnSpc>
              <a:spcBef>
                <a:spcPts val="600"/>
              </a:spcBef>
              <a:spcAft>
                <a:spcPts val="600"/>
              </a:spcAft>
              <a:buNone/>
            </a:pPr>
            <a:endParaRPr lang="en-US" b="1"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89</a:t>
            </a:fld>
            <a:endParaRPr lang="en-US" dirty="0"/>
          </a:p>
        </p:txBody>
      </p:sp>
      <p:sp>
        <p:nvSpPr>
          <p:cNvPr id="9" name="object 12"/>
          <p:cNvSpPr/>
          <p:nvPr/>
        </p:nvSpPr>
        <p:spPr>
          <a:xfrm>
            <a:off x="334537" y="3372393"/>
            <a:ext cx="7143749" cy="1066836"/>
          </a:xfrm>
          <a:custGeom>
            <a:avLst/>
            <a:gdLst/>
            <a:ahLst/>
            <a:cxnLst/>
            <a:rect l="l" t="t" r="r" b="b"/>
            <a:pathLst>
              <a:path w="5791200" h="1241425">
                <a:moveTo>
                  <a:pt x="0" y="0"/>
                </a:moveTo>
                <a:lnTo>
                  <a:pt x="5791200" y="0"/>
                </a:lnTo>
                <a:lnTo>
                  <a:pt x="5791200" y="1008291"/>
                </a:lnTo>
                <a:lnTo>
                  <a:pt x="5720577" y="1008367"/>
                </a:lnTo>
                <a:lnTo>
                  <a:pt x="5651102" y="1008596"/>
                </a:lnTo>
                <a:lnTo>
                  <a:pt x="5582756" y="1008973"/>
                </a:lnTo>
                <a:lnTo>
                  <a:pt x="5515520" y="1009495"/>
                </a:lnTo>
                <a:lnTo>
                  <a:pt x="5449375" y="1010159"/>
                </a:lnTo>
                <a:lnTo>
                  <a:pt x="5384302" y="1010961"/>
                </a:lnTo>
                <a:lnTo>
                  <a:pt x="5320281" y="1011898"/>
                </a:lnTo>
                <a:lnTo>
                  <a:pt x="5257293" y="1012968"/>
                </a:lnTo>
                <a:lnTo>
                  <a:pt x="5195319" y="1014167"/>
                </a:lnTo>
                <a:lnTo>
                  <a:pt x="5134341" y="1015491"/>
                </a:lnTo>
                <a:lnTo>
                  <a:pt x="5074338" y="1016937"/>
                </a:lnTo>
                <a:lnTo>
                  <a:pt x="5015292" y="1018502"/>
                </a:lnTo>
                <a:lnTo>
                  <a:pt x="4957184" y="1020183"/>
                </a:lnTo>
                <a:lnTo>
                  <a:pt x="4899994" y="1021977"/>
                </a:lnTo>
                <a:lnTo>
                  <a:pt x="4843704" y="1023879"/>
                </a:lnTo>
                <a:lnTo>
                  <a:pt x="4788294" y="1025888"/>
                </a:lnTo>
                <a:lnTo>
                  <a:pt x="4733745" y="1028000"/>
                </a:lnTo>
                <a:lnTo>
                  <a:pt x="4680038" y="1030210"/>
                </a:lnTo>
                <a:lnTo>
                  <a:pt x="4627154" y="1032517"/>
                </a:lnTo>
                <a:lnTo>
                  <a:pt x="4575073" y="1034917"/>
                </a:lnTo>
                <a:lnTo>
                  <a:pt x="4523777" y="1037407"/>
                </a:lnTo>
                <a:lnTo>
                  <a:pt x="4473247" y="1039983"/>
                </a:lnTo>
                <a:lnTo>
                  <a:pt x="4423463" y="1042642"/>
                </a:lnTo>
                <a:lnTo>
                  <a:pt x="4374405" y="1045381"/>
                </a:lnTo>
                <a:lnTo>
                  <a:pt x="4326056" y="1048197"/>
                </a:lnTo>
                <a:lnTo>
                  <a:pt x="4278396" y="1051086"/>
                </a:lnTo>
                <a:lnTo>
                  <a:pt x="4231406" y="1054045"/>
                </a:lnTo>
                <a:lnTo>
                  <a:pt x="4185066" y="1057071"/>
                </a:lnTo>
                <a:lnTo>
                  <a:pt x="4139357" y="1060161"/>
                </a:lnTo>
                <a:lnTo>
                  <a:pt x="4094261" y="1063311"/>
                </a:lnTo>
                <a:lnTo>
                  <a:pt x="4049759" y="1066518"/>
                </a:lnTo>
                <a:lnTo>
                  <a:pt x="4005830" y="1069778"/>
                </a:lnTo>
                <a:lnTo>
                  <a:pt x="3962456" y="1073090"/>
                </a:lnTo>
                <a:lnTo>
                  <a:pt x="3919618" y="1076448"/>
                </a:lnTo>
                <a:lnTo>
                  <a:pt x="3877296" y="1079851"/>
                </a:lnTo>
                <a:lnTo>
                  <a:pt x="3835473" y="1083294"/>
                </a:lnTo>
                <a:lnTo>
                  <a:pt x="3794127" y="1086775"/>
                </a:lnTo>
                <a:lnTo>
                  <a:pt x="3753241" y="1090290"/>
                </a:lnTo>
                <a:lnTo>
                  <a:pt x="3712795" y="1093837"/>
                </a:lnTo>
                <a:lnTo>
                  <a:pt x="3672770" y="1097410"/>
                </a:lnTo>
                <a:lnTo>
                  <a:pt x="3633146" y="1101009"/>
                </a:lnTo>
                <a:lnTo>
                  <a:pt x="3593906" y="1104628"/>
                </a:lnTo>
                <a:lnTo>
                  <a:pt x="3555029" y="1108266"/>
                </a:lnTo>
                <a:lnTo>
                  <a:pt x="3516496" y="1111918"/>
                </a:lnTo>
                <a:lnTo>
                  <a:pt x="3478289" y="1115581"/>
                </a:lnTo>
                <a:lnTo>
                  <a:pt x="3402774" y="1122930"/>
                </a:lnTo>
                <a:lnTo>
                  <a:pt x="3328330" y="1130285"/>
                </a:lnTo>
                <a:lnTo>
                  <a:pt x="3254805" y="1137620"/>
                </a:lnTo>
                <a:lnTo>
                  <a:pt x="3182046" y="1144910"/>
                </a:lnTo>
                <a:lnTo>
                  <a:pt x="3145905" y="1148530"/>
                </a:lnTo>
                <a:lnTo>
                  <a:pt x="3074006" y="1155702"/>
                </a:lnTo>
                <a:lnTo>
                  <a:pt x="3002491" y="1162764"/>
                </a:lnTo>
                <a:lnTo>
                  <a:pt x="2931204" y="1169689"/>
                </a:lnTo>
                <a:lnTo>
                  <a:pt x="2859995" y="1176451"/>
                </a:lnTo>
                <a:lnTo>
                  <a:pt x="2788708" y="1183024"/>
                </a:lnTo>
                <a:lnTo>
                  <a:pt x="2717193" y="1189382"/>
                </a:lnTo>
                <a:lnTo>
                  <a:pt x="2645294" y="1195499"/>
                </a:lnTo>
                <a:lnTo>
                  <a:pt x="2572860" y="1201348"/>
                </a:lnTo>
                <a:lnTo>
                  <a:pt x="2499737" y="1206904"/>
                </a:lnTo>
                <a:lnTo>
                  <a:pt x="2425771" y="1212141"/>
                </a:lnTo>
                <a:lnTo>
                  <a:pt x="2350811" y="1217032"/>
                </a:lnTo>
                <a:lnTo>
                  <a:pt x="2274703" y="1221551"/>
                </a:lnTo>
                <a:lnTo>
                  <a:pt x="2236170" y="1223663"/>
                </a:lnTo>
                <a:lnTo>
                  <a:pt x="2197293" y="1225673"/>
                </a:lnTo>
                <a:lnTo>
                  <a:pt x="2158053" y="1227576"/>
                </a:lnTo>
                <a:lnTo>
                  <a:pt x="2118429" y="1229371"/>
                </a:lnTo>
                <a:lnTo>
                  <a:pt x="2078404" y="1231053"/>
                </a:lnTo>
                <a:lnTo>
                  <a:pt x="2037958" y="1232619"/>
                </a:lnTo>
                <a:lnTo>
                  <a:pt x="1997072" y="1234066"/>
                </a:lnTo>
                <a:lnTo>
                  <a:pt x="1955726" y="1235391"/>
                </a:lnTo>
                <a:lnTo>
                  <a:pt x="1913903" y="1236591"/>
                </a:lnTo>
                <a:lnTo>
                  <a:pt x="1871581" y="1237662"/>
                </a:lnTo>
                <a:lnTo>
                  <a:pt x="1828743" y="1238600"/>
                </a:lnTo>
                <a:lnTo>
                  <a:pt x="1785369" y="1239404"/>
                </a:lnTo>
                <a:lnTo>
                  <a:pt x="1741440" y="1240069"/>
                </a:lnTo>
                <a:lnTo>
                  <a:pt x="1696938" y="1240592"/>
                </a:lnTo>
                <a:lnTo>
                  <a:pt x="1651842" y="1240970"/>
                </a:lnTo>
                <a:lnTo>
                  <a:pt x="1606133" y="1241200"/>
                </a:lnTo>
                <a:lnTo>
                  <a:pt x="1559793" y="1241278"/>
                </a:lnTo>
                <a:lnTo>
                  <a:pt x="1512803" y="1241201"/>
                </a:lnTo>
                <a:lnTo>
                  <a:pt x="1465143" y="1240966"/>
                </a:lnTo>
                <a:lnTo>
                  <a:pt x="1416794" y="1240570"/>
                </a:lnTo>
                <a:lnTo>
                  <a:pt x="1367736" y="1240009"/>
                </a:lnTo>
                <a:lnTo>
                  <a:pt x="1317952" y="1239281"/>
                </a:lnTo>
                <a:lnTo>
                  <a:pt x="1267422" y="1238381"/>
                </a:lnTo>
                <a:lnTo>
                  <a:pt x="1216126" y="1237307"/>
                </a:lnTo>
                <a:lnTo>
                  <a:pt x="1164045" y="1236055"/>
                </a:lnTo>
                <a:lnTo>
                  <a:pt x="1111161" y="1234622"/>
                </a:lnTo>
                <a:lnTo>
                  <a:pt x="1057454" y="1233005"/>
                </a:lnTo>
                <a:lnTo>
                  <a:pt x="1002905" y="1231201"/>
                </a:lnTo>
                <a:lnTo>
                  <a:pt x="947495" y="1229206"/>
                </a:lnTo>
                <a:lnTo>
                  <a:pt x="891205" y="1227017"/>
                </a:lnTo>
                <a:lnTo>
                  <a:pt x="834015" y="1224630"/>
                </a:lnTo>
                <a:lnTo>
                  <a:pt x="775907" y="1222043"/>
                </a:lnTo>
                <a:lnTo>
                  <a:pt x="716861" y="1219253"/>
                </a:lnTo>
                <a:lnTo>
                  <a:pt x="656858" y="1216255"/>
                </a:lnTo>
                <a:lnTo>
                  <a:pt x="595880" y="1213048"/>
                </a:lnTo>
                <a:lnTo>
                  <a:pt x="533906" y="1209626"/>
                </a:lnTo>
                <a:lnTo>
                  <a:pt x="470918" y="1205988"/>
                </a:lnTo>
                <a:lnTo>
                  <a:pt x="406897" y="1202130"/>
                </a:lnTo>
                <a:lnTo>
                  <a:pt x="341824" y="1198049"/>
                </a:lnTo>
                <a:lnTo>
                  <a:pt x="275679" y="1193741"/>
                </a:lnTo>
                <a:lnTo>
                  <a:pt x="208443" y="1189203"/>
                </a:lnTo>
                <a:lnTo>
                  <a:pt x="140097" y="1184432"/>
                </a:lnTo>
                <a:lnTo>
                  <a:pt x="70622" y="1179425"/>
                </a:lnTo>
                <a:lnTo>
                  <a:pt x="0" y="1174178"/>
                </a:lnTo>
                <a:lnTo>
                  <a:pt x="0" y="0"/>
                </a:lnTo>
                <a:close/>
              </a:path>
            </a:pathLst>
          </a:custGeom>
          <a:ln w="25400">
            <a:solidFill>
              <a:srgbClr val="9BBB59"/>
            </a:solidFill>
          </a:ln>
        </p:spPr>
        <p:txBody>
          <a:bodyPr wrap="square" lIns="0" tIns="0" rIns="0" bIns="0" rtlCol="0"/>
          <a:lstStyle/>
          <a:p>
            <a:endParaRPr/>
          </a:p>
        </p:txBody>
      </p:sp>
      <p:sp>
        <p:nvSpPr>
          <p:cNvPr id="10" name="object 13"/>
          <p:cNvSpPr txBox="1"/>
          <p:nvPr/>
        </p:nvSpPr>
        <p:spPr>
          <a:xfrm>
            <a:off x="501805" y="3414252"/>
            <a:ext cx="6976481" cy="750847"/>
          </a:xfrm>
          <a:prstGeom prst="rect">
            <a:avLst/>
          </a:prstGeom>
        </p:spPr>
        <p:txBody>
          <a:bodyPr vert="horz" wrap="square" lIns="0" tIns="12065" rIns="0" bIns="0" rtlCol="0">
            <a:spAutoFit/>
          </a:bodyPr>
          <a:lstStyle/>
          <a:p>
            <a:pPr marL="12700">
              <a:lnSpc>
                <a:spcPct val="100000"/>
              </a:lnSpc>
              <a:spcBef>
                <a:spcPts val="95"/>
              </a:spcBef>
            </a:pPr>
            <a:r>
              <a:rPr sz="2400" spc="-120" dirty="0">
                <a:latin typeface="Courier" panose="02020500000000000000" pitchFamily="18" charset="0"/>
                <a:ea typeface="Courier" panose="02020500000000000000" pitchFamily="18" charset="0"/>
                <a:cs typeface="Courier" panose="02020500000000000000" pitchFamily="18" charset="0"/>
              </a:rPr>
              <a:t>String </a:t>
            </a:r>
            <a:r>
              <a:rPr sz="2400" spc="-75" dirty="0">
                <a:latin typeface="Courier" panose="02020500000000000000" pitchFamily="18" charset="0"/>
                <a:ea typeface="Courier" panose="02020500000000000000" pitchFamily="18" charset="0"/>
                <a:cs typeface="Courier" panose="02020500000000000000" pitchFamily="18" charset="0"/>
              </a:rPr>
              <a:t>fullname </a:t>
            </a:r>
            <a:r>
              <a:rPr sz="2400" spc="-245" dirty="0">
                <a:latin typeface="Courier" panose="02020500000000000000" pitchFamily="18" charset="0"/>
                <a:ea typeface="Courier" panose="02020500000000000000" pitchFamily="18" charset="0"/>
                <a:cs typeface="Courier" panose="02020500000000000000" pitchFamily="18" charset="0"/>
              </a:rPr>
              <a:t>= </a:t>
            </a:r>
            <a:r>
              <a:rPr sz="2400" spc="-110" dirty="0">
                <a:latin typeface="Courier" panose="02020500000000000000" pitchFamily="18" charset="0"/>
                <a:ea typeface="Courier" panose="02020500000000000000" pitchFamily="18" charset="0"/>
                <a:cs typeface="Courier" panose="02020500000000000000" pitchFamily="18" charset="0"/>
              </a:rPr>
              <a:t>“Nguy</a:t>
            </a:r>
            <a:r>
              <a:rPr lang="en-US" sz="2400" spc="-110" dirty="0">
                <a:latin typeface="Courier" panose="02020500000000000000" pitchFamily="18" charset="0"/>
                <a:ea typeface="Courier" panose="02020500000000000000" pitchFamily="18" charset="0"/>
                <a:cs typeface="Courier" panose="02020500000000000000" pitchFamily="18" charset="0"/>
              </a:rPr>
              <a:t>e</a:t>
            </a:r>
            <a:r>
              <a:rPr sz="2400" spc="-110" dirty="0">
                <a:latin typeface="Courier" panose="02020500000000000000" pitchFamily="18" charset="0"/>
                <a:ea typeface="Courier" panose="02020500000000000000" pitchFamily="18" charset="0"/>
                <a:cs typeface="Courier" panose="02020500000000000000" pitchFamily="18" charset="0"/>
              </a:rPr>
              <a:t>n </a:t>
            </a:r>
            <a:r>
              <a:rPr sz="2400" spc="-250" dirty="0">
                <a:latin typeface="Courier" panose="02020500000000000000" pitchFamily="18" charset="0"/>
                <a:ea typeface="Courier" panose="02020500000000000000" pitchFamily="18" charset="0"/>
                <a:cs typeface="Courier" panose="02020500000000000000" pitchFamily="18" charset="0"/>
              </a:rPr>
              <a:t>Văn</a:t>
            </a:r>
            <a:r>
              <a:rPr sz="2400" spc="-130" dirty="0">
                <a:latin typeface="Courier" panose="02020500000000000000" pitchFamily="18" charset="0"/>
                <a:ea typeface="Courier" panose="02020500000000000000" pitchFamily="18" charset="0"/>
                <a:cs typeface="Courier" panose="02020500000000000000" pitchFamily="18" charset="0"/>
              </a:rPr>
              <a:t> T</a:t>
            </a:r>
            <a:r>
              <a:rPr lang="en-US" sz="2400" spc="-130" dirty="0">
                <a:latin typeface="Courier" panose="02020500000000000000" pitchFamily="18" charset="0"/>
                <a:ea typeface="Courier" panose="02020500000000000000" pitchFamily="18" charset="0"/>
                <a:cs typeface="Courier" panose="02020500000000000000" pitchFamily="18" charset="0"/>
              </a:rPr>
              <a:t>uan</a:t>
            </a:r>
            <a:r>
              <a:rPr sz="2400" spc="-130" dirty="0">
                <a:latin typeface="Courier" panose="02020500000000000000" pitchFamily="18" charset="0"/>
                <a:ea typeface="Courier" panose="02020500000000000000" pitchFamily="18" charset="0"/>
                <a:cs typeface="Courier" panose="02020500000000000000" pitchFamily="18" charset="0"/>
              </a:rPr>
              <a:t>”;</a:t>
            </a:r>
            <a:endParaRPr sz="2400"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pPr>
            <a:r>
              <a:rPr sz="2400" spc="-125" dirty="0">
                <a:latin typeface="Courier" panose="02020500000000000000" pitchFamily="18" charset="0"/>
                <a:ea typeface="Courier" panose="02020500000000000000" pitchFamily="18" charset="0"/>
                <a:cs typeface="Courier" panose="02020500000000000000" pitchFamily="18" charset="0"/>
              </a:rPr>
              <a:t>String </a:t>
            </a:r>
            <a:r>
              <a:rPr sz="2400" spc="-25" dirty="0">
                <a:latin typeface="Courier" panose="02020500000000000000" pitchFamily="18" charset="0"/>
                <a:ea typeface="Courier" panose="02020500000000000000" pitchFamily="18" charset="0"/>
                <a:cs typeface="Courier" panose="02020500000000000000" pitchFamily="18" charset="0"/>
              </a:rPr>
              <a:t>first </a:t>
            </a:r>
            <a:r>
              <a:rPr sz="2400" spc="-245" dirty="0">
                <a:latin typeface="Courier" panose="02020500000000000000" pitchFamily="18" charset="0"/>
                <a:ea typeface="Courier" panose="02020500000000000000" pitchFamily="18" charset="0"/>
                <a:cs typeface="Courier" panose="02020500000000000000" pitchFamily="18" charset="0"/>
              </a:rPr>
              <a:t>= </a:t>
            </a:r>
            <a:r>
              <a:rPr sz="2400" b="1" spc="-145" dirty="0">
                <a:solidFill>
                  <a:srgbClr val="C00000"/>
                </a:solidFill>
                <a:latin typeface="Courier" panose="02020500000000000000" pitchFamily="18" charset="0"/>
                <a:ea typeface="Courier" panose="02020500000000000000" pitchFamily="18" charset="0"/>
                <a:cs typeface="Courier" panose="02020500000000000000" pitchFamily="18" charset="0"/>
              </a:rPr>
              <a:t>fullname.substring(0,</a:t>
            </a:r>
            <a:r>
              <a:rPr sz="2400" b="1" spc="-135" dirty="0">
                <a:solidFill>
                  <a:srgbClr val="C00000"/>
                </a:solidFill>
                <a:latin typeface="Courier" panose="02020500000000000000" pitchFamily="18" charset="0"/>
                <a:ea typeface="Courier" panose="02020500000000000000" pitchFamily="18" charset="0"/>
                <a:cs typeface="Courier" panose="02020500000000000000" pitchFamily="18" charset="0"/>
              </a:rPr>
              <a:t> </a:t>
            </a:r>
            <a:r>
              <a:rPr sz="2400" b="1" spc="-80" dirty="0">
                <a:solidFill>
                  <a:srgbClr val="C00000"/>
                </a:solidFill>
                <a:latin typeface="Courier" panose="02020500000000000000" pitchFamily="18" charset="0"/>
                <a:ea typeface="Courier" panose="02020500000000000000" pitchFamily="18" charset="0"/>
                <a:cs typeface="Courier" panose="02020500000000000000" pitchFamily="18" charset="0"/>
              </a:rPr>
              <a:t>6);</a:t>
            </a:r>
            <a:endParaRPr sz="2400" b="1" dirty="0">
              <a:solidFill>
                <a:srgbClr val="C00000"/>
              </a:solidFill>
              <a:latin typeface="Courier" panose="02020500000000000000" pitchFamily="18" charset="0"/>
              <a:ea typeface="Courier" panose="02020500000000000000" pitchFamily="18" charset="0"/>
              <a:cs typeface="Courier" panose="02020500000000000000" pitchFamily="18" charset="0"/>
            </a:endParaRPr>
          </a:p>
        </p:txBody>
      </p:sp>
      <p:sp>
        <p:nvSpPr>
          <p:cNvPr id="15" name="object 14"/>
          <p:cNvSpPr txBox="1"/>
          <p:nvPr/>
        </p:nvSpPr>
        <p:spPr>
          <a:xfrm>
            <a:off x="1477612" y="4481901"/>
            <a:ext cx="1148715" cy="452120"/>
          </a:xfrm>
          <a:prstGeom prst="rect">
            <a:avLst/>
          </a:prstGeom>
        </p:spPr>
        <p:txBody>
          <a:bodyPr vert="horz" wrap="square" lIns="0" tIns="12065" rIns="0" bIns="0" rtlCol="0">
            <a:spAutoFit/>
          </a:bodyPr>
          <a:lstStyle/>
          <a:p>
            <a:pPr marL="12700">
              <a:lnSpc>
                <a:spcPct val="100000"/>
              </a:lnSpc>
              <a:spcBef>
                <a:spcPts val="95"/>
              </a:spcBef>
            </a:pPr>
            <a:r>
              <a:rPr sz="2800" b="1" spc="-265" dirty="0">
                <a:solidFill>
                  <a:srgbClr val="FF0000"/>
                </a:solidFill>
                <a:latin typeface="Arial"/>
                <a:cs typeface="Arial"/>
              </a:rPr>
              <a:t>Ngu</a:t>
            </a:r>
            <a:r>
              <a:rPr sz="2800" b="1" spc="-280" dirty="0">
                <a:solidFill>
                  <a:srgbClr val="FF0000"/>
                </a:solidFill>
                <a:latin typeface="Arial"/>
                <a:cs typeface="Arial"/>
              </a:rPr>
              <a:t>y</a:t>
            </a:r>
            <a:r>
              <a:rPr lang="en-US" sz="2800" b="1" spc="-155" dirty="0">
                <a:solidFill>
                  <a:srgbClr val="FF0000"/>
                </a:solidFill>
                <a:latin typeface="Arial"/>
                <a:cs typeface="Arial"/>
              </a:rPr>
              <a:t>e</a:t>
            </a:r>
            <a:r>
              <a:rPr sz="2800" b="1" spc="-210" dirty="0">
                <a:solidFill>
                  <a:srgbClr val="FF0000"/>
                </a:solidFill>
                <a:latin typeface="Arial"/>
                <a:cs typeface="Arial"/>
              </a:rPr>
              <a:t>n</a:t>
            </a:r>
            <a:endParaRPr sz="2800" dirty="0">
              <a:latin typeface="Arial"/>
              <a:cs typeface="Arial"/>
            </a:endParaRPr>
          </a:p>
        </p:txBody>
      </p:sp>
      <p:sp>
        <p:nvSpPr>
          <p:cNvPr id="16" name="object 15"/>
          <p:cNvSpPr/>
          <p:nvPr/>
        </p:nvSpPr>
        <p:spPr>
          <a:xfrm>
            <a:off x="2051970" y="4165099"/>
            <a:ext cx="45719" cy="401161"/>
          </a:xfrm>
          <a:custGeom>
            <a:avLst/>
            <a:gdLst/>
            <a:ahLst/>
            <a:cxnLst/>
            <a:rect l="l" t="t" r="r" b="b"/>
            <a:pathLst>
              <a:path h="445135">
                <a:moveTo>
                  <a:pt x="0" y="0"/>
                </a:moveTo>
                <a:lnTo>
                  <a:pt x="0" y="444627"/>
                </a:lnTo>
              </a:path>
            </a:pathLst>
          </a:custGeom>
          <a:ln w="25400">
            <a:solidFill>
              <a:srgbClr val="4A7EBB"/>
            </a:solidFill>
            <a:tailEnd type="arrow"/>
          </a:ln>
        </p:spPr>
        <p:txBody>
          <a:bodyPr wrap="square" lIns="0" tIns="0" rIns="0" bIns="0" rtlCol="0"/>
          <a:lstStyle/>
          <a:p>
            <a:endParaRPr/>
          </a:p>
        </p:txBody>
      </p:sp>
      <p:sp>
        <p:nvSpPr>
          <p:cNvPr id="17" name="object 12"/>
          <p:cNvSpPr/>
          <p:nvPr/>
        </p:nvSpPr>
        <p:spPr>
          <a:xfrm>
            <a:off x="334537" y="1421413"/>
            <a:ext cx="8474925" cy="1259748"/>
          </a:xfrm>
          <a:custGeom>
            <a:avLst/>
            <a:gdLst/>
            <a:ahLst/>
            <a:cxnLst/>
            <a:rect l="l" t="t" r="r" b="b"/>
            <a:pathLst>
              <a:path w="5791200" h="1241425">
                <a:moveTo>
                  <a:pt x="0" y="0"/>
                </a:moveTo>
                <a:lnTo>
                  <a:pt x="5791200" y="0"/>
                </a:lnTo>
                <a:lnTo>
                  <a:pt x="5791200" y="1008291"/>
                </a:lnTo>
                <a:lnTo>
                  <a:pt x="5720577" y="1008367"/>
                </a:lnTo>
                <a:lnTo>
                  <a:pt x="5651102" y="1008596"/>
                </a:lnTo>
                <a:lnTo>
                  <a:pt x="5582756" y="1008973"/>
                </a:lnTo>
                <a:lnTo>
                  <a:pt x="5515520" y="1009495"/>
                </a:lnTo>
                <a:lnTo>
                  <a:pt x="5449375" y="1010159"/>
                </a:lnTo>
                <a:lnTo>
                  <a:pt x="5384302" y="1010961"/>
                </a:lnTo>
                <a:lnTo>
                  <a:pt x="5320281" y="1011898"/>
                </a:lnTo>
                <a:lnTo>
                  <a:pt x="5257293" y="1012968"/>
                </a:lnTo>
                <a:lnTo>
                  <a:pt x="5195319" y="1014167"/>
                </a:lnTo>
                <a:lnTo>
                  <a:pt x="5134341" y="1015491"/>
                </a:lnTo>
                <a:lnTo>
                  <a:pt x="5074338" y="1016937"/>
                </a:lnTo>
                <a:lnTo>
                  <a:pt x="5015292" y="1018502"/>
                </a:lnTo>
                <a:lnTo>
                  <a:pt x="4957184" y="1020183"/>
                </a:lnTo>
                <a:lnTo>
                  <a:pt x="4899994" y="1021977"/>
                </a:lnTo>
                <a:lnTo>
                  <a:pt x="4843704" y="1023879"/>
                </a:lnTo>
                <a:lnTo>
                  <a:pt x="4788294" y="1025888"/>
                </a:lnTo>
                <a:lnTo>
                  <a:pt x="4733745" y="1028000"/>
                </a:lnTo>
                <a:lnTo>
                  <a:pt x="4680038" y="1030210"/>
                </a:lnTo>
                <a:lnTo>
                  <a:pt x="4627154" y="1032517"/>
                </a:lnTo>
                <a:lnTo>
                  <a:pt x="4575073" y="1034917"/>
                </a:lnTo>
                <a:lnTo>
                  <a:pt x="4523777" y="1037407"/>
                </a:lnTo>
                <a:lnTo>
                  <a:pt x="4473247" y="1039983"/>
                </a:lnTo>
                <a:lnTo>
                  <a:pt x="4423463" y="1042642"/>
                </a:lnTo>
                <a:lnTo>
                  <a:pt x="4374405" y="1045381"/>
                </a:lnTo>
                <a:lnTo>
                  <a:pt x="4326056" y="1048197"/>
                </a:lnTo>
                <a:lnTo>
                  <a:pt x="4278396" y="1051086"/>
                </a:lnTo>
                <a:lnTo>
                  <a:pt x="4231406" y="1054045"/>
                </a:lnTo>
                <a:lnTo>
                  <a:pt x="4185066" y="1057071"/>
                </a:lnTo>
                <a:lnTo>
                  <a:pt x="4139357" y="1060161"/>
                </a:lnTo>
                <a:lnTo>
                  <a:pt x="4094261" y="1063311"/>
                </a:lnTo>
                <a:lnTo>
                  <a:pt x="4049759" y="1066518"/>
                </a:lnTo>
                <a:lnTo>
                  <a:pt x="4005830" y="1069778"/>
                </a:lnTo>
                <a:lnTo>
                  <a:pt x="3962456" y="1073090"/>
                </a:lnTo>
                <a:lnTo>
                  <a:pt x="3919618" y="1076448"/>
                </a:lnTo>
                <a:lnTo>
                  <a:pt x="3877296" y="1079851"/>
                </a:lnTo>
                <a:lnTo>
                  <a:pt x="3835473" y="1083294"/>
                </a:lnTo>
                <a:lnTo>
                  <a:pt x="3794127" y="1086775"/>
                </a:lnTo>
                <a:lnTo>
                  <a:pt x="3753241" y="1090290"/>
                </a:lnTo>
                <a:lnTo>
                  <a:pt x="3712795" y="1093837"/>
                </a:lnTo>
                <a:lnTo>
                  <a:pt x="3672770" y="1097410"/>
                </a:lnTo>
                <a:lnTo>
                  <a:pt x="3633146" y="1101009"/>
                </a:lnTo>
                <a:lnTo>
                  <a:pt x="3593906" y="1104628"/>
                </a:lnTo>
                <a:lnTo>
                  <a:pt x="3555029" y="1108266"/>
                </a:lnTo>
                <a:lnTo>
                  <a:pt x="3516496" y="1111918"/>
                </a:lnTo>
                <a:lnTo>
                  <a:pt x="3478289" y="1115581"/>
                </a:lnTo>
                <a:lnTo>
                  <a:pt x="3402774" y="1122930"/>
                </a:lnTo>
                <a:lnTo>
                  <a:pt x="3328330" y="1130285"/>
                </a:lnTo>
                <a:lnTo>
                  <a:pt x="3254805" y="1137620"/>
                </a:lnTo>
                <a:lnTo>
                  <a:pt x="3182046" y="1144910"/>
                </a:lnTo>
                <a:lnTo>
                  <a:pt x="3145905" y="1148530"/>
                </a:lnTo>
                <a:lnTo>
                  <a:pt x="3074006" y="1155702"/>
                </a:lnTo>
                <a:lnTo>
                  <a:pt x="3002491" y="1162764"/>
                </a:lnTo>
                <a:lnTo>
                  <a:pt x="2931204" y="1169689"/>
                </a:lnTo>
                <a:lnTo>
                  <a:pt x="2859995" y="1176451"/>
                </a:lnTo>
                <a:lnTo>
                  <a:pt x="2788708" y="1183024"/>
                </a:lnTo>
                <a:lnTo>
                  <a:pt x="2717193" y="1189382"/>
                </a:lnTo>
                <a:lnTo>
                  <a:pt x="2645294" y="1195499"/>
                </a:lnTo>
                <a:lnTo>
                  <a:pt x="2572860" y="1201348"/>
                </a:lnTo>
                <a:lnTo>
                  <a:pt x="2499737" y="1206904"/>
                </a:lnTo>
                <a:lnTo>
                  <a:pt x="2425771" y="1212141"/>
                </a:lnTo>
                <a:lnTo>
                  <a:pt x="2350811" y="1217032"/>
                </a:lnTo>
                <a:lnTo>
                  <a:pt x="2274703" y="1221551"/>
                </a:lnTo>
                <a:lnTo>
                  <a:pt x="2236170" y="1223663"/>
                </a:lnTo>
                <a:lnTo>
                  <a:pt x="2197293" y="1225673"/>
                </a:lnTo>
                <a:lnTo>
                  <a:pt x="2158053" y="1227576"/>
                </a:lnTo>
                <a:lnTo>
                  <a:pt x="2118429" y="1229371"/>
                </a:lnTo>
                <a:lnTo>
                  <a:pt x="2078404" y="1231053"/>
                </a:lnTo>
                <a:lnTo>
                  <a:pt x="2037958" y="1232619"/>
                </a:lnTo>
                <a:lnTo>
                  <a:pt x="1997072" y="1234066"/>
                </a:lnTo>
                <a:lnTo>
                  <a:pt x="1955726" y="1235391"/>
                </a:lnTo>
                <a:lnTo>
                  <a:pt x="1913903" y="1236591"/>
                </a:lnTo>
                <a:lnTo>
                  <a:pt x="1871581" y="1237662"/>
                </a:lnTo>
                <a:lnTo>
                  <a:pt x="1828743" y="1238600"/>
                </a:lnTo>
                <a:lnTo>
                  <a:pt x="1785369" y="1239404"/>
                </a:lnTo>
                <a:lnTo>
                  <a:pt x="1741440" y="1240069"/>
                </a:lnTo>
                <a:lnTo>
                  <a:pt x="1696938" y="1240592"/>
                </a:lnTo>
                <a:lnTo>
                  <a:pt x="1651842" y="1240970"/>
                </a:lnTo>
                <a:lnTo>
                  <a:pt x="1606133" y="1241200"/>
                </a:lnTo>
                <a:lnTo>
                  <a:pt x="1559793" y="1241278"/>
                </a:lnTo>
                <a:lnTo>
                  <a:pt x="1512803" y="1241201"/>
                </a:lnTo>
                <a:lnTo>
                  <a:pt x="1465143" y="1240966"/>
                </a:lnTo>
                <a:lnTo>
                  <a:pt x="1416794" y="1240570"/>
                </a:lnTo>
                <a:lnTo>
                  <a:pt x="1367736" y="1240009"/>
                </a:lnTo>
                <a:lnTo>
                  <a:pt x="1317952" y="1239281"/>
                </a:lnTo>
                <a:lnTo>
                  <a:pt x="1267422" y="1238381"/>
                </a:lnTo>
                <a:lnTo>
                  <a:pt x="1216126" y="1237307"/>
                </a:lnTo>
                <a:lnTo>
                  <a:pt x="1164045" y="1236055"/>
                </a:lnTo>
                <a:lnTo>
                  <a:pt x="1111161" y="1234622"/>
                </a:lnTo>
                <a:lnTo>
                  <a:pt x="1057454" y="1233005"/>
                </a:lnTo>
                <a:lnTo>
                  <a:pt x="1002905" y="1231201"/>
                </a:lnTo>
                <a:lnTo>
                  <a:pt x="947495" y="1229206"/>
                </a:lnTo>
                <a:lnTo>
                  <a:pt x="891205" y="1227017"/>
                </a:lnTo>
                <a:lnTo>
                  <a:pt x="834015" y="1224630"/>
                </a:lnTo>
                <a:lnTo>
                  <a:pt x="775907" y="1222043"/>
                </a:lnTo>
                <a:lnTo>
                  <a:pt x="716861" y="1219253"/>
                </a:lnTo>
                <a:lnTo>
                  <a:pt x="656858" y="1216255"/>
                </a:lnTo>
                <a:lnTo>
                  <a:pt x="595880" y="1213048"/>
                </a:lnTo>
                <a:lnTo>
                  <a:pt x="533906" y="1209626"/>
                </a:lnTo>
                <a:lnTo>
                  <a:pt x="470918" y="1205988"/>
                </a:lnTo>
                <a:lnTo>
                  <a:pt x="406897" y="1202130"/>
                </a:lnTo>
                <a:lnTo>
                  <a:pt x="341824" y="1198049"/>
                </a:lnTo>
                <a:lnTo>
                  <a:pt x="275679" y="1193741"/>
                </a:lnTo>
                <a:lnTo>
                  <a:pt x="208443" y="1189203"/>
                </a:lnTo>
                <a:lnTo>
                  <a:pt x="140097" y="1184432"/>
                </a:lnTo>
                <a:lnTo>
                  <a:pt x="70622" y="1179425"/>
                </a:lnTo>
                <a:lnTo>
                  <a:pt x="0" y="1174178"/>
                </a:lnTo>
                <a:lnTo>
                  <a:pt x="0" y="0"/>
                </a:lnTo>
                <a:close/>
              </a:path>
            </a:pathLst>
          </a:custGeom>
          <a:ln w="25400">
            <a:solidFill>
              <a:srgbClr val="9BBB59"/>
            </a:solidFill>
          </a:ln>
        </p:spPr>
        <p:txBody>
          <a:bodyPr wrap="square" lIns="0" tIns="0" rIns="0" bIns="0" rtlCol="0"/>
          <a:lstStyle/>
          <a:p>
            <a:endParaRPr/>
          </a:p>
        </p:txBody>
      </p:sp>
      <p:sp>
        <p:nvSpPr>
          <p:cNvPr id="18" name="object 13"/>
          <p:cNvSpPr txBox="1"/>
          <p:nvPr/>
        </p:nvSpPr>
        <p:spPr>
          <a:xfrm>
            <a:off x="434898" y="1463272"/>
            <a:ext cx="8374565" cy="763671"/>
          </a:xfrm>
          <a:prstGeom prst="rect">
            <a:avLst/>
          </a:prstGeom>
        </p:spPr>
        <p:txBody>
          <a:bodyPr vert="horz" wrap="square" lIns="0" tIns="12065" rIns="0" bIns="0" rtlCol="0">
            <a:spAutoFit/>
          </a:bodyPr>
          <a:lstStyle/>
          <a:p>
            <a:pPr marL="12700">
              <a:lnSpc>
                <a:spcPct val="100000"/>
              </a:lnSpc>
              <a:spcBef>
                <a:spcPts val="95"/>
              </a:spcBef>
            </a:pPr>
            <a:r>
              <a:rPr sz="2400" spc="-120" dirty="0">
                <a:latin typeface="Courier" panose="02020500000000000000" pitchFamily="18" charset="0"/>
                <a:ea typeface="Courier" panose="02020500000000000000" pitchFamily="18" charset="0"/>
                <a:cs typeface="Courier" panose="02020500000000000000" pitchFamily="18" charset="0"/>
              </a:rPr>
              <a:t>String </a:t>
            </a:r>
            <a:r>
              <a:rPr lang="en-US" sz="2400" spc="-75" dirty="0">
                <a:latin typeface="Courier" panose="02020500000000000000" pitchFamily="18" charset="0"/>
                <a:ea typeface="Courier" panose="02020500000000000000" pitchFamily="18" charset="0"/>
                <a:cs typeface="Courier" panose="02020500000000000000" pitchFamily="18" charset="0"/>
              </a:rPr>
              <a:t>lower</a:t>
            </a:r>
            <a:r>
              <a:rPr sz="2400" spc="-75" dirty="0">
                <a:latin typeface="Courier" panose="02020500000000000000" pitchFamily="18" charset="0"/>
                <a:ea typeface="Courier" panose="02020500000000000000" pitchFamily="18" charset="0"/>
                <a:cs typeface="Courier" panose="02020500000000000000" pitchFamily="18" charset="0"/>
              </a:rPr>
              <a:t> </a:t>
            </a:r>
            <a:r>
              <a:rPr sz="2400" spc="-245" dirty="0">
                <a:latin typeface="Courier" panose="02020500000000000000" pitchFamily="18" charset="0"/>
                <a:ea typeface="Courier" panose="02020500000000000000" pitchFamily="18" charset="0"/>
                <a:cs typeface="Courier" panose="02020500000000000000" pitchFamily="18" charset="0"/>
              </a:rPr>
              <a:t>= </a:t>
            </a:r>
            <a:r>
              <a:rPr lang="en-US" sz="2400" spc="-245" dirty="0">
                <a:latin typeface="Courier" panose="02020500000000000000" pitchFamily="18" charset="0"/>
                <a:ea typeface="Courier" panose="02020500000000000000" pitchFamily="18" charset="0"/>
                <a:cs typeface="Courier" panose="02020500000000000000" pitchFamily="18" charset="0"/>
              </a:rPr>
              <a:t>new String </a:t>
            </a:r>
            <a:r>
              <a:rPr sz="2400" spc="-110" dirty="0">
                <a:latin typeface="Courier" panose="02020500000000000000" pitchFamily="18" charset="0"/>
                <a:ea typeface="Courier" panose="02020500000000000000" pitchFamily="18" charset="0"/>
                <a:cs typeface="Courier" panose="02020500000000000000" pitchFamily="18" charset="0"/>
              </a:rPr>
              <a:t>“</a:t>
            </a:r>
            <a:r>
              <a:rPr lang="en-US" sz="2400" spc="-110" dirty="0">
                <a:latin typeface="Courier" panose="02020500000000000000" pitchFamily="18" charset="0"/>
                <a:ea typeface="Courier" panose="02020500000000000000" pitchFamily="18" charset="0"/>
                <a:cs typeface="Courier" panose="02020500000000000000" pitchFamily="18" charset="0"/>
              </a:rPr>
              <a:t>good morning</a:t>
            </a:r>
            <a:r>
              <a:rPr sz="2400" spc="-130" dirty="0">
                <a:latin typeface="Courier" panose="02020500000000000000" pitchFamily="18" charset="0"/>
                <a:ea typeface="Courier" panose="02020500000000000000" pitchFamily="18" charset="0"/>
                <a:cs typeface="Courier" panose="02020500000000000000" pitchFamily="18" charset="0"/>
              </a:rPr>
              <a:t>”;</a:t>
            </a:r>
            <a:endParaRPr sz="2400" dirty="0">
              <a:latin typeface="Courier" panose="02020500000000000000" pitchFamily="18" charset="0"/>
              <a:ea typeface="Courier" panose="02020500000000000000" pitchFamily="18" charset="0"/>
              <a:cs typeface="Courier" panose="02020500000000000000" pitchFamily="18" charset="0"/>
            </a:endParaRPr>
          </a:p>
          <a:p>
            <a:pPr marL="12700">
              <a:lnSpc>
                <a:spcPct val="100000"/>
              </a:lnSpc>
              <a:spcBef>
                <a:spcPts val="100"/>
              </a:spcBef>
            </a:pPr>
            <a:r>
              <a:rPr lang="en-US" sz="2400" spc="-290" dirty="0">
                <a:latin typeface="Courier" panose="02020500000000000000" pitchFamily="18" charset="0"/>
                <a:ea typeface="Courier" panose="02020500000000000000" pitchFamily="18" charset="0"/>
                <a:cs typeface="Courier" panose="02020500000000000000" pitchFamily="18" charset="0"/>
              </a:rPr>
              <a:t>System.out.println("</a:t>
            </a:r>
            <a:r>
              <a:rPr lang="en-US" sz="2400" b="1" spc="-290" dirty="0">
                <a:latin typeface="Courier" panose="02020500000000000000" pitchFamily="18" charset="0"/>
                <a:ea typeface="Courier" panose="02020500000000000000" pitchFamily="18" charset="0"/>
                <a:cs typeface="Courier" panose="02020500000000000000" pitchFamily="18" charset="0"/>
              </a:rPr>
              <a:t>Uppercase</a:t>
            </a:r>
            <a:r>
              <a:rPr lang="en-US" sz="2400" spc="-290" dirty="0">
                <a:latin typeface="Courier" panose="02020500000000000000" pitchFamily="18" charset="0"/>
                <a:ea typeface="Courier" panose="02020500000000000000" pitchFamily="18" charset="0"/>
                <a:cs typeface="Courier" panose="02020500000000000000" pitchFamily="18" charset="0"/>
              </a:rPr>
              <a:t>:“+ </a:t>
            </a:r>
            <a:r>
              <a:rPr lang="en-US" sz="2400" b="1" spc="-290" dirty="0">
                <a:solidFill>
                  <a:srgbClr val="C00000"/>
                </a:solidFill>
                <a:latin typeface="Courier" panose="02020500000000000000" pitchFamily="18" charset="0"/>
                <a:ea typeface="Courier" panose="02020500000000000000" pitchFamily="18" charset="0"/>
                <a:cs typeface="Courier" panose="02020500000000000000" pitchFamily="18" charset="0"/>
              </a:rPr>
              <a:t>upper.toLowerCase()</a:t>
            </a:r>
            <a:r>
              <a:rPr lang="en-US" sz="2400" spc="-290" dirty="0">
                <a:latin typeface="Courier" panose="02020500000000000000" pitchFamily="18" charset="0"/>
                <a:ea typeface="Courier" panose="02020500000000000000" pitchFamily="18" charset="0"/>
                <a:cs typeface="Courier" panose="02020500000000000000" pitchFamily="18" charset="0"/>
              </a:rPr>
              <a:t>);</a:t>
            </a:r>
          </a:p>
        </p:txBody>
      </p:sp>
      <p:sp>
        <p:nvSpPr>
          <p:cNvPr id="24" name="object 14"/>
          <p:cNvSpPr/>
          <p:nvPr/>
        </p:nvSpPr>
        <p:spPr>
          <a:xfrm>
            <a:off x="3895279" y="2438591"/>
            <a:ext cx="489584" cy="485140"/>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25" name="object 16"/>
          <p:cNvSpPr/>
          <p:nvPr/>
        </p:nvSpPr>
        <p:spPr>
          <a:xfrm>
            <a:off x="4651960" y="2340044"/>
            <a:ext cx="3952422" cy="848052"/>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26" name="object 19"/>
          <p:cNvSpPr txBox="1"/>
          <p:nvPr/>
        </p:nvSpPr>
        <p:spPr>
          <a:xfrm>
            <a:off x="4786678" y="2504880"/>
            <a:ext cx="3621495" cy="382156"/>
          </a:xfrm>
          <a:prstGeom prst="rect">
            <a:avLst/>
          </a:prstGeom>
        </p:spPr>
        <p:txBody>
          <a:bodyPr vert="horz" wrap="square" lIns="0" tIns="12700" rIns="0" bIns="0" rtlCol="0">
            <a:spAutoFit/>
          </a:bodyPr>
          <a:lstStyle/>
          <a:p>
            <a:pPr marL="12700">
              <a:lnSpc>
                <a:spcPct val="100000"/>
              </a:lnSpc>
              <a:spcBef>
                <a:spcPts val="100"/>
              </a:spcBef>
            </a:pPr>
            <a:r>
              <a:rPr lang="en-US" sz="2400" spc="-210" dirty="0">
                <a:solidFill>
                  <a:srgbClr val="FFFFFF"/>
                </a:solidFill>
                <a:latin typeface="Arial"/>
                <a:cs typeface="Arial"/>
              </a:rPr>
              <a:t>Uppercase: GOOD MORNING</a:t>
            </a:r>
            <a:endParaRPr sz="2400" dirty="0">
              <a:latin typeface="Arial"/>
              <a:cs typeface="Arial"/>
            </a:endParaRPr>
          </a:p>
        </p:txBody>
      </p:sp>
      <p:sp>
        <p:nvSpPr>
          <p:cNvPr id="14" name="object 12"/>
          <p:cNvSpPr/>
          <p:nvPr/>
        </p:nvSpPr>
        <p:spPr>
          <a:xfrm>
            <a:off x="334537" y="5022848"/>
            <a:ext cx="8474925" cy="1259748"/>
          </a:xfrm>
          <a:custGeom>
            <a:avLst/>
            <a:gdLst/>
            <a:ahLst/>
            <a:cxnLst/>
            <a:rect l="l" t="t" r="r" b="b"/>
            <a:pathLst>
              <a:path w="5791200" h="1241425">
                <a:moveTo>
                  <a:pt x="0" y="0"/>
                </a:moveTo>
                <a:lnTo>
                  <a:pt x="5791200" y="0"/>
                </a:lnTo>
                <a:lnTo>
                  <a:pt x="5791200" y="1008291"/>
                </a:lnTo>
                <a:lnTo>
                  <a:pt x="5720577" y="1008367"/>
                </a:lnTo>
                <a:lnTo>
                  <a:pt x="5651102" y="1008596"/>
                </a:lnTo>
                <a:lnTo>
                  <a:pt x="5582756" y="1008973"/>
                </a:lnTo>
                <a:lnTo>
                  <a:pt x="5515520" y="1009495"/>
                </a:lnTo>
                <a:lnTo>
                  <a:pt x="5449375" y="1010159"/>
                </a:lnTo>
                <a:lnTo>
                  <a:pt x="5384302" y="1010961"/>
                </a:lnTo>
                <a:lnTo>
                  <a:pt x="5320281" y="1011898"/>
                </a:lnTo>
                <a:lnTo>
                  <a:pt x="5257293" y="1012968"/>
                </a:lnTo>
                <a:lnTo>
                  <a:pt x="5195319" y="1014167"/>
                </a:lnTo>
                <a:lnTo>
                  <a:pt x="5134341" y="1015491"/>
                </a:lnTo>
                <a:lnTo>
                  <a:pt x="5074338" y="1016937"/>
                </a:lnTo>
                <a:lnTo>
                  <a:pt x="5015292" y="1018502"/>
                </a:lnTo>
                <a:lnTo>
                  <a:pt x="4957184" y="1020183"/>
                </a:lnTo>
                <a:lnTo>
                  <a:pt x="4899994" y="1021977"/>
                </a:lnTo>
                <a:lnTo>
                  <a:pt x="4843704" y="1023879"/>
                </a:lnTo>
                <a:lnTo>
                  <a:pt x="4788294" y="1025888"/>
                </a:lnTo>
                <a:lnTo>
                  <a:pt x="4733745" y="1028000"/>
                </a:lnTo>
                <a:lnTo>
                  <a:pt x="4680038" y="1030210"/>
                </a:lnTo>
                <a:lnTo>
                  <a:pt x="4627154" y="1032517"/>
                </a:lnTo>
                <a:lnTo>
                  <a:pt x="4575073" y="1034917"/>
                </a:lnTo>
                <a:lnTo>
                  <a:pt x="4523777" y="1037407"/>
                </a:lnTo>
                <a:lnTo>
                  <a:pt x="4473247" y="1039983"/>
                </a:lnTo>
                <a:lnTo>
                  <a:pt x="4423463" y="1042642"/>
                </a:lnTo>
                <a:lnTo>
                  <a:pt x="4374405" y="1045381"/>
                </a:lnTo>
                <a:lnTo>
                  <a:pt x="4326056" y="1048197"/>
                </a:lnTo>
                <a:lnTo>
                  <a:pt x="4278396" y="1051086"/>
                </a:lnTo>
                <a:lnTo>
                  <a:pt x="4231406" y="1054045"/>
                </a:lnTo>
                <a:lnTo>
                  <a:pt x="4185066" y="1057071"/>
                </a:lnTo>
                <a:lnTo>
                  <a:pt x="4139357" y="1060161"/>
                </a:lnTo>
                <a:lnTo>
                  <a:pt x="4094261" y="1063311"/>
                </a:lnTo>
                <a:lnTo>
                  <a:pt x="4049759" y="1066518"/>
                </a:lnTo>
                <a:lnTo>
                  <a:pt x="4005830" y="1069778"/>
                </a:lnTo>
                <a:lnTo>
                  <a:pt x="3962456" y="1073090"/>
                </a:lnTo>
                <a:lnTo>
                  <a:pt x="3919618" y="1076448"/>
                </a:lnTo>
                <a:lnTo>
                  <a:pt x="3877296" y="1079851"/>
                </a:lnTo>
                <a:lnTo>
                  <a:pt x="3835473" y="1083294"/>
                </a:lnTo>
                <a:lnTo>
                  <a:pt x="3794127" y="1086775"/>
                </a:lnTo>
                <a:lnTo>
                  <a:pt x="3753241" y="1090290"/>
                </a:lnTo>
                <a:lnTo>
                  <a:pt x="3712795" y="1093837"/>
                </a:lnTo>
                <a:lnTo>
                  <a:pt x="3672770" y="1097410"/>
                </a:lnTo>
                <a:lnTo>
                  <a:pt x="3633146" y="1101009"/>
                </a:lnTo>
                <a:lnTo>
                  <a:pt x="3593906" y="1104628"/>
                </a:lnTo>
                <a:lnTo>
                  <a:pt x="3555029" y="1108266"/>
                </a:lnTo>
                <a:lnTo>
                  <a:pt x="3516496" y="1111918"/>
                </a:lnTo>
                <a:lnTo>
                  <a:pt x="3478289" y="1115581"/>
                </a:lnTo>
                <a:lnTo>
                  <a:pt x="3402774" y="1122930"/>
                </a:lnTo>
                <a:lnTo>
                  <a:pt x="3328330" y="1130285"/>
                </a:lnTo>
                <a:lnTo>
                  <a:pt x="3254805" y="1137620"/>
                </a:lnTo>
                <a:lnTo>
                  <a:pt x="3182046" y="1144910"/>
                </a:lnTo>
                <a:lnTo>
                  <a:pt x="3145905" y="1148530"/>
                </a:lnTo>
                <a:lnTo>
                  <a:pt x="3074006" y="1155702"/>
                </a:lnTo>
                <a:lnTo>
                  <a:pt x="3002491" y="1162764"/>
                </a:lnTo>
                <a:lnTo>
                  <a:pt x="2931204" y="1169689"/>
                </a:lnTo>
                <a:lnTo>
                  <a:pt x="2859995" y="1176451"/>
                </a:lnTo>
                <a:lnTo>
                  <a:pt x="2788708" y="1183024"/>
                </a:lnTo>
                <a:lnTo>
                  <a:pt x="2717193" y="1189382"/>
                </a:lnTo>
                <a:lnTo>
                  <a:pt x="2645294" y="1195499"/>
                </a:lnTo>
                <a:lnTo>
                  <a:pt x="2572860" y="1201348"/>
                </a:lnTo>
                <a:lnTo>
                  <a:pt x="2499737" y="1206904"/>
                </a:lnTo>
                <a:lnTo>
                  <a:pt x="2425771" y="1212141"/>
                </a:lnTo>
                <a:lnTo>
                  <a:pt x="2350811" y="1217032"/>
                </a:lnTo>
                <a:lnTo>
                  <a:pt x="2274703" y="1221551"/>
                </a:lnTo>
                <a:lnTo>
                  <a:pt x="2236170" y="1223663"/>
                </a:lnTo>
                <a:lnTo>
                  <a:pt x="2197293" y="1225673"/>
                </a:lnTo>
                <a:lnTo>
                  <a:pt x="2158053" y="1227576"/>
                </a:lnTo>
                <a:lnTo>
                  <a:pt x="2118429" y="1229371"/>
                </a:lnTo>
                <a:lnTo>
                  <a:pt x="2078404" y="1231053"/>
                </a:lnTo>
                <a:lnTo>
                  <a:pt x="2037958" y="1232619"/>
                </a:lnTo>
                <a:lnTo>
                  <a:pt x="1997072" y="1234066"/>
                </a:lnTo>
                <a:lnTo>
                  <a:pt x="1955726" y="1235391"/>
                </a:lnTo>
                <a:lnTo>
                  <a:pt x="1913903" y="1236591"/>
                </a:lnTo>
                <a:lnTo>
                  <a:pt x="1871581" y="1237662"/>
                </a:lnTo>
                <a:lnTo>
                  <a:pt x="1828743" y="1238600"/>
                </a:lnTo>
                <a:lnTo>
                  <a:pt x="1785369" y="1239404"/>
                </a:lnTo>
                <a:lnTo>
                  <a:pt x="1741440" y="1240069"/>
                </a:lnTo>
                <a:lnTo>
                  <a:pt x="1696938" y="1240592"/>
                </a:lnTo>
                <a:lnTo>
                  <a:pt x="1651842" y="1240970"/>
                </a:lnTo>
                <a:lnTo>
                  <a:pt x="1606133" y="1241200"/>
                </a:lnTo>
                <a:lnTo>
                  <a:pt x="1559793" y="1241278"/>
                </a:lnTo>
                <a:lnTo>
                  <a:pt x="1512803" y="1241201"/>
                </a:lnTo>
                <a:lnTo>
                  <a:pt x="1465143" y="1240966"/>
                </a:lnTo>
                <a:lnTo>
                  <a:pt x="1416794" y="1240570"/>
                </a:lnTo>
                <a:lnTo>
                  <a:pt x="1367736" y="1240009"/>
                </a:lnTo>
                <a:lnTo>
                  <a:pt x="1317952" y="1239281"/>
                </a:lnTo>
                <a:lnTo>
                  <a:pt x="1267422" y="1238381"/>
                </a:lnTo>
                <a:lnTo>
                  <a:pt x="1216126" y="1237307"/>
                </a:lnTo>
                <a:lnTo>
                  <a:pt x="1164045" y="1236055"/>
                </a:lnTo>
                <a:lnTo>
                  <a:pt x="1111161" y="1234622"/>
                </a:lnTo>
                <a:lnTo>
                  <a:pt x="1057454" y="1233005"/>
                </a:lnTo>
                <a:lnTo>
                  <a:pt x="1002905" y="1231201"/>
                </a:lnTo>
                <a:lnTo>
                  <a:pt x="947495" y="1229206"/>
                </a:lnTo>
                <a:lnTo>
                  <a:pt x="891205" y="1227017"/>
                </a:lnTo>
                <a:lnTo>
                  <a:pt x="834015" y="1224630"/>
                </a:lnTo>
                <a:lnTo>
                  <a:pt x="775907" y="1222043"/>
                </a:lnTo>
                <a:lnTo>
                  <a:pt x="716861" y="1219253"/>
                </a:lnTo>
                <a:lnTo>
                  <a:pt x="656858" y="1216255"/>
                </a:lnTo>
                <a:lnTo>
                  <a:pt x="595880" y="1213048"/>
                </a:lnTo>
                <a:lnTo>
                  <a:pt x="533906" y="1209626"/>
                </a:lnTo>
                <a:lnTo>
                  <a:pt x="470918" y="1205988"/>
                </a:lnTo>
                <a:lnTo>
                  <a:pt x="406897" y="1202130"/>
                </a:lnTo>
                <a:lnTo>
                  <a:pt x="341824" y="1198049"/>
                </a:lnTo>
                <a:lnTo>
                  <a:pt x="275679" y="1193741"/>
                </a:lnTo>
                <a:lnTo>
                  <a:pt x="208443" y="1189203"/>
                </a:lnTo>
                <a:lnTo>
                  <a:pt x="140097" y="1184432"/>
                </a:lnTo>
                <a:lnTo>
                  <a:pt x="70622" y="1179425"/>
                </a:lnTo>
                <a:lnTo>
                  <a:pt x="0" y="1174178"/>
                </a:lnTo>
                <a:lnTo>
                  <a:pt x="0" y="0"/>
                </a:lnTo>
                <a:close/>
              </a:path>
            </a:pathLst>
          </a:custGeom>
          <a:ln w="25400">
            <a:solidFill>
              <a:srgbClr val="9BBB59"/>
            </a:solidFill>
          </a:ln>
        </p:spPr>
        <p:txBody>
          <a:bodyPr wrap="square" lIns="0" tIns="0" rIns="0" bIns="0" rtlCol="0"/>
          <a:lstStyle/>
          <a:p>
            <a:endParaRPr/>
          </a:p>
        </p:txBody>
      </p:sp>
      <p:sp>
        <p:nvSpPr>
          <p:cNvPr id="19" name="object 13"/>
          <p:cNvSpPr txBox="1"/>
          <p:nvPr/>
        </p:nvSpPr>
        <p:spPr>
          <a:xfrm>
            <a:off x="434898" y="5064707"/>
            <a:ext cx="8374565" cy="1145826"/>
          </a:xfrm>
          <a:prstGeom prst="rect">
            <a:avLst/>
          </a:prstGeom>
        </p:spPr>
        <p:txBody>
          <a:bodyPr vert="horz" wrap="square" lIns="0" tIns="12065" rIns="0" bIns="0" rtlCol="0">
            <a:spAutoFit/>
          </a:bodyPr>
          <a:lstStyle/>
          <a:p>
            <a:pPr marL="12700">
              <a:lnSpc>
                <a:spcPct val="100000"/>
              </a:lnSpc>
              <a:spcBef>
                <a:spcPts val="95"/>
              </a:spcBef>
            </a:pPr>
            <a:r>
              <a:rPr sz="2400" spc="-120" dirty="0">
                <a:latin typeface="Courier" panose="02020500000000000000" pitchFamily="18" charset="0"/>
                <a:ea typeface="Courier" panose="02020500000000000000" pitchFamily="18" charset="0"/>
                <a:cs typeface="Courier" panose="02020500000000000000" pitchFamily="18" charset="0"/>
              </a:rPr>
              <a:t>String</a:t>
            </a:r>
            <a:r>
              <a:rPr lang="en-US" sz="2400" spc="-120" dirty="0">
                <a:latin typeface="Courier" panose="02020500000000000000" pitchFamily="18" charset="0"/>
                <a:ea typeface="Courier" panose="02020500000000000000" pitchFamily="18" charset="0"/>
                <a:cs typeface="Courier" panose="02020500000000000000" pitchFamily="18" charset="0"/>
              </a:rPr>
              <a:t> </a:t>
            </a:r>
            <a:r>
              <a:rPr lang="en-US" sz="2400" spc="-75" dirty="0">
                <a:latin typeface="Courier" panose="02020500000000000000" pitchFamily="18" charset="0"/>
                <a:ea typeface="Courier" panose="02020500000000000000" pitchFamily="18" charset="0"/>
                <a:cs typeface="Courier" panose="02020500000000000000" pitchFamily="18" charset="0"/>
              </a:rPr>
              <a:t>space</a:t>
            </a:r>
            <a:r>
              <a:rPr sz="2400" spc="-75" dirty="0">
                <a:latin typeface="Courier" panose="02020500000000000000" pitchFamily="18" charset="0"/>
                <a:ea typeface="Courier" panose="02020500000000000000" pitchFamily="18" charset="0"/>
                <a:cs typeface="Courier" panose="02020500000000000000" pitchFamily="18" charset="0"/>
              </a:rPr>
              <a:t> </a:t>
            </a:r>
            <a:r>
              <a:rPr sz="2400" spc="-245" dirty="0">
                <a:latin typeface="Courier" panose="02020500000000000000" pitchFamily="18" charset="0"/>
                <a:ea typeface="Courier" panose="02020500000000000000" pitchFamily="18" charset="0"/>
                <a:cs typeface="Courier" panose="02020500000000000000" pitchFamily="18" charset="0"/>
              </a:rPr>
              <a:t>= </a:t>
            </a:r>
            <a:r>
              <a:rPr lang="en-US" sz="2400" spc="-245" dirty="0">
                <a:latin typeface="Courier" panose="02020500000000000000" pitchFamily="18" charset="0"/>
                <a:ea typeface="Courier" panose="02020500000000000000" pitchFamily="18" charset="0"/>
                <a:cs typeface="Courier" panose="02020500000000000000" pitchFamily="18" charset="0"/>
              </a:rPr>
              <a:t>new String </a:t>
            </a:r>
            <a:r>
              <a:rPr sz="2400" spc="-110" dirty="0">
                <a:latin typeface="Courier" panose="02020500000000000000" pitchFamily="18" charset="0"/>
                <a:ea typeface="Courier" panose="02020500000000000000" pitchFamily="18" charset="0"/>
                <a:cs typeface="Courier" panose="02020500000000000000" pitchFamily="18" charset="0"/>
              </a:rPr>
              <a:t>“</a:t>
            </a:r>
            <a:r>
              <a:rPr lang="en-US" sz="2400" spc="-110" dirty="0">
                <a:latin typeface="Courier" panose="02020500000000000000" pitchFamily="18" charset="0"/>
                <a:ea typeface="Courier" panose="02020500000000000000" pitchFamily="18" charset="0"/>
                <a:cs typeface="Courier" panose="02020500000000000000" pitchFamily="18" charset="0"/>
              </a:rPr>
              <a:t> Space </a:t>
            </a:r>
            <a:r>
              <a:rPr sz="2400" spc="-130" dirty="0">
                <a:latin typeface="Courier" panose="02020500000000000000" pitchFamily="18" charset="0"/>
                <a:ea typeface="Courier" panose="02020500000000000000" pitchFamily="18" charset="0"/>
                <a:cs typeface="Courier" panose="02020500000000000000" pitchFamily="18" charset="0"/>
              </a:rPr>
              <a:t>”;</a:t>
            </a:r>
          </a:p>
          <a:p>
            <a:pPr marL="12700">
              <a:lnSpc>
                <a:spcPct val="100000"/>
              </a:lnSpc>
              <a:spcBef>
                <a:spcPts val="100"/>
              </a:spcBef>
            </a:pPr>
            <a:r>
              <a:rPr lang="en-US" sz="2400" spc="-290" dirty="0">
                <a:latin typeface="Courier" panose="02020500000000000000" pitchFamily="18" charset="0"/>
                <a:ea typeface="Courier" panose="02020500000000000000" pitchFamily="18" charset="0"/>
                <a:cs typeface="Courier" panose="02020500000000000000" pitchFamily="18" charset="0"/>
              </a:rPr>
              <a:t>System.out.println(space);</a:t>
            </a:r>
          </a:p>
          <a:p>
            <a:pPr marL="12700">
              <a:spcBef>
                <a:spcPts val="100"/>
              </a:spcBef>
            </a:pPr>
            <a:r>
              <a:rPr lang="en-US" sz="2400" spc="-290" dirty="0">
                <a:latin typeface="Courier" panose="02020500000000000000" pitchFamily="18" charset="0"/>
                <a:ea typeface="Courier" panose="02020500000000000000" pitchFamily="18" charset="0"/>
                <a:cs typeface="Courier" panose="02020500000000000000" pitchFamily="18" charset="0"/>
              </a:rPr>
              <a:t>System.out.println(space, </a:t>
            </a:r>
            <a:r>
              <a:rPr lang="en-US" sz="2400" b="1" spc="-145" dirty="0">
                <a:solidFill>
                  <a:srgbClr val="C00000"/>
                </a:solidFill>
                <a:latin typeface="Courier" panose="02020500000000000000" pitchFamily="18" charset="0"/>
                <a:ea typeface="Courier" panose="02020500000000000000" pitchFamily="18" charset="0"/>
                <a:cs typeface="Courier" panose="02020500000000000000" pitchFamily="18" charset="0"/>
              </a:rPr>
              <a:t>trim()</a:t>
            </a:r>
            <a:r>
              <a:rPr lang="en-US" sz="2400" spc="-290" dirty="0">
                <a:latin typeface="Courier" panose="02020500000000000000" pitchFamily="18" charset="0"/>
                <a:ea typeface="Courier" panose="02020500000000000000" pitchFamily="18" charset="0"/>
                <a:cs typeface="Courier" panose="02020500000000000000" pitchFamily="18" charset="0"/>
              </a:rPr>
              <a:t>);</a:t>
            </a:r>
          </a:p>
        </p:txBody>
      </p:sp>
      <p:sp>
        <p:nvSpPr>
          <p:cNvPr id="22" name="object 14"/>
          <p:cNvSpPr/>
          <p:nvPr/>
        </p:nvSpPr>
        <p:spPr>
          <a:xfrm>
            <a:off x="6010115" y="5790749"/>
            <a:ext cx="307752" cy="367264"/>
          </a:xfrm>
          <a:custGeom>
            <a:avLst/>
            <a:gdLst/>
            <a:ahLst/>
            <a:cxnLst/>
            <a:rect l="l" t="t" r="r" b="b"/>
            <a:pathLst>
              <a:path w="489585" h="485139">
                <a:moveTo>
                  <a:pt x="246887" y="0"/>
                </a:moveTo>
                <a:lnTo>
                  <a:pt x="246887" y="121157"/>
                </a:lnTo>
                <a:lnTo>
                  <a:pt x="0" y="121157"/>
                </a:lnTo>
                <a:lnTo>
                  <a:pt x="0" y="363473"/>
                </a:lnTo>
                <a:lnTo>
                  <a:pt x="246887" y="363473"/>
                </a:lnTo>
                <a:lnTo>
                  <a:pt x="246887" y="484631"/>
                </a:lnTo>
                <a:lnTo>
                  <a:pt x="489203" y="242315"/>
                </a:lnTo>
                <a:lnTo>
                  <a:pt x="246887" y="0"/>
                </a:lnTo>
                <a:close/>
              </a:path>
            </a:pathLst>
          </a:custGeom>
          <a:solidFill>
            <a:schemeClr val="accent1"/>
          </a:solidFill>
        </p:spPr>
        <p:txBody>
          <a:bodyPr wrap="square" lIns="0" tIns="0" rIns="0" bIns="0" rtlCol="0"/>
          <a:lstStyle/>
          <a:p>
            <a:endParaRPr/>
          </a:p>
        </p:txBody>
      </p:sp>
      <p:sp>
        <p:nvSpPr>
          <p:cNvPr id="23" name="object 16"/>
          <p:cNvSpPr/>
          <p:nvPr/>
        </p:nvSpPr>
        <p:spPr>
          <a:xfrm>
            <a:off x="6488661" y="5686603"/>
            <a:ext cx="1979250" cy="659581"/>
          </a:xfrm>
          <a:custGeom>
            <a:avLst/>
            <a:gdLst/>
            <a:ahLst/>
            <a:cxnLst/>
            <a:rect l="l" t="t" r="r" b="b"/>
            <a:pathLst>
              <a:path w="4538980" h="1504950">
                <a:moveTo>
                  <a:pt x="4538726" y="0"/>
                </a:moveTo>
                <a:lnTo>
                  <a:pt x="0" y="0"/>
                </a:lnTo>
                <a:lnTo>
                  <a:pt x="0" y="1423250"/>
                </a:lnTo>
                <a:lnTo>
                  <a:pt x="134796" y="1438401"/>
                </a:lnTo>
                <a:lnTo>
                  <a:pt x="388615" y="1463575"/>
                </a:lnTo>
                <a:lnTo>
                  <a:pt x="622900" y="1482306"/>
                </a:lnTo>
                <a:lnTo>
                  <a:pt x="786875" y="1492411"/>
                </a:lnTo>
                <a:lnTo>
                  <a:pt x="941631" y="1499358"/>
                </a:lnTo>
                <a:lnTo>
                  <a:pt x="1087924" y="1503346"/>
                </a:lnTo>
                <a:lnTo>
                  <a:pt x="1226514" y="1504575"/>
                </a:lnTo>
                <a:lnTo>
                  <a:pt x="1358157" y="1503245"/>
                </a:lnTo>
                <a:lnTo>
                  <a:pt x="1483612" y="1499556"/>
                </a:lnTo>
                <a:lnTo>
                  <a:pt x="1603636" y="1493707"/>
                </a:lnTo>
                <a:lnTo>
                  <a:pt x="1718987" y="1485898"/>
                </a:lnTo>
                <a:lnTo>
                  <a:pt x="1830423" y="1476328"/>
                </a:lnTo>
                <a:lnTo>
                  <a:pt x="1938701" y="1465197"/>
                </a:lnTo>
                <a:lnTo>
                  <a:pt x="2079471" y="1448273"/>
                </a:lnTo>
                <a:lnTo>
                  <a:pt x="2320955" y="1414258"/>
                </a:lnTo>
                <a:lnTo>
                  <a:pt x="2857716" y="1333089"/>
                </a:lnTo>
                <a:lnTo>
                  <a:pt x="3055113" y="1306852"/>
                </a:lnTo>
                <a:lnTo>
                  <a:pt x="3223724" y="1287222"/>
                </a:lnTo>
                <a:lnTo>
                  <a:pt x="3403786" y="1269313"/>
                </a:lnTo>
                <a:lnTo>
                  <a:pt x="3597094" y="1253600"/>
                </a:lnTo>
                <a:lnTo>
                  <a:pt x="3805447" y="1240554"/>
                </a:lnTo>
                <a:lnTo>
                  <a:pt x="4030638" y="1230650"/>
                </a:lnTo>
                <a:lnTo>
                  <a:pt x="4274466" y="1224360"/>
                </a:lnTo>
                <a:lnTo>
                  <a:pt x="4538726" y="1222159"/>
                </a:lnTo>
                <a:lnTo>
                  <a:pt x="4538726" y="0"/>
                </a:lnTo>
                <a:close/>
              </a:path>
            </a:pathLst>
          </a:custGeom>
          <a:solidFill>
            <a:schemeClr val="accent1"/>
          </a:solidFill>
        </p:spPr>
        <p:txBody>
          <a:bodyPr wrap="square" lIns="0" tIns="0" rIns="0" bIns="0" rtlCol="0"/>
          <a:lstStyle/>
          <a:p>
            <a:endParaRPr/>
          </a:p>
        </p:txBody>
      </p:sp>
      <p:sp>
        <p:nvSpPr>
          <p:cNvPr id="27" name="object 19"/>
          <p:cNvSpPr txBox="1"/>
          <p:nvPr/>
        </p:nvSpPr>
        <p:spPr>
          <a:xfrm>
            <a:off x="6623379" y="5851438"/>
            <a:ext cx="1167094" cy="382156"/>
          </a:xfrm>
          <a:prstGeom prst="rect">
            <a:avLst/>
          </a:prstGeom>
        </p:spPr>
        <p:txBody>
          <a:bodyPr vert="horz" wrap="square" lIns="0" tIns="12700" rIns="0" bIns="0" rtlCol="0">
            <a:spAutoFit/>
          </a:bodyPr>
          <a:lstStyle/>
          <a:p>
            <a:pPr marL="12700" algn="ctr">
              <a:lnSpc>
                <a:spcPct val="100000"/>
              </a:lnSpc>
              <a:spcBef>
                <a:spcPts val="100"/>
              </a:spcBef>
            </a:pPr>
            <a:r>
              <a:rPr lang="en-US" sz="2400" spc="-210" dirty="0">
                <a:solidFill>
                  <a:srgbClr val="FFFFFF"/>
                </a:solidFill>
                <a:latin typeface="Arial"/>
                <a:cs typeface="Arial"/>
              </a:rPr>
              <a:t>“Space”</a:t>
            </a:r>
            <a:endParaRPr sz="2400" dirty="0">
              <a:latin typeface="Arial"/>
              <a:cs typeface="Arial"/>
            </a:endParaRPr>
          </a:p>
        </p:txBody>
      </p:sp>
    </p:spTree>
    <p:extLst>
      <p:ext uri="{BB962C8B-B14F-4D97-AF65-F5344CB8AC3E}">
        <p14:creationId xmlns:p14="http://schemas.microsoft.com/office/powerpoint/2010/main" val="24589469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DF4C498B-416A-4F27-9E1B-2DAD6BC6C92F}" type="slidenum">
              <a:rPr lang="en-US" smtClean="0"/>
              <a:t>90</a:t>
            </a:fld>
            <a:endParaRPr lang="en-US"/>
          </a:p>
        </p:txBody>
      </p:sp>
      <p:sp>
        <p:nvSpPr>
          <p:cNvPr id="3" name="TextBox 2"/>
          <p:cNvSpPr txBox="1"/>
          <p:nvPr/>
        </p:nvSpPr>
        <p:spPr>
          <a:xfrm>
            <a:off x="1750741" y="3300760"/>
            <a:ext cx="4973444" cy="1938992"/>
          </a:xfrm>
          <a:prstGeom prst="rect">
            <a:avLst/>
          </a:prstGeom>
          <a:noFill/>
        </p:spPr>
        <p:txBody>
          <a:bodyPr wrap="square" rtlCol="0">
            <a:spAutoFit/>
          </a:bodyPr>
          <a:lstStyle/>
          <a:p>
            <a:r>
              <a:rPr lang="vi-VN" sz="2400" dirty="0">
                <a:solidFill>
                  <a:srgbClr val="FFFFFF"/>
                </a:solidFill>
              </a:rPr>
              <a:t>Viết chương trình nhập vào 1 chuỗi bất kỳ từ bàn phím và hiển thị các ký tự có trong chuỗi đó ra màn hình. Mỗi ký tự phải được in trên </a:t>
            </a:r>
            <a:r>
              <a:rPr lang="en-US" sz="2400" dirty="0">
                <a:solidFill>
                  <a:srgbClr val="FFFFFF"/>
                </a:solidFill>
              </a:rPr>
              <a:t>một</a:t>
            </a:r>
            <a:r>
              <a:rPr lang="vi-VN" sz="2400" dirty="0">
                <a:solidFill>
                  <a:srgbClr val="FFFFFF"/>
                </a:solidFill>
              </a:rPr>
              <a:t> dòng.</a:t>
            </a:r>
            <a:endParaRPr lang="en-US" sz="2400" dirty="0">
              <a:solidFill>
                <a:srgbClr val="FFFFFF"/>
              </a:solidFill>
            </a:endParaRPr>
          </a:p>
        </p:txBody>
      </p:sp>
    </p:spTree>
    <p:extLst>
      <p:ext uri="{BB962C8B-B14F-4D97-AF65-F5344CB8AC3E}">
        <p14:creationId xmlns:p14="http://schemas.microsoft.com/office/powerpoint/2010/main" val="25989483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Chuỗi (String)</a:t>
            </a:r>
          </a:p>
        </p:txBody>
      </p:sp>
      <p:sp>
        <p:nvSpPr>
          <p:cNvPr id="3" name="Content Placeholder 2"/>
          <p:cNvSpPr>
            <a:spLocks noGrp="1"/>
          </p:cNvSpPr>
          <p:nvPr>
            <p:ph idx="1"/>
          </p:nvPr>
        </p:nvSpPr>
        <p:spPr>
          <a:xfrm>
            <a:off x="367990" y="1311590"/>
            <a:ext cx="8329961" cy="5256478"/>
          </a:xfrm>
        </p:spPr>
        <p:txBody>
          <a:bodyPr>
            <a:noAutofit/>
          </a:bodyPr>
          <a:lstStyle/>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public static void main(String[] args) {</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String chuoi;</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char kyTu;</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Scanner scanner = new Scanner(System.in);</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System.out.println("Nhập vào chuỗi bất kỳ: ");</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chuoi = scanner.nextLine();</a:t>
            </a:r>
          </a:p>
          <a:p>
            <a:pPr marL="0" indent="0" algn="just">
              <a:lnSpc>
                <a:spcPct val="100000"/>
              </a:lnSpc>
              <a:spcBef>
                <a:spcPts val="0"/>
              </a:spcBef>
              <a:buNone/>
            </a:pPr>
            <a:r>
              <a:rPr lang="en-US" sz="2200" b="1" spc="-200" dirty="0">
                <a:latin typeface="Courier" panose="02020500000000000000" pitchFamily="18" charset="0"/>
                <a:ea typeface="Courier" panose="02020500000000000000" pitchFamily="18" charset="0"/>
                <a:cs typeface="Courier" panose="02020500000000000000" pitchFamily="18" charset="0"/>
              </a:rPr>
              <a:t>  System.out.println("Các ký tự có trong chuỗi là: ");</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for (int i = 0; i &lt; chuoi.length(); i++) {</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 trả về ký tự tại vị trí thứ i trong chuỗi</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 và gán vào cho biến kyTu</a:t>
            </a:r>
          </a:p>
          <a:p>
            <a:pPr marL="0" indent="0" algn="just">
              <a:lnSpc>
                <a:spcPct val="100000"/>
              </a:lnSpc>
              <a:spcBef>
                <a:spcPts val="0"/>
              </a:spcBef>
              <a:buNone/>
            </a:pPr>
            <a:r>
              <a:rPr lang="en-US" sz="2200" b="1" spc="-200" dirty="0">
                <a:latin typeface="Courier" panose="02020500000000000000" pitchFamily="18" charset="0"/>
                <a:ea typeface="Courier" panose="02020500000000000000" pitchFamily="18" charset="0"/>
                <a:cs typeface="Courier" panose="02020500000000000000" pitchFamily="18" charset="0"/>
              </a:rPr>
              <a:t>    // i chạy từ 0 đến vị trí độ dài của chuỗi - 1</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kyTu = chuoi.charAt(i);</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System.out.println(kyTu);</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    }</a:t>
            </a:r>
          </a:p>
          <a:p>
            <a:pPr marL="0" indent="0" algn="just">
              <a:lnSpc>
                <a:spcPct val="100000"/>
              </a:lnSpc>
              <a:spcBef>
                <a:spcPts val="0"/>
              </a:spcBef>
              <a:buNone/>
            </a:pPr>
            <a:r>
              <a:rPr lang="en-US" sz="2200" b="1" dirty="0">
                <a:latin typeface="Courier" panose="02020500000000000000" pitchFamily="18" charset="0"/>
                <a:ea typeface="Courier" panose="02020500000000000000" pitchFamily="18" charset="0"/>
                <a:cs typeface="Courier" panose="02020500000000000000" pitchFamily="18" charset="0"/>
              </a:rPr>
              <a:t>}</a:t>
            </a:r>
          </a:p>
          <a:p>
            <a:pPr lvl="1" algn="just">
              <a:lnSpc>
                <a:spcPts val="3500"/>
              </a:lnSpc>
              <a:spcBef>
                <a:spcPts val="300"/>
              </a:spcBef>
              <a:spcAft>
                <a:spcPts val="300"/>
              </a:spcAft>
            </a:pPr>
            <a:endParaRPr lang="en-US" sz="2200" b="1" dirty="0"/>
          </a:p>
          <a:p>
            <a:pPr marL="0" indent="0" algn="just">
              <a:buNone/>
            </a:pPr>
            <a:endParaRPr lang="en-US" sz="2200" b="1" dirty="0"/>
          </a:p>
          <a:p>
            <a:pPr marL="0" indent="0">
              <a:buNone/>
            </a:pPr>
            <a:r>
              <a:rPr lang="en-US" sz="2200" b="1" dirty="0"/>
              <a:t>	</a:t>
            </a: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91</a:t>
            </a:fld>
            <a:endParaRPr lang="en-US" dirty="0"/>
          </a:p>
        </p:txBody>
      </p:sp>
    </p:spTree>
    <p:extLst>
      <p:ext uri="{BB962C8B-B14F-4D97-AF65-F5344CB8AC3E}">
        <p14:creationId xmlns:p14="http://schemas.microsoft.com/office/powerpoint/2010/main" val="31290713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421413"/>
            <a:ext cx="7886700" cy="4934938"/>
          </a:xfrm>
        </p:spPr>
        <p:txBody>
          <a:bodyPr>
            <a:noAutofit/>
          </a:bodyPr>
          <a:lstStyle/>
          <a:p>
            <a:pPr marL="12700" indent="0" algn="just">
              <a:lnSpc>
                <a:spcPts val="3400"/>
              </a:lnSpc>
              <a:spcBef>
                <a:spcPts val="300"/>
              </a:spcBef>
              <a:spcAft>
                <a:spcPts val="300"/>
              </a:spcAft>
              <a:buNone/>
              <a:tabLst>
                <a:tab pos="356235" algn="l"/>
              </a:tabLst>
            </a:pPr>
            <a:r>
              <a:rPr lang="en-US" sz="2600" b="1" spc="-155" dirty="0">
                <a:latin typeface="Arial"/>
                <a:cs typeface="Arial"/>
              </a:rPr>
              <a:t>Bài 1:</a:t>
            </a:r>
            <a:r>
              <a:rPr lang="en-US" sz="2600" spc="-155" dirty="0">
                <a:latin typeface="Arial"/>
                <a:cs typeface="Arial"/>
              </a:rPr>
              <a:t> (Toán tử)</a:t>
            </a:r>
          </a:p>
          <a:p>
            <a:pPr marL="0" indent="0" algn="just">
              <a:buNone/>
            </a:pPr>
            <a:r>
              <a:rPr lang="en-US" sz="2600" dirty="0"/>
              <a:t>Nhập vào 2 số bất kỳ từ bàn phím và thực hiện các yêu cầu sau:</a:t>
            </a:r>
          </a:p>
          <a:p>
            <a:pPr marL="747713" indent="-457200" algn="just">
              <a:buNone/>
            </a:pPr>
            <a:r>
              <a:rPr lang="en-US" sz="2600" dirty="0"/>
              <a:t>1. Tính tổng, hiệu, tích, thương, chia lấy dư của 2 số đó.</a:t>
            </a:r>
          </a:p>
          <a:p>
            <a:pPr marL="747713" indent="-457200" algn="just">
              <a:buNone/>
            </a:pPr>
            <a:r>
              <a:rPr lang="en-US" sz="2600" dirty="0"/>
              <a:t>2. Sử dụng các toán tử so sánh đã học để so sánh 2 số đó.</a:t>
            </a:r>
          </a:p>
          <a:p>
            <a:pPr marL="0" indent="0" algn="just">
              <a:lnSpc>
                <a:spcPts val="3400"/>
              </a:lnSpc>
              <a:spcBef>
                <a:spcPts val="300"/>
              </a:spcBef>
              <a:spcAft>
                <a:spcPts val="300"/>
              </a:spcAft>
              <a:buNone/>
            </a:pPr>
            <a:r>
              <a:rPr lang="en-US" sz="2600" b="1" dirty="0"/>
              <a:t>Bài 2</a:t>
            </a:r>
            <a:r>
              <a:rPr lang="en-US" sz="2600" dirty="0"/>
              <a:t>: (if-else)</a:t>
            </a:r>
          </a:p>
          <a:p>
            <a:pPr marL="12700" indent="388938" algn="just">
              <a:lnSpc>
                <a:spcPts val="3400"/>
              </a:lnSpc>
              <a:spcBef>
                <a:spcPts val="300"/>
              </a:spcBef>
              <a:spcAft>
                <a:spcPts val="300"/>
              </a:spcAft>
              <a:buNone/>
              <a:tabLst>
                <a:tab pos="356235" algn="l"/>
              </a:tabLst>
            </a:pPr>
            <a:r>
              <a:rPr lang="vi-VN" sz="2600" dirty="0"/>
              <a:t>Viết chương trình </a:t>
            </a:r>
            <a:r>
              <a:rPr lang="en-US" sz="2600" dirty="0"/>
              <a:t>kiểm tra số vừa nhập vào là số chẵn hay lẻ.</a:t>
            </a:r>
            <a:r>
              <a:rPr lang="en-US" sz="2600" b="1" dirty="0"/>
              <a:t> </a:t>
            </a:r>
          </a:p>
          <a:p>
            <a:pPr marL="0" indent="0" algn="just">
              <a:lnSpc>
                <a:spcPts val="3400"/>
              </a:lnSpc>
              <a:spcBef>
                <a:spcPts val="300"/>
              </a:spcBef>
              <a:spcAft>
                <a:spcPts val="300"/>
              </a:spcAft>
              <a:buNone/>
            </a:pPr>
            <a:endParaRPr lang="en-US" sz="2600" dirty="0"/>
          </a:p>
          <a:p>
            <a:pPr marL="0" indent="401638" algn="just">
              <a:buNone/>
            </a:pPr>
            <a:endParaRPr lang="en-US" dirty="0"/>
          </a:p>
          <a:p>
            <a:pPr marL="0" indent="0" algn="just">
              <a:lnSpc>
                <a:spcPts val="3700"/>
              </a:lnSpc>
              <a:spcBef>
                <a:spcPts val="600"/>
              </a:spcBef>
              <a:spcAft>
                <a:spcPts val="600"/>
              </a:spcAft>
              <a:buNone/>
            </a:pPr>
            <a:endParaRPr lang="en-US" b="1"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92</a:t>
            </a:fld>
            <a:endParaRPr lang="en-US" dirty="0"/>
          </a:p>
        </p:txBody>
      </p:sp>
    </p:spTree>
    <p:extLst>
      <p:ext uri="{BB962C8B-B14F-4D97-AF65-F5344CB8AC3E}">
        <p14:creationId xmlns:p14="http://schemas.microsoft.com/office/powerpoint/2010/main" val="34358350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421413"/>
            <a:ext cx="7886700" cy="4934938"/>
          </a:xfrm>
        </p:spPr>
        <p:txBody>
          <a:bodyPr>
            <a:noAutofit/>
          </a:bodyPr>
          <a:lstStyle/>
          <a:p>
            <a:pPr marL="12700" indent="0" algn="just">
              <a:lnSpc>
                <a:spcPts val="3400"/>
              </a:lnSpc>
              <a:spcBef>
                <a:spcPts val="300"/>
              </a:spcBef>
              <a:spcAft>
                <a:spcPts val="300"/>
              </a:spcAft>
              <a:buNone/>
              <a:tabLst>
                <a:tab pos="356235" algn="l"/>
              </a:tabLst>
            </a:pPr>
            <a:r>
              <a:rPr lang="en-US" sz="2600" b="1" dirty="0"/>
              <a:t>Bài 3</a:t>
            </a:r>
            <a:r>
              <a:rPr lang="en-US" sz="2600" dirty="0"/>
              <a:t>: (if-else)</a:t>
            </a:r>
          </a:p>
          <a:p>
            <a:pPr marL="0" indent="0" algn="just">
              <a:lnSpc>
                <a:spcPts val="3200"/>
              </a:lnSpc>
              <a:spcBef>
                <a:spcPts val="300"/>
              </a:spcBef>
              <a:spcAft>
                <a:spcPts val="300"/>
              </a:spcAft>
              <a:buNone/>
            </a:pPr>
            <a:r>
              <a:rPr lang="en-US" sz="2600" dirty="0"/>
              <a:t>Viết chương trình nhập vào tên và một số tương ứng là năm. Sau đó xuất ra nhóm tuổi của người đó như sau:</a:t>
            </a:r>
          </a:p>
          <a:p>
            <a:pPr marL="512763" indent="-457200" algn="just">
              <a:lnSpc>
                <a:spcPts val="3200"/>
              </a:lnSpc>
              <a:spcBef>
                <a:spcPts val="300"/>
              </a:spcBef>
              <a:spcAft>
                <a:spcPts val="300"/>
              </a:spcAft>
              <a:buFont typeface="Wingdings" panose="05000000000000000000" pitchFamily="2" charset="2"/>
              <a:buChar char="ü"/>
            </a:pPr>
            <a:r>
              <a:rPr lang="en-US" sz="2600" dirty="0"/>
              <a:t>Nếu tuổi người đó &lt; 16 thì hiện thông báo "Bạn [Tên] ở độ tuổi vị thành niên". </a:t>
            </a:r>
          </a:p>
          <a:p>
            <a:pPr marL="512763" indent="-457200" algn="just">
              <a:lnSpc>
                <a:spcPts val="3200"/>
              </a:lnSpc>
              <a:spcBef>
                <a:spcPts val="300"/>
              </a:spcBef>
              <a:spcAft>
                <a:spcPts val="300"/>
              </a:spcAft>
              <a:buFont typeface="Wingdings" panose="05000000000000000000" pitchFamily="2" charset="2"/>
              <a:buChar char="ü"/>
            </a:pPr>
            <a:r>
              <a:rPr lang="en-US" sz="2600" dirty="0"/>
              <a:t>Nếu tuổi người đó &gt;= 16 và nhỏ hơn 18 thì hiện thông báo "Bạn [Tên] ở độ tuổi trưởng thành". </a:t>
            </a:r>
          </a:p>
          <a:p>
            <a:pPr marL="512763" indent="-457200" algn="just">
              <a:lnSpc>
                <a:spcPts val="3200"/>
              </a:lnSpc>
              <a:spcBef>
                <a:spcPts val="300"/>
              </a:spcBef>
              <a:spcAft>
                <a:spcPts val="300"/>
              </a:spcAft>
              <a:buFont typeface="Wingdings" panose="05000000000000000000" pitchFamily="2" charset="2"/>
              <a:buChar char="ü"/>
            </a:pPr>
            <a:r>
              <a:rPr lang="en-US" sz="2600" dirty="0"/>
              <a:t>Nếu tuổi người đó &gt;= 18 thì hiện thông báo "Bạn [Tên] đã già". </a:t>
            </a:r>
          </a:p>
          <a:p>
            <a:pPr marL="0" indent="0" algn="just">
              <a:buNone/>
            </a:pPr>
            <a:r>
              <a:rPr lang="en-US" sz="2600"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93</a:t>
            </a:fld>
            <a:endParaRPr lang="en-US" dirty="0"/>
          </a:p>
        </p:txBody>
      </p:sp>
    </p:spTree>
    <p:extLst>
      <p:ext uri="{BB962C8B-B14F-4D97-AF65-F5344CB8AC3E}">
        <p14:creationId xmlns:p14="http://schemas.microsoft.com/office/powerpoint/2010/main" val="41893343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421413"/>
            <a:ext cx="7886700" cy="4934938"/>
          </a:xfrm>
        </p:spPr>
        <p:txBody>
          <a:bodyPr>
            <a:noAutofit/>
          </a:bodyPr>
          <a:lstStyle/>
          <a:p>
            <a:pPr marL="0" indent="0" algn="just">
              <a:lnSpc>
                <a:spcPts val="3400"/>
              </a:lnSpc>
              <a:spcBef>
                <a:spcPts val="600"/>
              </a:spcBef>
              <a:spcAft>
                <a:spcPts val="600"/>
              </a:spcAft>
              <a:buNone/>
            </a:pPr>
            <a:r>
              <a:rPr lang="en-US" sz="2600" b="1" dirty="0"/>
              <a:t>Bài 4</a:t>
            </a:r>
            <a:r>
              <a:rPr lang="en-US" sz="2600" dirty="0"/>
              <a:t>: (switch –case)</a:t>
            </a:r>
          </a:p>
          <a:p>
            <a:pPr marL="0" indent="346075" algn="just">
              <a:lnSpc>
                <a:spcPts val="3400"/>
              </a:lnSpc>
              <a:spcBef>
                <a:spcPts val="600"/>
              </a:spcBef>
              <a:spcAft>
                <a:spcPts val="600"/>
              </a:spcAft>
              <a:buNone/>
            </a:pPr>
            <a:r>
              <a:rPr lang="en-US" sz="2600" dirty="0"/>
              <a:t>Viết chương trình nhập vào một số nguyên từ 1 - 12 từ bàn phím và hiển thị ra tháng tương ứng với số đó (</a:t>
            </a:r>
            <a:r>
              <a:rPr lang="en-US" sz="2600" i="1" dirty="0"/>
              <a:t>nhập vào số 1 thì sẽ hiển thị ra là "Tháng 1“</a:t>
            </a:r>
            <a:r>
              <a:rPr lang="en-US" sz="2600" dirty="0"/>
              <a:t>).</a:t>
            </a:r>
          </a:p>
          <a:p>
            <a:pPr marL="0" indent="0" algn="just">
              <a:lnSpc>
                <a:spcPts val="3400"/>
              </a:lnSpc>
              <a:spcBef>
                <a:spcPts val="600"/>
              </a:spcBef>
              <a:spcAft>
                <a:spcPts val="600"/>
              </a:spcAft>
              <a:buNone/>
            </a:pPr>
            <a:r>
              <a:rPr lang="en-US" sz="2600" b="1" dirty="0"/>
              <a:t>Bài 5: </a:t>
            </a:r>
            <a:r>
              <a:rPr lang="en-US" sz="2600" dirty="0"/>
              <a:t>(while)</a:t>
            </a:r>
          </a:p>
          <a:p>
            <a:pPr marL="0" indent="346075" algn="just">
              <a:lnSpc>
                <a:spcPts val="3400"/>
              </a:lnSpc>
              <a:spcBef>
                <a:spcPts val="600"/>
              </a:spcBef>
              <a:spcAft>
                <a:spcPts val="600"/>
              </a:spcAft>
              <a:buNone/>
            </a:pPr>
            <a:r>
              <a:rPr lang="en-US" sz="2600" dirty="0"/>
              <a:t>Viết chương trình nhập vào các số nguyên và tính tổng các số đó, nếu tổng lớn hơn &gt; 100 thì kết thúc vòng lặp và hiển thị thông báo tổng của các số đã nhập.</a:t>
            </a:r>
          </a:p>
          <a:p>
            <a:pPr marL="0" indent="346075" algn="just">
              <a:lnSpc>
                <a:spcPts val="3400"/>
              </a:lnSpc>
              <a:spcBef>
                <a:spcPts val="300"/>
              </a:spcBef>
              <a:spcAft>
                <a:spcPts val="300"/>
              </a:spcAft>
              <a:buNone/>
            </a:pPr>
            <a:endParaRPr lang="en-US" sz="2600" dirty="0"/>
          </a:p>
          <a:p>
            <a:pPr marL="0" indent="0" algn="just">
              <a:lnSpc>
                <a:spcPts val="3400"/>
              </a:lnSpc>
              <a:spcBef>
                <a:spcPts val="300"/>
              </a:spcBef>
              <a:spcAft>
                <a:spcPts val="300"/>
              </a:spcAft>
              <a:buNone/>
            </a:pPr>
            <a:endParaRPr lang="en-US" sz="2600" dirty="0"/>
          </a:p>
          <a:p>
            <a:pPr marL="0" indent="401638" algn="just">
              <a:buNone/>
            </a:pPr>
            <a:endParaRPr lang="en-US" dirty="0"/>
          </a:p>
          <a:p>
            <a:pPr marL="0" indent="0" algn="just">
              <a:lnSpc>
                <a:spcPts val="3700"/>
              </a:lnSpc>
              <a:spcBef>
                <a:spcPts val="600"/>
              </a:spcBef>
              <a:spcAft>
                <a:spcPts val="600"/>
              </a:spcAft>
              <a:buNone/>
            </a:pPr>
            <a:endParaRPr lang="en-US" b="1" dirty="0">
              <a:latin typeface="+mj-lt"/>
              <a:cs typeface="Arial"/>
            </a:endParaRPr>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94</a:t>
            </a:fld>
            <a:endParaRPr lang="en-US" dirty="0"/>
          </a:p>
        </p:txBody>
      </p:sp>
    </p:spTree>
    <p:extLst>
      <p:ext uri="{BB962C8B-B14F-4D97-AF65-F5344CB8AC3E}">
        <p14:creationId xmlns:p14="http://schemas.microsoft.com/office/powerpoint/2010/main" val="38206394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309903"/>
            <a:ext cx="7886700" cy="4934938"/>
          </a:xfrm>
        </p:spPr>
        <p:txBody>
          <a:bodyPr>
            <a:noAutofit/>
          </a:bodyPr>
          <a:lstStyle/>
          <a:p>
            <a:pPr marL="12700" indent="0" algn="just">
              <a:lnSpc>
                <a:spcPts val="3400"/>
              </a:lnSpc>
              <a:spcBef>
                <a:spcPts val="300"/>
              </a:spcBef>
              <a:spcAft>
                <a:spcPts val="300"/>
              </a:spcAft>
              <a:buNone/>
              <a:tabLst>
                <a:tab pos="356235" algn="l"/>
              </a:tabLst>
            </a:pPr>
            <a:r>
              <a:rPr lang="en-US" sz="2600" b="1" spc="-155" dirty="0">
                <a:latin typeface="Arial"/>
                <a:cs typeface="Arial"/>
              </a:rPr>
              <a:t>Bài 6:</a:t>
            </a:r>
            <a:r>
              <a:rPr lang="en-US" sz="2600" spc="-155" dirty="0">
                <a:latin typeface="Arial"/>
                <a:cs typeface="Arial"/>
              </a:rPr>
              <a:t> (do –while)</a:t>
            </a:r>
          </a:p>
          <a:p>
            <a:pPr marL="0" indent="290513" algn="just">
              <a:lnSpc>
                <a:spcPts val="3400"/>
              </a:lnSpc>
              <a:spcBef>
                <a:spcPts val="300"/>
              </a:spcBef>
              <a:spcAft>
                <a:spcPts val="300"/>
              </a:spcAft>
              <a:buNone/>
            </a:pPr>
            <a:r>
              <a:rPr lang="vi-VN" sz="2600" dirty="0"/>
              <a:t>Viết chương trình nhập vào 1 số nguyên dương bất kỳ từ bàn phím. Sau đó tính và in ra giai thừa của số đó.</a:t>
            </a:r>
            <a:endParaRPr lang="en-US" sz="2600" dirty="0"/>
          </a:p>
          <a:p>
            <a:pPr marL="0" indent="0" algn="just">
              <a:lnSpc>
                <a:spcPts val="3400"/>
              </a:lnSpc>
              <a:spcBef>
                <a:spcPts val="300"/>
              </a:spcBef>
              <a:spcAft>
                <a:spcPts val="300"/>
              </a:spcAft>
              <a:buNone/>
            </a:pPr>
            <a:r>
              <a:rPr lang="en-US" sz="2600" b="1" dirty="0"/>
              <a:t>Bài 7</a:t>
            </a:r>
            <a:r>
              <a:rPr lang="en-US" sz="2600" dirty="0"/>
              <a:t>: (for)</a:t>
            </a:r>
          </a:p>
          <a:p>
            <a:pPr marL="12700" indent="222250" algn="just">
              <a:lnSpc>
                <a:spcPts val="3400"/>
              </a:lnSpc>
              <a:spcBef>
                <a:spcPts val="300"/>
              </a:spcBef>
              <a:spcAft>
                <a:spcPts val="300"/>
              </a:spcAft>
              <a:buNone/>
              <a:tabLst>
                <a:tab pos="356235" algn="l"/>
              </a:tabLst>
            </a:pPr>
            <a:r>
              <a:rPr lang="en-US" sz="2600" dirty="0"/>
              <a:t>Viết chương trình in ra 20 số nguyên dương đầu tiên ra màn hình.</a:t>
            </a:r>
          </a:p>
          <a:p>
            <a:pPr marL="12700" indent="0" algn="just">
              <a:lnSpc>
                <a:spcPts val="3400"/>
              </a:lnSpc>
              <a:spcBef>
                <a:spcPts val="300"/>
              </a:spcBef>
              <a:spcAft>
                <a:spcPts val="300"/>
              </a:spcAft>
              <a:buNone/>
              <a:tabLst>
                <a:tab pos="356235" algn="l"/>
              </a:tabLst>
            </a:pPr>
            <a:r>
              <a:rPr lang="en-US" sz="2600" b="1" dirty="0"/>
              <a:t>Bài 8</a:t>
            </a:r>
            <a:r>
              <a:rPr lang="en-US" sz="2600" dirty="0"/>
              <a:t>: (for)</a:t>
            </a:r>
          </a:p>
          <a:p>
            <a:pPr marL="12700" indent="222250" algn="just">
              <a:lnSpc>
                <a:spcPts val="3400"/>
              </a:lnSpc>
              <a:spcBef>
                <a:spcPts val="300"/>
              </a:spcBef>
              <a:spcAft>
                <a:spcPts val="300"/>
              </a:spcAft>
              <a:buNone/>
              <a:tabLst>
                <a:tab pos="356235" algn="l"/>
              </a:tabLst>
            </a:pPr>
            <a:r>
              <a:rPr lang="en-US" sz="2600" dirty="0"/>
              <a:t>Viết chương trình nhập vào một dãy số gồm n số nguyên từ bàn phím. Tính và in ra màn hình trung bình cộng của n số nguyên đã nhập</a:t>
            </a:r>
          </a:p>
          <a:p>
            <a:pPr marL="12700" indent="222250" algn="just">
              <a:lnSpc>
                <a:spcPts val="3400"/>
              </a:lnSpc>
              <a:spcBef>
                <a:spcPts val="300"/>
              </a:spcBef>
              <a:spcAft>
                <a:spcPts val="300"/>
              </a:spcAft>
              <a:buNone/>
              <a:tabLst>
                <a:tab pos="356235" algn="l"/>
              </a:tabLst>
            </a:pPr>
            <a:endParaRPr lang="en-US" sz="2600" dirty="0"/>
          </a:p>
          <a:p>
            <a:pPr lvl="1" algn="just">
              <a:lnSpc>
                <a:spcPts val="34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95</a:t>
            </a:fld>
            <a:endParaRPr lang="en-US" dirty="0"/>
          </a:p>
        </p:txBody>
      </p:sp>
    </p:spTree>
    <p:extLst>
      <p:ext uri="{BB962C8B-B14F-4D97-AF65-F5344CB8AC3E}">
        <p14:creationId xmlns:p14="http://schemas.microsoft.com/office/powerpoint/2010/main" val="7164713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421413"/>
            <a:ext cx="7886700" cy="4934938"/>
          </a:xfrm>
        </p:spPr>
        <p:txBody>
          <a:bodyPr>
            <a:noAutofit/>
          </a:bodyPr>
          <a:lstStyle/>
          <a:p>
            <a:pPr marL="12700" indent="0" algn="just">
              <a:lnSpc>
                <a:spcPts val="3300"/>
              </a:lnSpc>
              <a:spcBef>
                <a:spcPts val="600"/>
              </a:spcBef>
              <a:spcAft>
                <a:spcPts val="600"/>
              </a:spcAft>
              <a:buNone/>
              <a:tabLst>
                <a:tab pos="356235" algn="l"/>
              </a:tabLst>
            </a:pPr>
            <a:r>
              <a:rPr lang="en-US" sz="2600" b="1" spc="-155" dirty="0">
                <a:latin typeface="Arial"/>
                <a:cs typeface="Arial"/>
              </a:rPr>
              <a:t>Bài 9:</a:t>
            </a:r>
            <a:r>
              <a:rPr lang="en-US" sz="2600" spc="-155" dirty="0">
                <a:latin typeface="Arial"/>
                <a:cs typeface="Arial"/>
              </a:rPr>
              <a:t> (string)</a:t>
            </a:r>
          </a:p>
          <a:p>
            <a:pPr marL="0" indent="234950" algn="just">
              <a:lnSpc>
                <a:spcPts val="3300"/>
              </a:lnSpc>
              <a:spcBef>
                <a:spcPts val="600"/>
              </a:spcBef>
              <a:spcAft>
                <a:spcPts val="600"/>
              </a:spcAft>
              <a:buNone/>
            </a:pPr>
            <a:r>
              <a:rPr lang="en-US" sz="2600" dirty="0"/>
              <a:t>Viết chương trình nhập vào một chuỗi bất kỳ bao gồm cả số, ký tự thường và ký tự hoa từ bàn phím. Sau đó đếm và in ra số ký tự thường và ký tự hoa và số có trong chuỗi đó.</a:t>
            </a:r>
          </a:p>
          <a:p>
            <a:pPr marL="0" indent="0" algn="just">
              <a:lnSpc>
                <a:spcPts val="3300"/>
              </a:lnSpc>
              <a:spcBef>
                <a:spcPts val="600"/>
              </a:spcBef>
              <a:spcAft>
                <a:spcPts val="600"/>
              </a:spcAft>
              <a:buNone/>
            </a:pPr>
            <a:r>
              <a:rPr lang="en-US" sz="2600" b="1" spc="-155" dirty="0">
                <a:latin typeface="Arial"/>
                <a:cs typeface="Arial"/>
              </a:rPr>
              <a:t>Bài 10 </a:t>
            </a:r>
            <a:r>
              <a:rPr lang="en-US" sz="2600" spc="-155" dirty="0">
                <a:latin typeface="Arial"/>
                <a:cs typeface="Arial"/>
              </a:rPr>
              <a:t>(string)</a:t>
            </a:r>
          </a:p>
          <a:p>
            <a:pPr marL="12700" indent="222250" algn="just">
              <a:lnSpc>
                <a:spcPts val="3500"/>
              </a:lnSpc>
              <a:spcBef>
                <a:spcPts val="600"/>
              </a:spcBef>
              <a:spcAft>
                <a:spcPts val="600"/>
              </a:spcAft>
              <a:buNone/>
              <a:tabLst>
                <a:tab pos="356235" algn="l"/>
              </a:tabLst>
            </a:pPr>
            <a:r>
              <a:rPr lang="vi-VN" sz="2600" dirty="0"/>
              <a:t>Viết chương trình nhập từ bàn phím một chuỗi không quá 80 ký tự và một ký tự bất kỳ. Đếm và in ra màn hình số lần xuất hiện của ký tự đó trong chuỗi vừa nhập.</a:t>
            </a:r>
            <a:endParaRPr lang="en-US" sz="2600" dirty="0"/>
          </a:p>
          <a:p>
            <a:pPr marL="166687" lvl="1" indent="0" algn="just">
              <a:lnSpc>
                <a:spcPts val="3400"/>
              </a:lnSpc>
              <a:spcBef>
                <a:spcPts val="300"/>
              </a:spcBef>
              <a:spcAft>
                <a:spcPts val="300"/>
              </a:spcAft>
              <a:buNone/>
            </a:pPr>
            <a:endParaRPr lang="en-US" dirty="0">
              <a:latin typeface="Arial" panose="020B0604020202020204" pitchFamily="34" charset="0"/>
              <a:cs typeface="Arial" panose="020B0604020202020204" pitchFamily="34" charset="0"/>
            </a:endParaRPr>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96</a:t>
            </a:fld>
            <a:endParaRPr lang="en-US" dirty="0"/>
          </a:p>
        </p:txBody>
      </p:sp>
    </p:spTree>
    <p:extLst>
      <p:ext uri="{BB962C8B-B14F-4D97-AF65-F5344CB8AC3E}">
        <p14:creationId xmlns:p14="http://schemas.microsoft.com/office/powerpoint/2010/main" val="8633137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2320"/>
            <a:ext cx="7886700" cy="622999"/>
          </a:xfrm>
        </p:spPr>
        <p:txBody>
          <a:bodyPr>
            <a:normAutofit fontScale="90000"/>
          </a:bodyPr>
          <a:lstStyle/>
          <a:p>
            <a:r>
              <a:rPr lang="en-US" dirty="0"/>
              <a:t>BÀI TẬP</a:t>
            </a:r>
          </a:p>
        </p:txBody>
      </p:sp>
      <p:sp>
        <p:nvSpPr>
          <p:cNvPr id="3" name="Content Placeholder 2"/>
          <p:cNvSpPr>
            <a:spLocks noGrp="1"/>
          </p:cNvSpPr>
          <p:nvPr>
            <p:ph idx="1"/>
          </p:nvPr>
        </p:nvSpPr>
        <p:spPr>
          <a:xfrm>
            <a:off x="628650" y="1421413"/>
            <a:ext cx="7886700" cy="4934938"/>
          </a:xfrm>
        </p:spPr>
        <p:txBody>
          <a:bodyPr>
            <a:noAutofit/>
          </a:bodyPr>
          <a:lstStyle/>
          <a:p>
            <a:pPr marL="12700" indent="0" algn="just">
              <a:lnSpc>
                <a:spcPts val="3500"/>
              </a:lnSpc>
              <a:spcBef>
                <a:spcPts val="600"/>
              </a:spcBef>
              <a:spcAft>
                <a:spcPts val="600"/>
              </a:spcAft>
              <a:buNone/>
              <a:tabLst>
                <a:tab pos="356235" algn="l"/>
              </a:tabLst>
            </a:pPr>
            <a:r>
              <a:rPr lang="en-US" b="1" spc="-155" dirty="0">
                <a:latin typeface="Arial"/>
                <a:cs typeface="Arial"/>
              </a:rPr>
              <a:t>B</a:t>
            </a:r>
            <a:r>
              <a:rPr lang="en-US" sz="2600" b="1" spc="-155" dirty="0">
                <a:latin typeface="Arial"/>
                <a:cs typeface="Arial"/>
              </a:rPr>
              <a:t>ài 11: </a:t>
            </a:r>
            <a:r>
              <a:rPr lang="en-US" sz="2600" spc="-155" dirty="0">
                <a:latin typeface="Arial"/>
                <a:cs typeface="Arial"/>
              </a:rPr>
              <a:t>(array1) </a:t>
            </a:r>
          </a:p>
          <a:p>
            <a:pPr marL="12700" indent="222250" algn="just">
              <a:lnSpc>
                <a:spcPts val="3500"/>
              </a:lnSpc>
              <a:spcBef>
                <a:spcPts val="0"/>
              </a:spcBef>
              <a:buNone/>
              <a:tabLst>
                <a:tab pos="356235" algn="l"/>
              </a:tabLst>
            </a:pPr>
            <a:r>
              <a:rPr lang="vi-VN" sz="2600" dirty="0"/>
              <a:t>Viết chương trình thực hiện các công việc sau:</a:t>
            </a:r>
          </a:p>
          <a:p>
            <a:pPr marL="0" indent="234950" algn="just">
              <a:spcBef>
                <a:spcPts val="0"/>
              </a:spcBef>
              <a:buNone/>
            </a:pPr>
            <a:r>
              <a:rPr lang="vi-VN" sz="2600" dirty="0"/>
              <a:t>Nhập liệu cho mảng A có n phần tử nguyên từ bàn phím.</a:t>
            </a:r>
            <a:r>
              <a:rPr lang="en-US" sz="2600" dirty="0"/>
              <a:t> </a:t>
            </a:r>
            <a:r>
              <a:rPr lang="vi-VN" sz="2600" dirty="0"/>
              <a:t>Sắp xếp mảng số đã nhập tăng dần theo giá trị của các phần tử có trong mảng.</a:t>
            </a:r>
            <a:r>
              <a:rPr lang="en-US" sz="2600" dirty="0"/>
              <a:t> </a:t>
            </a:r>
            <a:r>
              <a:rPr lang="vi-VN" sz="2600" dirty="0"/>
              <a:t>In ra màn hình mảng số ban đầu và mảng đã sắp xếp theo thứ tự tăng dần</a:t>
            </a:r>
            <a:r>
              <a:rPr lang="vi-VN" sz="2400" dirty="0"/>
              <a:t>.</a:t>
            </a:r>
          </a:p>
          <a:p>
            <a:pPr marL="12700" indent="0" algn="just">
              <a:lnSpc>
                <a:spcPts val="3500"/>
              </a:lnSpc>
              <a:spcBef>
                <a:spcPts val="600"/>
              </a:spcBef>
              <a:spcAft>
                <a:spcPts val="600"/>
              </a:spcAft>
              <a:buNone/>
              <a:tabLst>
                <a:tab pos="356235" algn="l"/>
              </a:tabLst>
            </a:pPr>
            <a:r>
              <a:rPr lang="en-US" sz="2600" b="1" dirty="0"/>
              <a:t>Bài 12: </a:t>
            </a:r>
            <a:r>
              <a:rPr lang="en-US" sz="2600" dirty="0"/>
              <a:t>(array2) </a:t>
            </a:r>
          </a:p>
          <a:p>
            <a:pPr marL="12700" indent="277813" algn="just">
              <a:lnSpc>
                <a:spcPts val="3500"/>
              </a:lnSpc>
              <a:spcBef>
                <a:spcPts val="600"/>
              </a:spcBef>
              <a:spcAft>
                <a:spcPts val="600"/>
              </a:spcAft>
              <a:buNone/>
              <a:tabLst>
                <a:tab pos="356235" algn="l"/>
              </a:tabLst>
            </a:pPr>
            <a:r>
              <a:rPr lang="vi-VN" sz="2600" dirty="0"/>
              <a:t>Viết chương trình nhập vào các phần tử cho một ma trận 2 chiều, sau đó tìm và hiển thị phần tử có giá trị lớn nhất trong ma trận đó.</a:t>
            </a:r>
            <a:endParaRPr lang="en-US" sz="2600" dirty="0"/>
          </a:p>
          <a:p>
            <a:pPr marL="0" lvl="1" indent="0" algn="just">
              <a:lnSpc>
                <a:spcPts val="3400"/>
              </a:lnSpc>
              <a:spcBef>
                <a:spcPts val="600"/>
              </a:spcBef>
              <a:spcAft>
                <a:spcPts val="600"/>
              </a:spcAft>
              <a:buSzPct val="130000"/>
              <a:buNone/>
            </a:pPr>
            <a:endParaRPr lang="en-US" sz="2800" spc="-30" dirty="0">
              <a:latin typeface="Arial"/>
              <a:cs typeface="Arial"/>
            </a:endParaRPr>
          </a:p>
          <a:p>
            <a:pPr marL="0" indent="0" algn="just">
              <a:lnSpc>
                <a:spcPts val="3100"/>
              </a:lnSpc>
              <a:spcBef>
                <a:spcPts val="0"/>
              </a:spcBef>
              <a:buNone/>
            </a:pPr>
            <a:endParaRPr lang="en-US" sz="2400" dirty="0">
              <a:cs typeface="Arial"/>
            </a:endParaRPr>
          </a:p>
          <a:p>
            <a:pPr lvl="1" algn="just">
              <a:lnSpc>
                <a:spcPts val="3500"/>
              </a:lnSpc>
              <a:spcBef>
                <a:spcPts val="300"/>
              </a:spcBef>
              <a:spcAft>
                <a:spcPts val="300"/>
              </a:spcAft>
            </a:pPr>
            <a:endParaRPr lang="en-US" sz="2800" dirty="0">
              <a:cs typeface="Arial"/>
            </a:endParaRPr>
          </a:p>
          <a:p>
            <a:pPr lvl="1" algn="just">
              <a:lnSpc>
                <a:spcPts val="3500"/>
              </a:lnSpc>
              <a:spcBef>
                <a:spcPts val="300"/>
              </a:spcBef>
              <a:spcAft>
                <a:spcPts val="300"/>
              </a:spcAft>
            </a:pPr>
            <a:endParaRPr lang="en-US" spc="15" dirty="0">
              <a:latin typeface="Arial"/>
              <a:cs typeface="Arial"/>
            </a:endParaRPr>
          </a:p>
          <a:p>
            <a:pPr lvl="1" algn="just">
              <a:lnSpc>
                <a:spcPts val="3500"/>
              </a:lnSpc>
              <a:spcBef>
                <a:spcPts val="300"/>
              </a:spcBef>
              <a:spcAft>
                <a:spcPts val="300"/>
              </a:spcAft>
            </a:pPr>
            <a:endParaRPr lang="en-US" dirty="0">
              <a:latin typeface="Arial"/>
              <a:cs typeface="Arial"/>
            </a:endParaRPr>
          </a:p>
          <a:p>
            <a:pPr algn="just">
              <a:lnSpc>
                <a:spcPts val="3500"/>
              </a:lnSpc>
              <a:spcBef>
                <a:spcPts val="300"/>
              </a:spcBef>
              <a:spcAft>
                <a:spcPts val="300"/>
              </a:spcAft>
            </a:pPr>
            <a:endParaRPr lang="en-US" spc="5" dirty="0">
              <a:latin typeface="Arial"/>
              <a:cs typeface="Arial"/>
            </a:endParaRPr>
          </a:p>
          <a:p>
            <a:pPr marL="0" indent="0" algn="just">
              <a:lnSpc>
                <a:spcPts val="3500"/>
              </a:lnSpc>
              <a:spcBef>
                <a:spcPts val="300"/>
              </a:spcBef>
              <a:spcAft>
                <a:spcPts val="300"/>
              </a:spcAft>
              <a:buNone/>
            </a:pPr>
            <a:endParaRPr lang="vi-VN" dirty="0">
              <a:latin typeface="Arial"/>
              <a:cs typeface="Arial"/>
            </a:endParaRPr>
          </a:p>
          <a:p>
            <a:pPr algn="just">
              <a:lnSpc>
                <a:spcPts val="3500"/>
              </a:lnSpc>
              <a:spcBef>
                <a:spcPts val="300"/>
              </a:spcBef>
              <a:spcAft>
                <a:spcPts val="300"/>
              </a:spcAft>
            </a:pPr>
            <a:endParaRPr lang="en-US" b="1" dirty="0"/>
          </a:p>
          <a:p>
            <a:pPr lvl="1" algn="just">
              <a:lnSpc>
                <a:spcPts val="3500"/>
              </a:lnSpc>
              <a:spcBef>
                <a:spcPts val="300"/>
              </a:spcBef>
              <a:spcAft>
                <a:spcPts val="300"/>
              </a:spcAft>
            </a:pPr>
            <a:endParaRPr lang="en-US" b="1" dirty="0"/>
          </a:p>
          <a:p>
            <a:pPr marL="0" indent="0" algn="just">
              <a:buNone/>
            </a:pPr>
            <a:endParaRPr lang="en-US" dirty="0"/>
          </a:p>
          <a:p>
            <a:pPr marL="0" indent="0">
              <a:buNone/>
            </a:pPr>
            <a:r>
              <a:rPr lang="en-US" b="1" dirty="0"/>
              <a:t>	 </a:t>
            </a:r>
          </a:p>
        </p:txBody>
      </p:sp>
      <p:sp>
        <p:nvSpPr>
          <p:cNvPr id="4" name="Slide Number Placeholder 3"/>
          <p:cNvSpPr>
            <a:spLocks noGrp="1"/>
          </p:cNvSpPr>
          <p:nvPr>
            <p:ph type="sldNum" sz="quarter" idx="12"/>
          </p:nvPr>
        </p:nvSpPr>
        <p:spPr/>
        <p:txBody>
          <a:bodyPr/>
          <a:lstStyle/>
          <a:p>
            <a:fld id="{DF4C498B-416A-4F27-9E1B-2DAD6BC6C92F}" type="slidenum">
              <a:rPr lang="en-US" smtClean="0"/>
              <a:t>97</a:t>
            </a:fld>
            <a:endParaRPr lang="en-US" dirty="0"/>
          </a:p>
        </p:txBody>
      </p:sp>
    </p:spTree>
    <p:extLst>
      <p:ext uri="{BB962C8B-B14F-4D97-AF65-F5344CB8AC3E}">
        <p14:creationId xmlns:p14="http://schemas.microsoft.com/office/powerpoint/2010/main" val="12249392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725C36023882DE4FB137522A70E4931E" ma:contentTypeVersion="5" ma:contentTypeDescription="Tạo tài liệu mới." ma:contentTypeScope="" ma:versionID="37206308218167f1bcab7ccacbc55a34">
  <xsd:schema xmlns:xsd="http://www.w3.org/2001/XMLSchema" xmlns:xs="http://www.w3.org/2001/XMLSchema" xmlns:p="http://schemas.microsoft.com/office/2006/metadata/properties" xmlns:ns2="786e6eaa-1619-4404-b353-bdcbc5319744" targetNamespace="http://schemas.microsoft.com/office/2006/metadata/properties" ma:root="true" ma:fieldsID="0d24929628809535d89936c78e4ba2a1" ns2:_="">
    <xsd:import namespace="786e6eaa-1619-4404-b353-bdcbc531974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6e6eaa-1619-4404-b353-bdcbc53197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34BFC15-DAC4-4AA9-A15B-5B57B1C3E2B3}"/>
</file>

<file path=customXml/itemProps2.xml><?xml version="1.0" encoding="utf-8"?>
<ds:datastoreItem xmlns:ds="http://schemas.openxmlformats.org/officeDocument/2006/customXml" ds:itemID="{6809D6B7-15A7-45F3-9424-4038DAB805A7}"/>
</file>

<file path=customXml/itemProps3.xml><?xml version="1.0" encoding="utf-8"?>
<ds:datastoreItem xmlns:ds="http://schemas.openxmlformats.org/officeDocument/2006/customXml" ds:itemID="{AB9EBA5E-5874-4CCB-BF77-DC58ACA3D6F1}"/>
</file>

<file path=docProps/app.xml><?xml version="1.0" encoding="utf-8"?>
<Properties xmlns="http://schemas.openxmlformats.org/officeDocument/2006/extended-properties" xmlns:vt="http://schemas.openxmlformats.org/officeDocument/2006/docPropsVTypes">
  <Template>Office Theme</Template>
  <TotalTime>2463</TotalTime>
  <Words>9482</Words>
  <Application>Microsoft Macintosh PowerPoint</Application>
  <PresentationFormat>On-screen Show (4:3)</PresentationFormat>
  <Paragraphs>1537</Paragraphs>
  <Slides>97</Slides>
  <Notes>85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Arial</vt:lpstr>
      <vt:lpstr>Calibri</vt:lpstr>
      <vt:lpstr>Courier</vt:lpstr>
      <vt:lpstr>Courier New</vt:lpstr>
      <vt:lpstr>Tahoma</vt:lpstr>
      <vt:lpstr>Trebuchet MS</vt:lpstr>
      <vt:lpstr>Wingdings</vt:lpstr>
      <vt:lpstr>Office Theme</vt:lpstr>
      <vt:lpstr>LẬP TRÌNH  HƯỚNG ĐỐI TƯỢNG  VỚI JAVA</vt:lpstr>
      <vt:lpstr>MỤC TIÊU</vt:lpstr>
      <vt:lpstr>NỘI DUNG</vt:lpstr>
      <vt:lpstr>Các kiểu dữ liệu</vt:lpstr>
      <vt:lpstr>Các kiểu dữ liệu</vt:lpstr>
      <vt:lpstr>Các kiểu dữ liệu</vt:lpstr>
      <vt:lpstr>Các quy tắc chuyển kiểu dữ liệu</vt:lpstr>
      <vt:lpstr>Các quy tắc chuyển kiểu dữ liệu</vt:lpstr>
      <vt:lpstr>Các quy tắc chuyển kiểu dữ liệu</vt:lpstr>
      <vt:lpstr>Các quy tắc chuyển kiểu dữ liệu</vt:lpstr>
      <vt:lpstr>Các quy tắc chuyển kiểu dữ liệu</vt:lpstr>
      <vt:lpstr>Biến      </vt:lpstr>
      <vt:lpstr>Biến</vt:lpstr>
      <vt:lpstr>Biến</vt:lpstr>
      <vt:lpstr>Biến</vt:lpstr>
      <vt:lpstr>Biến</vt:lpstr>
      <vt:lpstr>Biến</vt:lpstr>
      <vt:lpstr>Toán tử    </vt:lpstr>
      <vt:lpstr>Toán tử    </vt:lpstr>
      <vt:lpstr>Toán tử    </vt:lpstr>
      <vt:lpstr>Toán tử    </vt:lpstr>
      <vt:lpstr>Toán tử    </vt:lpstr>
      <vt:lpstr>Toán tử    </vt:lpstr>
      <vt:lpstr>Toán tử    </vt:lpstr>
      <vt:lpstr>Toán tử    </vt:lpstr>
      <vt:lpstr>Cấu trúc điều khiển chương trình</vt:lpstr>
      <vt:lpstr>Cấu trúc điều khiển chương trình</vt:lpstr>
      <vt:lpstr>Điều khiển rẽ nhánh</vt:lpstr>
      <vt:lpstr>Điều khiển rẽ nhánh</vt:lpstr>
      <vt:lpstr>PowerPoint Presentation</vt:lpstr>
      <vt:lpstr>Toán tử    </vt:lpstr>
      <vt:lpstr>Toán tử    </vt:lpstr>
      <vt:lpstr>Điều khiển rẽ nhánh</vt:lpstr>
      <vt:lpstr>Điều khiển rẽ nhánh</vt:lpstr>
      <vt:lpstr>PowerPoint Presentation</vt:lpstr>
      <vt:lpstr>Điều khiển rẽ nhánh</vt:lpstr>
      <vt:lpstr>Điều khiển rẽ nhánh</vt:lpstr>
      <vt:lpstr>Điều khiển rẽ nhánh</vt:lpstr>
      <vt:lpstr>Điều khiển rẽ nhánh</vt:lpstr>
      <vt:lpstr>PowerPoint Presentation</vt:lpstr>
      <vt:lpstr>Điều khiển rẽ nhánh</vt:lpstr>
      <vt:lpstr>Điều khiển rẽ nhánh</vt:lpstr>
      <vt:lpstr>Cấu trúc lặp</vt:lpstr>
      <vt:lpstr>Cấu trúc lặp</vt:lpstr>
      <vt:lpstr>Cấu trúc lặp</vt:lpstr>
      <vt:lpstr>Cấu trúc lặp</vt:lpstr>
      <vt:lpstr>PowerPoint Presentation</vt:lpstr>
      <vt:lpstr>Cấu trúc lặp</vt:lpstr>
      <vt:lpstr>Cấu trúc lặp</vt:lpstr>
      <vt:lpstr>Cấu trúc lặp</vt:lpstr>
      <vt:lpstr>PowerPoint Presentation</vt:lpstr>
      <vt:lpstr>Cấu trúc lặp</vt:lpstr>
      <vt:lpstr>Các lệnh chuyển điều khiển</vt:lpstr>
      <vt:lpstr>Các lệnh chuyển điều khiển</vt:lpstr>
      <vt:lpstr>PowerPoint Presentation</vt:lpstr>
      <vt:lpstr>Các lệnh chuyển điều khiển</vt:lpstr>
      <vt:lpstr>Vào – ra dữ liệu</vt:lpstr>
      <vt:lpstr>Vào – ra dữ liệu</vt:lpstr>
      <vt:lpstr>Vào – ra dữ liệu</vt:lpstr>
      <vt:lpstr>Vào – ra dữ liệu</vt:lpstr>
      <vt:lpstr>In dữ liệu ra màn hình</vt:lpstr>
      <vt:lpstr>In dữ liệu ra màn hình</vt:lpstr>
      <vt:lpstr>In dữ liệu ra màn hình</vt:lpstr>
      <vt:lpstr>In dữ liệu ra màn hình</vt:lpstr>
      <vt:lpstr>Nhập dữ liệu từ bàn phím</vt:lpstr>
      <vt:lpstr>Nhập dữ liệu từ bàn phím</vt:lpstr>
      <vt:lpstr>Mảng (Array)</vt:lpstr>
      <vt:lpstr>Mảng (Array)</vt:lpstr>
      <vt:lpstr>Mảng một chiều</vt:lpstr>
      <vt:lpstr>Mảng một chiều</vt:lpstr>
      <vt:lpstr>Mảng một chiều</vt:lpstr>
      <vt:lpstr>Mảng một chiều</vt:lpstr>
      <vt:lpstr>Mảng một chiều</vt:lpstr>
      <vt:lpstr>PowerPoint Presentation</vt:lpstr>
      <vt:lpstr>Mảng một chiều</vt:lpstr>
      <vt:lpstr>Mảng một chiều</vt:lpstr>
      <vt:lpstr>Mảng hai chiều</vt:lpstr>
      <vt:lpstr>Mảng hai chiều</vt:lpstr>
      <vt:lpstr>Mảng hai chiều</vt:lpstr>
      <vt:lpstr>Mảng hai chiều</vt:lpstr>
      <vt:lpstr>PowerPoint Presentation</vt:lpstr>
      <vt:lpstr>Mảng hai chiều</vt:lpstr>
      <vt:lpstr>Mảng hai chiều</vt:lpstr>
      <vt:lpstr>Chuỗi (String)</vt:lpstr>
      <vt:lpstr>Tạo lập và khởi tạo chuỗi </vt:lpstr>
      <vt:lpstr>Chuỗi (String)</vt:lpstr>
      <vt:lpstr>Các hàm xử lý chuỗi </vt:lpstr>
      <vt:lpstr>Các hàm xử lý chuỗi </vt:lpstr>
      <vt:lpstr>Ví dụ</vt:lpstr>
      <vt:lpstr>PowerPoint Presentation</vt:lpstr>
      <vt:lpstr>Chuỗi (String)</vt:lpstr>
      <vt:lpstr>BÀI TẬP</vt:lpstr>
      <vt:lpstr>BÀI TẬP</vt:lpstr>
      <vt:lpstr>BÀI TẬP</vt:lpstr>
      <vt:lpstr>BÀI TẬP</vt:lpstr>
      <vt:lpstr>BÀI TẬP</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 Oanh Nong</dc:creator>
  <cp:lastModifiedBy>Pham Quang Hien</cp:lastModifiedBy>
  <cp:revision>157</cp:revision>
  <dcterms:created xsi:type="dcterms:W3CDTF">2019-11-25T13:33:31Z</dcterms:created>
  <dcterms:modified xsi:type="dcterms:W3CDTF">2021-01-14T10:18:25Z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0x010100725C36023882DE4FB137522A70E4931E</vt:lpwstr>
  </property>
</Properties>
</file>